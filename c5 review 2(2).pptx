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0" r:id="rId2"/>
    <p:sldId id="271" r:id="rId3"/>
    <p:sldId id="272" r:id="rId4"/>
    <p:sldId id="273" r:id="rId5"/>
    <p:sldId id="274" r:id="rId6"/>
    <p:sldId id="275" r:id="rId7"/>
    <p:sldId id="256" r:id="rId8"/>
    <p:sldId id="257" r:id="rId9"/>
    <p:sldId id="258" r:id="rId10"/>
    <p:sldId id="259" r:id="rId11"/>
  </p:sldIdLst>
  <p:sldSz cx="12192000" cy="6859588"/>
  <p:notesSz cx="6859588" cy="12192000"/>
  <p:embeddedFontLst>
    <p:embeddedFont>
      <p:font typeface="微软雅黑" panose="020B0503020204020204" pitchFamily="34" charset="-122"/>
      <p:regular r:id="rId13"/>
      <p:bold r:id="rId14"/>
    </p:embeddedFont>
    <p:embeddedFont>
      <p:font typeface="MiSans" panose="020B0604020202020204" charset="-122"/>
      <p:regular r:id="rId15"/>
    </p:embeddedFont>
    <p:embeddedFont>
      <p:font typeface="Sorts Mill Goudy"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977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18095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035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2772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A0212-E2D6-DB3C-C671-DA3FFDACBD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B1DBA2-DB25-4624-E4B1-54D9AFB7177A}"/>
              </a:ext>
            </a:extLst>
          </p:cNvPr>
          <p:cNvSpPr>
            <a:spLocks noGrp="1"/>
          </p:cNvSpPr>
          <p:nvPr>
            <p:ph type="dt" sz="half" idx="10"/>
          </p:nvPr>
        </p:nvSpPr>
        <p:spPr/>
        <p:txBody>
          <a:bodyPr/>
          <a:lstStyle/>
          <a:p>
            <a:fld id="{C01F2D53-7581-4445-9CB6-0AB4F4A23EE6}" type="datetimeFigureOut">
              <a:rPr lang="en-IN" smtClean="0"/>
              <a:t>05-02-2026</a:t>
            </a:fld>
            <a:endParaRPr lang="en-IN"/>
          </a:p>
        </p:txBody>
      </p:sp>
      <p:sp>
        <p:nvSpPr>
          <p:cNvPr id="4" name="Footer Placeholder 3">
            <a:extLst>
              <a:ext uri="{FF2B5EF4-FFF2-40B4-BE49-F238E27FC236}">
                <a16:creationId xmlns:a16="http://schemas.microsoft.com/office/drawing/2014/main" id="{BBC39AE4-8C7F-D165-AD68-B913C427AB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79A0CA-585B-803D-F047-340E5F1FC470}"/>
              </a:ext>
            </a:extLst>
          </p:cNvPr>
          <p:cNvSpPr>
            <a:spLocks noGrp="1"/>
          </p:cNvSpPr>
          <p:nvPr>
            <p:ph type="sldNum" sz="quarter" idx="12"/>
          </p:nvPr>
        </p:nvSpPr>
        <p:spPr/>
        <p:txBody>
          <a:bodyPr/>
          <a:lstStyle/>
          <a:p>
            <a:fld id="{92BFC839-8200-417E-B560-30E4B2B5BD31}" type="slidenum">
              <a:rPr lang="en-IN" smtClean="0"/>
              <a:t>‹#›</a:t>
            </a:fld>
            <a:endParaRPr lang="en-IN"/>
          </a:p>
        </p:txBody>
      </p:sp>
    </p:spTree>
    <p:extLst>
      <p:ext uri="{BB962C8B-B14F-4D97-AF65-F5344CB8AC3E}">
        <p14:creationId xmlns:p14="http://schemas.microsoft.com/office/powerpoint/2010/main" val="362441639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5300413" y="1194309"/>
            <a:ext cx="1591177" cy="1591177"/>
          </a:xfrm>
          <a:prstGeom prst="rect">
            <a:avLst/>
          </a:prstGeom>
        </p:spPr>
      </p:pic>
      <p:sp>
        <p:nvSpPr>
          <p:cNvPr id="4" name="Text 0"/>
          <p:cNvSpPr/>
          <p:nvPr/>
        </p:nvSpPr>
        <p:spPr>
          <a:xfrm>
            <a:off x="917410" y="3076074"/>
            <a:ext cx="10357183" cy="1173398"/>
          </a:xfrm>
          <a:prstGeom prst="rect">
            <a:avLst/>
          </a:prstGeom>
          <a:noFill/>
          <a:ln/>
        </p:spPr>
        <p:txBody>
          <a:bodyPr wrap="square" lIns="0" tIns="0" rIns="0" bIns="0" rtlCol="0" anchor="t"/>
          <a:lstStyle/>
          <a:p>
            <a:pPr algn="ctr">
              <a:lnSpc>
                <a:spcPts val="4167"/>
              </a:lnSpc>
            </a:pPr>
            <a:r>
              <a:rPr lang="en-US" sz="2667" b="1" dirty="0">
                <a:solidFill>
                  <a:srgbClr val="000000"/>
                </a:solidFill>
                <a:latin typeface="Times New Roman" panose="02020603050405020304" pitchFamily="18" charset="0"/>
                <a:ea typeface="Petrona Bold" pitchFamily="34" charset="-122"/>
                <a:cs typeface="Times New Roman" panose="02020603050405020304" pitchFamily="18" charset="0"/>
              </a:rPr>
              <a:t>Braille-Based IoT Home Automation for </a:t>
            </a:r>
          </a:p>
          <a:p>
            <a:pPr algn="ctr">
              <a:lnSpc>
                <a:spcPts val="4167"/>
              </a:lnSpc>
            </a:pPr>
            <a:r>
              <a:rPr lang="en-US" sz="2667" b="1" dirty="0">
                <a:solidFill>
                  <a:srgbClr val="000000"/>
                </a:solidFill>
                <a:latin typeface="Times New Roman" panose="02020603050405020304" pitchFamily="18" charset="0"/>
                <a:ea typeface="Petrona Bold" pitchFamily="34" charset="-122"/>
                <a:cs typeface="Times New Roman" panose="02020603050405020304" pitchFamily="18" charset="0"/>
              </a:rPr>
              <a:t>Multi-Disability Empowerment</a:t>
            </a:r>
            <a:endParaRPr lang="en-US" sz="2667" dirty="0">
              <a:latin typeface="Times New Roman" panose="02020603050405020304" pitchFamily="18" charset="0"/>
              <a:cs typeface="Times New Roman" panose="02020603050405020304" pitchFamily="18" charset="0"/>
            </a:endParaRPr>
          </a:p>
        </p:txBody>
      </p:sp>
      <p:sp>
        <p:nvSpPr>
          <p:cNvPr id="2" name="TextBox 3">
            <a:extLst>
              <a:ext uri="{FF2B5EF4-FFF2-40B4-BE49-F238E27FC236}">
                <a16:creationId xmlns:a16="http://schemas.microsoft.com/office/drawing/2014/main" id="{0F4C56B9-2995-E5A9-DF47-5F45733E86DE}"/>
              </a:ext>
            </a:extLst>
          </p:cNvPr>
          <p:cNvSpPr txBox="1"/>
          <p:nvPr/>
        </p:nvSpPr>
        <p:spPr>
          <a:xfrm>
            <a:off x="394122" y="396956"/>
            <a:ext cx="11403759" cy="1163267"/>
          </a:xfrm>
          <a:prstGeom prst="rect">
            <a:avLst/>
          </a:prstGeom>
          <a:noFill/>
        </p:spPr>
        <p:txBody>
          <a:bodyPr wrap="square" rtlCol="0">
            <a:spAutoFit/>
          </a:bodyPr>
          <a:lstStyle/>
          <a:p>
            <a:pPr algn="ctr"/>
            <a:r>
              <a:rPr lang="en-US" sz="3125" b="1" dirty="0">
                <a:latin typeface="Times New Roman" panose="02020603050405020304" pitchFamily="18" charset="0"/>
                <a:cs typeface="Times New Roman" panose="02020603050405020304" pitchFamily="18" charset="0"/>
              </a:rPr>
              <a:t>SESHADRI RAO GUDLAVALLERU ENGINEERING COLEGE</a:t>
            </a:r>
          </a:p>
          <a:p>
            <a:pPr algn="ctr"/>
            <a:r>
              <a:rPr lang="en-US" sz="1917" i="1" dirty="0">
                <a:latin typeface="Times New Roman" panose="02020603050405020304" pitchFamily="18" charset="0"/>
                <a:cs typeface="Times New Roman" panose="02020603050405020304" pitchFamily="18" charset="0"/>
              </a:rPr>
              <a:t>(An Autonomous Institute permanently affiliated to JNTUK , Kakinada)</a:t>
            </a:r>
            <a:br>
              <a:rPr lang="en-US" sz="1917" i="1" dirty="0">
                <a:latin typeface="Times New Roman" panose="02020603050405020304" pitchFamily="18" charset="0"/>
                <a:cs typeface="Times New Roman" panose="02020603050405020304" pitchFamily="18" charset="0"/>
              </a:rPr>
            </a:br>
            <a:endParaRPr lang="en-US" sz="1917" i="1" dirty="0">
              <a:latin typeface="Times New Roman" panose="02020603050405020304" pitchFamily="18" charset="0"/>
              <a:cs typeface="Times New Roman" panose="02020603050405020304" pitchFamily="18" charset="0"/>
            </a:endParaRPr>
          </a:p>
        </p:txBody>
      </p:sp>
      <p:sp>
        <p:nvSpPr>
          <p:cNvPr id="9" name="TextBox 5">
            <a:extLst>
              <a:ext uri="{FF2B5EF4-FFF2-40B4-BE49-F238E27FC236}">
                <a16:creationId xmlns:a16="http://schemas.microsoft.com/office/drawing/2014/main" id="{2B41BFEB-B85C-6008-A552-CB34DBDC96D4}"/>
              </a:ext>
            </a:extLst>
          </p:cNvPr>
          <p:cNvSpPr txBox="1"/>
          <p:nvPr/>
        </p:nvSpPr>
        <p:spPr>
          <a:xfrm>
            <a:off x="2822287" y="2701623"/>
            <a:ext cx="6547428" cy="387350"/>
          </a:xfrm>
          <a:prstGeom prst="rect">
            <a:avLst/>
          </a:prstGeom>
          <a:noFill/>
        </p:spPr>
        <p:txBody>
          <a:bodyPr wrap="square" rtlCol="0">
            <a:spAutoFit/>
          </a:bodyPr>
          <a:lstStyle/>
          <a:p>
            <a:pPr algn="l"/>
            <a:r>
              <a:rPr lang="en-US" sz="1917" b="1" dirty="0">
                <a:latin typeface="Times New Roman" panose="02020603050405020304" pitchFamily="18" charset="0"/>
                <a:cs typeface="Times New Roman" panose="02020603050405020304" pitchFamily="18" charset="0"/>
              </a:rPr>
              <a:t>Department of Electronics and Communication Engineering </a:t>
            </a:r>
          </a:p>
        </p:txBody>
      </p:sp>
      <p:sp>
        <p:nvSpPr>
          <p:cNvPr id="11" name="Text 1"/>
          <p:cNvSpPr/>
          <p:nvPr/>
        </p:nvSpPr>
        <p:spPr>
          <a:xfrm>
            <a:off x="7275207" y="5063107"/>
            <a:ext cx="10748211" cy="1399527"/>
          </a:xfrm>
          <a:prstGeom prst="rect">
            <a:avLst/>
          </a:prstGeom>
          <a:noFill/>
          <a:ln/>
        </p:spPr>
        <p:txBody>
          <a:bodyPr wrap="square" lIns="0" tIns="0" rIns="0" bIns="0" rtlCol="0" anchor="t"/>
          <a:lstStyle/>
          <a:p>
            <a:pPr>
              <a:lnSpc>
                <a:spcPts val="2042"/>
              </a:lnSpc>
            </a:pPr>
            <a:r>
              <a:rPr lang="en-US" sz="1917" b="1" dirty="0">
                <a:solidFill>
                  <a:srgbClr val="272525"/>
                </a:solidFill>
                <a:latin typeface="Times New Roman" panose="02020603050405020304" pitchFamily="18" charset="0"/>
                <a:ea typeface="Inter" pitchFamily="34" charset="-122"/>
                <a:cs typeface="Times New Roman" panose="02020603050405020304" pitchFamily="18" charset="0"/>
              </a:rPr>
              <a:t>Batch Members:</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N. Manikanta Raghava — 23485A0424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 Jahnavi — 22481A04F5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N. Venkata Siva Prasanth — 23485A0423 </a:t>
            </a:r>
          </a:p>
          <a:p>
            <a:pPr marL="238115" indent="-238115">
              <a:lnSpc>
                <a:spcPts val="2042"/>
              </a:lnSpc>
              <a:buFont typeface="Arial" panose="020B0604020202020204" pitchFamily="34" charset="0"/>
              <a:buChar char="•"/>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Md. Habeeb Pasha — 22481A04F8</a:t>
            </a:r>
            <a:endParaRPr lang="en-US" sz="1917" dirty="0">
              <a:latin typeface="Times New Roman" panose="02020603050405020304" pitchFamily="18" charset="0"/>
              <a:cs typeface="Times New Roman" panose="02020603050405020304" pitchFamily="18" charset="0"/>
            </a:endParaRPr>
          </a:p>
        </p:txBody>
      </p:sp>
      <p:sp>
        <p:nvSpPr>
          <p:cNvPr id="12" name="Text 2"/>
          <p:cNvSpPr/>
          <p:nvPr/>
        </p:nvSpPr>
        <p:spPr>
          <a:xfrm>
            <a:off x="917409" y="5360232"/>
            <a:ext cx="4233712" cy="909282"/>
          </a:xfrm>
          <a:prstGeom prst="rect">
            <a:avLst/>
          </a:prstGeom>
          <a:noFill/>
          <a:ln/>
        </p:spPr>
        <p:txBody>
          <a:bodyPr wrap="square" lIns="0" tIns="0" rIns="0" bIns="0" rtlCol="0" anchor="t"/>
          <a:lstStyle/>
          <a:p>
            <a:pPr>
              <a:lnSpc>
                <a:spcPts val="2042"/>
              </a:lnSpc>
            </a:pPr>
            <a:r>
              <a:rPr lang="en-US" sz="1917" b="1" dirty="0">
                <a:solidFill>
                  <a:srgbClr val="272525"/>
                </a:solidFill>
                <a:latin typeface="Times New Roman" panose="02020603050405020304" pitchFamily="18" charset="0"/>
                <a:ea typeface="Inter" pitchFamily="34" charset="-122"/>
                <a:cs typeface="Times New Roman" panose="02020603050405020304" pitchFamily="18" charset="0"/>
              </a:rPr>
              <a:t>Guided by:</a:t>
            </a: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 </a:t>
            </a:r>
          </a:p>
          <a:p>
            <a:pPr>
              <a:lnSpc>
                <a:spcPts val="2042"/>
              </a:lnSpc>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Mr. V. Vittal Reddy</a:t>
            </a:r>
          </a:p>
          <a:p>
            <a:pPr>
              <a:lnSpc>
                <a:spcPts val="2042"/>
              </a:lnSpc>
            </a:pPr>
            <a:r>
              <a:rPr lang="en-US" sz="1917" dirty="0">
                <a:solidFill>
                  <a:srgbClr val="272525"/>
                </a:solidFill>
                <a:latin typeface="Times New Roman" panose="02020603050405020304" pitchFamily="18" charset="0"/>
                <a:ea typeface="Inter" pitchFamily="34" charset="-122"/>
                <a:cs typeface="Times New Roman" panose="02020603050405020304" pitchFamily="18" charset="0"/>
              </a:rPr>
              <a:t>(Associate Professor)</a:t>
            </a:r>
            <a:endParaRPr lang="en-US" sz="1917"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4CD830D-CF25-3522-AAEB-8446BA8A10D7}"/>
              </a:ext>
            </a:extLst>
          </p:cNvPr>
          <p:cNvSpPr txBox="1"/>
          <p:nvPr/>
        </p:nvSpPr>
        <p:spPr>
          <a:xfrm>
            <a:off x="7190539" y="4682416"/>
            <a:ext cx="1651414" cy="387350"/>
          </a:xfrm>
          <a:prstGeom prst="rect">
            <a:avLst/>
          </a:prstGeom>
          <a:noFill/>
        </p:spPr>
        <p:txBody>
          <a:bodyPr wrap="none" rtlCol="0">
            <a:spAutoFit/>
          </a:bodyPr>
          <a:lstStyle/>
          <a:p>
            <a:r>
              <a:rPr lang="en-US" sz="1917" b="1" dirty="0">
                <a:latin typeface="Times New Roman" panose="02020603050405020304" pitchFamily="18" charset="0"/>
                <a:cs typeface="Times New Roman" panose="02020603050405020304" pitchFamily="18" charset="0"/>
              </a:rPr>
              <a:t>Batch No : </a:t>
            </a:r>
            <a:r>
              <a:rPr lang="en-US" sz="1917" dirty="0">
                <a:latin typeface="Times New Roman" panose="02020603050405020304" pitchFamily="18" charset="0"/>
                <a:cs typeface="Times New Roman" panose="02020603050405020304" pitchFamily="18" charset="0"/>
              </a:rPr>
              <a:t>C5</a:t>
            </a:r>
            <a:endParaRPr lang="en-IN" sz="1917"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58556" y="617936"/>
            <a:ext cx="5474891"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Objectives of the Project Work</a:t>
            </a:r>
            <a:endParaRPr lang="en-US" sz="3125" dirty="0">
              <a:solidFill>
                <a:srgbClr val="2083E7"/>
              </a:solidFill>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F25B3A81-5819-6A8B-5397-94D0C3846DD1}"/>
              </a:ext>
            </a:extLst>
          </p:cNvPr>
          <p:cNvSpPr txBox="1"/>
          <p:nvPr/>
        </p:nvSpPr>
        <p:spPr>
          <a:xfrm>
            <a:off x="1797540" y="2351069"/>
            <a:ext cx="8596923" cy="2157450"/>
          </a:xfrm>
          <a:prstGeom prst="rect">
            <a:avLst/>
          </a:prstGeom>
          <a:noFill/>
        </p:spPr>
        <p:txBody>
          <a:bodyPr wrap="square" rtlCol="0">
            <a:spAutoFit/>
          </a:bodyPr>
          <a:lstStyle/>
          <a:p>
            <a:pPr marL="285739" indent="-285739" algn="just">
              <a:buFont typeface="+mj-lt"/>
              <a:buAutoNum type="arabicPeriod"/>
            </a:pPr>
            <a:r>
              <a:rPr lang="en-US" sz="1917" dirty="0">
                <a:latin typeface="Times New Roman" panose="02020603050405020304" pitchFamily="18" charset="0"/>
                <a:cs typeface="Times New Roman" panose="02020603050405020304" pitchFamily="18" charset="0"/>
              </a:rPr>
              <a:t>Develop a low-cost, accessible Braille-based IoT system that empowers visually and speech-impaired individuals to control home appliances independently, providing real-time confirmation through haptic feedback and audio signals to ensure accuracy and ease of use.</a:t>
            </a:r>
          </a:p>
          <a:p>
            <a:pPr marL="285739" indent="-285739" algn="just">
              <a:buFont typeface="+mj-lt"/>
              <a:buAutoNum type="arabicPeriod"/>
            </a:pPr>
            <a:r>
              <a:rPr lang="en-US" sz="1917" dirty="0">
                <a:latin typeface="Times New Roman" panose="02020603050405020304" pitchFamily="18" charset="0"/>
                <a:cs typeface="Times New Roman" panose="02020603050405020304" pitchFamily="18" charset="0"/>
              </a:rPr>
              <a:t>Implement an intelligent emergency alert system that detects hazards like fire and instantly notifies caregivers via Blynk IoT cloud push notifications ensuring continuous safety and reliability during critical situations.</a:t>
            </a:r>
            <a:endParaRPr lang="en-IN" sz="1917"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36356" y="447534"/>
            <a:ext cx="5119291" cy="496193"/>
          </a:xfrm>
          <a:prstGeom prst="rect">
            <a:avLst/>
          </a:prstGeom>
          <a:noFill/>
          <a:ln/>
        </p:spPr>
        <p:txBody>
          <a:bodyPr wrap="none" lIns="0" tIns="0" rIns="0" bIns="0" rtlCol="0" anchor="t"/>
          <a:lstStyle/>
          <a:p>
            <a:pPr algn="ctr">
              <a:lnSpc>
                <a:spcPts val="3875"/>
              </a:lnSpc>
            </a:pPr>
            <a:r>
              <a:rPr lang="en-US" sz="3125" b="1" dirty="0">
                <a:solidFill>
                  <a:srgbClr val="2083E7"/>
                </a:solidFill>
                <a:latin typeface="Times New Roman" panose="02020603050405020304" pitchFamily="18" charset="0"/>
                <a:ea typeface="Petrona Bold" pitchFamily="34" charset="-122"/>
                <a:cs typeface="Times New Roman" panose="02020603050405020304" pitchFamily="18" charset="0"/>
              </a:rPr>
              <a:t>Abstract of the Project Work</a:t>
            </a:r>
            <a:endParaRPr lang="en-US" sz="3125" dirty="0">
              <a:solidFill>
                <a:srgbClr val="2083E7"/>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60C2277-8739-2D8D-BC48-22ACE58AD221}"/>
              </a:ext>
            </a:extLst>
          </p:cNvPr>
          <p:cNvSpPr txBox="1"/>
          <p:nvPr/>
        </p:nvSpPr>
        <p:spPr>
          <a:xfrm>
            <a:off x="708949" y="2358988"/>
            <a:ext cx="10774102" cy="2157450"/>
          </a:xfrm>
          <a:prstGeom prst="rect">
            <a:avLst/>
          </a:prstGeom>
          <a:noFill/>
        </p:spPr>
        <p:txBody>
          <a:bodyPr wrap="square">
            <a:spAutoFit/>
          </a:bodyPr>
          <a:lstStyle/>
          <a:p>
            <a:pPr algn="just"/>
            <a:r>
              <a:rPr lang="en-US" sz="1917" dirty="0">
                <a:latin typeface="Times New Roman" panose="02020603050405020304" pitchFamily="18" charset="0"/>
                <a:cs typeface="Times New Roman" panose="02020603050405020304" pitchFamily="18" charset="0"/>
              </a:rPr>
              <a:t>This project presents a Braille-based IoT home automation system designed to assist visually and speech-impaired individuals. Built on ESP32 microcontrollers, the system employs a custom persistent TCP protocol to transmit commands from a portable six-dot Braille keypad to a central appliance controller. Accessibility is ensured through simultaneous haptic (vibration) and auditory feedback for the user, while an SSD1306 OLED display provides visual status for caregivers. Additionally, the system integrates flame sensors and Blynk IoT connectivity to provide real-time safety alerts, offering a secure, reliable, and inclusive alternative to conventional smart home controls.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66A31-06B9-1BB6-9B07-E7A38951A9B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3E62583-CF37-3D9A-BA08-CFEE519C52FE}"/>
              </a:ext>
            </a:extLst>
          </p:cNvPr>
          <p:cNvSpPr/>
          <p:nvPr/>
        </p:nvSpPr>
        <p:spPr>
          <a:xfrm>
            <a:off x="3720575" y="142285"/>
            <a:ext cx="4750853" cy="311646"/>
          </a:xfrm>
          <a:prstGeom prst="rect">
            <a:avLst/>
          </a:prstGeom>
          <a:noFill/>
          <a:ln/>
        </p:spPr>
        <p:txBody>
          <a:bodyPr wrap="none" lIns="0" tIns="0" rIns="0" bIns="0" rtlCol="0" anchor="t"/>
          <a:lstStyle/>
          <a:p>
            <a:pPr>
              <a:lnSpc>
                <a:spcPts val="2417"/>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Hardware Wiring Diagram</a:t>
            </a:r>
            <a:endParaRPr lang="en-US" sz="3125" dirty="0">
              <a:solidFill>
                <a:srgbClr val="0070C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5E65061-4CF8-380F-F07A-68FFE9CB7264}"/>
              </a:ext>
            </a:extLst>
          </p:cNvPr>
          <p:cNvSpPr txBox="1"/>
          <p:nvPr/>
        </p:nvSpPr>
        <p:spPr>
          <a:xfrm>
            <a:off x="5131635" y="431411"/>
            <a:ext cx="1928733"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Remote Module</a:t>
            </a:r>
          </a:p>
        </p:txBody>
      </p:sp>
      <p:pic>
        <p:nvPicPr>
          <p:cNvPr id="5" name="Picture 4">
            <a:extLst>
              <a:ext uri="{FF2B5EF4-FFF2-40B4-BE49-F238E27FC236}">
                <a16:creationId xmlns:a16="http://schemas.microsoft.com/office/drawing/2014/main" id="{FD821063-7DC4-D480-1B67-FA8EF44FD42C}"/>
              </a:ext>
            </a:extLst>
          </p:cNvPr>
          <p:cNvPicPr>
            <a:picLocks noChangeAspect="1"/>
          </p:cNvPicPr>
          <p:nvPr/>
        </p:nvPicPr>
        <p:blipFill>
          <a:blip r:embed="rId2"/>
          <a:stretch>
            <a:fillRect/>
          </a:stretch>
        </p:blipFill>
        <p:spPr>
          <a:xfrm>
            <a:off x="0" y="1253628"/>
            <a:ext cx="12192000" cy="4352335"/>
          </a:xfrm>
          <a:prstGeom prst="rect">
            <a:avLst/>
          </a:prstGeom>
        </p:spPr>
      </p:pic>
    </p:spTree>
    <p:extLst>
      <p:ext uri="{BB962C8B-B14F-4D97-AF65-F5344CB8AC3E}">
        <p14:creationId xmlns:p14="http://schemas.microsoft.com/office/powerpoint/2010/main" val="299667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3F97C33-7738-6071-6BCF-AF184C8123DD}"/>
              </a:ext>
            </a:extLst>
          </p:cNvPr>
          <p:cNvSpPr/>
          <p:nvPr/>
        </p:nvSpPr>
        <p:spPr>
          <a:xfrm>
            <a:off x="3720575" y="175898"/>
            <a:ext cx="4750853" cy="311646"/>
          </a:xfrm>
          <a:prstGeom prst="rect">
            <a:avLst/>
          </a:prstGeom>
          <a:noFill/>
          <a:ln/>
        </p:spPr>
        <p:txBody>
          <a:bodyPr wrap="none" lIns="0" tIns="0" rIns="0" bIns="0" rtlCol="0" anchor="t"/>
          <a:lstStyle/>
          <a:p>
            <a:pPr>
              <a:lnSpc>
                <a:spcPts val="2417"/>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Hardware Wiring Diagram</a:t>
            </a:r>
            <a:endParaRPr lang="en-US" sz="3125" dirty="0">
              <a:solidFill>
                <a:srgbClr val="0070C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61119DB-D3B7-3283-FE39-240E184194B4}"/>
              </a:ext>
            </a:extLst>
          </p:cNvPr>
          <p:cNvPicPr>
            <a:picLocks noChangeAspect="1"/>
          </p:cNvPicPr>
          <p:nvPr/>
        </p:nvPicPr>
        <p:blipFill>
          <a:blip r:embed="rId2"/>
          <a:srcRect t="5170" b="6614"/>
          <a:stretch>
            <a:fillRect/>
          </a:stretch>
        </p:blipFill>
        <p:spPr>
          <a:xfrm>
            <a:off x="0" y="872894"/>
            <a:ext cx="12192000" cy="5513910"/>
          </a:xfrm>
          <a:prstGeom prst="rect">
            <a:avLst/>
          </a:prstGeom>
        </p:spPr>
      </p:pic>
      <p:sp>
        <p:nvSpPr>
          <p:cNvPr id="9" name="TextBox 8">
            <a:extLst>
              <a:ext uri="{FF2B5EF4-FFF2-40B4-BE49-F238E27FC236}">
                <a16:creationId xmlns:a16="http://schemas.microsoft.com/office/drawing/2014/main" id="{F50F396B-4DD2-641E-322D-3F29F9D3752C}"/>
              </a:ext>
            </a:extLst>
          </p:cNvPr>
          <p:cNvSpPr txBox="1"/>
          <p:nvPr/>
        </p:nvSpPr>
        <p:spPr>
          <a:xfrm>
            <a:off x="4623483" y="472784"/>
            <a:ext cx="2945037"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Appliance Control Module</a:t>
            </a:r>
          </a:p>
        </p:txBody>
      </p:sp>
    </p:spTree>
    <p:extLst>
      <p:ext uri="{BB962C8B-B14F-4D97-AF65-F5344CB8AC3E}">
        <p14:creationId xmlns:p14="http://schemas.microsoft.com/office/powerpoint/2010/main" val="349413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81DAD596-0026-ADF7-9D56-478E3A96DA49}"/>
              </a:ext>
            </a:extLst>
          </p:cNvPr>
          <p:cNvSpPr/>
          <p:nvPr/>
        </p:nvSpPr>
        <p:spPr>
          <a:xfrm>
            <a:off x="186814" y="797208"/>
            <a:ext cx="11788877" cy="1868129"/>
          </a:xfrm>
          <a:prstGeom prst="roundRect">
            <a:avLst/>
          </a:prstGeom>
          <a:solidFill>
            <a:schemeClr val="bg1">
              <a:lumMod val="9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 0">
            <a:extLst>
              <a:ext uri="{FF2B5EF4-FFF2-40B4-BE49-F238E27FC236}">
                <a16:creationId xmlns:a16="http://schemas.microsoft.com/office/drawing/2014/main" id="{4AF58067-0CAB-0EEA-338B-2A4DEE9D41F2}"/>
              </a:ext>
            </a:extLst>
          </p:cNvPr>
          <p:cNvSpPr>
            <a:spLocks noGrp="1"/>
          </p:cNvSpPr>
          <p:nvPr>
            <p:ph type="title"/>
          </p:nvPr>
        </p:nvSpPr>
        <p:spPr>
          <a:xfrm>
            <a:off x="6096000" y="295761"/>
            <a:ext cx="0" cy="0"/>
          </a:xfrm>
          <a:prstGeom prst="rect">
            <a:avLst/>
          </a:prstGeom>
          <a:noFill/>
          <a:ln/>
        </p:spPr>
        <p:txBody>
          <a:bodyPr wrap="none" lIns="0" tIns="0" rIns="0" bIns="0" rtlCol="0" anchor="t"/>
          <a:lstStyle/>
          <a:p>
            <a:pPr>
              <a:lnSpc>
                <a:spcPts val="2417"/>
              </a:lnSpc>
            </a:pPr>
            <a:r>
              <a:rPr lang="en-US" sz="3125" b="1" dirty="0">
                <a:solidFill>
                  <a:srgbClr val="0070C0"/>
                </a:solidFill>
                <a:latin typeface="Times New Roman" panose="02020603050405020304" pitchFamily="18" charset="0"/>
                <a:ea typeface="Petrona Bold" pitchFamily="34" charset="-122"/>
                <a:cs typeface="Times New Roman" panose="02020603050405020304" pitchFamily="18" charset="0"/>
              </a:rPr>
              <a:t>Flow chart</a:t>
            </a:r>
            <a:endParaRPr lang="en-US" sz="3125" dirty="0">
              <a:solidFill>
                <a:srgbClr val="0070C0"/>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A8D19B2A-420E-FB20-6740-ECDD18EFA610}"/>
              </a:ext>
            </a:extLst>
          </p:cNvPr>
          <p:cNvSpPr/>
          <p:nvPr/>
        </p:nvSpPr>
        <p:spPr>
          <a:xfrm>
            <a:off x="373627" y="1298652"/>
            <a:ext cx="1101213" cy="422788"/>
          </a:xfrm>
          <a:prstGeom prst="roundRect">
            <a:avLst>
              <a:gd name="adj" fmla="val 30621"/>
            </a:avLst>
          </a:prstGeom>
          <a:solidFill>
            <a:srgbClr val="FF950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Power ON</a:t>
            </a:r>
          </a:p>
        </p:txBody>
      </p:sp>
      <p:sp>
        <p:nvSpPr>
          <p:cNvPr id="7" name="Rectangle: Rounded Corners 6">
            <a:extLst>
              <a:ext uri="{FF2B5EF4-FFF2-40B4-BE49-F238E27FC236}">
                <a16:creationId xmlns:a16="http://schemas.microsoft.com/office/drawing/2014/main" id="{49023938-36C4-240B-2B2A-A538CD2CE459}"/>
              </a:ext>
            </a:extLst>
          </p:cNvPr>
          <p:cNvSpPr/>
          <p:nvPr/>
        </p:nvSpPr>
        <p:spPr>
          <a:xfrm>
            <a:off x="1838634" y="1243345"/>
            <a:ext cx="1602657" cy="526026"/>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Initialize sensors &amp; Wi-Fi</a:t>
            </a:r>
          </a:p>
        </p:txBody>
      </p:sp>
      <p:sp>
        <p:nvSpPr>
          <p:cNvPr id="8" name="Rectangle: Rounded Corners 7">
            <a:extLst>
              <a:ext uri="{FF2B5EF4-FFF2-40B4-BE49-F238E27FC236}">
                <a16:creationId xmlns:a16="http://schemas.microsoft.com/office/drawing/2014/main" id="{C8628B4D-DD58-204D-B688-B33CE0ED5240}"/>
              </a:ext>
            </a:extLst>
          </p:cNvPr>
          <p:cNvSpPr/>
          <p:nvPr/>
        </p:nvSpPr>
        <p:spPr>
          <a:xfrm>
            <a:off x="3805084" y="1249490"/>
            <a:ext cx="1101214"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Read inputs </a:t>
            </a:r>
          </a:p>
        </p:txBody>
      </p:sp>
      <p:sp>
        <p:nvSpPr>
          <p:cNvPr id="9" name="Rectangle: Rounded Corners 8">
            <a:extLst>
              <a:ext uri="{FF2B5EF4-FFF2-40B4-BE49-F238E27FC236}">
                <a16:creationId xmlns:a16="http://schemas.microsoft.com/office/drawing/2014/main" id="{F98D5F39-50DC-B48C-8A3D-2D28D58C3D5E}"/>
              </a:ext>
            </a:extLst>
          </p:cNvPr>
          <p:cNvSpPr/>
          <p:nvPr/>
        </p:nvSpPr>
        <p:spPr>
          <a:xfrm>
            <a:off x="4935794" y="1991826"/>
            <a:ext cx="1101214" cy="481780"/>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Send ACK or STOP </a:t>
            </a:r>
          </a:p>
        </p:txBody>
      </p:sp>
      <p:sp>
        <p:nvSpPr>
          <p:cNvPr id="10" name="Rectangle: Rounded Corners 9">
            <a:extLst>
              <a:ext uri="{FF2B5EF4-FFF2-40B4-BE49-F238E27FC236}">
                <a16:creationId xmlns:a16="http://schemas.microsoft.com/office/drawing/2014/main" id="{A29CC0D5-12A7-278E-9CBB-F80E3CDC8DFC}"/>
              </a:ext>
            </a:extLst>
          </p:cNvPr>
          <p:cNvSpPr/>
          <p:nvPr/>
        </p:nvSpPr>
        <p:spPr>
          <a:xfrm>
            <a:off x="6096000" y="1265468"/>
            <a:ext cx="1582994" cy="481781"/>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Send appliance command</a:t>
            </a:r>
          </a:p>
        </p:txBody>
      </p:sp>
      <p:sp>
        <p:nvSpPr>
          <p:cNvPr id="11" name="Diamond 10">
            <a:extLst>
              <a:ext uri="{FF2B5EF4-FFF2-40B4-BE49-F238E27FC236}">
                <a16:creationId xmlns:a16="http://schemas.microsoft.com/office/drawing/2014/main" id="{7E5F49C2-26ED-8166-6880-E2D5A47384E3}"/>
              </a:ext>
            </a:extLst>
          </p:cNvPr>
          <p:cNvSpPr/>
          <p:nvPr/>
        </p:nvSpPr>
        <p:spPr>
          <a:xfrm>
            <a:off x="8455491" y="1197168"/>
            <a:ext cx="1986366"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Is Feedback Received from TCP</a:t>
            </a:r>
          </a:p>
        </p:txBody>
      </p:sp>
      <p:sp>
        <p:nvSpPr>
          <p:cNvPr id="12" name="Rectangle: Rounded Corners 11">
            <a:extLst>
              <a:ext uri="{FF2B5EF4-FFF2-40B4-BE49-F238E27FC236}">
                <a16:creationId xmlns:a16="http://schemas.microsoft.com/office/drawing/2014/main" id="{66AA7FB5-0F4C-AAA3-D148-39C3B0BB305C}"/>
              </a:ext>
            </a:extLst>
          </p:cNvPr>
          <p:cNvSpPr/>
          <p:nvPr/>
        </p:nvSpPr>
        <p:spPr>
          <a:xfrm>
            <a:off x="10717160" y="1549374"/>
            <a:ext cx="1101214" cy="535859"/>
          </a:xfrm>
          <a:prstGeom prst="roundRect">
            <a:avLst>
              <a:gd name="adj" fmla="val 30621"/>
            </a:avLst>
          </a:prstGeom>
          <a:solidFill>
            <a:srgbClr val="34C759"/>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Play Feedback</a:t>
            </a:r>
          </a:p>
        </p:txBody>
      </p:sp>
      <p:cxnSp>
        <p:nvCxnSpPr>
          <p:cNvPr id="32" name="Straight Arrow Connector 31">
            <a:extLst>
              <a:ext uri="{FF2B5EF4-FFF2-40B4-BE49-F238E27FC236}">
                <a16:creationId xmlns:a16="http://schemas.microsoft.com/office/drawing/2014/main" id="{E7C09913-3A8D-C781-9AAD-F8F1EE14BAC5}"/>
              </a:ext>
            </a:extLst>
          </p:cNvPr>
          <p:cNvCxnSpPr>
            <a:stCxn id="6" idx="3"/>
            <a:endCxn id="7" idx="1"/>
          </p:cNvCxnSpPr>
          <p:nvPr/>
        </p:nvCxnSpPr>
        <p:spPr>
          <a:xfrm flipV="1">
            <a:off x="1474839" y="1506358"/>
            <a:ext cx="363794" cy="368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B8D31F57-826F-12E8-D28D-077F3D3792D6}"/>
              </a:ext>
            </a:extLst>
          </p:cNvPr>
          <p:cNvCxnSpPr>
            <a:stCxn id="7" idx="3"/>
            <a:endCxn id="8" idx="1"/>
          </p:cNvCxnSpPr>
          <p:nvPr/>
        </p:nvCxnSpPr>
        <p:spPr>
          <a:xfrm>
            <a:off x="3441290" y="1506359"/>
            <a:ext cx="363794" cy="36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8" name="Straight Arrow Connector 37">
            <a:extLst>
              <a:ext uri="{FF2B5EF4-FFF2-40B4-BE49-F238E27FC236}">
                <a16:creationId xmlns:a16="http://schemas.microsoft.com/office/drawing/2014/main" id="{CB96FF2B-9A7E-0E82-A4EB-83076051C2E3}"/>
              </a:ext>
            </a:extLst>
          </p:cNvPr>
          <p:cNvCxnSpPr>
            <a:endCxn id="10" idx="1"/>
          </p:cNvCxnSpPr>
          <p:nvPr/>
        </p:nvCxnSpPr>
        <p:spPr>
          <a:xfrm>
            <a:off x="4906298" y="1506358"/>
            <a:ext cx="1189702"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Connector: Elbow 41">
            <a:extLst>
              <a:ext uri="{FF2B5EF4-FFF2-40B4-BE49-F238E27FC236}">
                <a16:creationId xmlns:a16="http://schemas.microsoft.com/office/drawing/2014/main" id="{D69D3E48-A022-4154-C4E9-98B7C50C4707}"/>
              </a:ext>
            </a:extLst>
          </p:cNvPr>
          <p:cNvCxnSpPr>
            <a:stCxn id="8" idx="2"/>
            <a:endCxn id="9" idx="1"/>
          </p:cNvCxnSpPr>
          <p:nvPr/>
        </p:nvCxnSpPr>
        <p:spPr>
          <a:xfrm rot="16200000" flipH="1">
            <a:off x="4414684" y="1711607"/>
            <a:ext cx="462116" cy="580103"/>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44" name="Connector: Elbow 43">
            <a:extLst>
              <a:ext uri="{FF2B5EF4-FFF2-40B4-BE49-F238E27FC236}">
                <a16:creationId xmlns:a16="http://schemas.microsoft.com/office/drawing/2014/main" id="{81A88C73-A2FD-C99F-2C6A-A15ACE1F01AD}"/>
              </a:ext>
            </a:extLst>
          </p:cNvPr>
          <p:cNvCxnSpPr>
            <a:stCxn id="12" idx="0"/>
            <a:endCxn id="8" idx="0"/>
          </p:cNvCxnSpPr>
          <p:nvPr/>
        </p:nvCxnSpPr>
        <p:spPr>
          <a:xfrm rot="16200000" flipV="1">
            <a:off x="7661789" y="-2056606"/>
            <a:ext cx="299883" cy="6912076"/>
          </a:xfrm>
          <a:prstGeom prst="bentConnector3">
            <a:avLst>
              <a:gd name="adj1" fmla="val 186066"/>
            </a:avLst>
          </a:prstGeom>
          <a:ln>
            <a:tailEnd type="triangle"/>
          </a:ln>
        </p:spPr>
        <p:style>
          <a:lnRef idx="3">
            <a:schemeClr val="dk1"/>
          </a:lnRef>
          <a:fillRef idx="0">
            <a:schemeClr val="dk1"/>
          </a:fillRef>
          <a:effectRef idx="2">
            <a:schemeClr val="dk1"/>
          </a:effectRef>
          <a:fontRef idx="minor">
            <a:schemeClr val="tx1"/>
          </a:fontRef>
        </p:style>
      </p:cxnSp>
      <p:sp>
        <p:nvSpPr>
          <p:cNvPr id="46" name="Rectangle: Rounded Corners 45">
            <a:extLst>
              <a:ext uri="{FF2B5EF4-FFF2-40B4-BE49-F238E27FC236}">
                <a16:creationId xmlns:a16="http://schemas.microsoft.com/office/drawing/2014/main" id="{23C7DCD5-C18D-6241-9E1F-1C6D699A0518}"/>
              </a:ext>
            </a:extLst>
          </p:cNvPr>
          <p:cNvSpPr/>
          <p:nvPr/>
        </p:nvSpPr>
        <p:spPr>
          <a:xfrm>
            <a:off x="186813" y="3102175"/>
            <a:ext cx="11788877" cy="3702542"/>
          </a:xfrm>
          <a:prstGeom prst="roundRect">
            <a:avLst/>
          </a:prstGeom>
          <a:solidFill>
            <a:schemeClr val="bg1">
              <a:lumMod val="95000"/>
            </a:schemeClr>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7" name="Rectangle: Rounded Corners 46">
            <a:extLst>
              <a:ext uri="{FF2B5EF4-FFF2-40B4-BE49-F238E27FC236}">
                <a16:creationId xmlns:a16="http://schemas.microsoft.com/office/drawing/2014/main" id="{AB38A7E5-B436-1BD6-E77A-F0877AA53DD0}"/>
              </a:ext>
            </a:extLst>
          </p:cNvPr>
          <p:cNvSpPr/>
          <p:nvPr/>
        </p:nvSpPr>
        <p:spPr>
          <a:xfrm>
            <a:off x="388375" y="3744245"/>
            <a:ext cx="1101213" cy="422788"/>
          </a:xfrm>
          <a:prstGeom prst="roundRect">
            <a:avLst>
              <a:gd name="adj" fmla="val 30621"/>
            </a:avLst>
          </a:prstGeom>
          <a:solidFill>
            <a:srgbClr val="FF950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Power ON</a:t>
            </a:r>
          </a:p>
        </p:txBody>
      </p:sp>
      <p:sp>
        <p:nvSpPr>
          <p:cNvPr id="48" name="Rectangle: Rounded Corners 47">
            <a:extLst>
              <a:ext uri="{FF2B5EF4-FFF2-40B4-BE49-F238E27FC236}">
                <a16:creationId xmlns:a16="http://schemas.microsoft.com/office/drawing/2014/main" id="{B38ED511-D5F1-1DFE-80A7-03EBCF24B0C8}"/>
              </a:ext>
            </a:extLst>
          </p:cNvPr>
          <p:cNvSpPr/>
          <p:nvPr/>
        </p:nvSpPr>
        <p:spPr>
          <a:xfrm>
            <a:off x="1720646" y="3534695"/>
            <a:ext cx="1809135" cy="841887"/>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Initialize sensors, Wi-Fi &amp; Display</a:t>
            </a:r>
          </a:p>
        </p:txBody>
      </p:sp>
      <p:sp>
        <p:nvSpPr>
          <p:cNvPr id="49" name="Rectangle: Rounded Corners 48">
            <a:extLst>
              <a:ext uri="{FF2B5EF4-FFF2-40B4-BE49-F238E27FC236}">
                <a16:creationId xmlns:a16="http://schemas.microsoft.com/office/drawing/2014/main" id="{F8DAC6C7-8B69-0DE4-6E7D-C8BCD5B2D419}"/>
              </a:ext>
            </a:extLst>
          </p:cNvPr>
          <p:cNvSpPr/>
          <p:nvPr/>
        </p:nvSpPr>
        <p:spPr>
          <a:xfrm>
            <a:off x="3819832" y="3695083"/>
            <a:ext cx="1465004"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Listen TCP for commands</a:t>
            </a:r>
          </a:p>
        </p:txBody>
      </p:sp>
      <p:sp>
        <p:nvSpPr>
          <p:cNvPr id="50" name="Rectangle: Rounded Corners 49">
            <a:extLst>
              <a:ext uri="{FF2B5EF4-FFF2-40B4-BE49-F238E27FC236}">
                <a16:creationId xmlns:a16="http://schemas.microsoft.com/office/drawing/2014/main" id="{C08023B0-F4FD-4D3B-9389-26213752191A}"/>
              </a:ext>
            </a:extLst>
          </p:cNvPr>
          <p:cNvSpPr/>
          <p:nvPr/>
        </p:nvSpPr>
        <p:spPr>
          <a:xfrm>
            <a:off x="8017991" y="5580601"/>
            <a:ext cx="1194369" cy="481780"/>
          </a:xfrm>
          <a:prstGeom prst="roundRect">
            <a:avLst>
              <a:gd name="adj" fmla="val 30621"/>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Emergency alert</a:t>
            </a:r>
          </a:p>
        </p:txBody>
      </p:sp>
      <p:sp>
        <p:nvSpPr>
          <p:cNvPr id="51" name="Rectangle: Rounded Corners 50">
            <a:extLst>
              <a:ext uri="{FF2B5EF4-FFF2-40B4-BE49-F238E27FC236}">
                <a16:creationId xmlns:a16="http://schemas.microsoft.com/office/drawing/2014/main" id="{C7480AAD-D8BF-40BE-68D8-41D2C625E58E}"/>
              </a:ext>
            </a:extLst>
          </p:cNvPr>
          <p:cNvSpPr/>
          <p:nvPr/>
        </p:nvSpPr>
        <p:spPr>
          <a:xfrm>
            <a:off x="8064568" y="3714749"/>
            <a:ext cx="1101214" cy="481781"/>
          </a:xfrm>
          <a:prstGeom prst="roundRect">
            <a:avLst>
              <a:gd name="adj" fmla="val 24499"/>
            </a:avLst>
          </a:prstGeom>
          <a:solidFill>
            <a:srgbClr val="7030A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solidFill>
                  <a:schemeClr val="bg1"/>
                </a:solidFill>
              </a:rPr>
              <a:t>Decode command</a:t>
            </a:r>
          </a:p>
        </p:txBody>
      </p:sp>
      <p:sp>
        <p:nvSpPr>
          <p:cNvPr id="52" name="Diamond 51">
            <a:extLst>
              <a:ext uri="{FF2B5EF4-FFF2-40B4-BE49-F238E27FC236}">
                <a16:creationId xmlns:a16="http://schemas.microsoft.com/office/drawing/2014/main" id="{7D28E799-713C-7685-DD18-F48FB4485E59}"/>
              </a:ext>
            </a:extLst>
          </p:cNvPr>
          <p:cNvSpPr/>
          <p:nvPr/>
        </p:nvSpPr>
        <p:spPr>
          <a:xfrm>
            <a:off x="5972541" y="3330062"/>
            <a:ext cx="1809137"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300" dirty="0"/>
              <a:t>Is Command Received </a:t>
            </a:r>
          </a:p>
        </p:txBody>
      </p:sp>
      <p:sp>
        <p:nvSpPr>
          <p:cNvPr id="53" name="Rectangle: Rounded Corners 52">
            <a:extLst>
              <a:ext uri="{FF2B5EF4-FFF2-40B4-BE49-F238E27FC236}">
                <a16:creationId xmlns:a16="http://schemas.microsoft.com/office/drawing/2014/main" id="{2A513333-991D-D6EA-2364-7D97550E3E47}"/>
              </a:ext>
            </a:extLst>
          </p:cNvPr>
          <p:cNvSpPr/>
          <p:nvPr/>
        </p:nvSpPr>
        <p:spPr>
          <a:xfrm>
            <a:off x="10018782" y="4885673"/>
            <a:ext cx="1101214" cy="535859"/>
          </a:xfrm>
          <a:prstGeom prst="roundRect">
            <a:avLst>
              <a:gd name="adj" fmla="val 30621"/>
            </a:avLst>
          </a:prstGeom>
          <a:solidFill>
            <a:srgbClr val="34C759"/>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Update display</a:t>
            </a:r>
          </a:p>
        </p:txBody>
      </p:sp>
      <p:cxnSp>
        <p:nvCxnSpPr>
          <p:cNvPr id="54" name="Straight Arrow Connector 53">
            <a:extLst>
              <a:ext uri="{FF2B5EF4-FFF2-40B4-BE49-F238E27FC236}">
                <a16:creationId xmlns:a16="http://schemas.microsoft.com/office/drawing/2014/main" id="{78E8EE1C-F847-07FF-9F95-3F6954981A58}"/>
              </a:ext>
            </a:extLst>
          </p:cNvPr>
          <p:cNvCxnSpPr>
            <a:cxnSpLocks/>
            <a:stCxn id="47" idx="3"/>
            <a:endCxn id="48" idx="1"/>
          </p:cNvCxnSpPr>
          <p:nvPr/>
        </p:nvCxnSpPr>
        <p:spPr>
          <a:xfrm flipV="1">
            <a:off x="1489587" y="3955639"/>
            <a:ext cx="231058"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5" name="Straight Arrow Connector 54">
            <a:extLst>
              <a:ext uri="{FF2B5EF4-FFF2-40B4-BE49-F238E27FC236}">
                <a16:creationId xmlns:a16="http://schemas.microsoft.com/office/drawing/2014/main" id="{CD45AB73-EB8C-15A8-221D-585B6F8B1714}"/>
              </a:ext>
            </a:extLst>
          </p:cNvPr>
          <p:cNvCxnSpPr>
            <a:cxnSpLocks/>
            <a:stCxn id="48" idx="3"/>
            <a:endCxn id="49" idx="1"/>
          </p:cNvCxnSpPr>
          <p:nvPr/>
        </p:nvCxnSpPr>
        <p:spPr>
          <a:xfrm>
            <a:off x="3529780" y="3955638"/>
            <a:ext cx="2900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a:extLst>
              <a:ext uri="{FF2B5EF4-FFF2-40B4-BE49-F238E27FC236}">
                <a16:creationId xmlns:a16="http://schemas.microsoft.com/office/drawing/2014/main" id="{58FA36F6-0C47-1494-E6C0-C75943646722}"/>
              </a:ext>
            </a:extLst>
          </p:cNvPr>
          <p:cNvCxnSpPr>
            <a:endCxn id="12" idx="1"/>
          </p:cNvCxnSpPr>
          <p:nvPr/>
        </p:nvCxnSpPr>
        <p:spPr>
          <a:xfrm>
            <a:off x="10441858" y="1817303"/>
            <a:ext cx="275303"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1" name="Connector: Elbow 70">
            <a:extLst>
              <a:ext uri="{FF2B5EF4-FFF2-40B4-BE49-F238E27FC236}">
                <a16:creationId xmlns:a16="http://schemas.microsoft.com/office/drawing/2014/main" id="{AA369F99-31C4-1D4E-60E6-7E300422DD98}"/>
              </a:ext>
            </a:extLst>
          </p:cNvPr>
          <p:cNvCxnSpPr>
            <a:stCxn id="11" idx="1"/>
            <a:endCxn id="11" idx="0"/>
          </p:cNvCxnSpPr>
          <p:nvPr/>
        </p:nvCxnSpPr>
        <p:spPr>
          <a:xfrm rot="10800000" flipH="1">
            <a:off x="8455491" y="1197167"/>
            <a:ext cx="993183" cy="625578"/>
          </a:xfrm>
          <a:prstGeom prst="bentConnector4">
            <a:avLst>
              <a:gd name="adj1" fmla="val -23017"/>
              <a:gd name="adj2" fmla="val 121740"/>
            </a:avLst>
          </a:prstGeom>
          <a:ln>
            <a:tailEnd type="triangle"/>
          </a:ln>
        </p:spPr>
        <p:style>
          <a:lnRef idx="3">
            <a:schemeClr val="dk1"/>
          </a:lnRef>
          <a:fillRef idx="0">
            <a:schemeClr val="dk1"/>
          </a:fillRef>
          <a:effectRef idx="2">
            <a:schemeClr val="dk1"/>
          </a:effectRef>
          <a:fontRef idx="minor">
            <a:schemeClr val="tx1"/>
          </a:fontRef>
        </p:style>
      </p:cxnSp>
      <p:sp>
        <p:nvSpPr>
          <p:cNvPr id="86" name="Rectangle: Rounded Corners 85">
            <a:extLst>
              <a:ext uri="{FF2B5EF4-FFF2-40B4-BE49-F238E27FC236}">
                <a16:creationId xmlns:a16="http://schemas.microsoft.com/office/drawing/2014/main" id="{355E69CC-A992-E3C0-D4F5-FDBAAF3977B6}"/>
              </a:ext>
            </a:extLst>
          </p:cNvPr>
          <p:cNvSpPr/>
          <p:nvPr/>
        </p:nvSpPr>
        <p:spPr>
          <a:xfrm>
            <a:off x="9659843" y="3695084"/>
            <a:ext cx="1819095"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Execute command &amp; give Feedback</a:t>
            </a:r>
          </a:p>
        </p:txBody>
      </p:sp>
      <p:cxnSp>
        <p:nvCxnSpPr>
          <p:cNvPr id="88" name="Straight Arrow Connector 87">
            <a:extLst>
              <a:ext uri="{FF2B5EF4-FFF2-40B4-BE49-F238E27FC236}">
                <a16:creationId xmlns:a16="http://schemas.microsoft.com/office/drawing/2014/main" id="{45A10AE1-7C9B-2DCE-F14E-155522C44BCB}"/>
              </a:ext>
            </a:extLst>
          </p:cNvPr>
          <p:cNvCxnSpPr>
            <a:stCxn id="49" idx="3"/>
            <a:endCxn id="52" idx="1"/>
          </p:cNvCxnSpPr>
          <p:nvPr/>
        </p:nvCxnSpPr>
        <p:spPr>
          <a:xfrm>
            <a:off x="5284836" y="3955639"/>
            <a:ext cx="687704"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9" name="Straight Arrow Connector 98">
            <a:extLst>
              <a:ext uri="{FF2B5EF4-FFF2-40B4-BE49-F238E27FC236}">
                <a16:creationId xmlns:a16="http://schemas.microsoft.com/office/drawing/2014/main" id="{08FB15CD-F820-8857-7B24-BF1FA1D886A3}"/>
              </a:ext>
            </a:extLst>
          </p:cNvPr>
          <p:cNvCxnSpPr>
            <a:stCxn id="52" idx="3"/>
            <a:endCxn id="51" idx="1"/>
          </p:cNvCxnSpPr>
          <p:nvPr/>
        </p:nvCxnSpPr>
        <p:spPr>
          <a:xfrm>
            <a:off x="7781678" y="3955639"/>
            <a:ext cx="2828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3" name="Straight Arrow Connector 102">
            <a:extLst>
              <a:ext uri="{FF2B5EF4-FFF2-40B4-BE49-F238E27FC236}">
                <a16:creationId xmlns:a16="http://schemas.microsoft.com/office/drawing/2014/main" id="{631F6ADE-C006-1453-6206-1D42F2EA34FB}"/>
              </a:ext>
            </a:extLst>
          </p:cNvPr>
          <p:cNvCxnSpPr>
            <a:stCxn id="51" idx="3"/>
            <a:endCxn id="86" idx="1"/>
          </p:cNvCxnSpPr>
          <p:nvPr/>
        </p:nvCxnSpPr>
        <p:spPr>
          <a:xfrm>
            <a:off x="9165782" y="3955639"/>
            <a:ext cx="49406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5" name="Diamond 104">
            <a:extLst>
              <a:ext uri="{FF2B5EF4-FFF2-40B4-BE49-F238E27FC236}">
                <a16:creationId xmlns:a16="http://schemas.microsoft.com/office/drawing/2014/main" id="{70D10E76-B7E0-947F-6835-D366FB34F92E}"/>
              </a:ext>
            </a:extLst>
          </p:cNvPr>
          <p:cNvSpPr/>
          <p:nvPr/>
        </p:nvSpPr>
        <p:spPr>
          <a:xfrm>
            <a:off x="3647766" y="5192968"/>
            <a:ext cx="1809137" cy="1251155"/>
          </a:xfrm>
          <a:prstGeom prst="diamond">
            <a:avLst/>
          </a:prstGeom>
          <a:solidFill>
            <a:srgbClr val="FF0000"/>
          </a:solid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300" dirty="0"/>
              <a:t>Is Flame detected  </a:t>
            </a:r>
          </a:p>
        </p:txBody>
      </p:sp>
      <p:sp>
        <p:nvSpPr>
          <p:cNvPr id="106" name="Rectangle: Rounded Corners 105">
            <a:extLst>
              <a:ext uri="{FF2B5EF4-FFF2-40B4-BE49-F238E27FC236}">
                <a16:creationId xmlns:a16="http://schemas.microsoft.com/office/drawing/2014/main" id="{94206811-9F28-5229-C7AE-CE15057CB4F5}"/>
              </a:ext>
            </a:extLst>
          </p:cNvPr>
          <p:cNvSpPr/>
          <p:nvPr/>
        </p:nvSpPr>
        <p:spPr>
          <a:xfrm>
            <a:off x="1886798" y="5560935"/>
            <a:ext cx="1465004" cy="521110"/>
          </a:xfrm>
          <a:prstGeom prst="roundRect">
            <a:avLst>
              <a:gd name="adj" fmla="val 30621"/>
            </a:avLst>
          </a:prstGeom>
          <a:solidFill>
            <a:srgbClr val="00B0F0"/>
          </a:solid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t>Monitor Flame sensor</a:t>
            </a:r>
          </a:p>
        </p:txBody>
      </p:sp>
      <p:cxnSp>
        <p:nvCxnSpPr>
          <p:cNvPr id="110" name="Straight Arrow Connector 109">
            <a:extLst>
              <a:ext uri="{FF2B5EF4-FFF2-40B4-BE49-F238E27FC236}">
                <a16:creationId xmlns:a16="http://schemas.microsoft.com/office/drawing/2014/main" id="{1008EA08-1352-E84A-E45E-6C85891B7498}"/>
              </a:ext>
            </a:extLst>
          </p:cNvPr>
          <p:cNvCxnSpPr>
            <a:endCxn id="106" idx="0"/>
          </p:cNvCxnSpPr>
          <p:nvPr/>
        </p:nvCxnSpPr>
        <p:spPr>
          <a:xfrm>
            <a:off x="2619300" y="4376581"/>
            <a:ext cx="0" cy="11843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2" name="Straight Arrow Connector 111">
            <a:extLst>
              <a:ext uri="{FF2B5EF4-FFF2-40B4-BE49-F238E27FC236}">
                <a16:creationId xmlns:a16="http://schemas.microsoft.com/office/drawing/2014/main" id="{BA8B5833-6357-C99C-3A1A-A788973201D8}"/>
              </a:ext>
            </a:extLst>
          </p:cNvPr>
          <p:cNvCxnSpPr>
            <a:stCxn id="106" idx="3"/>
            <a:endCxn id="105" idx="1"/>
          </p:cNvCxnSpPr>
          <p:nvPr/>
        </p:nvCxnSpPr>
        <p:spPr>
          <a:xfrm flipV="1">
            <a:off x="3351803" y="5818546"/>
            <a:ext cx="295963" cy="29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4" name="Connector: Elbow 113">
            <a:extLst>
              <a:ext uri="{FF2B5EF4-FFF2-40B4-BE49-F238E27FC236}">
                <a16:creationId xmlns:a16="http://schemas.microsoft.com/office/drawing/2014/main" id="{D4CF69B5-CC6C-9201-5B4E-800388E9E990}"/>
              </a:ext>
            </a:extLst>
          </p:cNvPr>
          <p:cNvCxnSpPr>
            <a:stCxn id="105" idx="2"/>
            <a:endCxn id="106" idx="2"/>
          </p:cNvCxnSpPr>
          <p:nvPr/>
        </p:nvCxnSpPr>
        <p:spPr>
          <a:xfrm rot="5400000" flipH="1">
            <a:off x="3404779" y="5296567"/>
            <a:ext cx="362077" cy="1933034"/>
          </a:xfrm>
          <a:prstGeom prst="bentConnector3">
            <a:avLst>
              <a:gd name="adj1" fmla="val -24775"/>
            </a:avLst>
          </a:prstGeom>
          <a:ln>
            <a:tailEnd type="triangle"/>
          </a:ln>
        </p:spPr>
        <p:style>
          <a:lnRef idx="3">
            <a:schemeClr val="dk1"/>
          </a:lnRef>
          <a:fillRef idx="0">
            <a:schemeClr val="dk1"/>
          </a:fillRef>
          <a:effectRef idx="2">
            <a:schemeClr val="dk1"/>
          </a:effectRef>
          <a:fontRef idx="minor">
            <a:schemeClr val="tx1"/>
          </a:fontRef>
        </p:style>
      </p:cxnSp>
      <p:cxnSp>
        <p:nvCxnSpPr>
          <p:cNvPr id="119" name="Straight Arrow Connector 118">
            <a:extLst>
              <a:ext uri="{FF2B5EF4-FFF2-40B4-BE49-F238E27FC236}">
                <a16:creationId xmlns:a16="http://schemas.microsoft.com/office/drawing/2014/main" id="{5CA3FCD9-5A42-D517-7C43-E74F7A1250A5}"/>
              </a:ext>
            </a:extLst>
          </p:cNvPr>
          <p:cNvCxnSpPr>
            <a:stCxn id="105" idx="3"/>
            <a:endCxn id="50" idx="1"/>
          </p:cNvCxnSpPr>
          <p:nvPr/>
        </p:nvCxnSpPr>
        <p:spPr>
          <a:xfrm>
            <a:off x="5456902" y="5818545"/>
            <a:ext cx="2561088" cy="29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1" name="Connector: Elbow 120">
            <a:extLst>
              <a:ext uri="{FF2B5EF4-FFF2-40B4-BE49-F238E27FC236}">
                <a16:creationId xmlns:a16="http://schemas.microsoft.com/office/drawing/2014/main" id="{1B171AFD-A64B-E9C3-4160-6B3CF619C19B}"/>
              </a:ext>
            </a:extLst>
          </p:cNvPr>
          <p:cNvCxnSpPr>
            <a:stCxn id="50" idx="3"/>
            <a:endCxn id="53" idx="2"/>
          </p:cNvCxnSpPr>
          <p:nvPr/>
        </p:nvCxnSpPr>
        <p:spPr>
          <a:xfrm flipV="1">
            <a:off x="9212359" y="5421531"/>
            <a:ext cx="1357030" cy="399960"/>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25" name="Straight Arrow Connector 124">
            <a:extLst>
              <a:ext uri="{FF2B5EF4-FFF2-40B4-BE49-F238E27FC236}">
                <a16:creationId xmlns:a16="http://schemas.microsoft.com/office/drawing/2014/main" id="{894EC649-DBF4-D78C-E135-4C7180086948}"/>
              </a:ext>
            </a:extLst>
          </p:cNvPr>
          <p:cNvCxnSpPr>
            <a:stCxn id="86" idx="2"/>
            <a:endCxn id="53" idx="0"/>
          </p:cNvCxnSpPr>
          <p:nvPr/>
        </p:nvCxnSpPr>
        <p:spPr>
          <a:xfrm flipH="1">
            <a:off x="10569390" y="4216194"/>
            <a:ext cx="1" cy="6694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7" name="Connector: Elbow 126">
            <a:extLst>
              <a:ext uri="{FF2B5EF4-FFF2-40B4-BE49-F238E27FC236}">
                <a16:creationId xmlns:a16="http://schemas.microsoft.com/office/drawing/2014/main" id="{7674BEBF-8C31-DD15-49CB-574399EAAF9A}"/>
              </a:ext>
            </a:extLst>
          </p:cNvPr>
          <p:cNvCxnSpPr>
            <a:stCxn id="52" idx="2"/>
            <a:endCxn id="49" idx="2"/>
          </p:cNvCxnSpPr>
          <p:nvPr/>
        </p:nvCxnSpPr>
        <p:spPr>
          <a:xfrm rot="5400000" flipH="1">
            <a:off x="5532211" y="3236319"/>
            <a:ext cx="365023" cy="2324775"/>
          </a:xfrm>
          <a:prstGeom prst="bentConnector3">
            <a:avLst>
              <a:gd name="adj1" fmla="val -62626"/>
            </a:avLst>
          </a:prstGeom>
          <a:ln>
            <a:tailEnd type="triangle"/>
          </a:ln>
        </p:spPr>
        <p:style>
          <a:lnRef idx="3">
            <a:schemeClr val="dk1"/>
          </a:lnRef>
          <a:fillRef idx="0">
            <a:schemeClr val="dk1"/>
          </a:fillRef>
          <a:effectRef idx="2">
            <a:schemeClr val="dk1"/>
          </a:effectRef>
          <a:fontRef idx="minor">
            <a:schemeClr val="tx1"/>
          </a:fontRef>
        </p:style>
      </p:cxnSp>
      <p:cxnSp>
        <p:nvCxnSpPr>
          <p:cNvPr id="131" name="Connector: Elbow 130">
            <a:extLst>
              <a:ext uri="{FF2B5EF4-FFF2-40B4-BE49-F238E27FC236}">
                <a16:creationId xmlns:a16="http://schemas.microsoft.com/office/drawing/2014/main" id="{28097E87-0FBF-2AF5-8C0B-256B135F5381}"/>
              </a:ext>
            </a:extLst>
          </p:cNvPr>
          <p:cNvCxnSpPr>
            <a:stCxn id="9" idx="2"/>
            <a:endCxn id="49" idx="0"/>
          </p:cNvCxnSpPr>
          <p:nvPr/>
        </p:nvCxnSpPr>
        <p:spPr>
          <a:xfrm rot="5400000">
            <a:off x="4408631" y="2617312"/>
            <a:ext cx="1221477" cy="934067"/>
          </a:xfrm>
          <a:prstGeom prst="bentConnector3">
            <a:avLst>
              <a:gd name="adj1" fmla="val 32943"/>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4" name="Connector: Elbow 133">
            <a:extLst>
              <a:ext uri="{FF2B5EF4-FFF2-40B4-BE49-F238E27FC236}">
                <a16:creationId xmlns:a16="http://schemas.microsoft.com/office/drawing/2014/main" id="{5254FE19-DEB1-345F-E353-7E4B1DE48677}"/>
              </a:ext>
            </a:extLst>
          </p:cNvPr>
          <p:cNvCxnSpPr>
            <a:stCxn id="10" idx="2"/>
            <a:endCxn id="49" idx="0"/>
          </p:cNvCxnSpPr>
          <p:nvPr/>
        </p:nvCxnSpPr>
        <p:spPr>
          <a:xfrm rot="5400000">
            <a:off x="4746000" y="1553585"/>
            <a:ext cx="1947835" cy="2335163"/>
          </a:xfrm>
          <a:prstGeom prst="bentConnector3">
            <a:avLst>
              <a:gd name="adj1" fmla="val 57928"/>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7" name="Isosceles Triangle 136">
            <a:extLst>
              <a:ext uri="{FF2B5EF4-FFF2-40B4-BE49-F238E27FC236}">
                <a16:creationId xmlns:a16="http://schemas.microsoft.com/office/drawing/2014/main" id="{080DF562-8501-0154-8FF0-C57B67517EB9}"/>
              </a:ext>
            </a:extLst>
          </p:cNvPr>
          <p:cNvSpPr/>
          <p:nvPr/>
        </p:nvSpPr>
        <p:spPr>
          <a:xfrm rot="10800000">
            <a:off x="4524267" y="3632585"/>
            <a:ext cx="56132" cy="52972"/>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40" name="TextBox 139">
            <a:extLst>
              <a:ext uri="{FF2B5EF4-FFF2-40B4-BE49-F238E27FC236}">
                <a16:creationId xmlns:a16="http://schemas.microsoft.com/office/drawing/2014/main" id="{EFFE3EA4-750C-4901-38BC-ED9842836766}"/>
              </a:ext>
            </a:extLst>
          </p:cNvPr>
          <p:cNvSpPr txBox="1"/>
          <p:nvPr/>
        </p:nvSpPr>
        <p:spPr>
          <a:xfrm>
            <a:off x="373627" y="795776"/>
            <a:ext cx="2343783" cy="369332"/>
          </a:xfrm>
          <a:prstGeom prst="rect">
            <a:avLst/>
          </a:prstGeom>
          <a:noFill/>
        </p:spPr>
        <p:txBody>
          <a:bodyPr wrap="none" rtlCol="0">
            <a:spAutoFit/>
          </a:bodyPr>
          <a:lstStyle/>
          <a:p>
            <a:r>
              <a:rPr lang="en-IN" b="1" i="1" dirty="0">
                <a:solidFill>
                  <a:srgbClr val="0070C0"/>
                </a:solidFill>
              </a:rPr>
              <a:t>Braille Keypad Module</a:t>
            </a:r>
          </a:p>
        </p:txBody>
      </p:sp>
      <p:sp>
        <p:nvSpPr>
          <p:cNvPr id="141" name="TextBox 140">
            <a:extLst>
              <a:ext uri="{FF2B5EF4-FFF2-40B4-BE49-F238E27FC236}">
                <a16:creationId xmlns:a16="http://schemas.microsoft.com/office/drawing/2014/main" id="{94AFB615-A3DF-7851-3BD6-207D7743D09A}"/>
              </a:ext>
            </a:extLst>
          </p:cNvPr>
          <p:cNvSpPr txBox="1"/>
          <p:nvPr/>
        </p:nvSpPr>
        <p:spPr>
          <a:xfrm>
            <a:off x="358002" y="3122154"/>
            <a:ext cx="2675156" cy="369332"/>
          </a:xfrm>
          <a:prstGeom prst="rect">
            <a:avLst/>
          </a:prstGeom>
          <a:noFill/>
        </p:spPr>
        <p:txBody>
          <a:bodyPr wrap="none" rtlCol="0">
            <a:spAutoFit/>
          </a:bodyPr>
          <a:lstStyle/>
          <a:p>
            <a:r>
              <a:rPr lang="en-IN" b="1" i="1" dirty="0">
                <a:solidFill>
                  <a:srgbClr val="0070C0"/>
                </a:solidFill>
              </a:rPr>
              <a:t>Appliance Control Module</a:t>
            </a:r>
          </a:p>
        </p:txBody>
      </p:sp>
      <p:sp>
        <p:nvSpPr>
          <p:cNvPr id="142" name="TextBox 141">
            <a:extLst>
              <a:ext uri="{FF2B5EF4-FFF2-40B4-BE49-F238E27FC236}">
                <a16:creationId xmlns:a16="http://schemas.microsoft.com/office/drawing/2014/main" id="{0D25C2E4-2AC1-C13A-6332-E64716A6AEAD}"/>
              </a:ext>
            </a:extLst>
          </p:cNvPr>
          <p:cNvSpPr txBox="1"/>
          <p:nvPr/>
        </p:nvSpPr>
        <p:spPr>
          <a:xfrm>
            <a:off x="4932218" y="1240074"/>
            <a:ext cx="1104790" cy="246221"/>
          </a:xfrm>
          <a:prstGeom prst="rect">
            <a:avLst/>
          </a:prstGeom>
          <a:noFill/>
        </p:spPr>
        <p:txBody>
          <a:bodyPr wrap="none" rtlCol="0">
            <a:spAutoFit/>
          </a:bodyPr>
          <a:lstStyle/>
          <a:p>
            <a:r>
              <a:rPr lang="en-IN" sz="1000" dirty="0"/>
              <a:t>Valid Braille Input</a:t>
            </a:r>
          </a:p>
        </p:txBody>
      </p:sp>
      <p:sp>
        <p:nvSpPr>
          <p:cNvPr id="143" name="TextBox 142">
            <a:extLst>
              <a:ext uri="{FF2B5EF4-FFF2-40B4-BE49-F238E27FC236}">
                <a16:creationId xmlns:a16="http://schemas.microsoft.com/office/drawing/2014/main" id="{6C8E88EA-A9AB-6784-419F-DABFFB86F3F4}"/>
              </a:ext>
            </a:extLst>
          </p:cNvPr>
          <p:cNvSpPr txBox="1"/>
          <p:nvPr/>
        </p:nvSpPr>
        <p:spPr>
          <a:xfrm>
            <a:off x="4285078" y="1786178"/>
            <a:ext cx="793807" cy="246221"/>
          </a:xfrm>
          <a:prstGeom prst="rect">
            <a:avLst/>
          </a:prstGeom>
          <a:noFill/>
        </p:spPr>
        <p:txBody>
          <a:bodyPr wrap="none" rtlCol="0">
            <a:spAutoFit/>
          </a:bodyPr>
          <a:lstStyle/>
          <a:p>
            <a:r>
              <a:rPr lang="en-IN" sz="1000" dirty="0"/>
              <a:t>Emergency </a:t>
            </a:r>
          </a:p>
        </p:txBody>
      </p:sp>
      <p:sp>
        <p:nvSpPr>
          <p:cNvPr id="144" name="TextBox 143">
            <a:extLst>
              <a:ext uri="{FF2B5EF4-FFF2-40B4-BE49-F238E27FC236}">
                <a16:creationId xmlns:a16="http://schemas.microsoft.com/office/drawing/2014/main" id="{BBFF0620-4728-4C9E-D526-7CD03EBA480F}"/>
              </a:ext>
            </a:extLst>
          </p:cNvPr>
          <p:cNvSpPr txBox="1"/>
          <p:nvPr/>
        </p:nvSpPr>
        <p:spPr>
          <a:xfrm>
            <a:off x="10384583" y="1576526"/>
            <a:ext cx="389850" cy="246221"/>
          </a:xfrm>
          <a:prstGeom prst="rect">
            <a:avLst/>
          </a:prstGeom>
          <a:noFill/>
        </p:spPr>
        <p:txBody>
          <a:bodyPr wrap="none" rtlCol="0">
            <a:spAutoFit/>
          </a:bodyPr>
          <a:lstStyle/>
          <a:p>
            <a:r>
              <a:rPr lang="en-IN" sz="1000" dirty="0"/>
              <a:t>Yes </a:t>
            </a:r>
          </a:p>
        </p:txBody>
      </p:sp>
      <p:sp>
        <p:nvSpPr>
          <p:cNvPr id="145" name="TextBox 144">
            <a:extLst>
              <a:ext uri="{FF2B5EF4-FFF2-40B4-BE49-F238E27FC236}">
                <a16:creationId xmlns:a16="http://schemas.microsoft.com/office/drawing/2014/main" id="{82E78F61-16DC-BBE1-E4C7-D2A0B8ADC2C7}"/>
              </a:ext>
            </a:extLst>
          </p:cNvPr>
          <p:cNvSpPr txBox="1"/>
          <p:nvPr/>
        </p:nvSpPr>
        <p:spPr>
          <a:xfrm>
            <a:off x="7734237" y="3715055"/>
            <a:ext cx="389850" cy="246221"/>
          </a:xfrm>
          <a:prstGeom prst="rect">
            <a:avLst/>
          </a:prstGeom>
          <a:noFill/>
        </p:spPr>
        <p:txBody>
          <a:bodyPr wrap="none" rtlCol="0">
            <a:spAutoFit/>
          </a:bodyPr>
          <a:lstStyle/>
          <a:p>
            <a:r>
              <a:rPr lang="en-IN" sz="1000" dirty="0"/>
              <a:t>Yes </a:t>
            </a:r>
          </a:p>
        </p:txBody>
      </p:sp>
      <p:sp>
        <p:nvSpPr>
          <p:cNvPr id="146" name="TextBox 145">
            <a:extLst>
              <a:ext uri="{FF2B5EF4-FFF2-40B4-BE49-F238E27FC236}">
                <a16:creationId xmlns:a16="http://schemas.microsoft.com/office/drawing/2014/main" id="{77884AFE-E097-E7FB-385C-12467DB7C632}"/>
              </a:ext>
            </a:extLst>
          </p:cNvPr>
          <p:cNvSpPr txBox="1"/>
          <p:nvPr/>
        </p:nvSpPr>
        <p:spPr>
          <a:xfrm>
            <a:off x="6542521" y="5591682"/>
            <a:ext cx="389850" cy="246221"/>
          </a:xfrm>
          <a:prstGeom prst="rect">
            <a:avLst/>
          </a:prstGeom>
          <a:noFill/>
        </p:spPr>
        <p:txBody>
          <a:bodyPr wrap="none" rtlCol="0">
            <a:spAutoFit/>
          </a:bodyPr>
          <a:lstStyle/>
          <a:p>
            <a:r>
              <a:rPr lang="en-IN" sz="1000" dirty="0"/>
              <a:t>Yes </a:t>
            </a:r>
          </a:p>
        </p:txBody>
      </p:sp>
      <p:sp>
        <p:nvSpPr>
          <p:cNvPr id="147" name="TextBox 146">
            <a:extLst>
              <a:ext uri="{FF2B5EF4-FFF2-40B4-BE49-F238E27FC236}">
                <a16:creationId xmlns:a16="http://schemas.microsoft.com/office/drawing/2014/main" id="{0F7AB474-DFF9-054B-BF01-0406545CB382}"/>
              </a:ext>
            </a:extLst>
          </p:cNvPr>
          <p:cNvSpPr txBox="1"/>
          <p:nvPr/>
        </p:nvSpPr>
        <p:spPr>
          <a:xfrm>
            <a:off x="8181909" y="1330305"/>
            <a:ext cx="393056" cy="246221"/>
          </a:xfrm>
          <a:prstGeom prst="rect">
            <a:avLst/>
          </a:prstGeom>
          <a:noFill/>
        </p:spPr>
        <p:txBody>
          <a:bodyPr wrap="none" rtlCol="0">
            <a:spAutoFit/>
          </a:bodyPr>
          <a:lstStyle/>
          <a:p>
            <a:r>
              <a:rPr lang="en-IN" sz="1000" dirty="0"/>
              <a:t>No  </a:t>
            </a:r>
          </a:p>
        </p:txBody>
      </p:sp>
      <p:sp>
        <p:nvSpPr>
          <p:cNvPr id="148" name="TextBox 147">
            <a:extLst>
              <a:ext uri="{FF2B5EF4-FFF2-40B4-BE49-F238E27FC236}">
                <a16:creationId xmlns:a16="http://schemas.microsoft.com/office/drawing/2014/main" id="{7F99E7F9-01CE-2C5E-AC31-D77E5C1F67BC}"/>
              </a:ext>
            </a:extLst>
          </p:cNvPr>
          <p:cNvSpPr txBox="1"/>
          <p:nvPr/>
        </p:nvSpPr>
        <p:spPr>
          <a:xfrm>
            <a:off x="5518193" y="4591357"/>
            <a:ext cx="393056" cy="246221"/>
          </a:xfrm>
          <a:prstGeom prst="rect">
            <a:avLst/>
          </a:prstGeom>
          <a:noFill/>
        </p:spPr>
        <p:txBody>
          <a:bodyPr wrap="none" rtlCol="0">
            <a:spAutoFit/>
          </a:bodyPr>
          <a:lstStyle/>
          <a:p>
            <a:r>
              <a:rPr lang="en-IN" sz="1000" dirty="0"/>
              <a:t>No  </a:t>
            </a:r>
          </a:p>
        </p:txBody>
      </p:sp>
      <p:sp>
        <p:nvSpPr>
          <p:cNvPr id="149" name="TextBox 148">
            <a:extLst>
              <a:ext uri="{FF2B5EF4-FFF2-40B4-BE49-F238E27FC236}">
                <a16:creationId xmlns:a16="http://schemas.microsoft.com/office/drawing/2014/main" id="{F6BA028A-64BF-C5AD-D36C-654AA0B42F73}"/>
              </a:ext>
            </a:extLst>
          </p:cNvPr>
          <p:cNvSpPr txBox="1"/>
          <p:nvPr/>
        </p:nvSpPr>
        <p:spPr>
          <a:xfrm>
            <a:off x="3426776" y="6314838"/>
            <a:ext cx="393056" cy="246221"/>
          </a:xfrm>
          <a:prstGeom prst="rect">
            <a:avLst/>
          </a:prstGeom>
          <a:noFill/>
        </p:spPr>
        <p:txBody>
          <a:bodyPr wrap="none" rtlCol="0">
            <a:spAutoFit/>
          </a:bodyPr>
          <a:lstStyle/>
          <a:p>
            <a:r>
              <a:rPr lang="en-IN" sz="1000" dirty="0"/>
              <a:t>No  </a:t>
            </a:r>
          </a:p>
        </p:txBody>
      </p:sp>
      <p:cxnSp>
        <p:nvCxnSpPr>
          <p:cNvPr id="159" name="Connector: Elbow 158">
            <a:extLst>
              <a:ext uri="{FF2B5EF4-FFF2-40B4-BE49-F238E27FC236}">
                <a16:creationId xmlns:a16="http://schemas.microsoft.com/office/drawing/2014/main" id="{6C80C7F7-81B5-2B89-2EF1-43BF114F6D0C}"/>
              </a:ext>
            </a:extLst>
          </p:cNvPr>
          <p:cNvCxnSpPr>
            <a:stCxn id="86" idx="3"/>
            <a:endCxn id="11" idx="2"/>
          </p:cNvCxnSpPr>
          <p:nvPr/>
        </p:nvCxnSpPr>
        <p:spPr>
          <a:xfrm flipH="1" flipV="1">
            <a:off x="9448675" y="2448323"/>
            <a:ext cx="2030263" cy="1507317"/>
          </a:xfrm>
          <a:prstGeom prst="bentConnector4">
            <a:avLst>
              <a:gd name="adj1" fmla="val -11260"/>
              <a:gd name="adj2" fmla="val 67775"/>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1" name="Isosceles Triangle 160">
            <a:extLst>
              <a:ext uri="{FF2B5EF4-FFF2-40B4-BE49-F238E27FC236}">
                <a16:creationId xmlns:a16="http://schemas.microsoft.com/office/drawing/2014/main" id="{768EE49A-0314-473C-3D17-E9B805FA0268}"/>
              </a:ext>
            </a:extLst>
          </p:cNvPr>
          <p:cNvSpPr/>
          <p:nvPr/>
        </p:nvSpPr>
        <p:spPr>
          <a:xfrm>
            <a:off x="9422003" y="2456728"/>
            <a:ext cx="53340" cy="6604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2" name="TextBox 171">
            <a:extLst>
              <a:ext uri="{FF2B5EF4-FFF2-40B4-BE49-F238E27FC236}">
                <a16:creationId xmlns:a16="http://schemas.microsoft.com/office/drawing/2014/main" id="{5D4A0E75-38FF-8060-CCA0-7325C1FCFE23}"/>
              </a:ext>
            </a:extLst>
          </p:cNvPr>
          <p:cNvSpPr txBox="1"/>
          <p:nvPr/>
        </p:nvSpPr>
        <p:spPr>
          <a:xfrm>
            <a:off x="8331205" y="4493087"/>
            <a:ext cx="1223413" cy="400110"/>
          </a:xfrm>
          <a:prstGeom prst="rect">
            <a:avLst/>
          </a:prstGeom>
          <a:noFill/>
        </p:spPr>
        <p:txBody>
          <a:bodyPr wrap="none" rtlCol="0">
            <a:spAutoFit/>
          </a:bodyPr>
          <a:lstStyle/>
          <a:p>
            <a:pPr algn="ctr"/>
            <a:r>
              <a:rPr lang="en-IN" sz="1000" dirty="0"/>
              <a:t>‘F’ fire alert </a:t>
            </a:r>
          </a:p>
          <a:p>
            <a:pPr algn="ctr"/>
            <a:r>
              <a:rPr lang="en-IN" sz="1000" dirty="0"/>
              <a:t>feedback pattern →</a:t>
            </a:r>
          </a:p>
        </p:txBody>
      </p:sp>
      <p:cxnSp>
        <p:nvCxnSpPr>
          <p:cNvPr id="175" name="Connector: Elbow 174">
            <a:extLst>
              <a:ext uri="{FF2B5EF4-FFF2-40B4-BE49-F238E27FC236}">
                <a16:creationId xmlns:a16="http://schemas.microsoft.com/office/drawing/2014/main" id="{B77CE150-CA1F-9BDE-7547-C1D7EAA6B7E7}"/>
              </a:ext>
            </a:extLst>
          </p:cNvPr>
          <p:cNvCxnSpPr>
            <a:cxnSpLocks/>
            <a:stCxn id="50" idx="3"/>
            <a:endCxn id="161" idx="0"/>
          </p:cNvCxnSpPr>
          <p:nvPr/>
        </p:nvCxnSpPr>
        <p:spPr>
          <a:xfrm flipV="1">
            <a:off x="9212359" y="2456729"/>
            <a:ext cx="236314" cy="3364763"/>
          </a:xfrm>
          <a:prstGeom prst="bentConnector4">
            <a:avLst>
              <a:gd name="adj1" fmla="val 44357"/>
              <a:gd name="adj2" fmla="val 89"/>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1" name="TextBox 180">
            <a:extLst>
              <a:ext uri="{FF2B5EF4-FFF2-40B4-BE49-F238E27FC236}">
                <a16:creationId xmlns:a16="http://schemas.microsoft.com/office/drawing/2014/main" id="{F32F0B91-5573-7D4C-3E03-4E6BBAFE15AE}"/>
              </a:ext>
            </a:extLst>
          </p:cNvPr>
          <p:cNvSpPr txBox="1"/>
          <p:nvPr/>
        </p:nvSpPr>
        <p:spPr>
          <a:xfrm>
            <a:off x="10592762" y="3144289"/>
            <a:ext cx="1223413" cy="400110"/>
          </a:xfrm>
          <a:prstGeom prst="rect">
            <a:avLst/>
          </a:prstGeom>
          <a:noFill/>
        </p:spPr>
        <p:txBody>
          <a:bodyPr wrap="none" rtlCol="0">
            <a:spAutoFit/>
          </a:bodyPr>
          <a:lstStyle/>
          <a:p>
            <a:pPr algn="ctr"/>
            <a:r>
              <a:rPr lang="en-IN" sz="1000" dirty="0"/>
              <a:t>S/E/C/W</a:t>
            </a:r>
          </a:p>
          <a:p>
            <a:pPr algn="ctr"/>
            <a:r>
              <a:rPr lang="en-IN" sz="1000" dirty="0"/>
              <a:t>feedback pattern →</a:t>
            </a:r>
          </a:p>
        </p:txBody>
      </p:sp>
      <p:cxnSp>
        <p:nvCxnSpPr>
          <p:cNvPr id="183" name="Connector: Elbow 182">
            <a:extLst>
              <a:ext uri="{FF2B5EF4-FFF2-40B4-BE49-F238E27FC236}">
                <a16:creationId xmlns:a16="http://schemas.microsoft.com/office/drawing/2014/main" id="{DBABEF82-8914-5F7B-03A0-F1EB66AB6C67}"/>
              </a:ext>
            </a:extLst>
          </p:cNvPr>
          <p:cNvCxnSpPr>
            <a:stCxn id="50" idx="2"/>
            <a:endCxn id="106" idx="1"/>
          </p:cNvCxnSpPr>
          <p:nvPr/>
        </p:nvCxnSpPr>
        <p:spPr>
          <a:xfrm rot="5400000" flipH="1">
            <a:off x="5130542" y="2577749"/>
            <a:ext cx="240891" cy="6728377"/>
          </a:xfrm>
          <a:prstGeom prst="bentConnector4">
            <a:avLst>
              <a:gd name="adj1" fmla="val -262244"/>
              <a:gd name="adj2" fmla="val 103398"/>
            </a:avLst>
          </a:prstGeom>
          <a:ln>
            <a:tailEnd type="triangle"/>
          </a:ln>
        </p:spPr>
        <p:style>
          <a:lnRef idx="3">
            <a:schemeClr val="dk1"/>
          </a:lnRef>
          <a:fillRef idx="0">
            <a:schemeClr val="dk1"/>
          </a:fillRef>
          <a:effectRef idx="2">
            <a:schemeClr val="dk1"/>
          </a:effectRef>
          <a:fontRef idx="minor">
            <a:schemeClr val="tx1"/>
          </a:fontRef>
        </p:style>
      </p:cxnSp>
      <p:cxnSp>
        <p:nvCxnSpPr>
          <p:cNvPr id="190" name="Connector: Elbow 189">
            <a:extLst>
              <a:ext uri="{FF2B5EF4-FFF2-40B4-BE49-F238E27FC236}">
                <a16:creationId xmlns:a16="http://schemas.microsoft.com/office/drawing/2014/main" id="{25358D26-1678-4E60-A7A8-4BBA3AAEEF32}"/>
              </a:ext>
            </a:extLst>
          </p:cNvPr>
          <p:cNvCxnSpPr>
            <a:stCxn id="53" idx="1"/>
            <a:endCxn id="49" idx="2"/>
          </p:cNvCxnSpPr>
          <p:nvPr/>
        </p:nvCxnSpPr>
        <p:spPr>
          <a:xfrm rot="10800000">
            <a:off x="4552334" y="4216195"/>
            <a:ext cx="5466448" cy="937409"/>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4337594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66279" y="354934"/>
            <a:ext cx="5554725" cy="319441"/>
          </a:xfrm>
          <a:prstGeom prst="rect">
            <a:avLst/>
          </a:prstGeom>
          <a:noFill/>
          <a:ln/>
        </p:spPr>
        <p:txBody>
          <a:bodyPr wrap="square" lIns="0" tIns="0" rIns="0" bIns="0" rtlCol="0" anchor="ctr"/>
          <a:lstStyle/>
          <a:p>
            <a:pPr>
              <a:lnSpc>
                <a:spcPct val="100000"/>
              </a:lnSpc>
            </a:pPr>
            <a:r>
              <a:rPr lang="en-US" sz="2096" b="1" dirty="0">
                <a:solidFill>
                  <a:srgbClr val="0070C0"/>
                </a:solidFill>
                <a:latin typeface="Sorts Mill Goudy" pitchFamily="34" charset="0"/>
                <a:ea typeface="Sorts Mill Goudy" pitchFamily="34" charset="-122"/>
                <a:cs typeface="Sorts Mill Goudy" pitchFamily="34" charset="-120"/>
              </a:rPr>
              <a:t>Module Communication &amp; Braille Recognition</a:t>
            </a:r>
            <a:endParaRPr lang="en-US" sz="1600" dirty="0">
              <a:solidFill>
                <a:srgbClr val="0070C0"/>
              </a:solidFill>
            </a:endParaRPr>
          </a:p>
        </p:txBody>
      </p:sp>
      <p:sp>
        <p:nvSpPr>
          <p:cNvPr id="4" name="Shape 2"/>
          <p:cNvSpPr/>
          <p:nvPr/>
        </p:nvSpPr>
        <p:spPr>
          <a:xfrm>
            <a:off x="354934" y="745362"/>
            <a:ext cx="11482131" cy="17747"/>
          </a:xfrm>
          <a:custGeom>
            <a:avLst/>
            <a:gdLst/>
            <a:ahLst/>
            <a:cxnLst/>
            <a:rect l="l" t="t" r="r" b="b"/>
            <a:pathLst>
              <a:path w="11482131" h="17747">
                <a:moveTo>
                  <a:pt x="0" y="0"/>
                </a:moveTo>
                <a:lnTo>
                  <a:pt x="11482131" y="0"/>
                </a:lnTo>
                <a:lnTo>
                  <a:pt x="11482131" y="17747"/>
                </a:lnTo>
                <a:lnTo>
                  <a:pt x="0" y="17747"/>
                </a:lnTo>
                <a:lnTo>
                  <a:pt x="0" y="0"/>
                </a:lnTo>
                <a:close/>
              </a:path>
            </a:pathLst>
          </a:custGeom>
          <a:solidFill>
            <a:srgbClr val="92D050"/>
          </a:solidFill>
          <a:ln>
            <a:solidFill>
              <a:srgbClr val="92D050"/>
            </a:solidFill>
          </a:ln>
        </p:spPr>
      </p:sp>
      <p:sp>
        <p:nvSpPr>
          <p:cNvPr id="5" name="Shape 3"/>
          <p:cNvSpPr/>
          <p:nvPr/>
        </p:nvSpPr>
        <p:spPr>
          <a:xfrm>
            <a:off x="372681" y="905083"/>
            <a:ext cx="35493" cy="1739179"/>
          </a:xfrm>
          <a:custGeom>
            <a:avLst/>
            <a:gdLst/>
            <a:ahLst/>
            <a:cxnLst/>
            <a:rect l="l" t="t" r="r" b="b"/>
            <a:pathLst>
              <a:path w="35493" h="1739179">
                <a:moveTo>
                  <a:pt x="0" y="0"/>
                </a:moveTo>
                <a:lnTo>
                  <a:pt x="35493" y="0"/>
                </a:lnTo>
                <a:lnTo>
                  <a:pt x="35493" y="1739179"/>
                </a:lnTo>
                <a:lnTo>
                  <a:pt x="0" y="1739179"/>
                </a:lnTo>
                <a:lnTo>
                  <a:pt x="0" y="0"/>
                </a:lnTo>
                <a:close/>
              </a:path>
            </a:pathLst>
          </a:custGeom>
          <a:solidFill>
            <a:srgbClr val="FFFF00"/>
          </a:solidFill>
          <a:ln/>
        </p:spPr>
      </p:sp>
      <p:sp>
        <p:nvSpPr>
          <p:cNvPr id="6" name="Text 4"/>
          <p:cNvSpPr/>
          <p:nvPr/>
        </p:nvSpPr>
        <p:spPr>
          <a:xfrm>
            <a:off x="532402" y="905083"/>
            <a:ext cx="5563598" cy="248454"/>
          </a:xfrm>
          <a:prstGeom prst="rect">
            <a:avLst/>
          </a:prstGeom>
          <a:noFill/>
          <a:ln/>
        </p:spPr>
        <p:txBody>
          <a:bodyPr wrap="square" lIns="0" tIns="0" rIns="0" bIns="0" rtlCol="0" anchor="ctr"/>
          <a:lstStyle/>
          <a:p>
            <a:pPr>
              <a:lnSpc>
                <a:spcPct val="120000"/>
              </a:lnSpc>
            </a:pPr>
            <a:r>
              <a:rPr lang="en-US" sz="1397" b="1" dirty="0">
                <a:solidFill>
                  <a:srgbClr val="1F2937"/>
                </a:solidFill>
                <a:latin typeface="Sorts Mill Goudy" pitchFamily="34" charset="0"/>
                <a:ea typeface="Sorts Mill Goudy" pitchFamily="34" charset="-122"/>
                <a:cs typeface="Sorts Mill Goudy" pitchFamily="34" charset="-120"/>
              </a:rPr>
              <a:t>System Connectivity</a:t>
            </a:r>
            <a:endParaRPr lang="en-US" sz="1600" dirty="0"/>
          </a:p>
        </p:txBody>
      </p:sp>
      <p:sp>
        <p:nvSpPr>
          <p:cNvPr id="7" name="Text 5"/>
          <p:cNvSpPr/>
          <p:nvPr/>
        </p:nvSpPr>
        <p:spPr>
          <a:xfrm>
            <a:off x="532402" y="1260017"/>
            <a:ext cx="5545852" cy="212961"/>
          </a:xfrm>
          <a:prstGeom prst="rect">
            <a:avLst/>
          </a:prstGeom>
          <a:noFill/>
          <a:ln/>
        </p:spPr>
        <p:txBody>
          <a:bodyPr wrap="square" lIns="0" tIns="0" rIns="0" bIns="0" rtlCol="0" anchor="ctr"/>
          <a:lstStyle/>
          <a:p>
            <a:pPr>
              <a:lnSpc>
                <a:spcPct val="130000"/>
              </a:lnSpc>
            </a:pPr>
            <a:r>
              <a:rPr lang="en-US" sz="1118" b="1" dirty="0">
                <a:solidFill>
                  <a:srgbClr val="1F2937"/>
                </a:solidFill>
                <a:latin typeface="Sorts Mill Goudy" pitchFamily="34" charset="0"/>
                <a:ea typeface="Sorts Mill Goudy" pitchFamily="34" charset="-122"/>
                <a:cs typeface="Sorts Mill Goudy" pitchFamily="34" charset="-120"/>
              </a:rPr>
              <a:t>Network Topology</a:t>
            </a:r>
            <a:endParaRPr lang="en-US" sz="1600" dirty="0"/>
          </a:p>
        </p:txBody>
      </p:sp>
      <p:sp>
        <p:nvSpPr>
          <p:cNvPr id="8" name="Text 6"/>
          <p:cNvSpPr/>
          <p:nvPr/>
        </p:nvSpPr>
        <p:spPr>
          <a:xfrm>
            <a:off x="532402" y="1508472"/>
            <a:ext cx="5545852" cy="390428"/>
          </a:xfrm>
          <a:prstGeom prst="rect">
            <a:avLst/>
          </a:prstGeom>
          <a:noFill/>
          <a:ln/>
        </p:spPr>
        <p:txBody>
          <a:bodyPr wrap="square" lIns="0" tIns="0" rIns="0" bIns="0" rtlCol="0" anchor="ctr"/>
          <a:lstStyle/>
          <a:p>
            <a:pPr>
              <a:lnSpc>
                <a:spcPct val="110000"/>
              </a:lnSpc>
            </a:pPr>
            <a:r>
              <a:rPr lang="en-US" sz="1118" dirty="0">
                <a:solidFill>
                  <a:srgbClr val="1F2937"/>
                </a:solidFill>
                <a:latin typeface="Sorts Mill Goudy" pitchFamily="34" charset="0"/>
                <a:ea typeface="Sorts Mill Goudy" pitchFamily="34" charset="-122"/>
                <a:cs typeface="Sorts Mill Goudy" pitchFamily="34" charset="-120"/>
              </a:rPr>
              <a:t>Operates on a </a:t>
            </a:r>
            <a:r>
              <a:rPr lang="en-US" sz="1118" b="1" dirty="0">
                <a:solidFill>
                  <a:srgbClr val="1F2937"/>
                </a:solidFill>
                <a:latin typeface="Sorts Mill Goudy" pitchFamily="34" charset="0"/>
                <a:ea typeface="Sorts Mill Goudy" pitchFamily="34" charset="-122"/>
                <a:cs typeface="Sorts Mill Goudy" pitchFamily="34" charset="-120"/>
              </a:rPr>
              <a:t>Master/Slave model</a:t>
            </a:r>
            <a:r>
              <a:rPr lang="en-US" sz="1118" dirty="0">
                <a:solidFill>
                  <a:srgbClr val="1F2937"/>
                </a:solidFill>
                <a:latin typeface="Sorts Mill Goudy" pitchFamily="34" charset="0"/>
                <a:ea typeface="Sorts Mill Goudy" pitchFamily="34" charset="-122"/>
                <a:cs typeface="Sorts Mill Goudy" pitchFamily="34" charset="-120"/>
              </a:rPr>
              <a:t> where the Remote Module (TCP Client) connects to the Appliance Module (TCP Server) on </a:t>
            </a:r>
            <a:r>
              <a:rPr lang="en-US" sz="978" dirty="0">
                <a:solidFill>
                  <a:srgbClr val="FFFFFF"/>
                </a:solidFill>
                <a:highlight>
                  <a:srgbClr val="FF0000"/>
                </a:highlight>
                <a:latin typeface="MiSans" pitchFamily="34" charset="0"/>
                <a:ea typeface="MiSans" pitchFamily="34" charset="-122"/>
                <a:cs typeface="MiSans" pitchFamily="34" charset="-120"/>
              </a:rPr>
              <a:t>Port 7890 </a:t>
            </a:r>
            <a:r>
              <a:rPr lang="en-US" sz="1118" dirty="0">
                <a:solidFill>
                  <a:srgbClr val="1F2937"/>
                </a:solidFill>
                <a:latin typeface="Sorts Mill Goudy" pitchFamily="34" charset="0"/>
                <a:ea typeface="Sorts Mill Goudy" pitchFamily="34" charset="-122"/>
                <a:cs typeface="Sorts Mill Goudy" pitchFamily="34" charset="-120"/>
              </a:rPr>
              <a:t>.</a:t>
            </a:r>
            <a:endParaRPr lang="en-US" sz="1600" dirty="0"/>
          </a:p>
        </p:txBody>
      </p:sp>
      <p:sp>
        <p:nvSpPr>
          <p:cNvPr id="9" name="Text 7"/>
          <p:cNvSpPr/>
          <p:nvPr/>
        </p:nvSpPr>
        <p:spPr>
          <a:xfrm>
            <a:off x="532402" y="2005380"/>
            <a:ext cx="5545852" cy="212961"/>
          </a:xfrm>
          <a:prstGeom prst="rect">
            <a:avLst/>
          </a:prstGeom>
          <a:noFill/>
          <a:ln/>
        </p:spPr>
        <p:txBody>
          <a:bodyPr wrap="square" lIns="0" tIns="0" rIns="0" bIns="0" rtlCol="0" anchor="ctr"/>
          <a:lstStyle/>
          <a:p>
            <a:pPr>
              <a:lnSpc>
                <a:spcPct val="130000"/>
              </a:lnSpc>
            </a:pPr>
            <a:r>
              <a:rPr lang="en-US" sz="1118" b="1" dirty="0">
                <a:solidFill>
                  <a:srgbClr val="1F2937"/>
                </a:solidFill>
                <a:latin typeface="Sorts Mill Goudy" pitchFamily="34" charset="0"/>
                <a:ea typeface="Sorts Mill Goudy" pitchFamily="34" charset="-122"/>
                <a:cs typeface="Sorts Mill Goudy" pitchFamily="34" charset="-120"/>
              </a:rPr>
              <a:t>Dual-Mode Wi-Fi</a:t>
            </a:r>
            <a:endParaRPr lang="en-US" sz="1600" dirty="0"/>
          </a:p>
        </p:txBody>
      </p:sp>
      <p:sp>
        <p:nvSpPr>
          <p:cNvPr id="10" name="Text 8"/>
          <p:cNvSpPr/>
          <p:nvPr/>
        </p:nvSpPr>
        <p:spPr>
          <a:xfrm>
            <a:off x="532402" y="2253834"/>
            <a:ext cx="5545852" cy="390428"/>
          </a:xfrm>
          <a:prstGeom prst="rect">
            <a:avLst/>
          </a:prstGeom>
          <a:noFill/>
          <a:ln/>
        </p:spPr>
        <p:txBody>
          <a:bodyPr wrap="square" lIns="0" tIns="0" rIns="0" bIns="0" rtlCol="0" anchor="ctr"/>
          <a:lstStyle/>
          <a:p>
            <a:pPr>
              <a:lnSpc>
                <a:spcPct val="110000"/>
              </a:lnSpc>
            </a:pPr>
            <a:r>
              <a:rPr lang="en-US" sz="1118" dirty="0">
                <a:solidFill>
                  <a:srgbClr val="1F2937"/>
                </a:solidFill>
                <a:latin typeface="Sorts Mill Goudy" pitchFamily="34" charset="0"/>
                <a:ea typeface="Sorts Mill Goudy" pitchFamily="34" charset="-122"/>
                <a:cs typeface="Sorts Mill Goudy" pitchFamily="34" charset="-120"/>
              </a:rPr>
              <a:t>Utilizes </a:t>
            </a:r>
            <a:r>
              <a:rPr lang="en-US" sz="978" dirty="0">
                <a:solidFill>
                  <a:srgbClr val="1F2937"/>
                </a:solidFill>
                <a:highlight>
                  <a:srgbClr val="F9FAFB">
                    <a:alpha val="100000"/>
                  </a:srgbClr>
                </a:highlight>
                <a:latin typeface="MiSans" pitchFamily="34" charset="0"/>
                <a:ea typeface="MiSans" pitchFamily="34" charset="-122"/>
                <a:cs typeface="MiSans" pitchFamily="34" charset="-120"/>
              </a:rPr>
              <a:t>WIFI_AP_STA </a:t>
            </a:r>
            <a:r>
              <a:rPr lang="en-US" sz="1118" dirty="0">
                <a:solidFill>
                  <a:srgbClr val="1F2937"/>
                </a:solidFill>
                <a:latin typeface="Sorts Mill Goudy" pitchFamily="34" charset="0"/>
                <a:ea typeface="Sorts Mill Goudy" pitchFamily="34" charset="-122"/>
                <a:cs typeface="Sorts Mill Goudy" pitchFamily="34" charset="-120"/>
              </a:rPr>
              <a:t>mode to allow either connection via a router or direct peer-to-peer (AP) connection.</a:t>
            </a:r>
            <a:endParaRPr lang="en-US" sz="1600" dirty="0"/>
          </a:p>
        </p:txBody>
      </p:sp>
      <p:sp>
        <p:nvSpPr>
          <p:cNvPr id="11" name="Shape 9"/>
          <p:cNvSpPr/>
          <p:nvPr/>
        </p:nvSpPr>
        <p:spPr>
          <a:xfrm>
            <a:off x="372681" y="2786235"/>
            <a:ext cx="45719" cy="3815043"/>
          </a:xfrm>
          <a:custGeom>
            <a:avLst/>
            <a:gdLst/>
            <a:ahLst/>
            <a:cxnLst/>
            <a:rect l="l" t="t" r="r" b="b"/>
            <a:pathLst>
              <a:path w="35493" h="3709066">
                <a:moveTo>
                  <a:pt x="0" y="0"/>
                </a:moveTo>
                <a:lnTo>
                  <a:pt x="35493" y="0"/>
                </a:lnTo>
                <a:lnTo>
                  <a:pt x="35493" y="3709066"/>
                </a:lnTo>
                <a:lnTo>
                  <a:pt x="0" y="3709066"/>
                </a:lnTo>
                <a:lnTo>
                  <a:pt x="0" y="0"/>
                </a:lnTo>
                <a:close/>
              </a:path>
            </a:pathLst>
          </a:custGeom>
          <a:solidFill>
            <a:srgbClr val="7030A0"/>
          </a:solidFill>
          <a:ln/>
        </p:spPr>
      </p:sp>
      <p:sp>
        <p:nvSpPr>
          <p:cNvPr id="12" name="Text 10"/>
          <p:cNvSpPr/>
          <p:nvPr/>
        </p:nvSpPr>
        <p:spPr>
          <a:xfrm>
            <a:off x="532402" y="2786236"/>
            <a:ext cx="5563598" cy="248454"/>
          </a:xfrm>
          <a:prstGeom prst="rect">
            <a:avLst/>
          </a:prstGeom>
          <a:noFill/>
          <a:ln/>
        </p:spPr>
        <p:txBody>
          <a:bodyPr wrap="square" lIns="0" tIns="0" rIns="0" bIns="0" rtlCol="0" anchor="ctr"/>
          <a:lstStyle/>
          <a:p>
            <a:pPr>
              <a:lnSpc>
                <a:spcPct val="120000"/>
              </a:lnSpc>
            </a:pPr>
            <a:r>
              <a:rPr lang="en-US" sz="1397" b="1" dirty="0">
                <a:solidFill>
                  <a:srgbClr val="1F2937"/>
                </a:solidFill>
                <a:latin typeface="Sorts Mill Goudy" pitchFamily="34" charset="0"/>
                <a:ea typeface="Sorts Mill Goudy" pitchFamily="34" charset="-122"/>
                <a:cs typeface="Sorts Mill Goudy" pitchFamily="34" charset="-120"/>
              </a:rPr>
              <a:t>The Braille Recognition Engine</a:t>
            </a:r>
            <a:endParaRPr lang="en-US" sz="1600" dirty="0"/>
          </a:p>
        </p:txBody>
      </p:sp>
      <p:sp>
        <p:nvSpPr>
          <p:cNvPr id="13" name="Text 11"/>
          <p:cNvSpPr/>
          <p:nvPr/>
        </p:nvSpPr>
        <p:spPr>
          <a:xfrm>
            <a:off x="532402" y="3141170"/>
            <a:ext cx="5545852" cy="390428"/>
          </a:xfrm>
          <a:prstGeom prst="rect">
            <a:avLst/>
          </a:prstGeom>
          <a:noFill/>
          <a:ln/>
        </p:spPr>
        <p:txBody>
          <a:bodyPr wrap="square" lIns="0" tIns="0" rIns="0" bIns="0" rtlCol="0" anchor="ctr"/>
          <a:lstStyle/>
          <a:p>
            <a:pPr>
              <a:lnSpc>
                <a:spcPct val="110000"/>
              </a:lnSpc>
            </a:pPr>
            <a:r>
              <a:rPr lang="en-US" sz="1118" dirty="0">
                <a:solidFill>
                  <a:srgbClr val="1F2937"/>
                </a:solidFill>
                <a:latin typeface="Sorts Mill Goudy" pitchFamily="34" charset="0"/>
                <a:ea typeface="Sorts Mill Goudy" pitchFamily="34" charset="-122"/>
                <a:cs typeface="Sorts Mill Goudy" pitchFamily="34" charset="-120"/>
              </a:rPr>
              <a:t>The system uses bitwise logic to convert physical inputs from a 6-dot cell into a binary pattern.</a:t>
            </a:r>
            <a:endParaRPr lang="en-US" sz="1600" dirty="0"/>
          </a:p>
        </p:txBody>
      </p:sp>
      <p:sp>
        <p:nvSpPr>
          <p:cNvPr id="14" name="Shape 12"/>
          <p:cNvSpPr/>
          <p:nvPr/>
        </p:nvSpPr>
        <p:spPr>
          <a:xfrm>
            <a:off x="535951" y="3641628"/>
            <a:ext cx="5473090" cy="1480077"/>
          </a:xfrm>
          <a:custGeom>
            <a:avLst/>
            <a:gdLst/>
            <a:ahLst/>
            <a:cxnLst/>
            <a:rect l="l" t="t" r="r" b="b"/>
            <a:pathLst>
              <a:path w="5473090" h="1480077">
                <a:moveTo>
                  <a:pt x="35492" y="0"/>
                </a:moveTo>
                <a:lnTo>
                  <a:pt x="5437598" y="0"/>
                </a:lnTo>
                <a:cubicBezTo>
                  <a:pt x="5457200" y="0"/>
                  <a:pt x="5473090" y="15890"/>
                  <a:pt x="5473090" y="35492"/>
                </a:cubicBezTo>
                <a:lnTo>
                  <a:pt x="5473090" y="1444585"/>
                </a:lnTo>
                <a:cubicBezTo>
                  <a:pt x="5473090" y="1464186"/>
                  <a:pt x="5457200" y="1480077"/>
                  <a:pt x="5437598" y="1480077"/>
                </a:cubicBezTo>
                <a:lnTo>
                  <a:pt x="35492" y="1480077"/>
                </a:lnTo>
                <a:cubicBezTo>
                  <a:pt x="15890" y="1480077"/>
                  <a:pt x="0" y="1464186"/>
                  <a:pt x="0" y="1444585"/>
                </a:cubicBezTo>
                <a:lnTo>
                  <a:pt x="0" y="35492"/>
                </a:lnTo>
                <a:cubicBezTo>
                  <a:pt x="0" y="15890"/>
                  <a:pt x="15890" y="0"/>
                  <a:pt x="35492" y="0"/>
                </a:cubicBezTo>
                <a:close/>
              </a:path>
            </a:pathLst>
          </a:custGeom>
          <a:solidFill>
            <a:srgbClr val="F9FAFB"/>
          </a:solidFill>
          <a:ln w="10160">
            <a:solidFill>
              <a:srgbClr val="E5E7EB"/>
            </a:solidFill>
            <a:prstDash val="solid"/>
          </a:ln>
        </p:spPr>
      </p:sp>
      <p:sp>
        <p:nvSpPr>
          <p:cNvPr id="15" name="Text 13"/>
          <p:cNvSpPr/>
          <p:nvPr/>
        </p:nvSpPr>
        <p:spPr>
          <a:xfrm>
            <a:off x="645981" y="3751658"/>
            <a:ext cx="5315144" cy="177467"/>
          </a:xfrm>
          <a:prstGeom prst="rect">
            <a:avLst/>
          </a:prstGeom>
          <a:noFill/>
          <a:ln/>
        </p:spPr>
        <p:txBody>
          <a:bodyPr wrap="square" lIns="0" tIns="0" rIns="0" bIns="0" rtlCol="0" anchor="ctr"/>
          <a:lstStyle/>
          <a:p>
            <a:pPr>
              <a:lnSpc>
                <a:spcPct val="120000"/>
              </a:lnSpc>
            </a:pPr>
            <a:r>
              <a:rPr lang="en-US" sz="978" b="1" dirty="0">
                <a:solidFill>
                  <a:srgbClr val="6B7280"/>
                </a:solidFill>
                <a:latin typeface="MiSans" pitchFamily="34" charset="0"/>
                <a:ea typeface="MiSans" pitchFamily="34" charset="-122"/>
                <a:cs typeface="MiSans" pitchFamily="34" charset="-120"/>
              </a:rPr>
              <a:t>// Bitwise Pattern Detection</a:t>
            </a:r>
            <a:endParaRPr lang="en-US" sz="1600" dirty="0"/>
          </a:p>
        </p:txBody>
      </p:sp>
      <p:sp>
        <p:nvSpPr>
          <p:cNvPr id="16" name="Text 14"/>
          <p:cNvSpPr/>
          <p:nvPr/>
        </p:nvSpPr>
        <p:spPr>
          <a:xfrm>
            <a:off x="645981" y="4000112"/>
            <a:ext cx="5315144" cy="1011563"/>
          </a:xfrm>
          <a:prstGeom prst="rect">
            <a:avLst/>
          </a:prstGeom>
          <a:noFill/>
          <a:ln/>
        </p:spPr>
        <p:txBody>
          <a:bodyPr wrap="square" lIns="0" tIns="0" rIns="0" bIns="0" rtlCol="0" anchor="ctr"/>
          <a:lstStyle/>
          <a:p>
            <a:pPr>
              <a:lnSpc>
                <a:spcPct val="100000"/>
              </a:lnSpc>
            </a:pPr>
            <a:r>
              <a:rPr lang="en-US" sz="978" dirty="0">
                <a:solidFill>
                  <a:srgbClr val="0070C0"/>
                </a:solidFill>
                <a:latin typeface="MiSans" pitchFamily="34" charset="0"/>
                <a:ea typeface="MiSans" pitchFamily="34" charset="-122"/>
                <a:cs typeface="MiSans" pitchFamily="34" charset="-120"/>
              </a:rPr>
              <a:t>byte</a:t>
            </a:r>
            <a:r>
              <a:rPr lang="en-US" sz="978" dirty="0">
                <a:solidFill>
                  <a:srgbClr val="1F2937"/>
                </a:solidFill>
                <a:latin typeface="MiSans" pitchFamily="34" charset="0"/>
                <a:ea typeface="MiSans" pitchFamily="34" charset="-122"/>
                <a:cs typeface="MiSans" pitchFamily="34" charset="-120"/>
              </a:rPr>
              <a:t> pattern = 0;</a:t>
            </a:r>
            <a:endParaRPr lang="en-US" sz="1600" dirty="0"/>
          </a:p>
          <a:p>
            <a:pPr>
              <a:lnSpc>
                <a:spcPct val="100000"/>
              </a:lnSpc>
            </a:pPr>
            <a:r>
              <a:rPr lang="en-US" sz="978" dirty="0">
                <a:solidFill>
                  <a:srgbClr val="0070C0"/>
                </a:solidFill>
                <a:latin typeface="MiSans" pitchFamily="34" charset="0"/>
                <a:ea typeface="MiSans" pitchFamily="34" charset="-122"/>
                <a:cs typeface="MiSans" pitchFamily="34" charset="-120"/>
              </a:rPr>
              <a:t>for</a:t>
            </a:r>
            <a:r>
              <a:rPr lang="en-US" sz="978" dirty="0">
                <a:solidFill>
                  <a:srgbClr val="1F2937"/>
                </a:solidFill>
                <a:latin typeface="MiSans" pitchFamily="34" charset="0"/>
                <a:ea typeface="MiSans" pitchFamily="34" charset="-122"/>
                <a:cs typeface="MiSans" pitchFamily="34" charset="-120"/>
              </a:rPr>
              <a:t> (</a:t>
            </a:r>
            <a:r>
              <a:rPr lang="en-US" sz="978" dirty="0">
                <a:solidFill>
                  <a:srgbClr val="0070C0"/>
                </a:solidFill>
                <a:latin typeface="MiSans" pitchFamily="34" charset="0"/>
                <a:ea typeface="MiSans" pitchFamily="34" charset="-122"/>
                <a:cs typeface="MiSans" pitchFamily="34" charset="-120"/>
              </a:rPr>
              <a:t>int</a:t>
            </a:r>
            <a:r>
              <a:rPr lang="en-US" sz="978" dirty="0">
                <a:solidFill>
                  <a:srgbClr val="1F2937"/>
                </a:solidFill>
                <a:latin typeface="MiSans" pitchFamily="34" charset="0"/>
                <a:ea typeface="MiSans" pitchFamily="34" charset="-122"/>
                <a:cs typeface="MiSans" pitchFamily="34" charset="-120"/>
              </a:rPr>
              <a:t> i=0; i&lt;6; i++) {</a:t>
            </a:r>
            <a:endParaRPr lang="en-US" sz="1600" dirty="0"/>
          </a:p>
          <a:p>
            <a:pPr>
              <a:lnSpc>
                <a:spcPct val="100000"/>
              </a:lnSpc>
            </a:pPr>
            <a:r>
              <a:rPr lang="en-US" sz="978" dirty="0">
                <a:solidFill>
                  <a:srgbClr val="1F2937"/>
                </a:solidFill>
                <a:latin typeface="MiSans" pitchFamily="34" charset="0"/>
                <a:ea typeface="MiSans" pitchFamily="34" charset="-122"/>
                <a:cs typeface="MiSans" pitchFamily="34" charset="-120"/>
              </a:rPr>
              <a:t>    </a:t>
            </a:r>
            <a:r>
              <a:rPr lang="en-US" sz="978" dirty="0">
                <a:solidFill>
                  <a:srgbClr val="0070C0"/>
                </a:solidFill>
                <a:latin typeface="MiSans" pitchFamily="34" charset="0"/>
                <a:ea typeface="MiSans" pitchFamily="34" charset="-122"/>
                <a:cs typeface="MiSans" pitchFamily="34" charset="-120"/>
              </a:rPr>
              <a:t>if</a:t>
            </a:r>
            <a:r>
              <a:rPr lang="en-US" sz="978" dirty="0">
                <a:solidFill>
                  <a:srgbClr val="1F2937"/>
                </a:solidFill>
                <a:latin typeface="MiSans" pitchFamily="34" charset="0"/>
                <a:ea typeface="MiSans" pitchFamily="34" charset="-122"/>
                <a:cs typeface="MiSans" pitchFamily="34" charset="-120"/>
              </a:rPr>
              <a:t> (digitalRead(btnPins[i]) == LOW)</a:t>
            </a:r>
            <a:endParaRPr lang="en-US" sz="1600" dirty="0"/>
          </a:p>
          <a:p>
            <a:pPr>
              <a:lnSpc>
                <a:spcPct val="100000"/>
              </a:lnSpc>
            </a:pPr>
            <a:r>
              <a:rPr lang="en-US" sz="978" dirty="0">
                <a:solidFill>
                  <a:srgbClr val="1F2937"/>
                </a:solidFill>
                <a:latin typeface="MiSans" pitchFamily="34" charset="0"/>
                <a:ea typeface="MiSans" pitchFamily="34" charset="-122"/>
                <a:cs typeface="MiSans" pitchFamily="34" charset="-120"/>
              </a:rPr>
              <a:t>        pattern |= (1 &lt;&lt; i); </a:t>
            </a:r>
            <a:r>
              <a:rPr lang="en-US" sz="978" dirty="0">
                <a:solidFill>
                  <a:srgbClr val="6B7280"/>
                </a:solidFill>
                <a:latin typeface="MiSans" pitchFamily="34" charset="0"/>
                <a:ea typeface="MiSans" pitchFamily="34" charset="-122"/>
                <a:cs typeface="MiSans" pitchFamily="34" charset="-120"/>
              </a:rPr>
              <a:t>// Map buttons to binary bits</a:t>
            </a:r>
            <a:endParaRPr lang="en-US" sz="1600" dirty="0"/>
          </a:p>
          <a:p>
            <a:pPr>
              <a:lnSpc>
                <a:spcPct val="100000"/>
              </a:lnSpc>
            </a:pPr>
            <a:r>
              <a:rPr lang="en-US" sz="978" dirty="0">
                <a:solidFill>
                  <a:srgbClr val="1F2937"/>
                </a:solidFill>
                <a:latin typeface="MiSans" pitchFamily="34" charset="0"/>
                <a:ea typeface="MiSans" pitchFamily="34" charset="-122"/>
                <a:cs typeface="MiSans" pitchFamily="34" charset="-120"/>
              </a:rPr>
              <a:t>}</a:t>
            </a:r>
            <a:endParaRPr lang="en-US" sz="1600" dirty="0"/>
          </a:p>
        </p:txBody>
      </p:sp>
      <p:sp>
        <p:nvSpPr>
          <p:cNvPr id="17" name="Shape 15"/>
          <p:cNvSpPr/>
          <p:nvPr/>
        </p:nvSpPr>
        <p:spPr>
          <a:xfrm>
            <a:off x="6203368" y="905083"/>
            <a:ext cx="35493" cy="2333694"/>
          </a:xfrm>
          <a:custGeom>
            <a:avLst/>
            <a:gdLst/>
            <a:ahLst/>
            <a:cxnLst/>
            <a:rect l="l" t="t" r="r" b="b"/>
            <a:pathLst>
              <a:path w="35493" h="2333694">
                <a:moveTo>
                  <a:pt x="0" y="0"/>
                </a:moveTo>
                <a:lnTo>
                  <a:pt x="35493" y="0"/>
                </a:lnTo>
                <a:lnTo>
                  <a:pt x="35493" y="2333694"/>
                </a:lnTo>
                <a:lnTo>
                  <a:pt x="0" y="2333694"/>
                </a:lnTo>
                <a:lnTo>
                  <a:pt x="0" y="0"/>
                </a:lnTo>
                <a:close/>
              </a:path>
            </a:pathLst>
          </a:custGeom>
          <a:solidFill>
            <a:srgbClr val="00B0F0"/>
          </a:solidFill>
          <a:ln/>
        </p:spPr>
      </p:sp>
      <p:sp>
        <p:nvSpPr>
          <p:cNvPr id="18" name="Text 16"/>
          <p:cNvSpPr/>
          <p:nvPr/>
        </p:nvSpPr>
        <p:spPr>
          <a:xfrm>
            <a:off x="6363089" y="905083"/>
            <a:ext cx="5563598" cy="248454"/>
          </a:xfrm>
          <a:prstGeom prst="rect">
            <a:avLst/>
          </a:prstGeom>
          <a:noFill/>
          <a:ln/>
        </p:spPr>
        <p:txBody>
          <a:bodyPr wrap="square" lIns="0" tIns="0" rIns="0" bIns="0" rtlCol="0" anchor="ctr"/>
          <a:lstStyle/>
          <a:p>
            <a:pPr>
              <a:lnSpc>
                <a:spcPct val="120000"/>
              </a:lnSpc>
            </a:pPr>
            <a:r>
              <a:rPr lang="en-US" sz="1397" b="1" dirty="0">
                <a:solidFill>
                  <a:srgbClr val="1F2937"/>
                </a:solidFill>
                <a:latin typeface="Sorts Mill Goudy" pitchFamily="34" charset="0"/>
                <a:ea typeface="Sorts Mill Goudy" pitchFamily="34" charset="-122"/>
                <a:cs typeface="Sorts Mill Goudy" pitchFamily="34" charset="-120"/>
              </a:rPr>
              <a:t>Lookup Table &amp; Pattern Mapping</a:t>
            </a:r>
            <a:endParaRPr lang="en-US" sz="1600" dirty="0"/>
          </a:p>
        </p:txBody>
      </p:sp>
      <p:sp>
        <p:nvSpPr>
          <p:cNvPr id="19" name="Text 17"/>
          <p:cNvSpPr/>
          <p:nvPr/>
        </p:nvSpPr>
        <p:spPr>
          <a:xfrm>
            <a:off x="6363089" y="1260017"/>
            <a:ext cx="5545852" cy="390428"/>
          </a:xfrm>
          <a:prstGeom prst="rect">
            <a:avLst/>
          </a:prstGeom>
          <a:noFill/>
          <a:ln/>
        </p:spPr>
        <p:txBody>
          <a:bodyPr wrap="square" lIns="0" tIns="0" rIns="0" bIns="0" rtlCol="0" anchor="ctr"/>
          <a:lstStyle/>
          <a:p>
            <a:pPr>
              <a:lnSpc>
                <a:spcPct val="110000"/>
              </a:lnSpc>
            </a:pPr>
            <a:r>
              <a:rPr lang="en-US" sz="1118" dirty="0">
                <a:solidFill>
                  <a:srgbClr val="1F2937"/>
                </a:solidFill>
                <a:latin typeface="Sorts Mill Goudy" pitchFamily="34" charset="0"/>
                <a:ea typeface="Sorts Mill Goudy" pitchFamily="34" charset="-122"/>
                <a:cs typeface="Sorts Mill Goudy" pitchFamily="34" charset="-120"/>
              </a:rPr>
              <a:t>The </a:t>
            </a:r>
            <a:r>
              <a:rPr lang="en-US" sz="978" dirty="0">
                <a:solidFill>
                  <a:srgbClr val="1F2937"/>
                </a:solidFill>
                <a:highlight>
                  <a:srgbClr val="F9FAFB">
                    <a:alpha val="100000"/>
                  </a:srgbClr>
                </a:highlight>
                <a:latin typeface="MiSans" pitchFamily="34" charset="0"/>
                <a:ea typeface="MiSans" pitchFamily="34" charset="-122"/>
                <a:cs typeface="MiSans" pitchFamily="34" charset="-120"/>
              </a:rPr>
              <a:t>brailleMap[] </a:t>
            </a:r>
            <a:r>
              <a:rPr lang="en-US" sz="1118" dirty="0">
                <a:solidFill>
                  <a:srgbClr val="1F2937"/>
                </a:solidFill>
                <a:latin typeface="Sorts Mill Goudy" pitchFamily="34" charset="0"/>
                <a:ea typeface="Sorts Mill Goudy" pitchFamily="34" charset="-122"/>
                <a:cs typeface="Sorts Mill Goudy" pitchFamily="34" charset="-120"/>
              </a:rPr>
              <a:t>stores decimal equivalents of Braille dot patterns to match physical input to characters.</a:t>
            </a:r>
            <a:endParaRPr lang="en-US" sz="1600" dirty="0"/>
          </a:p>
        </p:txBody>
      </p:sp>
      <p:sp>
        <p:nvSpPr>
          <p:cNvPr id="20" name="Shape 18"/>
          <p:cNvSpPr/>
          <p:nvPr/>
        </p:nvSpPr>
        <p:spPr>
          <a:xfrm>
            <a:off x="6366638" y="1760475"/>
            <a:ext cx="5473090" cy="1480077"/>
          </a:xfrm>
          <a:custGeom>
            <a:avLst/>
            <a:gdLst/>
            <a:ahLst/>
            <a:cxnLst/>
            <a:rect l="l" t="t" r="r" b="b"/>
            <a:pathLst>
              <a:path w="5473090" h="1480077">
                <a:moveTo>
                  <a:pt x="35492" y="0"/>
                </a:moveTo>
                <a:lnTo>
                  <a:pt x="5437598" y="0"/>
                </a:lnTo>
                <a:cubicBezTo>
                  <a:pt x="5457200" y="0"/>
                  <a:pt x="5473090" y="15890"/>
                  <a:pt x="5473090" y="35492"/>
                </a:cubicBezTo>
                <a:lnTo>
                  <a:pt x="5473090" y="1444585"/>
                </a:lnTo>
                <a:cubicBezTo>
                  <a:pt x="5473090" y="1464186"/>
                  <a:pt x="5457200" y="1480077"/>
                  <a:pt x="5437598" y="1480077"/>
                </a:cubicBezTo>
                <a:lnTo>
                  <a:pt x="35492" y="1480077"/>
                </a:lnTo>
                <a:cubicBezTo>
                  <a:pt x="15890" y="1480077"/>
                  <a:pt x="0" y="1464186"/>
                  <a:pt x="0" y="1444585"/>
                </a:cubicBezTo>
                <a:lnTo>
                  <a:pt x="0" y="35492"/>
                </a:lnTo>
                <a:cubicBezTo>
                  <a:pt x="0" y="15890"/>
                  <a:pt x="15890" y="0"/>
                  <a:pt x="35492" y="0"/>
                </a:cubicBezTo>
                <a:close/>
              </a:path>
            </a:pathLst>
          </a:custGeom>
          <a:solidFill>
            <a:srgbClr val="F9FAFB"/>
          </a:solidFill>
          <a:ln w="10160">
            <a:solidFill>
              <a:srgbClr val="E5E7EB"/>
            </a:solidFill>
            <a:prstDash val="solid"/>
          </a:ln>
        </p:spPr>
      </p:sp>
      <p:sp>
        <p:nvSpPr>
          <p:cNvPr id="21" name="Text 19"/>
          <p:cNvSpPr/>
          <p:nvPr/>
        </p:nvSpPr>
        <p:spPr>
          <a:xfrm>
            <a:off x="6476667" y="1870505"/>
            <a:ext cx="5315144" cy="177467"/>
          </a:xfrm>
          <a:prstGeom prst="rect">
            <a:avLst/>
          </a:prstGeom>
          <a:noFill/>
          <a:ln/>
        </p:spPr>
        <p:txBody>
          <a:bodyPr wrap="square" lIns="0" tIns="0" rIns="0" bIns="0" rtlCol="0" anchor="ctr"/>
          <a:lstStyle/>
          <a:p>
            <a:pPr>
              <a:lnSpc>
                <a:spcPct val="120000"/>
              </a:lnSpc>
            </a:pPr>
            <a:r>
              <a:rPr lang="en-US" sz="978" b="1" dirty="0">
                <a:solidFill>
                  <a:srgbClr val="6B7280"/>
                </a:solidFill>
                <a:latin typeface="MiSans" pitchFamily="34" charset="0"/>
                <a:ea typeface="MiSans" pitchFamily="34" charset="-122"/>
                <a:cs typeface="MiSans" pitchFamily="34" charset="-120"/>
              </a:rPr>
              <a:t>// Braille Lookup Table (A-Z)</a:t>
            </a:r>
            <a:endParaRPr lang="en-US" sz="1600" dirty="0"/>
          </a:p>
        </p:txBody>
      </p:sp>
      <p:sp>
        <p:nvSpPr>
          <p:cNvPr id="22" name="Text 20"/>
          <p:cNvSpPr/>
          <p:nvPr/>
        </p:nvSpPr>
        <p:spPr>
          <a:xfrm>
            <a:off x="6476667" y="2118959"/>
            <a:ext cx="5315144" cy="1011563"/>
          </a:xfrm>
          <a:prstGeom prst="rect">
            <a:avLst/>
          </a:prstGeom>
          <a:noFill/>
          <a:ln/>
        </p:spPr>
        <p:txBody>
          <a:bodyPr wrap="square" lIns="0" tIns="0" rIns="0" bIns="0" rtlCol="0" anchor="ctr"/>
          <a:lstStyle/>
          <a:p>
            <a:pPr>
              <a:lnSpc>
                <a:spcPct val="100000"/>
              </a:lnSpc>
            </a:pPr>
            <a:r>
              <a:rPr lang="en-US" sz="978" dirty="0">
                <a:solidFill>
                  <a:srgbClr val="0070C0"/>
                </a:solidFill>
                <a:latin typeface="MiSans" pitchFamily="34" charset="0"/>
                <a:ea typeface="MiSans" pitchFamily="34" charset="-122"/>
                <a:cs typeface="MiSans" pitchFamily="34" charset="-120"/>
              </a:rPr>
              <a:t>const</a:t>
            </a:r>
            <a:r>
              <a:rPr lang="en-US" sz="978" dirty="0">
                <a:solidFill>
                  <a:srgbClr val="8B0000"/>
                </a:solidFill>
                <a:latin typeface="MiSans" pitchFamily="34" charset="0"/>
                <a:ea typeface="MiSans" pitchFamily="34" charset="-122"/>
                <a:cs typeface="MiSans" pitchFamily="34" charset="-120"/>
              </a:rPr>
              <a:t> </a:t>
            </a:r>
            <a:r>
              <a:rPr lang="en-US" sz="978" dirty="0">
                <a:solidFill>
                  <a:srgbClr val="0070C0"/>
                </a:solidFill>
                <a:latin typeface="MiSans" pitchFamily="34" charset="0"/>
                <a:ea typeface="MiSans" pitchFamily="34" charset="-122"/>
                <a:cs typeface="MiSans" pitchFamily="34" charset="-120"/>
              </a:rPr>
              <a:t>byte</a:t>
            </a:r>
            <a:r>
              <a:rPr lang="en-US" sz="978" dirty="0">
                <a:solidFill>
                  <a:srgbClr val="1F2937"/>
                </a:solidFill>
                <a:latin typeface="MiSans" pitchFamily="34" charset="0"/>
                <a:ea typeface="MiSans" pitchFamily="34" charset="-122"/>
                <a:cs typeface="MiSans" pitchFamily="34" charset="-120"/>
              </a:rPr>
              <a:t> brailleMap[] = {</a:t>
            </a:r>
            <a:endParaRPr lang="en-US" sz="1600" dirty="0"/>
          </a:p>
          <a:p>
            <a:pPr>
              <a:lnSpc>
                <a:spcPct val="100000"/>
              </a:lnSpc>
            </a:pPr>
            <a:r>
              <a:rPr lang="en-US" sz="978" dirty="0">
                <a:solidFill>
                  <a:srgbClr val="1F2937"/>
                </a:solidFill>
                <a:latin typeface="MiSans" pitchFamily="34" charset="0"/>
                <a:ea typeface="MiSans" pitchFamily="34" charset="-122"/>
                <a:cs typeface="MiSans" pitchFamily="34" charset="-120"/>
              </a:rPr>
              <a:t>    1, 3, 9, 25, 17, 11, 27, 19, 10, 26, </a:t>
            </a:r>
            <a:r>
              <a:rPr lang="en-US" sz="978" dirty="0">
                <a:solidFill>
                  <a:srgbClr val="6B7280"/>
                </a:solidFill>
                <a:latin typeface="MiSans" pitchFamily="34" charset="0"/>
                <a:ea typeface="MiSans" pitchFamily="34" charset="-122"/>
                <a:cs typeface="MiSans" pitchFamily="34" charset="-120"/>
              </a:rPr>
              <a:t>// A-J</a:t>
            </a:r>
            <a:endParaRPr lang="en-US" sz="1600" dirty="0"/>
          </a:p>
          <a:p>
            <a:pPr>
              <a:lnSpc>
                <a:spcPct val="100000"/>
              </a:lnSpc>
            </a:pPr>
            <a:r>
              <a:rPr lang="en-US" sz="978" dirty="0">
                <a:solidFill>
                  <a:srgbClr val="1F2937"/>
                </a:solidFill>
                <a:latin typeface="MiSans" pitchFamily="34" charset="0"/>
                <a:ea typeface="MiSans" pitchFamily="34" charset="-122"/>
                <a:cs typeface="MiSans" pitchFamily="34" charset="-120"/>
              </a:rPr>
              <a:t>    5, 7, 13, 29, 21, 15, 31, 23, 14, 30, </a:t>
            </a:r>
            <a:r>
              <a:rPr lang="en-US" sz="978" dirty="0">
                <a:solidFill>
                  <a:srgbClr val="6B7280"/>
                </a:solidFill>
                <a:latin typeface="MiSans" pitchFamily="34" charset="0"/>
                <a:ea typeface="MiSans" pitchFamily="34" charset="-122"/>
                <a:cs typeface="MiSans" pitchFamily="34" charset="-120"/>
              </a:rPr>
              <a:t>// K-T</a:t>
            </a:r>
            <a:endParaRPr lang="en-US" sz="1600" dirty="0"/>
          </a:p>
          <a:p>
            <a:pPr>
              <a:lnSpc>
                <a:spcPct val="100000"/>
              </a:lnSpc>
            </a:pPr>
            <a:r>
              <a:rPr lang="en-US" sz="978" dirty="0">
                <a:solidFill>
                  <a:srgbClr val="1F2937"/>
                </a:solidFill>
                <a:latin typeface="MiSans" pitchFamily="34" charset="0"/>
                <a:ea typeface="MiSans" pitchFamily="34" charset="-122"/>
                <a:cs typeface="MiSans" pitchFamily="34" charset="-120"/>
              </a:rPr>
              <a:t>    37, 39, 58, 45, 61, 53                </a:t>
            </a:r>
            <a:r>
              <a:rPr lang="en-US" sz="978" dirty="0">
                <a:solidFill>
                  <a:srgbClr val="6B7280"/>
                </a:solidFill>
                <a:latin typeface="MiSans" pitchFamily="34" charset="0"/>
                <a:ea typeface="MiSans" pitchFamily="34" charset="-122"/>
                <a:cs typeface="MiSans" pitchFamily="34" charset="-120"/>
              </a:rPr>
              <a:t>// U-Z</a:t>
            </a:r>
            <a:endParaRPr lang="en-US" sz="1600" dirty="0"/>
          </a:p>
          <a:p>
            <a:pPr>
              <a:lnSpc>
                <a:spcPct val="100000"/>
              </a:lnSpc>
            </a:pPr>
            <a:r>
              <a:rPr lang="en-US" sz="978" dirty="0">
                <a:solidFill>
                  <a:srgbClr val="1F2937"/>
                </a:solidFill>
                <a:latin typeface="MiSans" pitchFamily="34" charset="0"/>
                <a:ea typeface="MiSans" pitchFamily="34" charset="-122"/>
                <a:cs typeface="MiSans" pitchFamily="34" charset="-120"/>
              </a:rPr>
              <a:t>};</a:t>
            </a:r>
            <a:endParaRPr lang="en-US" sz="1600" dirty="0"/>
          </a:p>
        </p:txBody>
      </p:sp>
      <p:sp>
        <p:nvSpPr>
          <p:cNvPr id="23" name="Shape 21"/>
          <p:cNvSpPr/>
          <p:nvPr/>
        </p:nvSpPr>
        <p:spPr>
          <a:xfrm>
            <a:off x="6203368" y="3383857"/>
            <a:ext cx="35493" cy="3114550"/>
          </a:xfrm>
          <a:custGeom>
            <a:avLst/>
            <a:gdLst/>
            <a:ahLst/>
            <a:cxnLst/>
            <a:rect l="l" t="t" r="r" b="b"/>
            <a:pathLst>
              <a:path w="35493" h="3114550">
                <a:moveTo>
                  <a:pt x="0" y="0"/>
                </a:moveTo>
                <a:lnTo>
                  <a:pt x="35493" y="0"/>
                </a:lnTo>
                <a:lnTo>
                  <a:pt x="35493" y="3114550"/>
                </a:lnTo>
                <a:lnTo>
                  <a:pt x="0" y="3114550"/>
                </a:lnTo>
                <a:lnTo>
                  <a:pt x="0" y="0"/>
                </a:lnTo>
                <a:close/>
              </a:path>
            </a:pathLst>
          </a:custGeom>
          <a:solidFill>
            <a:srgbClr val="FFC000"/>
          </a:solidFill>
          <a:ln/>
        </p:spPr>
      </p:sp>
      <p:sp>
        <p:nvSpPr>
          <p:cNvPr id="24" name="Text 22"/>
          <p:cNvSpPr/>
          <p:nvPr/>
        </p:nvSpPr>
        <p:spPr>
          <a:xfrm>
            <a:off x="6363089" y="3383857"/>
            <a:ext cx="5563598" cy="248454"/>
          </a:xfrm>
          <a:prstGeom prst="rect">
            <a:avLst/>
          </a:prstGeom>
          <a:noFill/>
          <a:ln/>
        </p:spPr>
        <p:txBody>
          <a:bodyPr wrap="square" lIns="0" tIns="0" rIns="0" bIns="0" rtlCol="0" anchor="ctr"/>
          <a:lstStyle/>
          <a:p>
            <a:pPr>
              <a:lnSpc>
                <a:spcPct val="120000"/>
              </a:lnSpc>
            </a:pPr>
            <a:r>
              <a:rPr lang="en-US" sz="1397" b="1" dirty="0">
                <a:solidFill>
                  <a:srgbClr val="1F2937"/>
                </a:solidFill>
                <a:latin typeface="Sorts Mill Goudy" pitchFamily="34" charset="0"/>
                <a:ea typeface="Sorts Mill Goudy" pitchFamily="34" charset="-122"/>
                <a:cs typeface="Sorts Mill Goudy" pitchFamily="34" charset="-120"/>
              </a:rPr>
              <a:t>Mode Logic: Alphabet vs. Number</a:t>
            </a:r>
            <a:endParaRPr lang="en-US" sz="1600" dirty="0"/>
          </a:p>
        </p:txBody>
      </p:sp>
      <p:sp>
        <p:nvSpPr>
          <p:cNvPr id="25" name="Shape 23"/>
          <p:cNvSpPr/>
          <p:nvPr/>
        </p:nvSpPr>
        <p:spPr>
          <a:xfrm>
            <a:off x="6366638" y="3742341"/>
            <a:ext cx="5473090" cy="2819955"/>
          </a:xfrm>
          <a:custGeom>
            <a:avLst/>
            <a:gdLst/>
            <a:ahLst/>
            <a:cxnLst/>
            <a:rect l="l" t="t" r="r" b="b"/>
            <a:pathLst>
              <a:path w="5473090" h="2819955">
                <a:moveTo>
                  <a:pt x="35503" y="0"/>
                </a:moveTo>
                <a:lnTo>
                  <a:pt x="5437587" y="0"/>
                </a:lnTo>
                <a:cubicBezTo>
                  <a:pt x="5457195" y="0"/>
                  <a:pt x="5473090" y="15895"/>
                  <a:pt x="5473090" y="35503"/>
                </a:cubicBezTo>
                <a:lnTo>
                  <a:pt x="5473090" y="2784451"/>
                </a:lnTo>
                <a:cubicBezTo>
                  <a:pt x="5473090" y="2804059"/>
                  <a:pt x="5457195" y="2819955"/>
                  <a:pt x="5437587" y="2819955"/>
                </a:cubicBezTo>
                <a:lnTo>
                  <a:pt x="35503" y="2819955"/>
                </a:lnTo>
                <a:cubicBezTo>
                  <a:pt x="15895" y="2819955"/>
                  <a:pt x="0" y="2804059"/>
                  <a:pt x="0" y="2784451"/>
                </a:cubicBezTo>
                <a:lnTo>
                  <a:pt x="0" y="35503"/>
                </a:lnTo>
                <a:cubicBezTo>
                  <a:pt x="0" y="15908"/>
                  <a:pt x="15908" y="0"/>
                  <a:pt x="35503" y="0"/>
                </a:cubicBezTo>
                <a:close/>
              </a:path>
            </a:pathLst>
          </a:custGeom>
          <a:solidFill>
            <a:srgbClr val="F9FAFB"/>
          </a:solidFill>
          <a:ln w="10160">
            <a:solidFill>
              <a:srgbClr val="E5E7EB"/>
            </a:solidFill>
            <a:prstDash val="solid"/>
          </a:ln>
        </p:spPr>
      </p:sp>
      <p:sp>
        <p:nvSpPr>
          <p:cNvPr id="26" name="Text 24"/>
          <p:cNvSpPr/>
          <p:nvPr/>
        </p:nvSpPr>
        <p:spPr>
          <a:xfrm>
            <a:off x="6476667" y="3852370"/>
            <a:ext cx="5315144" cy="177467"/>
          </a:xfrm>
          <a:prstGeom prst="rect">
            <a:avLst/>
          </a:prstGeom>
          <a:noFill/>
          <a:ln/>
        </p:spPr>
        <p:txBody>
          <a:bodyPr wrap="square" lIns="0" tIns="0" rIns="0" bIns="0" rtlCol="0" anchor="ctr"/>
          <a:lstStyle/>
          <a:p>
            <a:pPr>
              <a:lnSpc>
                <a:spcPct val="120000"/>
              </a:lnSpc>
            </a:pPr>
            <a:r>
              <a:rPr lang="en-US" sz="978" b="1" dirty="0">
                <a:solidFill>
                  <a:srgbClr val="6B7280"/>
                </a:solidFill>
                <a:latin typeface="MiSans" pitchFamily="34" charset="0"/>
                <a:ea typeface="MiSans" pitchFamily="34" charset="-122"/>
                <a:cs typeface="MiSans" pitchFamily="34" charset="-120"/>
              </a:rPr>
              <a:t>// Mode Differentiation Logic</a:t>
            </a:r>
            <a:endParaRPr lang="en-US" sz="1600" dirty="0"/>
          </a:p>
        </p:txBody>
      </p:sp>
      <p:sp>
        <p:nvSpPr>
          <p:cNvPr id="27" name="Text 25"/>
          <p:cNvSpPr/>
          <p:nvPr/>
        </p:nvSpPr>
        <p:spPr>
          <a:xfrm>
            <a:off x="6476667" y="4100824"/>
            <a:ext cx="5315144" cy="1215651"/>
          </a:xfrm>
          <a:prstGeom prst="rect">
            <a:avLst/>
          </a:prstGeom>
          <a:noFill/>
          <a:ln/>
        </p:spPr>
        <p:txBody>
          <a:bodyPr wrap="square" lIns="0" tIns="0" rIns="0" bIns="0" rtlCol="0" anchor="ctr"/>
          <a:lstStyle/>
          <a:p>
            <a:pPr>
              <a:lnSpc>
                <a:spcPct val="100000"/>
              </a:lnSpc>
            </a:pPr>
            <a:r>
              <a:rPr lang="en-US" sz="978" dirty="0">
                <a:solidFill>
                  <a:srgbClr val="0070C0"/>
                </a:solidFill>
                <a:latin typeface="MiSans" pitchFamily="34" charset="0"/>
                <a:ea typeface="MiSans" pitchFamily="34" charset="-122"/>
                <a:cs typeface="MiSans" pitchFamily="34" charset="-120"/>
              </a:rPr>
              <a:t>if</a:t>
            </a:r>
            <a:r>
              <a:rPr lang="en-US" sz="978" dirty="0">
                <a:solidFill>
                  <a:srgbClr val="1F2937"/>
                </a:solidFill>
                <a:latin typeface="MiSans" pitchFamily="34" charset="0"/>
                <a:ea typeface="MiSans" pitchFamily="34" charset="-122"/>
                <a:cs typeface="MiSans" pitchFamily="34" charset="-120"/>
              </a:rPr>
              <a:t> (tR) detectedChar = brailleChars[i];</a:t>
            </a:r>
            <a:endParaRPr lang="en-US" sz="1600" dirty="0"/>
          </a:p>
          <a:p>
            <a:pPr>
              <a:lnSpc>
                <a:spcPct val="100000"/>
              </a:lnSpc>
            </a:pPr>
            <a:r>
              <a:rPr lang="en-US" sz="978" dirty="0">
                <a:solidFill>
                  <a:srgbClr val="6B7280"/>
                </a:solidFill>
                <a:latin typeface="MiSans" pitchFamily="34" charset="0"/>
                <a:ea typeface="MiSans" pitchFamily="34" charset="-122"/>
                <a:cs typeface="MiSans" pitchFamily="34" charset="-120"/>
              </a:rPr>
              <a:t>// Right touch = A-Z</a:t>
            </a:r>
          </a:p>
          <a:p>
            <a:pPr>
              <a:lnSpc>
                <a:spcPct val="100000"/>
              </a:lnSpc>
            </a:pPr>
            <a:r>
              <a:rPr lang="en-US" sz="978" dirty="0">
                <a:solidFill>
                  <a:srgbClr val="0070C0"/>
                </a:solidFill>
                <a:latin typeface="MiSans" pitchFamily="34" charset="0"/>
                <a:ea typeface="MiSans" pitchFamily="34" charset="-122"/>
                <a:cs typeface="MiSans" pitchFamily="34" charset="-120"/>
              </a:rPr>
              <a:t>else</a:t>
            </a:r>
            <a:r>
              <a:rPr lang="en-US" sz="978" dirty="0">
                <a:solidFill>
                  <a:srgbClr val="8B0000"/>
                </a:solidFill>
                <a:latin typeface="MiSans" pitchFamily="34" charset="0"/>
                <a:ea typeface="MiSans" pitchFamily="34" charset="-122"/>
                <a:cs typeface="MiSans" pitchFamily="34" charset="-120"/>
              </a:rPr>
              <a:t> </a:t>
            </a:r>
            <a:r>
              <a:rPr lang="en-US" sz="978" dirty="0">
                <a:solidFill>
                  <a:srgbClr val="0070C0"/>
                </a:solidFill>
                <a:latin typeface="MiSans" pitchFamily="34" charset="0"/>
                <a:ea typeface="MiSans" pitchFamily="34" charset="-122"/>
                <a:cs typeface="MiSans" pitchFamily="34" charset="-120"/>
              </a:rPr>
              <a:t>if</a:t>
            </a:r>
            <a:r>
              <a:rPr lang="en-US" sz="978" dirty="0">
                <a:solidFill>
                  <a:srgbClr val="1F2937"/>
                </a:solidFill>
                <a:latin typeface="MiSans" pitchFamily="34" charset="0"/>
                <a:ea typeface="MiSans" pitchFamily="34" charset="-122"/>
                <a:cs typeface="MiSans" pitchFamily="34" charset="-120"/>
              </a:rPr>
              <a:t> (tL) </a:t>
            </a:r>
            <a:endParaRPr lang="en-US" sz="1600" dirty="0"/>
          </a:p>
          <a:p>
            <a:pPr>
              <a:lnSpc>
                <a:spcPct val="100000"/>
              </a:lnSpc>
            </a:pPr>
            <a:r>
              <a:rPr lang="en-US" sz="978" dirty="0">
                <a:solidFill>
                  <a:srgbClr val="1F2937"/>
                </a:solidFill>
                <a:latin typeface="MiSans" pitchFamily="34" charset="0"/>
                <a:ea typeface="MiSans" pitchFamily="34" charset="-122"/>
                <a:cs typeface="MiSans" pitchFamily="34" charset="-120"/>
              </a:rPr>
              <a:t>    detectedChar = (i &lt; 9) ? (i + 1) + '0' : '0';</a:t>
            </a:r>
            <a:endParaRPr lang="en-US" sz="1600" dirty="0"/>
          </a:p>
          <a:p>
            <a:pPr>
              <a:lnSpc>
                <a:spcPct val="100000"/>
              </a:lnSpc>
            </a:pPr>
            <a:r>
              <a:rPr lang="en-US" sz="978" dirty="0">
                <a:solidFill>
                  <a:srgbClr val="6B7280"/>
                </a:solidFill>
                <a:latin typeface="MiSans" pitchFamily="34" charset="0"/>
                <a:ea typeface="MiSans" pitchFamily="34" charset="-122"/>
                <a:cs typeface="MiSans" pitchFamily="34" charset="-120"/>
              </a:rPr>
              <a:t>// Left touch = 1-0</a:t>
            </a:r>
            <a:endParaRPr lang="en-US" sz="1600" dirty="0"/>
          </a:p>
        </p:txBody>
      </p:sp>
      <p:sp>
        <p:nvSpPr>
          <p:cNvPr id="28" name="Shape 26"/>
          <p:cNvSpPr/>
          <p:nvPr/>
        </p:nvSpPr>
        <p:spPr>
          <a:xfrm>
            <a:off x="6476667" y="5457562"/>
            <a:ext cx="5253031" cy="7099"/>
          </a:xfrm>
          <a:custGeom>
            <a:avLst/>
            <a:gdLst/>
            <a:ahLst/>
            <a:cxnLst/>
            <a:rect l="l" t="t" r="r" b="b"/>
            <a:pathLst>
              <a:path w="5253031" h="7099">
                <a:moveTo>
                  <a:pt x="0" y="0"/>
                </a:moveTo>
                <a:lnTo>
                  <a:pt x="5253031" y="0"/>
                </a:lnTo>
                <a:lnTo>
                  <a:pt x="5253031" y="7099"/>
                </a:lnTo>
                <a:lnTo>
                  <a:pt x="0" y="7099"/>
                </a:lnTo>
                <a:lnTo>
                  <a:pt x="0" y="0"/>
                </a:lnTo>
                <a:close/>
              </a:path>
            </a:pathLst>
          </a:custGeom>
          <a:solidFill>
            <a:srgbClr val="E5E7EB"/>
          </a:solidFill>
          <a:ln/>
        </p:spPr>
      </p:sp>
      <p:sp>
        <p:nvSpPr>
          <p:cNvPr id="29" name="Text 27"/>
          <p:cNvSpPr/>
          <p:nvPr/>
        </p:nvSpPr>
        <p:spPr>
          <a:xfrm>
            <a:off x="6476667" y="5581789"/>
            <a:ext cx="1105843" cy="141974"/>
          </a:xfrm>
          <a:prstGeom prst="rect">
            <a:avLst/>
          </a:prstGeom>
          <a:noFill/>
          <a:ln/>
        </p:spPr>
        <p:txBody>
          <a:bodyPr wrap="square" lIns="0" tIns="0" rIns="0" bIns="0" rtlCol="0" anchor="ctr"/>
          <a:lstStyle/>
          <a:p>
            <a:pPr>
              <a:lnSpc>
                <a:spcPct val="120000"/>
              </a:lnSpc>
            </a:pPr>
            <a:r>
              <a:rPr lang="en-US" sz="978" b="1" dirty="0">
                <a:solidFill>
                  <a:srgbClr val="1F2937"/>
                </a:solidFill>
                <a:latin typeface="MiSans" pitchFamily="34" charset="0"/>
                <a:ea typeface="MiSans" pitchFamily="34" charset="-122"/>
                <a:cs typeface="MiSans" pitchFamily="34" charset="-120"/>
              </a:rPr>
              <a:t>Touch Sensors:</a:t>
            </a:r>
            <a:endParaRPr lang="en-US" sz="1600" dirty="0"/>
          </a:p>
        </p:txBody>
      </p:sp>
      <p:sp>
        <p:nvSpPr>
          <p:cNvPr id="30" name="Text 28"/>
          <p:cNvSpPr/>
          <p:nvPr/>
        </p:nvSpPr>
        <p:spPr>
          <a:xfrm>
            <a:off x="6476667" y="5780552"/>
            <a:ext cx="5315144" cy="177467"/>
          </a:xfrm>
          <a:prstGeom prst="rect">
            <a:avLst/>
          </a:prstGeom>
          <a:noFill/>
          <a:ln/>
        </p:spPr>
        <p:txBody>
          <a:bodyPr wrap="square" lIns="0" tIns="0" rIns="0" bIns="0" rtlCol="0" anchor="ctr"/>
          <a:lstStyle/>
          <a:p>
            <a:pPr>
              <a:lnSpc>
                <a:spcPct val="120000"/>
              </a:lnSpc>
            </a:pPr>
            <a:r>
              <a:rPr lang="en-US" sz="978" dirty="0">
                <a:solidFill>
                  <a:srgbClr val="1F2937"/>
                </a:solidFill>
                <a:latin typeface="MiSans" pitchFamily="34" charset="0"/>
                <a:ea typeface="MiSans" pitchFamily="34" charset="-122"/>
                <a:cs typeface="MiSans" pitchFamily="34" charset="-120"/>
              </a:rPr>
              <a:t>• </a:t>
            </a:r>
            <a:r>
              <a:rPr lang="en-US" sz="978" b="1" dirty="0">
                <a:solidFill>
                  <a:srgbClr val="1F2937"/>
                </a:solidFill>
                <a:latin typeface="MiSans" pitchFamily="34" charset="0"/>
                <a:ea typeface="MiSans" pitchFamily="34" charset="-122"/>
                <a:cs typeface="MiSans" pitchFamily="34" charset="-120"/>
              </a:rPr>
              <a:t>Left (tL):</a:t>
            </a:r>
            <a:r>
              <a:rPr lang="en-US" sz="978" dirty="0">
                <a:solidFill>
                  <a:srgbClr val="1F2937"/>
                </a:solidFill>
                <a:latin typeface="MiSans" pitchFamily="34" charset="0"/>
                <a:ea typeface="MiSans" pitchFamily="34" charset="-122"/>
                <a:cs typeface="MiSans" pitchFamily="34" charset="-120"/>
              </a:rPr>
              <a:t> Number mode (1-0)</a:t>
            </a:r>
            <a:endParaRPr lang="en-US" sz="1600" dirty="0"/>
          </a:p>
        </p:txBody>
      </p:sp>
      <p:sp>
        <p:nvSpPr>
          <p:cNvPr id="31" name="Text 29"/>
          <p:cNvSpPr/>
          <p:nvPr/>
        </p:nvSpPr>
        <p:spPr>
          <a:xfrm>
            <a:off x="6476667" y="5993513"/>
            <a:ext cx="5315144" cy="177467"/>
          </a:xfrm>
          <a:prstGeom prst="rect">
            <a:avLst/>
          </a:prstGeom>
          <a:noFill/>
          <a:ln/>
        </p:spPr>
        <p:txBody>
          <a:bodyPr wrap="square" lIns="0" tIns="0" rIns="0" bIns="0" rtlCol="0" anchor="ctr"/>
          <a:lstStyle/>
          <a:p>
            <a:pPr>
              <a:lnSpc>
                <a:spcPct val="120000"/>
              </a:lnSpc>
            </a:pPr>
            <a:r>
              <a:rPr lang="en-US" sz="978" dirty="0">
                <a:solidFill>
                  <a:srgbClr val="1F2937"/>
                </a:solidFill>
                <a:latin typeface="MiSans" pitchFamily="34" charset="0"/>
                <a:ea typeface="MiSans" pitchFamily="34" charset="-122"/>
                <a:cs typeface="MiSans" pitchFamily="34" charset="-120"/>
              </a:rPr>
              <a:t>• </a:t>
            </a:r>
            <a:r>
              <a:rPr lang="en-US" sz="978" b="1" dirty="0">
                <a:solidFill>
                  <a:srgbClr val="1F2937"/>
                </a:solidFill>
                <a:latin typeface="MiSans" pitchFamily="34" charset="0"/>
                <a:ea typeface="MiSans" pitchFamily="34" charset="-122"/>
                <a:cs typeface="MiSans" pitchFamily="34" charset="-120"/>
              </a:rPr>
              <a:t>Right (tR):</a:t>
            </a:r>
            <a:r>
              <a:rPr lang="en-US" sz="978" dirty="0">
                <a:solidFill>
                  <a:srgbClr val="1F2937"/>
                </a:solidFill>
                <a:latin typeface="MiSans" pitchFamily="34" charset="0"/>
                <a:ea typeface="MiSans" pitchFamily="34" charset="-122"/>
                <a:cs typeface="MiSans" pitchFamily="34" charset="-120"/>
              </a:rPr>
              <a:t> Alphabet mode (A-Z)</a:t>
            </a:r>
            <a:endParaRPr lang="en-US" sz="1600" dirty="0"/>
          </a:p>
        </p:txBody>
      </p:sp>
      <p:sp>
        <p:nvSpPr>
          <p:cNvPr id="32" name="Text 30"/>
          <p:cNvSpPr/>
          <p:nvPr/>
        </p:nvSpPr>
        <p:spPr>
          <a:xfrm>
            <a:off x="6476667" y="6206473"/>
            <a:ext cx="5315144" cy="177467"/>
          </a:xfrm>
          <a:prstGeom prst="rect">
            <a:avLst/>
          </a:prstGeom>
          <a:noFill/>
          <a:ln/>
        </p:spPr>
        <p:txBody>
          <a:bodyPr wrap="square" lIns="0" tIns="0" rIns="0" bIns="0" rtlCol="0" anchor="ctr"/>
          <a:lstStyle/>
          <a:p>
            <a:pPr>
              <a:lnSpc>
                <a:spcPct val="120000"/>
              </a:lnSpc>
            </a:pPr>
            <a:r>
              <a:rPr lang="en-US" sz="978" dirty="0">
                <a:solidFill>
                  <a:srgbClr val="1F2937"/>
                </a:solidFill>
                <a:latin typeface="MiSans" pitchFamily="34" charset="0"/>
                <a:ea typeface="MiSans" pitchFamily="34" charset="-122"/>
                <a:cs typeface="MiSans" pitchFamily="34" charset="-120"/>
              </a:rPr>
              <a:t>• </a:t>
            </a:r>
            <a:r>
              <a:rPr lang="en-US" sz="978" b="1" dirty="0">
                <a:solidFill>
                  <a:srgbClr val="1F2937"/>
                </a:solidFill>
                <a:latin typeface="MiSans" pitchFamily="34" charset="0"/>
                <a:ea typeface="MiSans" pitchFamily="34" charset="-122"/>
                <a:cs typeface="MiSans" pitchFamily="34" charset="-120"/>
              </a:rPr>
              <a:t>Both:</a:t>
            </a:r>
            <a:r>
              <a:rPr lang="en-US" sz="978" dirty="0">
                <a:solidFill>
                  <a:srgbClr val="1F2937"/>
                </a:solidFill>
                <a:latin typeface="MiSans" pitchFamily="34" charset="0"/>
                <a:ea typeface="MiSans" pitchFamily="34" charset="-122"/>
                <a:cs typeface="MiSans" pitchFamily="34" charset="-120"/>
              </a:rPr>
              <a:t> Command confirmation</a:t>
            </a:r>
            <a:endParaRPr lang="en-US" sz="1600" dirty="0"/>
          </a:p>
        </p:txBody>
      </p:sp>
      <p:pic>
        <p:nvPicPr>
          <p:cNvPr id="1026" name="Picture 2">
            <a:extLst>
              <a:ext uri="{FF2B5EF4-FFF2-40B4-BE49-F238E27FC236}">
                <a16:creationId xmlns:a16="http://schemas.microsoft.com/office/drawing/2014/main" id="{90DBB3B7-D300-6C1C-74B5-0C622F3CA7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5510" y="5103355"/>
            <a:ext cx="3637935" cy="16737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5809" y="317500"/>
            <a:ext cx="4643438" cy="285750"/>
          </a:xfrm>
          <a:prstGeom prst="rect">
            <a:avLst/>
          </a:prstGeom>
          <a:noFill/>
          <a:ln/>
        </p:spPr>
        <p:txBody>
          <a:bodyPr wrap="square" lIns="0" tIns="0" rIns="0" bIns="0" rtlCol="0" anchor="ctr"/>
          <a:lstStyle/>
          <a:p>
            <a:pPr>
              <a:lnSpc>
                <a:spcPct val="100000"/>
              </a:lnSpc>
            </a:pPr>
            <a:r>
              <a:rPr lang="en-US" sz="1875" b="1" dirty="0">
                <a:solidFill>
                  <a:srgbClr val="0070C0"/>
                </a:solidFill>
                <a:latin typeface="Sorts Mill Goudy" pitchFamily="34" charset="0"/>
                <a:ea typeface="Sorts Mill Goudy" pitchFamily="34" charset="-122"/>
                <a:cs typeface="Sorts Mill Goudy" pitchFamily="34" charset="-120"/>
              </a:rPr>
              <a:t>Supported Commands &amp; Feedback Patterns</a:t>
            </a:r>
            <a:endParaRPr lang="en-US" sz="1600" dirty="0">
              <a:solidFill>
                <a:srgbClr val="0070C0"/>
              </a:solidFill>
            </a:endParaRPr>
          </a:p>
        </p:txBody>
      </p:sp>
      <p:sp>
        <p:nvSpPr>
          <p:cNvPr id="4" name="Shape 2"/>
          <p:cNvSpPr/>
          <p:nvPr/>
        </p:nvSpPr>
        <p:spPr>
          <a:xfrm>
            <a:off x="317500" y="666750"/>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5" name="Shape 3"/>
          <p:cNvSpPr/>
          <p:nvPr/>
        </p:nvSpPr>
        <p:spPr>
          <a:xfrm>
            <a:off x="333375" y="809625"/>
            <a:ext cx="31750" cy="1905000"/>
          </a:xfrm>
          <a:custGeom>
            <a:avLst/>
            <a:gdLst/>
            <a:ahLst/>
            <a:cxnLst/>
            <a:rect l="l" t="t" r="r" b="b"/>
            <a:pathLst>
              <a:path w="31750" h="1905000">
                <a:moveTo>
                  <a:pt x="0" y="0"/>
                </a:moveTo>
                <a:lnTo>
                  <a:pt x="31750" y="0"/>
                </a:lnTo>
                <a:lnTo>
                  <a:pt x="31750" y="1905000"/>
                </a:lnTo>
                <a:lnTo>
                  <a:pt x="0" y="1905000"/>
                </a:lnTo>
                <a:lnTo>
                  <a:pt x="0" y="0"/>
                </a:lnTo>
                <a:close/>
              </a:path>
            </a:pathLst>
          </a:custGeom>
          <a:solidFill>
            <a:srgbClr val="FFFF00"/>
          </a:solidFill>
          <a:ln/>
        </p:spPr>
      </p:sp>
      <p:sp>
        <p:nvSpPr>
          <p:cNvPr id="6" name="Text 4"/>
          <p:cNvSpPr/>
          <p:nvPr/>
        </p:nvSpPr>
        <p:spPr>
          <a:xfrm>
            <a:off x="476250"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Appliance Command Set</a:t>
            </a:r>
            <a:endParaRPr lang="en-US" sz="1600" dirty="0"/>
          </a:p>
        </p:txBody>
      </p:sp>
      <p:sp>
        <p:nvSpPr>
          <p:cNvPr id="7" name="Shape 5"/>
          <p:cNvSpPr/>
          <p:nvPr/>
        </p:nvSpPr>
        <p:spPr>
          <a:xfrm>
            <a:off x="476250" y="1127125"/>
            <a:ext cx="5540375" cy="349250"/>
          </a:xfrm>
          <a:custGeom>
            <a:avLst/>
            <a:gdLst/>
            <a:ahLst/>
            <a:cxnLst/>
            <a:rect l="l" t="t" r="r" b="b"/>
            <a:pathLst>
              <a:path w="5540375" h="349250">
                <a:moveTo>
                  <a:pt x="31750" y="0"/>
                </a:moveTo>
                <a:lnTo>
                  <a:pt x="5508625" y="0"/>
                </a:lnTo>
                <a:cubicBezTo>
                  <a:pt x="5526160" y="0"/>
                  <a:pt x="5540375" y="14215"/>
                  <a:pt x="5540375" y="31750"/>
                </a:cubicBezTo>
                <a:lnTo>
                  <a:pt x="5540375" y="317500"/>
                </a:lnTo>
                <a:cubicBezTo>
                  <a:pt x="5540375" y="335035"/>
                  <a:pt x="5526160" y="349250"/>
                  <a:pt x="5508625" y="349250"/>
                </a:cubicBezTo>
                <a:lnTo>
                  <a:pt x="31750" y="349250"/>
                </a:lnTo>
                <a:cubicBezTo>
                  <a:pt x="14215" y="349250"/>
                  <a:pt x="0" y="335035"/>
                  <a:pt x="0" y="317500"/>
                </a:cubicBezTo>
                <a:lnTo>
                  <a:pt x="0" y="31750"/>
                </a:lnTo>
                <a:cubicBezTo>
                  <a:pt x="0" y="14215"/>
                  <a:pt x="14215" y="0"/>
                  <a:pt x="31750" y="0"/>
                </a:cubicBezTo>
                <a:close/>
              </a:path>
            </a:pathLst>
          </a:custGeom>
          <a:solidFill>
            <a:srgbClr val="F9FAFB"/>
          </a:solidFill>
          <a:ln/>
        </p:spPr>
      </p:sp>
      <p:sp>
        <p:nvSpPr>
          <p:cNvPr id="8" name="Shape 6"/>
          <p:cNvSpPr/>
          <p:nvPr/>
        </p:nvSpPr>
        <p:spPr>
          <a:xfrm>
            <a:off x="539750" y="1190625"/>
            <a:ext cx="555625" cy="222250"/>
          </a:xfrm>
          <a:custGeom>
            <a:avLst/>
            <a:gdLst/>
            <a:ahLst/>
            <a:cxnLst/>
            <a:rect l="l" t="t" r="r" b="b"/>
            <a:pathLst>
              <a:path w="555625" h="222250">
                <a:moveTo>
                  <a:pt x="31751" y="0"/>
                </a:moveTo>
                <a:lnTo>
                  <a:pt x="523874" y="0"/>
                </a:lnTo>
                <a:cubicBezTo>
                  <a:pt x="541410" y="0"/>
                  <a:pt x="555625" y="14215"/>
                  <a:pt x="555625" y="31751"/>
                </a:cubicBezTo>
                <a:lnTo>
                  <a:pt x="555625" y="190499"/>
                </a:lnTo>
                <a:cubicBezTo>
                  <a:pt x="555625" y="208035"/>
                  <a:pt x="541410" y="222250"/>
                  <a:pt x="523874" y="222250"/>
                </a:cubicBezTo>
                <a:lnTo>
                  <a:pt x="31751" y="222250"/>
                </a:lnTo>
                <a:cubicBezTo>
                  <a:pt x="14227" y="222250"/>
                  <a:pt x="0" y="208023"/>
                  <a:pt x="0" y="190499"/>
                </a:cubicBezTo>
                <a:lnTo>
                  <a:pt x="0" y="31751"/>
                </a:lnTo>
                <a:cubicBezTo>
                  <a:pt x="0" y="14227"/>
                  <a:pt x="14227" y="0"/>
                  <a:pt x="31751" y="0"/>
                </a:cubicBezTo>
                <a:close/>
              </a:path>
            </a:pathLst>
          </a:custGeom>
          <a:solidFill>
            <a:srgbClr val="7030A0"/>
          </a:solidFill>
          <a:ln/>
        </p:spPr>
      </p:sp>
      <p:sp>
        <p:nvSpPr>
          <p:cNvPr id="9" name="Text 7"/>
          <p:cNvSpPr/>
          <p:nvPr/>
        </p:nvSpPr>
        <p:spPr>
          <a:xfrm>
            <a:off x="511969" y="1190625"/>
            <a:ext cx="611188" cy="222250"/>
          </a:xfrm>
          <a:prstGeom prst="rect">
            <a:avLst/>
          </a:prstGeom>
          <a:noFill/>
          <a:ln/>
        </p:spPr>
        <p:txBody>
          <a:bodyPr wrap="square" lIns="63500" tIns="31750" rIns="63500" bIns="31750" rtlCol="0" anchor="ctr"/>
          <a:lstStyle/>
          <a:p>
            <a:pPr algn="ctr">
              <a:lnSpc>
                <a:spcPct val="120000"/>
              </a:lnSpc>
            </a:pPr>
            <a:r>
              <a:rPr lang="en-US" sz="875" dirty="0">
                <a:solidFill>
                  <a:srgbClr val="FFFFFF"/>
                </a:solidFill>
                <a:latin typeface="MiSans" pitchFamily="34" charset="0"/>
                <a:ea typeface="MiSans" pitchFamily="34" charset="-122"/>
                <a:cs typeface="MiSans" pitchFamily="34" charset="-120"/>
              </a:rPr>
              <a:t>L1 / L2</a:t>
            </a:r>
            <a:endParaRPr lang="en-US" sz="1600" dirty="0"/>
          </a:p>
        </p:txBody>
      </p:sp>
      <p:sp>
        <p:nvSpPr>
          <p:cNvPr id="10" name="Text 8"/>
          <p:cNvSpPr/>
          <p:nvPr/>
        </p:nvSpPr>
        <p:spPr>
          <a:xfrm>
            <a:off x="1189732" y="1206500"/>
            <a:ext cx="2024062"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Toggles light relays on Pins 13 and 12</a:t>
            </a:r>
            <a:endParaRPr lang="en-US" sz="1600" dirty="0"/>
          </a:p>
        </p:txBody>
      </p:sp>
      <p:sp>
        <p:nvSpPr>
          <p:cNvPr id="11" name="Shape 9"/>
          <p:cNvSpPr/>
          <p:nvPr/>
        </p:nvSpPr>
        <p:spPr>
          <a:xfrm>
            <a:off x="476250" y="1539875"/>
            <a:ext cx="5540375" cy="349250"/>
          </a:xfrm>
          <a:custGeom>
            <a:avLst/>
            <a:gdLst/>
            <a:ahLst/>
            <a:cxnLst/>
            <a:rect l="l" t="t" r="r" b="b"/>
            <a:pathLst>
              <a:path w="5540375" h="349250">
                <a:moveTo>
                  <a:pt x="31750" y="0"/>
                </a:moveTo>
                <a:lnTo>
                  <a:pt x="5508625" y="0"/>
                </a:lnTo>
                <a:cubicBezTo>
                  <a:pt x="5526160" y="0"/>
                  <a:pt x="5540375" y="14215"/>
                  <a:pt x="5540375" y="31750"/>
                </a:cubicBezTo>
                <a:lnTo>
                  <a:pt x="5540375" y="317500"/>
                </a:lnTo>
                <a:cubicBezTo>
                  <a:pt x="5540375" y="335035"/>
                  <a:pt x="5526160" y="349250"/>
                  <a:pt x="5508625" y="349250"/>
                </a:cubicBezTo>
                <a:lnTo>
                  <a:pt x="31750" y="349250"/>
                </a:lnTo>
                <a:cubicBezTo>
                  <a:pt x="14215" y="349250"/>
                  <a:pt x="0" y="335035"/>
                  <a:pt x="0" y="317500"/>
                </a:cubicBezTo>
                <a:lnTo>
                  <a:pt x="0" y="31750"/>
                </a:lnTo>
                <a:cubicBezTo>
                  <a:pt x="0" y="14215"/>
                  <a:pt x="14215" y="0"/>
                  <a:pt x="31750" y="0"/>
                </a:cubicBezTo>
                <a:close/>
              </a:path>
            </a:pathLst>
          </a:custGeom>
          <a:solidFill>
            <a:srgbClr val="F9FAFB"/>
          </a:solidFill>
          <a:ln/>
        </p:spPr>
      </p:sp>
      <p:sp>
        <p:nvSpPr>
          <p:cNvPr id="12" name="Shape 10"/>
          <p:cNvSpPr/>
          <p:nvPr/>
        </p:nvSpPr>
        <p:spPr>
          <a:xfrm>
            <a:off x="539750" y="1603375"/>
            <a:ext cx="476250" cy="222250"/>
          </a:xfrm>
          <a:custGeom>
            <a:avLst/>
            <a:gdLst/>
            <a:ahLst/>
            <a:cxnLst/>
            <a:rect l="l" t="t" r="r" b="b"/>
            <a:pathLst>
              <a:path w="476250" h="222250">
                <a:moveTo>
                  <a:pt x="31751" y="0"/>
                </a:moveTo>
                <a:lnTo>
                  <a:pt x="444499" y="0"/>
                </a:lnTo>
                <a:cubicBezTo>
                  <a:pt x="462035" y="0"/>
                  <a:pt x="476250" y="14215"/>
                  <a:pt x="476250" y="31751"/>
                </a:cubicBezTo>
                <a:lnTo>
                  <a:pt x="476250" y="190499"/>
                </a:lnTo>
                <a:cubicBezTo>
                  <a:pt x="476250" y="208035"/>
                  <a:pt x="462035" y="222250"/>
                  <a:pt x="444499" y="222250"/>
                </a:cubicBezTo>
                <a:lnTo>
                  <a:pt x="31751" y="222250"/>
                </a:lnTo>
                <a:cubicBezTo>
                  <a:pt x="14227" y="222250"/>
                  <a:pt x="0" y="208023"/>
                  <a:pt x="0" y="190499"/>
                </a:cubicBezTo>
                <a:lnTo>
                  <a:pt x="0" y="31751"/>
                </a:lnTo>
                <a:cubicBezTo>
                  <a:pt x="0" y="14227"/>
                  <a:pt x="14227" y="0"/>
                  <a:pt x="31751" y="0"/>
                </a:cubicBezTo>
                <a:close/>
              </a:path>
            </a:pathLst>
          </a:custGeom>
          <a:solidFill>
            <a:srgbClr val="00B0F0"/>
          </a:solidFill>
          <a:ln/>
        </p:spPr>
      </p:sp>
      <p:sp>
        <p:nvSpPr>
          <p:cNvPr id="13" name="Text 11"/>
          <p:cNvSpPr/>
          <p:nvPr/>
        </p:nvSpPr>
        <p:spPr>
          <a:xfrm>
            <a:off x="511969" y="1603375"/>
            <a:ext cx="531813" cy="222250"/>
          </a:xfrm>
          <a:prstGeom prst="rect">
            <a:avLst/>
          </a:prstGeom>
          <a:noFill/>
          <a:ln/>
        </p:spPr>
        <p:txBody>
          <a:bodyPr wrap="square" lIns="63500" tIns="31750" rIns="63500" bIns="31750" rtlCol="0" anchor="ctr"/>
          <a:lstStyle/>
          <a:p>
            <a:pPr algn="ctr">
              <a:lnSpc>
                <a:spcPct val="120000"/>
              </a:lnSpc>
            </a:pPr>
            <a:r>
              <a:rPr lang="en-US" sz="875" dirty="0">
                <a:solidFill>
                  <a:srgbClr val="FFFFFF"/>
                </a:solidFill>
                <a:latin typeface="MiSans" pitchFamily="34" charset="0"/>
                <a:ea typeface="MiSans" pitchFamily="34" charset="-122"/>
                <a:cs typeface="MiSans" pitchFamily="34" charset="-120"/>
              </a:rPr>
              <a:t>Fxy</a:t>
            </a:r>
            <a:endParaRPr lang="en-US" sz="1600" dirty="0"/>
          </a:p>
        </p:txBody>
      </p:sp>
      <p:sp>
        <p:nvSpPr>
          <p:cNvPr id="14" name="Text 12"/>
          <p:cNvSpPr/>
          <p:nvPr/>
        </p:nvSpPr>
        <p:spPr>
          <a:xfrm>
            <a:off x="1111250" y="1619250"/>
            <a:ext cx="239712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Controls Fan x (Room 1/2) at Speed y (0–4)</a:t>
            </a:r>
            <a:endParaRPr lang="en-US" sz="1600" dirty="0"/>
          </a:p>
        </p:txBody>
      </p:sp>
      <p:sp>
        <p:nvSpPr>
          <p:cNvPr id="15" name="Shape 13"/>
          <p:cNvSpPr/>
          <p:nvPr/>
        </p:nvSpPr>
        <p:spPr>
          <a:xfrm>
            <a:off x="476250" y="1952625"/>
            <a:ext cx="5540375" cy="349250"/>
          </a:xfrm>
          <a:custGeom>
            <a:avLst/>
            <a:gdLst/>
            <a:ahLst/>
            <a:cxnLst/>
            <a:rect l="l" t="t" r="r" b="b"/>
            <a:pathLst>
              <a:path w="5540375" h="349250">
                <a:moveTo>
                  <a:pt x="31750" y="0"/>
                </a:moveTo>
                <a:lnTo>
                  <a:pt x="5508625" y="0"/>
                </a:lnTo>
                <a:cubicBezTo>
                  <a:pt x="5526160" y="0"/>
                  <a:pt x="5540375" y="14215"/>
                  <a:pt x="5540375" y="31750"/>
                </a:cubicBezTo>
                <a:lnTo>
                  <a:pt x="5540375" y="317500"/>
                </a:lnTo>
                <a:cubicBezTo>
                  <a:pt x="5540375" y="335035"/>
                  <a:pt x="5526160" y="349250"/>
                  <a:pt x="5508625" y="349250"/>
                </a:cubicBezTo>
                <a:lnTo>
                  <a:pt x="31750" y="349250"/>
                </a:lnTo>
                <a:cubicBezTo>
                  <a:pt x="14215" y="349250"/>
                  <a:pt x="0" y="335035"/>
                  <a:pt x="0" y="317500"/>
                </a:cubicBezTo>
                <a:lnTo>
                  <a:pt x="0" y="31750"/>
                </a:lnTo>
                <a:cubicBezTo>
                  <a:pt x="0" y="14215"/>
                  <a:pt x="14215" y="0"/>
                  <a:pt x="31750" y="0"/>
                </a:cubicBezTo>
                <a:close/>
              </a:path>
            </a:pathLst>
          </a:custGeom>
          <a:solidFill>
            <a:srgbClr val="F9FAFB"/>
          </a:solidFill>
          <a:ln/>
        </p:spPr>
      </p:sp>
      <p:sp>
        <p:nvSpPr>
          <p:cNvPr id="16" name="Shape 14"/>
          <p:cNvSpPr/>
          <p:nvPr/>
        </p:nvSpPr>
        <p:spPr>
          <a:xfrm>
            <a:off x="539750" y="2016125"/>
            <a:ext cx="476250" cy="222250"/>
          </a:xfrm>
          <a:custGeom>
            <a:avLst/>
            <a:gdLst/>
            <a:ahLst/>
            <a:cxnLst/>
            <a:rect l="l" t="t" r="r" b="b"/>
            <a:pathLst>
              <a:path w="476250" h="222250">
                <a:moveTo>
                  <a:pt x="31751" y="0"/>
                </a:moveTo>
                <a:lnTo>
                  <a:pt x="444499" y="0"/>
                </a:lnTo>
                <a:cubicBezTo>
                  <a:pt x="462035" y="0"/>
                  <a:pt x="476250" y="14215"/>
                  <a:pt x="476250" y="31751"/>
                </a:cubicBezTo>
                <a:lnTo>
                  <a:pt x="476250" y="190499"/>
                </a:lnTo>
                <a:cubicBezTo>
                  <a:pt x="476250" y="208035"/>
                  <a:pt x="462035" y="222250"/>
                  <a:pt x="444499" y="222250"/>
                </a:cubicBezTo>
                <a:lnTo>
                  <a:pt x="31751" y="222250"/>
                </a:lnTo>
                <a:cubicBezTo>
                  <a:pt x="14227" y="222250"/>
                  <a:pt x="0" y="208023"/>
                  <a:pt x="0" y="190499"/>
                </a:cubicBezTo>
                <a:lnTo>
                  <a:pt x="0" y="31751"/>
                </a:lnTo>
                <a:cubicBezTo>
                  <a:pt x="0" y="14227"/>
                  <a:pt x="14227" y="0"/>
                  <a:pt x="31751" y="0"/>
                </a:cubicBezTo>
                <a:close/>
              </a:path>
            </a:pathLst>
          </a:custGeom>
          <a:solidFill>
            <a:srgbClr val="00B050"/>
          </a:solidFill>
          <a:ln/>
        </p:spPr>
      </p:sp>
      <p:sp>
        <p:nvSpPr>
          <p:cNvPr id="17" name="Text 15"/>
          <p:cNvSpPr/>
          <p:nvPr/>
        </p:nvSpPr>
        <p:spPr>
          <a:xfrm>
            <a:off x="511969" y="2016125"/>
            <a:ext cx="531813" cy="222250"/>
          </a:xfrm>
          <a:prstGeom prst="rect">
            <a:avLst/>
          </a:prstGeom>
          <a:noFill/>
          <a:ln/>
        </p:spPr>
        <p:txBody>
          <a:bodyPr wrap="square" lIns="63500" tIns="31750" rIns="63500" bIns="31750" rtlCol="0" anchor="ctr"/>
          <a:lstStyle/>
          <a:p>
            <a:pPr algn="ctr">
              <a:lnSpc>
                <a:spcPct val="120000"/>
              </a:lnSpc>
            </a:pPr>
            <a:r>
              <a:rPr lang="en-US" sz="875" dirty="0">
                <a:solidFill>
                  <a:srgbClr val="FFFFFF"/>
                </a:solidFill>
                <a:latin typeface="MiSans" pitchFamily="34" charset="0"/>
                <a:ea typeface="MiSans" pitchFamily="34" charset="-122"/>
                <a:cs typeface="MiSans" pitchFamily="34" charset="-120"/>
              </a:rPr>
              <a:t>OPN</a:t>
            </a:r>
            <a:endParaRPr lang="en-US" sz="1600" dirty="0"/>
          </a:p>
        </p:txBody>
      </p:sp>
      <p:sp>
        <p:nvSpPr>
          <p:cNvPr id="18" name="Text 16"/>
          <p:cNvSpPr/>
          <p:nvPr/>
        </p:nvSpPr>
        <p:spPr>
          <a:xfrm>
            <a:off x="1111250" y="2032000"/>
            <a:ext cx="288925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Rotates door servo to 90°; auto-closes after 5 seconds</a:t>
            </a:r>
            <a:endParaRPr lang="en-US" sz="1600" dirty="0"/>
          </a:p>
        </p:txBody>
      </p:sp>
      <p:sp>
        <p:nvSpPr>
          <p:cNvPr id="19" name="Shape 17"/>
          <p:cNvSpPr/>
          <p:nvPr/>
        </p:nvSpPr>
        <p:spPr>
          <a:xfrm>
            <a:off x="476250" y="2365375"/>
            <a:ext cx="5540375" cy="349250"/>
          </a:xfrm>
          <a:custGeom>
            <a:avLst/>
            <a:gdLst/>
            <a:ahLst/>
            <a:cxnLst/>
            <a:rect l="l" t="t" r="r" b="b"/>
            <a:pathLst>
              <a:path w="5540375" h="349250">
                <a:moveTo>
                  <a:pt x="31750" y="0"/>
                </a:moveTo>
                <a:lnTo>
                  <a:pt x="5508625" y="0"/>
                </a:lnTo>
                <a:cubicBezTo>
                  <a:pt x="5526160" y="0"/>
                  <a:pt x="5540375" y="14215"/>
                  <a:pt x="5540375" y="31750"/>
                </a:cubicBezTo>
                <a:lnTo>
                  <a:pt x="5540375" y="317500"/>
                </a:lnTo>
                <a:cubicBezTo>
                  <a:pt x="5540375" y="335035"/>
                  <a:pt x="5526160" y="349250"/>
                  <a:pt x="5508625" y="349250"/>
                </a:cubicBezTo>
                <a:lnTo>
                  <a:pt x="31750" y="349250"/>
                </a:lnTo>
                <a:cubicBezTo>
                  <a:pt x="14215" y="349250"/>
                  <a:pt x="0" y="335035"/>
                  <a:pt x="0" y="317500"/>
                </a:cubicBezTo>
                <a:lnTo>
                  <a:pt x="0" y="31750"/>
                </a:lnTo>
                <a:cubicBezTo>
                  <a:pt x="0" y="14215"/>
                  <a:pt x="14215" y="0"/>
                  <a:pt x="31750" y="0"/>
                </a:cubicBezTo>
                <a:close/>
              </a:path>
            </a:pathLst>
          </a:custGeom>
          <a:solidFill>
            <a:srgbClr val="F9FAFB"/>
          </a:solidFill>
          <a:ln/>
        </p:spPr>
      </p:sp>
      <p:sp>
        <p:nvSpPr>
          <p:cNvPr id="20" name="Shape 18"/>
          <p:cNvSpPr/>
          <p:nvPr/>
        </p:nvSpPr>
        <p:spPr>
          <a:xfrm>
            <a:off x="539750" y="2428875"/>
            <a:ext cx="801688" cy="222250"/>
          </a:xfrm>
          <a:custGeom>
            <a:avLst/>
            <a:gdLst/>
            <a:ahLst/>
            <a:cxnLst/>
            <a:rect l="l" t="t" r="r" b="b"/>
            <a:pathLst>
              <a:path w="801688" h="222250">
                <a:moveTo>
                  <a:pt x="31751" y="0"/>
                </a:moveTo>
                <a:lnTo>
                  <a:pt x="769937" y="0"/>
                </a:lnTo>
                <a:cubicBezTo>
                  <a:pt x="787472" y="0"/>
                  <a:pt x="801688" y="14215"/>
                  <a:pt x="801688" y="31751"/>
                </a:cubicBezTo>
                <a:lnTo>
                  <a:pt x="801688" y="190499"/>
                </a:lnTo>
                <a:cubicBezTo>
                  <a:pt x="801688" y="208035"/>
                  <a:pt x="787472" y="222250"/>
                  <a:pt x="769937" y="222250"/>
                </a:cubicBezTo>
                <a:lnTo>
                  <a:pt x="31751" y="222250"/>
                </a:lnTo>
                <a:cubicBezTo>
                  <a:pt x="14227" y="222250"/>
                  <a:pt x="0" y="208023"/>
                  <a:pt x="0" y="190499"/>
                </a:cubicBezTo>
                <a:lnTo>
                  <a:pt x="0" y="31751"/>
                </a:lnTo>
                <a:cubicBezTo>
                  <a:pt x="0" y="14227"/>
                  <a:pt x="14227" y="0"/>
                  <a:pt x="31751" y="0"/>
                </a:cubicBezTo>
                <a:close/>
              </a:path>
            </a:pathLst>
          </a:custGeom>
          <a:solidFill>
            <a:srgbClr val="FF0000"/>
          </a:solidFill>
          <a:ln>
            <a:solidFill>
              <a:srgbClr val="FF0000"/>
            </a:solidFill>
          </a:ln>
        </p:spPr>
      </p:sp>
      <p:sp>
        <p:nvSpPr>
          <p:cNvPr id="21" name="Text 19"/>
          <p:cNvSpPr/>
          <p:nvPr/>
        </p:nvSpPr>
        <p:spPr>
          <a:xfrm>
            <a:off x="511969" y="2428875"/>
            <a:ext cx="857250" cy="222250"/>
          </a:xfrm>
          <a:prstGeom prst="rect">
            <a:avLst/>
          </a:prstGeom>
          <a:noFill/>
          <a:ln/>
        </p:spPr>
        <p:txBody>
          <a:bodyPr wrap="square" lIns="63500" tIns="31750" rIns="63500" bIns="31750" rtlCol="0" anchor="ctr"/>
          <a:lstStyle/>
          <a:p>
            <a:pPr algn="ctr">
              <a:lnSpc>
                <a:spcPct val="120000"/>
              </a:lnSpc>
            </a:pPr>
            <a:r>
              <a:rPr lang="en-US" sz="875" dirty="0">
                <a:solidFill>
                  <a:srgbClr val="FFFFFF"/>
                </a:solidFill>
                <a:latin typeface="MiSans" pitchFamily="34" charset="0"/>
                <a:ea typeface="MiSans" pitchFamily="34" charset="-122"/>
                <a:cs typeface="MiSans" pitchFamily="34" charset="-120"/>
              </a:rPr>
              <a:t>ALL1 / ALL0</a:t>
            </a:r>
            <a:endParaRPr lang="en-US" sz="1600" dirty="0"/>
          </a:p>
        </p:txBody>
      </p:sp>
      <p:sp>
        <p:nvSpPr>
          <p:cNvPr id="22" name="Text 20"/>
          <p:cNvSpPr/>
          <p:nvPr/>
        </p:nvSpPr>
        <p:spPr>
          <a:xfrm>
            <a:off x="1434108" y="2444750"/>
            <a:ext cx="169862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Master override for all devices</a:t>
            </a:r>
            <a:endParaRPr lang="en-US" sz="1600" dirty="0"/>
          </a:p>
        </p:txBody>
      </p:sp>
      <p:sp>
        <p:nvSpPr>
          <p:cNvPr id="23" name="Shape 21"/>
          <p:cNvSpPr/>
          <p:nvPr/>
        </p:nvSpPr>
        <p:spPr>
          <a:xfrm>
            <a:off x="333374" y="2841625"/>
            <a:ext cx="45719" cy="2794397"/>
          </a:xfrm>
          <a:custGeom>
            <a:avLst/>
            <a:gdLst/>
            <a:ahLst/>
            <a:cxnLst/>
            <a:rect l="l" t="t" r="r" b="b"/>
            <a:pathLst>
              <a:path w="31750" h="4008438">
                <a:moveTo>
                  <a:pt x="0" y="0"/>
                </a:moveTo>
                <a:lnTo>
                  <a:pt x="31750" y="0"/>
                </a:lnTo>
                <a:lnTo>
                  <a:pt x="31750" y="4008438"/>
                </a:lnTo>
                <a:lnTo>
                  <a:pt x="0" y="4008438"/>
                </a:lnTo>
                <a:lnTo>
                  <a:pt x="0" y="0"/>
                </a:lnTo>
                <a:close/>
              </a:path>
            </a:pathLst>
          </a:custGeom>
          <a:solidFill>
            <a:srgbClr val="7030A0"/>
          </a:solidFill>
          <a:ln/>
        </p:spPr>
      </p:sp>
      <p:sp>
        <p:nvSpPr>
          <p:cNvPr id="24" name="Text 22"/>
          <p:cNvSpPr/>
          <p:nvPr/>
        </p:nvSpPr>
        <p:spPr>
          <a:xfrm>
            <a:off x="476250" y="2841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Command Parsing Implementation</a:t>
            </a:r>
            <a:endParaRPr lang="en-US" sz="1600" dirty="0"/>
          </a:p>
        </p:txBody>
      </p:sp>
      <p:sp>
        <p:nvSpPr>
          <p:cNvPr id="25" name="Shape 23"/>
          <p:cNvSpPr/>
          <p:nvPr/>
        </p:nvSpPr>
        <p:spPr>
          <a:xfrm>
            <a:off x="479425" y="3162300"/>
            <a:ext cx="5530850" cy="2363788"/>
          </a:xfrm>
          <a:custGeom>
            <a:avLst/>
            <a:gdLst/>
            <a:ahLst/>
            <a:cxnLst/>
            <a:rect l="l" t="t" r="r" b="b"/>
            <a:pathLst>
              <a:path w="5530850" h="2363788">
                <a:moveTo>
                  <a:pt x="31746" y="0"/>
                </a:moveTo>
                <a:lnTo>
                  <a:pt x="5499104" y="0"/>
                </a:lnTo>
                <a:cubicBezTo>
                  <a:pt x="5516637" y="0"/>
                  <a:pt x="5530850" y="14213"/>
                  <a:pt x="5530850" y="31746"/>
                </a:cubicBezTo>
                <a:lnTo>
                  <a:pt x="5530850" y="2332042"/>
                </a:lnTo>
                <a:cubicBezTo>
                  <a:pt x="5530850" y="2349574"/>
                  <a:pt x="5516637" y="2363787"/>
                  <a:pt x="5499104" y="2363788"/>
                </a:cubicBezTo>
                <a:lnTo>
                  <a:pt x="31746" y="2363788"/>
                </a:lnTo>
                <a:cubicBezTo>
                  <a:pt x="14213" y="2363788"/>
                  <a:pt x="0" y="2349574"/>
                  <a:pt x="0" y="2332042"/>
                </a:cubicBezTo>
                <a:lnTo>
                  <a:pt x="0" y="31746"/>
                </a:lnTo>
                <a:cubicBezTo>
                  <a:pt x="0" y="14225"/>
                  <a:pt x="14225" y="0"/>
                  <a:pt x="31746" y="0"/>
                </a:cubicBezTo>
                <a:close/>
              </a:path>
            </a:pathLst>
          </a:custGeom>
          <a:solidFill>
            <a:srgbClr val="F9FAFB"/>
          </a:solidFill>
          <a:ln w="10160">
            <a:solidFill>
              <a:srgbClr val="E5E7EB"/>
            </a:solidFill>
            <a:prstDash val="solid"/>
          </a:ln>
        </p:spPr>
      </p:sp>
      <p:sp>
        <p:nvSpPr>
          <p:cNvPr id="26" name="Text 24"/>
          <p:cNvSpPr/>
          <p:nvPr/>
        </p:nvSpPr>
        <p:spPr>
          <a:xfrm>
            <a:off x="577850" y="3260725"/>
            <a:ext cx="5389563" cy="2166938"/>
          </a:xfrm>
          <a:prstGeom prst="rect">
            <a:avLst/>
          </a:prstGeom>
          <a:noFill/>
          <a:ln/>
        </p:spPr>
        <p:txBody>
          <a:bodyPr wrap="square" lIns="0" tIns="0" rIns="0" bIns="0" rtlCol="0" anchor="ctr"/>
          <a:lstStyle/>
          <a:p>
            <a:pPr>
              <a:lnSpc>
                <a:spcPct val="100000"/>
              </a:lnSpc>
            </a:pPr>
            <a:r>
              <a:rPr lang="en-US" sz="875" dirty="0">
                <a:solidFill>
                  <a:srgbClr val="0070C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(inputBuffer == "L1")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l1State = !l1State;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digitalWrite(RELAY_L1, l1State);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preferences.putBool("l1", l1State);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Blynk.virtualWrite(V1, l1State);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response = 'S';</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a:t>
            </a:r>
            <a:endParaRPr lang="en-US" sz="1600" dirty="0"/>
          </a:p>
          <a:p>
            <a:pPr>
              <a:lnSpc>
                <a:spcPct val="100000"/>
              </a:lnSpc>
            </a:pPr>
            <a:r>
              <a:rPr lang="en-US" sz="875" dirty="0">
                <a:solidFill>
                  <a:srgbClr val="0070C0"/>
                </a:solidFill>
                <a:latin typeface="MiSans" pitchFamily="34" charset="0"/>
                <a:ea typeface="MiSans" pitchFamily="34" charset="-122"/>
                <a:cs typeface="MiSans" pitchFamily="34" charset="-120"/>
              </a:rPr>
              <a:t>else</a:t>
            </a:r>
            <a:r>
              <a:rPr lang="en-US" sz="875" dirty="0">
                <a:solidFill>
                  <a:srgbClr val="8B0000"/>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(inputBuffer.startsWith("F"))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int</a:t>
            </a:r>
            <a:r>
              <a:rPr lang="en-US" sz="875" dirty="0">
                <a:solidFill>
                  <a:srgbClr val="1F2937"/>
                </a:solidFill>
                <a:latin typeface="MiSans" pitchFamily="34" charset="0"/>
                <a:ea typeface="MiSans" pitchFamily="34" charset="-122"/>
                <a:cs typeface="MiSans" pitchFamily="34" charset="-120"/>
              </a:rPr>
              <a:t> r = inputBuffer.charAt(1) - '0';</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int</a:t>
            </a:r>
            <a:r>
              <a:rPr lang="en-US" sz="875" dirty="0">
                <a:solidFill>
                  <a:srgbClr val="1F2937"/>
                </a:solidFill>
                <a:latin typeface="MiSans" pitchFamily="34" charset="0"/>
                <a:ea typeface="MiSans" pitchFamily="34" charset="-122"/>
                <a:cs typeface="MiSans" pitchFamily="34" charset="-120"/>
              </a:rPr>
              <a:t> s = inputBuffer.charAt(2) - '0';</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(r==1) { fan1State=s; setFan1Speed(s);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a:t>
            </a:r>
            <a:endParaRPr lang="en-US" sz="1600" dirty="0"/>
          </a:p>
        </p:txBody>
      </p:sp>
      <p:sp>
        <p:nvSpPr>
          <p:cNvPr id="27" name="Shape 25"/>
          <p:cNvSpPr/>
          <p:nvPr/>
        </p:nvSpPr>
        <p:spPr>
          <a:xfrm>
            <a:off x="6191250" y="809625"/>
            <a:ext cx="31750" cy="2682875"/>
          </a:xfrm>
          <a:custGeom>
            <a:avLst/>
            <a:gdLst/>
            <a:ahLst/>
            <a:cxnLst/>
            <a:rect l="l" t="t" r="r" b="b"/>
            <a:pathLst>
              <a:path w="31750" h="2682875">
                <a:moveTo>
                  <a:pt x="0" y="0"/>
                </a:moveTo>
                <a:lnTo>
                  <a:pt x="31750" y="0"/>
                </a:lnTo>
                <a:lnTo>
                  <a:pt x="31750" y="2682875"/>
                </a:lnTo>
                <a:lnTo>
                  <a:pt x="0" y="2682875"/>
                </a:lnTo>
                <a:lnTo>
                  <a:pt x="0" y="0"/>
                </a:lnTo>
                <a:close/>
              </a:path>
            </a:pathLst>
          </a:custGeom>
          <a:solidFill>
            <a:srgbClr val="00B0F0"/>
          </a:solidFill>
          <a:ln/>
        </p:spPr>
      </p:sp>
      <p:sp>
        <p:nvSpPr>
          <p:cNvPr id="28" name="Text 26"/>
          <p:cNvSpPr/>
          <p:nvPr/>
        </p:nvSpPr>
        <p:spPr>
          <a:xfrm>
            <a:off x="6334125"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Haptic &amp; Audio Feedback Timing</a:t>
            </a:r>
            <a:endParaRPr lang="en-US" sz="1600" dirty="0"/>
          </a:p>
        </p:txBody>
      </p:sp>
      <p:sp>
        <p:nvSpPr>
          <p:cNvPr id="29" name="Text 27"/>
          <p:cNvSpPr/>
          <p:nvPr/>
        </p:nvSpPr>
        <p:spPr>
          <a:xfrm>
            <a:off x="6334125" y="1127125"/>
            <a:ext cx="5603875" cy="174625"/>
          </a:xfrm>
          <a:prstGeom prst="rect">
            <a:avLst/>
          </a:prstGeom>
          <a:noFill/>
          <a:ln/>
        </p:spPr>
        <p:txBody>
          <a:bodyPr wrap="square" lIns="0" tIns="0" rIns="0" bIns="0" rtlCol="0" anchor="ctr"/>
          <a:lstStyle/>
          <a:p>
            <a:pPr>
              <a:lnSpc>
                <a:spcPct val="110000"/>
              </a:lnSpc>
            </a:pPr>
            <a:r>
              <a:rPr lang="en-US" sz="1000" dirty="0">
                <a:solidFill>
                  <a:srgbClr val="1F2937"/>
                </a:solidFill>
                <a:latin typeface="Sorts Mill Goudy" pitchFamily="34" charset="0"/>
                <a:ea typeface="Sorts Mill Goudy" pitchFamily="34" charset="-122"/>
                <a:cs typeface="Sorts Mill Goudy" pitchFamily="34" charset="-120"/>
              </a:rPr>
              <a:t>The system ensures immediate confirmation for visually impaired users.</a:t>
            </a:r>
            <a:endParaRPr lang="en-US" sz="1600" dirty="0"/>
          </a:p>
        </p:txBody>
      </p:sp>
      <p:sp>
        <p:nvSpPr>
          <p:cNvPr id="30" name="Shape 28"/>
          <p:cNvSpPr/>
          <p:nvPr/>
        </p:nvSpPr>
        <p:spPr>
          <a:xfrm>
            <a:off x="6334125" y="1397000"/>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31" name="Shape 29"/>
          <p:cNvSpPr/>
          <p:nvPr/>
        </p:nvSpPr>
        <p:spPr>
          <a:xfrm>
            <a:off x="6397625" y="1460500"/>
            <a:ext cx="317500" cy="317500"/>
          </a:xfrm>
          <a:custGeom>
            <a:avLst/>
            <a:gdLst/>
            <a:ahLst/>
            <a:cxnLst/>
            <a:rect l="l" t="t" r="r" b="b"/>
            <a:pathLst>
              <a:path w="317500" h="317500">
                <a:moveTo>
                  <a:pt x="31750" y="0"/>
                </a:moveTo>
                <a:lnTo>
                  <a:pt x="285750" y="0"/>
                </a:lnTo>
                <a:cubicBezTo>
                  <a:pt x="303273" y="0"/>
                  <a:pt x="317500" y="14227"/>
                  <a:pt x="317500" y="31750"/>
                </a:cubicBezTo>
                <a:lnTo>
                  <a:pt x="317500" y="285750"/>
                </a:lnTo>
                <a:cubicBezTo>
                  <a:pt x="317500" y="303273"/>
                  <a:pt x="303273" y="317500"/>
                  <a:pt x="285750" y="317500"/>
                </a:cubicBezTo>
                <a:lnTo>
                  <a:pt x="31750" y="317500"/>
                </a:lnTo>
                <a:cubicBezTo>
                  <a:pt x="14227" y="317500"/>
                  <a:pt x="0" y="303273"/>
                  <a:pt x="0" y="285750"/>
                </a:cubicBezTo>
                <a:lnTo>
                  <a:pt x="0" y="31750"/>
                </a:lnTo>
                <a:cubicBezTo>
                  <a:pt x="0" y="14227"/>
                  <a:pt x="14227" y="0"/>
                  <a:pt x="31750" y="0"/>
                </a:cubicBezTo>
                <a:close/>
              </a:path>
            </a:pathLst>
          </a:custGeom>
          <a:solidFill>
            <a:srgbClr val="00B050"/>
          </a:solidFill>
          <a:ln/>
        </p:spPr>
      </p:sp>
      <p:sp>
        <p:nvSpPr>
          <p:cNvPr id="32" name="Text 30"/>
          <p:cNvSpPr/>
          <p:nvPr/>
        </p:nvSpPr>
        <p:spPr>
          <a:xfrm>
            <a:off x="6361906" y="146050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S</a:t>
            </a:r>
            <a:endParaRPr lang="en-US" sz="1600" dirty="0"/>
          </a:p>
        </p:txBody>
      </p:sp>
      <p:sp>
        <p:nvSpPr>
          <p:cNvPr id="33" name="Text 31"/>
          <p:cNvSpPr/>
          <p:nvPr/>
        </p:nvSpPr>
        <p:spPr>
          <a:xfrm>
            <a:off x="6810375" y="1460500"/>
            <a:ext cx="168275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Success ('S')</a:t>
            </a:r>
            <a:endParaRPr lang="en-US" sz="1600" dirty="0"/>
          </a:p>
        </p:txBody>
      </p:sp>
      <p:sp>
        <p:nvSpPr>
          <p:cNvPr id="34" name="Text 32"/>
          <p:cNvSpPr/>
          <p:nvPr/>
        </p:nvSpPr>
        <p:spPr>
          <a:xfrm>
            <a:off x="6810375" y="1651000"/>
            <a:ext cx="1674813"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400ms pulse for confirmed actions</a:t>
            </a:r>
            <a:endParaRPr lang="en-US" sz="1600" dirty="0"/>
          </a:p>
        </p:txBody>
      </p:sp>
      <p:sp>
        <p:nvSpPr>
          <p:cNvPr id="35" name="Shape 33"/>
          <p:cNvSpPr/>
          <p:nvPr/>
        </p:nvSpPr>
        <p:spPr>
          <a:xfrm>
            <a:off x="6334125" y="1936750"/>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36" name="Shape 34"/>
          <p:cNvSpPr/>
          <p:nvPr/>
        </p:nvSpPr>
        <p:spPr>
          <a:xfrm>
            <a:off x="6397625" y="2000250"/>
            <a:ext cx="317500" cy="317500"/>
          </a:xfrm>
          <a:custGeom>
            <a:avLst/>
            <a:gdLst/>
            <a:ahLst/>
            <a:cxnLst/>
            <a:rect l="l" t="t" r="r" b="b"/>
            <a:pathLst>
              <a:path w="317500" h="317500">
                <a:moveTo>
                  <a:pt x="31750" y="0"/>
                </a:moveTo>
                <a:lnTo>
                  <a:pt x="285750" y="0"/>
                </a:lnTo>
                <a:cubicBezTo>
                  <a:pt x="303273" y="0"/>
                  <a:pt x="317500" y="14227"/>
                  <a:pt x="317500" y="31750"/>
                </a:cubicBezTo>
                <a:lnTo>
                  <a:pt x="317500" y="285750"/>
                </a:lnTo>
                <a:cubicBezTo>
                  <a:pt x="317500" y="303273"/>
                  <a:pt x="303273" y="317500"/>
                  <a:pt x="285750" y="317500"/>
                </a:cubicBezTo>
                <a:lnTo>
                  <a:pt x="31750" y="317500"/>
                </a:lnTo>
                <a:cubicBezTo>
                  <a:pt x="14227" y="317500"/>
                  <a:pt x="0" y="303273"/>
                  <a:pt x="0" y="285750"/>
                </a:cubicBezTo>
                <a:lnTo>
                  <a:pt x="0" y="31750"/>
                </a:lnTo>
                <a:cubicBezTo>
                  <a:pt x="0" y="14227"/>
                  <a:pt x="14227" y="0"/>
                  <a:pt x="31750" y="0"/>
                </a:cubicBezTo>
                <a:close/>
              </a:path>
            </a:pathLst>
          </a:custGeom>
          <a:solidFill>
            <a:srgbClr val="FF0000"/>
          </a:solidFill>
          <a:ln/>
        </p:spPr>
      </p:sp>
      <p:sp>
        <p:nvSpPr>
          <p:cNvPr id="37" name="Text 35"/>
          <p:cNvSpPr/>
          <p:nvPr/>
        </p:nvSpPr>
        <p:spPr>
          <a:xfrm>
            <a:off x="6361906" y="200025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E</a:t>
            </a:r>
            <a:endParaRPr lang="en-US" sz="1600" dirty="0"/>
          </a:p>
        </p:txBody>
      </p:sp>
      <p:sp>
        <p:nvSpPr>
          <p:cNvPr id="38" name="Text 36"/>
          <p:cNvSpPr/>
          <p:nvPr/>
        </p:nvSpPr>
        <p:spPr>
          <a:xfrm>
            <a:off x="6810375" y="2000250"/>
            <a:ext cx="19446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Error ('E')</a:t>
            </a:r>
            <a:endParaRPr lang="en-US" sz="1600" dirty="0"/>
          </a:p>
        </p:txBody>
      </p:sp>
      <p:sp>
        <p:nvSpPr>
          <p:cNvPr id="39" name="Text 37"/>
          <p:cNvSpPr/>
          <p:nvPr/>
        </p:nvSpPr>
        <p:spPr>
          <a:xfrm>
            <a:off x="6810375" y="2190750"/>
            <a:ext cx="193675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800ms long pulse for invalid commands</a:t>
            </a:r>
            <a:endParaRPr lang="en-US" sz="1600" dirty="0"/>
          </a:p>
        </p:txBody>
      </p:sp>
      <p:sp>
        <p:nvSpPr>
          <p:cNvPr id="40" name="Shape 38"/>
          <p:cNvSpPr/>
          <p:nvPr/>
        </p:nvSpPr>
        <p:spPr>
          <a:xfrm>
            <a:off x="6334125" y="2476500"/>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41" name="Shape 39"/>
          <p:cNvSpPr/>
          <p:nvPr/>
        </p:nvSpPr>
        <p:spPr>
          <a:xfrm>
            <a:off x="6397625" y="2540000"/>
            <a:ext cx="317500" cy="317500"/>
          </a:xfrm>
          <a:custGeom>
            <a:avLst/>
            <a:gdLst/>
            <a:ahLst/>
            <a:cxnLst/>
            <a:rect l="l" t="t" r="r" b="b"/>
            <a:pathLst>
              <a:path w="317500" h="317500">
                <a:moveTo>
                  <a:pt x="31750" y="0"/>
                </a:moveTo>
                <a:lnTo>
                  <a:pt x="285750" y="0"/>
                </a:lnTo>
                <a:cubicBezTo>
                  <a:pt x="303273" y="0"/>
                  <a:pt x="317500" y="14227"/>
                  <a:pt x="317500" y="31750"/>
                </a:cubicBezTo>
                <a:lnTo>
                  <a:pt x="317500" y="285750"/>
                </a:lnTo>
                <a:cubicBezTo>
                  <a:pt x="317500" y="303273"/>
                  <a:pt x="303273" y="317500"/>
                  <a:pt x="285750" y="317500"/>
                </a:cubicBezTo>
                <a:lnTo>
                  <a:pt x="31750" y="317500"/>
                </a:lnTo>
                <a:cubicBezTo>
                  <a:pt x="14227" y="317500"/>
                  <a:pt x="0" y="303273"/>
                  <a:pt x="0" y="285750"/>
                </a:cubicBezTo>
                <a:lnTo>
                  <a:pt x="0" y="31750"/>
                </a:lnTo>
                <a:cubicBezTo>
                  <a:pt x="0" y="14227"/>
                  <a:pt x="14227" y="0"/>
                  <a:pt x="31750" y="0"/>
                </a:cubicBezTo>
                <a:close/>
              </a:path>
            </a:pathLst>
          </a:custGeom>
          <a:solidFill>
            <a:srgbClr val="00B0F0"/>
          </a:solidFill>
          <a:ln/>
        </p:spPr>
      </p:sp>
      <p:sp>
        <p:nvSpPr>
          <p:cNvPr id="42" name="Text 40"/>
          <p:cNvSpPr/>
          <p:nvPr/>
        </p:nvSpPr>
        <p:spPr>
          <a:xfrm>
            <a:off x="6361906" y="254000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C</a:t>
            </a:r>
            <a:endParaRPr lang="en-US" sz="1600" dirty="0"/>
          </a:p>
        </p:txBody>
      </p:sp>
      <p:sp>
        <p:nvSpPr>
          <p:cNvPr id="43" name="Text 41"/>
          <p:cNvSpPr/>
          <p:nvPr/>
        </p:nvSpPr>
        <p:spPr>
          <a:xfrm>
            <a:off x="6810375" y="2540000"/>
            <a:ext cx="197643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Correct Password ('C')</a:t>
            </a:r>
            <a:endParaRPr lang="en-US" sz="1600" dirty="0"/>
          </a:p>
        </p:txBody>
      </p:sp>
      <p:sp>
        <p:nvSpPr>
          <p:cNvPr id="44" name="Text 42"/>
          <p:cNvSpPr/>
          <p:nvPr/>
        </p:nvSpPr>
        <p:spPr>
          <a:xfrm>
            <a:off x="6810375" y="2730500"/>
            <a:ext cx="196850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5 short pulses (400ms ON / 200ms GAP)</a:t>
            </a:r>
            <a:endParaRPr lang="en-US" sz="1600" dirty="0"/>
          </a:p>
        </p:txBody>
      </p:sp>
      <p:sp>
        <p:nvSpPr>
          <p:cNvPr id="45" name="Shape 43"/>
          <p:cNvSpPr/>
          <p:nvPr/>
        </p:nvSpPr>
        <p:spPr>
          <a:xfrm>
            <a:off x="6334125" y="3016250"/>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46" name="Shape 44"/>
          <p:cNvSpPr/>
          <p:nvPr/>
        </p:nvSpPr>
        <p:spPr>
          <a:xfrm>
            <a:off x="6397625" y="3079750"/>
            <a:ext cx="317500" cy="317500"/>
          </a:xfrm>
          <a:custGeom>
            <a:avLst/>
            <a:gdLst/>
            <a:ahLst/>
            <a:cxnLst/>
            <a:rect l="l" t="t" r="r" b="b"/>
            <a:pathLst>
              <a:path w="317500" h="317500">
                <a:moveTo>
                  <a:pt x="31750" y="0"/>
                </a:moveTo>
                <a:lnTo>
                  <a:pt x="285750" y="0"/>
                </a:lnTo>
                <a:cubicBezTo>
                  <a:pt x="303273" y="0"/>
                  <a:pt x="317500" y="14227"/>
                  <a:pt x="317500" y="31750"/>
                </a:cubicBezTo>
                <a:lnTo>
                  <a:pt x="317500" y="285750"/>
                </a:lnTo>
                <a:cubicBezTo>
                  <a:pt x="317500" y="303273"/>
                  <a:pt x="303273" y="317500"/>
                  <a:pt x="285750" y="317500"/>
                </a:cubicBezTo>
                <a:lnTo>
                  <a:pt x="31750" y="317500"/>
                </a:lnTo>
                <a:cubicBezTo>
                  <a:pt x="14227" y="317500"/>
                  <a:pt x="0" y="303273"/>
                  <a:pt x="0" y="285750"/>
                </a:cubicBezTo>
                <a:lnTo>
                  <a:pt x="0" y="31750"/>
                </a:lnTo>
                <a:cubicBezTo>
                  <a:pt x="0" y="14227"/>
                  <a:pt x="14227" y="0"/>
                  <a:pt x="31750" y="0"/>
                </a:cubicBezTo>
                <a:close/>
              </a:path>
            </a:pathLst>
          </a:custGeom>
          <a:solidFill>
            <a:srgbClr val="7030A0"/>
          </a:solidFill>
          <a:ln>
            <a:solidFill>
              <a:srgbClr val="7030A0"/>
            </a:solidFill>
          </a:ln>
        </p:spPr>
      </p:sp>
      <p:sp>
        <p:nvSpPr>
          <p:cNvPr id="47" name="Text 45"/>
          <p:cNvSpPr/>
          <p:nvPr/>
        </p:nvSpPr>
        <p:spPr>
          <a:xfrm>
            <a:off x="6361906" y="307975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W</a:t>
            </a:r>
            <a:endParaRPr lang="en-US" sz="1600" dirty="0"/>
          </a:p>
        </p:txBody>
      </p:sp>
      <p:sp>
        <p:nvSpPr>
          <p:cNvPr id="48" name="Text 46"/>
          <p:cNvSpPr/>
          <p:nvPr/>
        </p:nvSpPr>
        <p:spPr>
          <a:xfrm>
            <a:off x="6810375" y="3079750"/>
            <a:ext cx="193675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Wrong Password ('W')</a:t>
            </a:r>
            <a:endParaRPr lang="en-US" sz="1600" dirty="0"/>
          </a:p>
        </p:txBody>
      </p:sp>
      <p:sp>
        <p:nvSpPr>
          <p:cNvPr id="49" name="Text 47"/>
          <p:cNvSpPr/>
          <p:nvPr/>
        </p:nvSpPr>
        <p:spPr>
          <a:xfrm>
            <a:off x="6810375" y="3270250"/>
            <a:ext cx="1928813"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5 long pulses (800ms ON / 200ms GAP)</a:t>
            </a:r>
            <a:endParaRPr lang="en-US" sz="1600" dirty="0"/>
          </a:p>
        </p:txBody>
      </p:sp>
      <p:sp>
        <p:nvSpPr>
          <p:cNvPr id="50" name="Shape 48"/>
          <p:cNvSpPr/>
          <p:nvPr/>
        </p:nvSpPr>
        <p:spPr>
          <a:xfrm>
            <a:off x="6191249" y="3619501"/>
            <a:ext cx="45719" cy="2903220"/>
          </a:xfrm>
          <a:custGeom>
            <a:avLst/>
            <a:gdLst/>
            <a:ahLst/>
            <a:cxnLst/>
            <a:rect l="l" t="t" r="r" b="b"/>
            <a:pathLst>
              <a:path w="31750" h="3230563">
                <a:moveTo>
                  <a:pt x="0" y="0"/>
                </a:moveTo>
                <a:lnTo>
                  <a:pt x="31750" y="0"/>
                </a:lnTo>
                <a:lnTo>
                  <a:pt x="31750" y="3230563"/>
                </a:lnTo>
                <a:lnTo>
                  <a:pt x="0" y="3230563"/>
                </a:lnTo>
                <a:lnTo>
                  <a:pt x="0" y="0"/>
                </a:lnTo>
                <a:close/>
              </a:path>
            </a:pathLst>
          </a:custGeom>
          <a:solidFill>
            <a:srgbClr val="FFC000"/>
          </a:solidFill>
          <a:ln/>
        </p:spPr>
      </p:sp>
      <p:sp>
        <p:nvSpPr>
          <p:cNvPr id="51" name="Text 49"/>
          <p:cNvSpPr/>
          <p:nvPr/>
        </p:nvSpPr>
        <p:spPr>
          <a:xfrm>
            <a:off x="6334125" y="3619500"/>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Feedback Function Implementation</a:t>
            </a:r>
            <a:endParaRPr lang="en-US" sz="1600" dirty="0"/>
          </a:p>
        </p:txBody>
      </p:sp>
      <p:sp>
        <p:nvSpPr>
          <p:cNvPr id="52" name="Shape 50"/>
          <p:cNvSpPr/>
          <p:nvPr/>
        </p:nvSpPr>
        <p:spPr>
          <a:xfrm>
            <a:off x="6337300" y="3940175"/>
            <a:ext cx="5530850" cy="2502297"/>
          </a:xfrm>
          <a:custGeom>
            <a:avLst/>
            <a:gdLst/>
            <a:ahLst/>
            <a:cxnLst/>
            <a:rect l="l" t="t" r="r" b="b"/>
            <a:pathLst>
              <a:path w="5530850" h="2903537">
                <a:moveTo>
                  <a:pt x="31736" y="0"/>
                </a:moveTo>
                <a:lnTo>
                  <a:pt x="5499114" y="0"/>
                </a:lnTo>
                <a:cubicBezTo>
                  <a:pt x="5516641" y="0"/>
                  <a:pt x="5530850" y="14209"/>
                  <a:pt x="5530850" y="31736"/>
                </a:cubicBezTo>
                <a:lnTo>
                  <a:pt x="5530850" y="2871802"/>
                </a:lnTo>
                <a:cubicBezTo>
                  <a:pt x="5530850" y="2889329"/>
                  <a:pt x="5516641" y="2903537"/>
                  <a:pt x="5499114" y="2903537"/>
                </a:cubicBezTo>
                <a:lnTo>
                  <a:pt x="31736" y="2903537"/>
                </a:lnTo>
                <a:cubicBezTo>
                  <a:pt x="14209" y="2903537"/>
                  <a:pt x="0" y="2889329"/>
                  <a:pt x="0" y="2871802"/>
                </a:cubicBezTo>
                <a:lnTo>
                  <a:pt x="0" y="31736"/>
                </a:lnTo>
                <a:cubicBezTo>
                  <a:pt x="0" y="14209"/>
                  <a:pt x="14209" y="0"/>
                  <a:pt x="31736" y="0"/>
                </a:cubicBezTo>
                <a:close/>
              </a:path>
            </a:pathLst>
          </a:custGeom>
          <a:solidFill>
            <a:srgbClr val="F9FAFB"/>
          </a:solidFill>
          <a:ln w="10160">
            <a:solidFill>
              <a:srgbClr val="E5E7EB"/>
            </a:solidFill>
            <a:prstDash val="solid"/>
          </a:ln>
        </p:spPr>
      </p:sp>
      <p:sp>
        <p:nvSpPr>
          <p:cNvPr id="53" name="Text 51"/>
          <p:cNvSpPr/>
          <p:nvPr/>
        </p:nvSpPr>
        <p:spPr>
          <a:xfrm>
            <a:off x="6435725" y="4038600"/>
            <a:ext cx="5389563" cy="2706688"/>
          </a:xfrm>
          <a:prstGeom prst="rect">
            <a:avLst/>
          </a:prstGeom>
          <a:noFill/>
          <a:ln/>
        </p:spPr>
        <p:txBody>
          <a:bodyPr wrap="square" lIns="0" tIns="0" rIns="0" bIns="0" rtlCol="0" anchor="ctr"/>
          <a:lstStyle/>
          <a:p>
            <a:pPr>
              <a:lnSpc>
                <a:spcPct val="100000"/>
              </a:lnSpc>
            </a:pPr>
            <a:r>
              <a:rPr lang="en-US" sz="875" dirty="0">
                <a:solidFill>
                  <a:srgbClr val="0070C0"/>
                </a:solidFill>
                <a:latin typeface="MiSans" pitchFamily="34" charset="0"/>
                <a:ea typeface="MiSans" pitchFamily="34" charset="-122"/>
                <a:cs typeface="MiSans" pitchFamily="34" charset="-120"/>
              </a:rPr>
              <a:t>void</a:t>
            </a:r>
            <a:r>
              <a:rPr lang="en-US" sz="875" dirty="0">
                <a:solidFill>
                  <a:srgbClr val="1F2937"/>
                </a:solidFill>
                <a:latin typeface="MiSans" pitchFamily="34" charset="0"/>
                <a:ea typeface="MiSans" pitchFamily="34" charset="-122"/>
                <a:cs typeface="MiSans" pitchFamily="34" charset="-120"/>
              </a:rPr>
              <a:t> triggerFeedback(</a:t>
            </a:r>
            <a:r>
              <a:rPr lang="en-US" sz="875" dirty="0">
                <a:solidFill>
                  <a:srgbClr val="0070C0"/>
                </a:solidFill>
                <a:latin typeface="MiSans" pitchFamily="34" charset="0"/>
                <a:ea typeface="MiSans" pitchFamily="34" charset="-122"/>
                <a:cs typeface="MiSans" pitchFamily="34" charset="-120"/>
              </a:rPr>
              <a:t>char</a:t>
            </a:r>
            <a:r>
              <a:rPr lang="en-US" sz="875" dirty="0">
                <a:solidFill>
                  <a:srgbClr val="1F2937"/>
                </a:solidFill>
                <a:latin typeface="MiSans" pitchFamily="34" charset="0"/>
                <a:ea typeface="MiSans" pitchFamily="34" charset="-122"/>
                <a:cs typeface="MiSans" pitchFamily="34" charset="-120"/>
              </a:rPr>
              <a:t> type)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(type == 'S') { </a:t>
            </a:r>
            <a:r>
              <a:rPr lang="en-US" sz="875" dirty="0">
                <a:solidFill>
                  <a:srgbClr val="6B7280"/>
                </a:solidFill>
                <a:latin typeface="MiSans" pitchFamily="34" charset="0"/>
                <a:ea typeface="MiSans" pitchFamily="34" charset="-122"/>
                <a:cs typeface="MiSans" pitchFamily="34" charset="-120"/>
              </a:rPr>
              <a:t>// 400ms</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digitalWrite(vibMotor, HIGH);</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delay(400);</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digitalWrite(vibMotor, LOW);</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else</a:t>
            </a:r>
            <a:r>
              <a:rPr lang="en-US" sz="875" dirty="0">
                <a:solidFill>
                  <a:srgbClr val="8B0000"/>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(type == 'C') { </a:t>
            </a:r>
            <a:r>
              <a:rPr lang="en-US" sz="875" dirty="0">
                <a:solidFill>
                  <a:srgbClr val="6B7280"/>
                </a:solidFill>
                <a:latin typeface="MiSans" pitchFamily="34" charset="0"/>
                <a:ea typeface="MiSans" pitchFamily="34" charset="-122"/>
                <a:cs typeface="MiSans" pitchFamily="34" charset="-120"/>
              </a:rPr>
              <a:t>// 5× short</a:t>
            </a:r>
          </a:p>
          <a:p>
            <a:pPr>
              <a:lnSpc>
                <a:spcPct val="100000"/>
              </a:lnSpc>
            </a:pPr>
            <a:r>
              <a:rPr lang="en-US" sz="875" dirty="0">
                <a:solidFill>
                  <a:srgbClr val="0070C0"/>
                </a:solidFill>
                <a:latin typeface="MiSans" pitchFamily="34" charset="0"/>
                <a:ea typeface="MiSans" pitchFamily="34" charset="-122"/>
                <a:cs typeface="MiSans" pitchFamily="34" charset="-120"/>
              </a:rPr>
              <a:t>for</a:t>
            </a:r>
            <a:r>
              <a:rPr lang="en-US" sz="875" dirty="0">
                <a:solidFill>
                  <a:srgbClr val="1F2937"/>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int</a:t>
            </a:r>
            <a:r>
              <a:rPr lang="en-US" sz="875" dirty="0">
                <a:solidFill>
                  <a:srgbClr val="1F2937"/>
                </a:solidFill>
                <a:latin typeface="MiSans" pitchFamily="34" charset="0"/>
                <a:ea typeface="MiSans" pitchFamily="34" charset="-122"/>
                <a:cs typeface="MiSans" pitchFamily="34" charset="-120"/>
              </a:rPr>
              <a:t> i=0; i&lt;5; i++)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digitalWrite(vibMotor, HIGH);</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delay(400);</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digitalWrite(vibMotor, LOW);</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(i&lt;4) delay(200);</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3824" y="317500"/>
            <a:ext cx="3992563" cy="285750"/>
          </a:xfrm>
          <a:prstGeom prst="rect">
            <a:avLst/>
          </a:prstGeom>
          <a:noFill/>
          <a:ln/>
        </p:spPr>
        <p:txBody>
          <a:bodyPr wrap="square" lIns="0" tIns="0" rIns="0" bIns="0" rtlCol="0" anchor="ctr"/>
          <a:lstStyle/>
          <a:p>
            <a:pPr>
              <a:lnSpc>
                <a:spcPct val="100000"/>
              </a:lnSpc>
            </a:pPr>
            <a:r>
              <a:rPr lang="en-US" sz="1875" b="1" dirty="0">
                <a:solidFill>
                  <a:srgbClr val="0070C0"/>
                </a:solidFill>
                <a:latin typeface="Sorts Mill Goudy" pitchFamily="34" charset="0"/>
                <a:ea typeface="Sorts Mill Goudy" pitchFamily="34" charset="-122"/>
                <a:cs typeface="Sorts Mill Goudy" pitchFamily="34" charset="-120"/>
              </a:rPr>
              <a:t>Capacitive Fan Regulator Design</a:t>
            </a:r>
            <a:endParaRPr lang="en-US" sz="1600" dirty="0">
              <a:solidFill>
                <a:srgbClr val="0070C0"/>
              </a:solidFill>
            </a:endParaRPr>
          </a:p>
        </p:txBody>
      </p:sp>
      <p:sp>
        <p:nvSpPr>
          <p:cNvPr id="4" name="Shape 2"/>
          <p:cNvSpPr/>
          <p:nvPr/>
        </p:nvSpPr>
        <p:spPr>
          <a:xfrm>
            <a:off x="317500" y="666750"/>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5" name="Shape 3"/>
          <p:cNvSpPr/>
          <p:nvPr/>
        </p:nvSpPr>
        <p:spPr>
          <a:xfrm>
            <a:off x="333375" y="809625"/>
            <a:ext cx="31750" cy="1341438"/>
          </a:xfrm>
          <a:custGeom>
            <a:avLst/>
            <a:gdLst/>
            <a:ahLst/>
            <a:cxnLst/>
            <a:rect l="l" t="t" r="r" b="b"/>
            <a:pathLst>
              <a:path w="31750" h="1341438">
                <a:moveTo>
                  <a:pt x="0" y="0"/>
                </a:moveTo>
                <a:lnTo>
                  <a:pt x="31750" y="0"/>
                </a:lnTo>
                <a:lnTo>
                  <a:pt x="31750" y="1341438"/>
                </a:lnTo>
                <a:lnTo>
                  <a:pt x="0" y="1341438"/>
                </a:lnTo>
                <a:lnTo>
                  <a:pt x="0" y="0"/>
                </a:lnTo>
                <a:close/>
              </a:path>
            </a:pathLst>
          </a:custGeom>
          <a:solidFill>
            <a:srgbClr val="FFFF00"/>
          </a:solidFill>
          <a:ln/>
        </p:spPr>
      </p:sp>
      <p:sp>
        <p:nvSpPr>
          <p:cNvPr id="6" name="Text 4"/>
          <p:cNvSpPr/>
          <p:nvPr/>
        </p:nvSpPr>
        <p:spPr>
          <a:xfrm>
            <a:off x="476250"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Design Parameters</a:t>
            </a:r>
            <a:endParaRPr lang="en-US" sz="1600" dirty="0"/>
          </a:p>
        </p:txBody>
      </p:sp>
      <p:sp>
        <p:nvSpPr>
          <p:cNvPr id="7" name="Shape 5"/>
          <p:cNvSpPr/>
          <p:nvPr/>
        </p:nvSpPr>
        <p:spPr>
          <a:xfrm>
            <a:off x="476250" y="1127125"/>
            <a:ext cx="5540375" cy="484187"/>
          </a:xfrm>
          <a:custGeom>
            <a:avLst/>
            <a:gdLst/>
            <a:ahLst/>
            <a:cxnLst/>
            <a:rect l="l" t="t" r="r" b="b"/>
            <a:pathLst>
              <a:path w="5540375" h="484187">
                <a:moveTo>
                  <a:pt x="31748" y="0"/>
                </a:moveTo>
                <a:lnTo>
                  <a:pt x="5508627" y="0"/>
                </a:lnTo>
                <a:cubicBezTo>
                  <a:pt x="5526161" y="0"/>
                  <a:pt x="5540375" y="14214"/>
                  <a:pt x="5540375" y="31748"/>
                </a:cubicBezTo>
                <a:lnTo>
                  <a:pt x="5540375" y="452439"/>
                </a:lnTo>
                <a:cubicBezTo>
                  <a:pt x="5540375" y="469973"/>
                  <a:pt x="5526161" y="484187"/>
                  <a:pt x="5508627" y="484188"/>
                </a:cubicBezTo>
                <a:lnTo>
                  <a:pt x="31748" y="484187"/>
                </a:lnTo>
                <a:cubicBezTo>
                  <a:pt x="14214" y="484188"/>
                  <a:pt x="0" y="469973"/>
                  <a:pt x="0" y="452439"/>
                </a:cubicBezTo>
                <a:lnTo>
                  <a:pt x="0" y="31748"/>
                </a:lnTo>
                <a:cubicBezTo>
                  <a:pt x="0" y="14226"/>
                  <a:pt x="14226" y="0"/>
                  <a:pt x="31748" y="0"/>
                </a:cubicBezTo>
                <a:close/>
              </a:path>
            </a:pathLst>
          </a:custGeom>
          <a:solidFill>
            <a:srgbClr val="F9FAFB"/>
          </a:solidFill>
          <a:ln/>
        </p:spPr>
      </p:sp>
      <p:sp>
        <p:nvSpPr>
          <p:cNvPr id="8" name="Text 6"/>
          <p:cNvSpPr/>
          <p:nvPr/>
        </p:nvSpPr>
        <p:spPr>
          <a:xfrm>
            <a:off x="539750" y="1190625"/>
            <a:ext cx="547687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Load Analysis</a:t>
            </a:r>
            <a:endParaRPr lang="en-US" sz="1600" dirty="0"/>
          </a:p>
        </p:txBody>
      </p:sp>
      <p:sp>
        <p:nvSpPr>
          <p:cNvPr id="9" name="Text 7"/>
          <p:cNvSpPr/>
          <p:nvPr/>
        </p:nvSpPr>
        <p:spPr>
          <a:xfrm>
            <a:off x="539750" y="1381125"/>
            <a:ext cx="5468938" cy="166688"/>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Designed for a </a:t>
            </a:r>
            <a:r>
              <a:rPr lang="en-US" sz="875" b="1" dirty="0">
                <a:solidFill>
                  <a:srgbClr val="6B7280"/>
                </a:solidFill>
                <a:latin typeface="Sorts Mill Goudy" pitchFamily="34" charset="0"/>
                <a:ea typeface="Sorts Mill Goudy" pitchFamily="34" charset="-122"/>
                <a:cs typeface="Sorts Mill Goudy" pitchFamily="34" charset="-120"/>
              </a:rPr>
              <a:t>33W load</a:t>
            </a:r>
            <a:r>
              <a:rPr lang="en-US" sz="875" dirty="0">
                <a:solidFill>
                  <a:srgbClr val="6B7280"/>
                </a:solidFill>
                <a:latin typeface="Sorts Mill Goudy" pitchFamily="34" charset="0"/>
                <a:ea typeface="Sorts Mill Goudy" pitchFamily="34" charset="-122"/>
                <a:cs typeface="Sorts Mill Goudy" pitchFamily="34" charset="-120"/>
              </a:rPr>
              <a:t> as it is listed under fan specifications.</a:t>
            </a:r>
            <a:endParaRPr lang="en-US" sz="1600" dirty="0">
              <a:highlight>
                <a:srgbClr val="FF0000"/>
              </a:highlight>
            </a:endParaRPr>
          </a:p>
        </p:txBody>
      </p:sp>
      <p:sp>
        <p:nvSpPr>
          <p:cNvPr id="10" name="Shape 8"/>
          <p:cNvSpPr/>
          <p:nvPr/>
        </p:nvSpPr>
        <p:spPr>
          <a:xfrm>
            <a:off x="476250" y="1673225"/>
            <a:ext cx="5540375" cy="476250"/>
          </a:xfrm>
          <a:custGeom>
            <a:avLst/>
            <a:gdLst/>
            <a:ahLst/>
            <a:cxnLst/>
            <a:rect l="l" t="t" r="r" b="b"/>
            <a:pathLst>
              <a:path w="5540375" h="476250">
                <a:moveTo>
                  <a:pt x="31752" y="0"/>
                </a:moveTo>
                <a:lnTo>
                  <a:pt x="5508623" y="0"/>
                </a:lnTo>
                <a:cubicBezTo>
                  <a:pt x="5526159" y="0"/>
                  <a:pt x="5540375" y="14216"/>
                  <a:pt x="5540375" y="31752"/>
                </a:cubicBezTo>
                <a:lnTo>
                  <a:pt x="5540375" y="444498"/>
                </a:lnTo>
                <a:cubicBezTo>
                  <a:pt x="5540375" y="462034"/>
                  <a:pt x="5526159" y="476250"/>
                  <a:pt x="5508623" y="476250"/>
                </a:cubicBezTo>
                <a:lnTo>
                  <a:pt x="31752" y="476250"/>
                </a:lnTo>
                <a:cubicBezTo>
                  <a:pt x="14216" y="476250"/>
                  <a:pt x="0" y="462034"/>
                  <a:pt x="0" y="444498"/>
                </a:cubicBezTo>
                <a:lnTo>
                  <a:pt x="0" y="31752"/>
                </a:lnTo>
                <a:cubicBezTo>
                  <a:pt x="0" y="14216"/>
                  <a:pt x="14216" y="0"/>
                  <a:pt x="31752" y="0"/>
                </a:cubicBezTo>
                <a:close/>
              </a:path>
            </a:pathLst>
          </a:custGeom>
          <a:solidFill>
            <a:srgbClr val="F9FAFB"/>
          </a:solidFill>
          <a:ln/>
        </p:spPr>
      </p:sp>
      <p:sp>
        <p:nvSpPr>
          <p:cNvPr id="11" name="Text 9"/>
          <p:cNvSpPr/>
          <p:nvPr/>
        </p:nvSpPr>
        <p:spPr>
          <a:xfrm>
            <a:off x="539750" y="1736725"/>
            <a:ext cx="547687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Capacitor Selection</a:t>
            </a:r>
            <a:endParaRPr lang="en-US" sz="1600" dirty="0"/>
          </a:p>
        </p:txBody>
      </p:sp>
      <p:sp>
        <p:nvSpPr>
          <p:cNvPr id="12" name="Text 10"/>
          <p:cNvSpPr/>
          <p:nvPr/>
        </p:nvSpPr>
        <p:spPr>
          <a:xfrm>
            <a:off x="539750" y="1927225"/>
            <a:ext cx="5468938" cy="158750"/>
          </a:xfrm>
          <a:prstGeom prst="rect">
            <a:avLst/>
          </a:prstGeom>
          <a:noFill/>
          <a:ln/>
        </p:spPr>
        <p:txBody>
          <a:bodyPr wrap="square" lIns="0" tIns="0" rIns="0" bIns="0" rtlCol="0" anchor="ctr"/>
          <a:lstStyle/>
          <a:p>
            <a:pPr>
              <a:lnSpc>
                <a:spcPct val="120000"/>
              </a:lnSpc>
            </a:pPr>
            <a:r>
              <a:rPr lang="en-US" sz="875" b="1" dirty="0">
                <a:solidFill>
                  <a:srgbClr val="6B7280"/>
                </a:solidFill>
                <a:latin typeface="Sorts Mill Goudy" pitchFamily="34" charset="0"/>
                <a:ea typeface="Sorts Mill Goudy" pitchFamily="34" charset="-122"/>
                <a:cs typeface="Sorts Mill Goudy" pitchFamily="34" charset="-120"/>
              </a:rPr>
              <a:t>C₁ = 1.0µF</a:t>
            </a:r>
            <a:r>
              <a:rPr lang="en-US" sz="875" dirty="0">
                <a:solidFill>
                  <a:srgbClr val="6B7280"/>
                </a:solidFill>
                <a:latin typeface="Sorts Mill Goudy" pitchFamily="34" charset="0"/>
                <a:ea typeface="Sorts Mill Goudy" pitchFamily="34" charset="-122"/>
                <a:cs typeface="Sorts Mill Goudy" pitchFamily="34" charset="-120"/>
              </a:rPr>
              <a:t> and </a:t>
            </a:r>
            <a:r>
              <a:rPr lang="en-US" sz="875" b="1" dirty="0">
                <a:solidFill>
                  <a:srgbClr val="6B7280"/>
                </a:solidFill>
                <a:latin typeface="Sorts Mill Goudy" pitchFamily="34" charset="0"/>
                <a:ea typeface="Sorts Mill Goudy" pitchFamily="34" charset="-122"/>
                <a:cs typeface="Sorts Mill Goudy" pitchFamily="34" charset="-120"/>
              </a:rPr>
              <a:t>C₂ = 2.2µF</a:t>
            </a:r>
            <a:r>
              <a:rPr lang="en-US" sz="875" dirty="0">
                <a:solidFill>
                  <a:srgbClr val="6B7280"/>
                </a:solidFill>
                <a:latin typeface="Sorts Mill Goudy" pitchFamily="34" charset="0"/>
                <a:ea typeface="Sorts Mill Goudy" pitchFamily="34" charset="-122"/>
                <a:cs typeface="Sorts Mill Goudy" pitchFamily="34" charset="-120"/>
              </a:rPr>
              <a:t> (Non-polarized)</a:t>
            </a:r>
            <a:endParaRPr lang="en-US" sz="1600" dirty="0"/>
          </a:p>
        </p:txBody>
      </p:sp>
      <p:sp>
        <p:nvSpPr>
          <p:cNvPr id="13" name="Shape 11"/>
          <p:cNvSpPr/>
          <p:nvPr/>
        </p:nvSpPr>
        <p:spPr>
          <a:xfrm>
            <a:off x="333374" y="2276475"/>
            <a:ext cx="45719" cy="4421188"/>
          </a:xfrm>
          <a:custGeom>
            <a:avLst/>
            <a:gdLst/>
            <a:ahLst/>
            <a:cxnLst/>
            <a:rect l="l" t="t" r="r" b="b"/>
            <a:pathLst>
              <a:path w="31750" h="4667250">
                <a:moveTo>
                  <a:pt x="0" y="0"/>
                </a:moveTo>
                <a:lnTo>
                  <a:pt x="31750" y="0"/>
                </a:lnTo>
                <a:lnTo>
                  <a:pt x="31750" y="4667250"/>
                </a:lnTo>
                <a:lnTo>
                  <a:pt x="0" y="4667250"/>
                </a:lnTo>
                <a:lnTo>
                  <a:pt x="0" y="0"/>
                </a:lnTo>
                <a:close/>
              </a:path>
            </a:pathLst>
          </a:custGeom>
          <a:solidFill>
            <a:srgbClr val="7030A0"/>
          </a:solidFill>
          <a:ln/>
        </p:spPr>
      </p:sp>
      <p:sp>
        <p:nvSpPr>
          <p:cNvPr id="14" name="Text 12"/>
          <p:cNvSpPr/>
          <p:nvPr/>
        </p:nvSpPr>
        <p:spPr>
          <a:xfrm>
            <a:off x="476250" y="227647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RC Time Constant Calculations (Discharge Safety)</a:t>
            </a:r>
            <a:endParaRPr lang="en-US" sz="1600" dirty="0"/>
          </a:p>
        </p:txBody>
      </p:sp>
      <p:sp>
        <p:nvSpPr>
          <p:cNvPr id="15" name="Text 13"/>
          <p:cNvSpPr/>
          <p:nvPr/>
        </p:nvSpPr>
        <p:spPr>
          <a:xfrm>
            <a:off x="476250" y="2593975"/>
            <a:ext cx="5603875" cy="190500"/>
          </a:xfrm>
          <a:prstGeom prst="rect">
            <a:avLst/>
          </a:prstGeom>
          <a:noFill/>
          <a:ln/>
        </p:spPr>
        <p:txBody>
          <a:bodyPr wrap="square" lIns="0" tIns="0" rIns="0" bIns="0" rtlCol="0" anchor="ctr"/>
          <a:lstStyle/>
          <a:p>
            <a:pPr>
              <a:lnSpc>
                <a:spcPct val="110000"/>
              </a:lnSpc>
            </a:pPr>
            <a:r>
              <a:rPr lang="en-US" sz="1000" dirty="0">
                <a:solidFill>
                  <a:srgbClr val="1F2937"/>
                </a:solidFill>
                <a:latin typeface="Sorts Mill Goudy" pitchFamily="34" charset="0"/>
                <a:ea typeface="Sorts Mill Goudy" pitchFamily="34" charset="-122"/>
                <a:cs typeface="Sorts Mill Goudy" pitchFamily="34" charset="-120"/>
              </a:rPr>
              <a:t>Bleeder resistors (</a:t>
            </a:r>
            <a:r>
              <a:rPr lang="en-US" sz="1000" dirty="0">
                <a:solidFill>
                  <a:srgbClr val="1F2937"/>
                </a:solidFill>
                <a:latin typeface="MiSans" pitchFamily="34" charset="0"/>
                <a:ea typeface="MiSans" pitchFamily="34" charset="-122"/>
                <a:cs typeface="MiSans" pitchFamily="34" charset="-120"/>
              </a:rPr>
              <a:t>R = 470kΩ</a:t>
            </a:r>
            <a:r>
              <a:rPr lang="en-US" sz="1000" dirty="0">
                <a:solidFill>
                  <a:srgbClr val="1F2937"/>
                </a:solidFill>
                <a:latin typeface="Sorts Mill Goudy" pitchFamily="34" charset="0"/>
                <a:ea typeface="Sorts Mill Goudy" pitchFamily="34" charset="-122"/>
                <a:cs typeface="Sorts Mill Goudy" pitchFamily="34" charset="-120"/>
              </a:rPr>
              <a:t>) are used for safety.</a:t>
            </a:r>
            <a:endParaRPr lang="en-US" sz="1600" dirty="0"/>
          </a:p>
        </p:txBody>
      </p:sp>
      <p:sp>
        <p:nvSpPr>
          <p:cNvPr id="16" name="Shape 14"/>
          <p:cNvSpPr/>
          <p:nvPr/>
        </p:nvSpPr>
        <p:spPr>
          <a:xfrm>
            <a:off x="479425" y="2879726"/>
            <a:ext cx="5530850" cy="1879600"/>
          </a:xfrm>
          <a:custGeom>
            <a:avLst/>
            <a:gdLst/>
            <a:ahLst/>
            <a:cxnLst/>
            <a:rect l="l" t="t" r="r" b="b"/>
            <a:pathLst>
              <a:path w="5530850" h="1879600">
                <a:moveTo>
                  <a:pt x="31746" y="0"/>
                </a:moveTo>
                <a:lnTo>
                  <a:pt x="5499104" y="0"/>
                </a:lnTo>
                <a:cubicBezTo>
                  <a:pt x="5516637" y="0"/>
                  <a:pt x="5530850" y="14213"/>
                  <a:pt x="5530850" y="31746"/>
                </a:cubicBezTo>
                <a:lnTo>
                  <a:pt x="5530850" y="1847854"/>
                </a:lnTo>
                <a:cubicBezTo>
                  <a:pt x="5530850" y="1865387"/>
                  <a:pt x="5516637" y="1879600"/>
                  <a:pt x="5499104" y="1879600"/>
                </a:cubicBezTo>
                <a:lnTo>
                  <a:pt x="31746" y="1879600"/>
                </a:lnTo>
                <a:cubicBezTo>
                  <a:pt x="14213" y="1879600"/>
                  <a:pt x="0" y="1865387"/>
                  <a:pt x="0" y="1847854"/>
                </a:cubicBezTo>
                <a:lnTo>
                  <a:pt x="0" y="31746"/>
                </a:lnTo>
                <a:cubicBezTo>
                  <a:pt x="0" y="14225"/>
                  <a:pt x="14225" y="0"/>
                  <a:pt x="31746" y="0"/>
                </a:cubicBezTo>
                <a:close/>
              </a:path>
            </a:pathLst>
          </a:custGeom>
          <a:solidFill>
            <a:srgbClr val="F9FAFB"/>
          </a:solidFill>
          <a:ln w="10160">
            <a:solidFill>
              <a:srgbClr val="E5E7EB"/>
            </a:solidFill>
            <a:prstDash val="solid"/>
          </a:ln>
        </p:spPr>
      </p:sp>
      <p:sp>
        <p:nvSpPr>
          <p:cNvPr id="17" name="Text 15"/>
          <p:cNvSpPr/>
          <p:nvPr/>
        </p:nvSpPr>
        <p:spPr>
          <a:xfrm>
            <a:off x="609600" y="3009900"/>
            <a:ext cx="5334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Step 1: Calculate τ (Tau)</a:t>
            </a:r>
            <a:endParaRPr lang="en-US" sz="1600" dirty="0"/>
          </a:p>
        </p:txBody>
      </p:sp>
      <p:sp>
        <p:nvSpPr>
          <p:cNvPr id="18" name="Text 16"/>
          <p:cNvSpPr/>
          <p:nvPr/>
        </p:nvSpPr>
        <p:spPr>
          <a:xfrm>
            <a:off x="609600" y="3263900"/>
            <a:ext cx="5326063" cy="166688"/>
          </a:xfrm>
          <a:prstGeom prst="rect">
            <a:avLst/>
          </a:prstGeom>
          <a:noFill/>
          <a:ln/>
        </p:spPr>
        <p:txBody>
          <a:bodyPr wrap="square" lIns="0" tIns="0" rIns="0" bIns="0" rtlCol="0" anchor="ctr"/>
          <a:lstStyle/>
          <a:p>
            <a:pPr>
              <a:lnSpc>
                <a:spcPct val="120000"/>
              </a:lnSpc>
            </a:pPr>
            <a:r>
              <a:rPr lang="en-US" sz="875" dirty="0">
                <a:solidFill>
                  <a:srgbClr val="1F2937"/>
                </a:solidFill>
                <a:latin typeface="Sorts Mill Goudy" pitchFamily="34" charset="0"/>
                <a:ea typeface="Sorts Mill Goudy" pitchFamily="34" charset="-122"/>
                <a:cs typeface="Sorts Mill Goudy" pitchFamily="34" charset="-120"/>
              </a:rPr>
              <a:t>For C₁ (1.0µF): </a:t>
            </a:r>
            <a:r>
              <a:rPr lang="en-US" sz="875" dirty="0">
                <a:solidFill>
                  <a:srgbClr val="1F2937"/>
                </a:solidFill>
                <a:highlight>
                  <a:srgbClr val="FFFFFF">
                    <a:alpha val="100000"/>
                  </a:srgbClr>
                </a:highlight>
                <a:latin typeface="MiSans" pitchFamily="34" charset="0"/>
                <a:ea typeface="MiSans" pitchFamily="34" charset="-122"/>
                <a:cs typeface="MiSans" pitchFamily="34" charset="-120"/>
              </a:rPr>
              <a:t>τ = 470kΩ × 1.0µF = 0.47 seconds</a:t>
            </a:r>
            <a:endParaRPr lang="en-US" sz="1600" dirty="0"/>
          </a:p>
        </p:txBody>
      </p:sp>
      <p:sp>
        <p:nvSpPr>
          <p:cNvPr id="19" name="Text 17"/>
          <p:cNvSpPr/>
          <p:nvPr/>
        </p:nvSpPr>
        <p:spPr>
          <a:xfrm>
            <a:off x="609600" y="3460750"/>
            <a:ext cx="5326063" cy="166688"/>
          </a:xfrm>
          <a:prstGeom prst="rect">
            <a:avLst/>
          </a:prstGeom>
          <a:noFill/>
          <a:ln/>
        </p:spPr>
        <p:txBody>
          <a:bodyPr wrap="square" lIns="0" tIns="0" rIns="0" bIns="0" rtlCol="0" anchor="ctr"/>
          <a:lstStyle/>
          <a:p>
            <a:pPr>
              <a:lnSpc>
                <a:spcPct val="120000"/>
              </a:lnSpc>
            </a:pPr>
            <a:r>
              <a:rPr lang="en-US" sz="875" dirty="0">
                <a:solidFill>
                  <a:srgbClr val="1F2937"/>
                </a:solidFill>
                <a:latin typeface="Sorts Mill Goudy" pitchFamily="34" charset="0"/>
                <a:ea typeface="Sorts Mill Goudy" pitchFamily="34" charset="-122"/>
                <a:cs typeface="Sorts Mill Goudy" pitchFamily="34" charset="-120"/>
              </a:rPr>
              <a:t>For C₂ (2.2µF): </a:t>
            </a:r>
            <a:r>
              <a:rPr lang="en-US" sz="875" dirty="0">
                <a:solidFill>
                  <a:srgbClr val="1F2937"/>
                </a:solidFill>
                <a:highlight>
                  <a:srgbClr val="FFFFFF">
                    <a:alpha val="100000"/>
                  </a:srgbClr>
                </a:highlight>
                <a:latin typeface="MiSans" pitchFamily="34" charset="0"/>
                <a:ea typeface="MiSans" pitchFamily="34" charset="-122"/>
                <a:cs typeface="MiSans" pitchFamily="34" charset="-120"/>
              </a:rPr>
              <a:t>τ = 470kΩ × 2.2µF = 1.03 seconds</a:t>
            </a:r>
            <a:endParaRPr lang="en-US" sz="1600" dirty="0"/>
          </a:p>
        </p:txBody>
      </p:sp>
      <p:sp>
        <p:nvSpPr>
          <p:cNvPr id="20" name="Shape 18"/>
          <p:cNvSpPr/>
          <p:nvPr/>
        </p:nvSpPr>
        <p:spPr>
          <a:xfrm>
            <a:off x="609600" y="3724275"/>
            <a:ext cx="5270500" cy="6350"/>
          </a:xfrm>
          <a:custGeom>
            <a:avLst/>
            <a:gdLst/>
            <a:ahLst/>
            <a:cxnLst/>
            <a:rect l="l" t="t" r="r" b="b"/>
            <a:pathLst>
              <a:path w="5270500" h="6350">
                <a:moveTo>
                  <a:pt x="0" y="0"/>
                </a:moveTo>
                <a:lnTo>
                  <a:pt x="5270500" y="0"/>
                </a:lnTo>
                <a:lnTo>
                  <a:pt x="5270500" y="6350"/>
                </a:lnTo>
                <a:lnTo>
                  <a:pt x="0" y="6350"/>
                </a:lnTo>
                <a:lnTo>
                  <a:pt x="0" y="0"/>
                </a:lnTo>
                <a:close/>
              </a:path>
            </a:pathLst>
          </a:custGeom>
          <a:solidFill>
            <a:srgbClr val="D1D5DC"/>
          </a:solidFill>
          <a:ln/>
        </p:spPr>
      </p:sp>
      <p:sp>
        <p:nvSpPr>
          <p:cNvPr id="21" name="Text 19"/>
          <p:cNvSpPr/>
          <p:nvPr/>
        </p:nvSpPr>
        <p:spPr>
          <a:xfrm>
            <a:off x="609600" y="3790951"/>
            <a:ext cx="5334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Step 2: Safe Discharge Time (5τ)</a:t>
            </a:r>
            <a:endParaRPr lang="en-US" sz="1600" dirty="0"/>
          </a:p>
        </p:txBody>
      </p:sp>
      <p:sp>
        <p:nvSpPr>
          <p:cNvPr id="22" name="Text 20"/>
          <p:cNvSpPr/>
          <p:nvPr/>
        </p:nvSpPr>
        <p:spPr>
          <a:xfrm>
            <a:off x="609600" y="4044951"/>
            <a:ext cx="5326063"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Full discharge occurs after 5τ</a:t>
            </a:r>
            <a:endParaRPr lang="en-US" sz="1600" dirty="0"/>
          </a:p>
        </p:txBody>
      </p:sp>
      <p:sp>
        <p:nvSpPr>
          <p:cNvPr id="23" name="Text 21"/>
          <p:cNvSpPr/>
          <p:nvPr/>
        </p:nvSpPr>
        <p:spPr>
          <a:xfrm>
            <a:off x="609600" y="4267201"/>
            <a:ext cx="5326063" cy="166688"/>
          </a:xfrm>
          <a:prstGeom prst="rect">
            <a:avLst/>
          </a:prstGeom>
          <a:noFill/>
          <a:ln/>
        </p:spPr>
        <p:txBody>
          <a:bodyPr wrap="square" lIns="0" tIns="0" rIns="0" bIns="0" rtlCol="0" anchor="ctr"/>
          <a:lstStyle/>
          <a:p>
            <a:pPr>
              <a:lnSpc>
                <a:spcPct val="120000"/>
              </a:lnSpc>
            </a:pPr>
            <a:r>
              <a:rPr lang="en-US" sz="875" dirty="0">
                <a:solidFill>
                  <a:srgbClr val="1F2937"/>
                </a:solidFill>
                <a:latin typeface="Sorts Mill Goudy" pitchFamily="34" charset="0"/>
                <a:ea typeface="Sorts Mill Goudy" pitchFamily="34" charset="-122"/>
                <a:cs typeface="Sorts Mill Goudy" pitchFamily="34" charset="-120"/>
              </a:rPr>
              <a:t>C₁ Result: </a:t>
            </a:r>
            <a:r>
              <a:rPr lang="en-US" sz="875" dirty="0">
                <a:solidFill>
                  <a:srgbClr val="1F2937"/>
                </a:solidFill>
                <a:highlight>
                  <a:srgbClr val="FFFFFF">
                    <a:alpha val="100000"/>
                  </a:srgbClr>
                </a:highlight>
                <a:latin typeface="MiSans" pitchFamily="34" charset="0"/>
                <a:ea typeface="MiSans" pitchFamily="34" charset="-122"/>
                <a:cs typeface="MiSans" pitchFamily="34" charset="-120"/>
              </a:rPr>
              <a:t>0.47s × 5 = 2.35 seconds</a:t>
            </a:r>
            <a:endParaRPr lang="en-US" sz="1600" dirty="0"/>
          </a:p>
        </p:txBody>
      </p:sp>
      <p:sp>
        <p:nvSpPr>
          <p:cNvPr id="24" name="Text 22"/>
          <p:cNvSpPr/>
          <p:nvPr/>
        </p:nvSpPr>
        <p:spPr>
          <a:xfrm>
            <a:off x="609600" y="4464051"/>
            <a:ext cx="5326063" cy="166688"/>
          </a:xfrm>
          <a:prstGeom prst="rect">
            <a:avLst/>
          </a:prstGeom>
          <a:noFill/>
          <a:ln/>
        </p:spPr>
        <p:txBody>
          <a:bodyPr wrap="square" lIns="0" tIns="0" rIns="0" bIns="0" rtlCol="0" anchor="ctr"/>
          <a:lstStyle/>
          <a:p>
            <a:pPr>
              <a:lnSpc>
                <a:spcPct val="120000"/>
              </a:lnSpc>
            </a:pPr>
            <a:r>
              <a:rPr lang="en-US" sz="875" dirty="0">
                <a:solidFill>
                  <a:srgbClr val="1F2937"/>
                </a:solidFill>
                <a:latin typeface="Sorts Mill Goudy" pitchFamily="34" charset="0"/>
                <a:ea typeface="Sorts Mill Goudy" pitchFamily="34" charset="-122"/>
                <a:cs typeface="Sorts Mill Goudy" pitchFamily="34" charset="-120"/>
              </a:rPr>
              <a:t>C₂ Result: </a:t>
            </a:r>
            <a:r>
              <a:rPr lang="en-US" sz="875" dirty="0">
                <a:solidFill>
                  <a:srgbClr val="1F2937"/>
                </a:solidFill>
                <a:highlight>
                  <a:srgbClr val="FFFFFF">
                    <a:alpha val="100000"/>
                  </a:srgbClr>
                </a:highlight>
                <a:latin typeface="MiSans" pitchFamily="34" charset="0"/>
                <a:ea typeface="MiSans" pitchFamily="34" charset="-122"/>
                <a:cs typeface="MiSans" pitchFamily="34" charset="-120"/>
              </a:rPr>
              <a:t>1.03s × 5 = 5.15 seconds</a:t>
            </a:r>
            <a:endParaRPr lang="en-US" sz="1600" dirty="0"/>
          </a:p>
        </p:txBody>
      </p:sp>
      <p:sp>
        <p:nvSpPr>
          <p:cNvPr id="28" name="Shape 26"/>
          <p:cNvSpPr/>
          <p:nvPr/>
        </p:nvSpPr>
        <p:spPr>
          <a:xfrm>
            <a:off x="6191250" y="809625"/>
            <a:ext cx="31750" cy="2079625"/>
          </a:xfrm>
          <a:custGeom>
            <a:avLst/>
            <a:gdLst/>
            <a:ahLst/>
            <a:cxnLst/>
            <a:rect l="l" t="t" r="r" b="b"/>
            <a:pathLst>
              <a:path w="31750" h="2079625">
                <a:moveTo>
                  <a:pt x="0" y="0"/>
                </a:moveTo>
                <a:lnTo>
                  <a:pt x="31750" y="0"/>
                </a:lnTo>
                <a:lnTo>
                  <a:pt x="31750" y="2079625"/>
                </a:lnTo>
                <a:lnTo>
                  <a:pt x="0" y="2079625"/>
                </a:lnTo>
                <a:lnTo>
                  <a:pt x="0" y="0"/>
                </a:lnTo>
                <a:close/>
              </a:path>
            </a:pathLst>
          </a:custGeom>
          <a:solidFill>
            <a:srgbClr val="00B0F0"/>
          </a:solidFill>
          <a:ln/>
        </p:spPr>
      </p:sp>
      <p:sp>
        <p:nvSpPr>
          <p:cNvPr id="29" name="Text 27"/>
          <p:cNvSpPr/>
          <p:nvPr/>
        </p:nvSpPr>
        <p:spPr>
          <a:xfrm>
            <a:off x="6334125"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Fan Speed Control Matrix</a:t>
            </a:r>
            <a:endParaRPr lang="en-US" sz="1600" dirty="0"/>
          </a:p>
        </p:txBody>
      </p:sp>
      <p:graphicFrame>
        <p:nvGraphicFramePr>
          <p:cNvPr id="30" name="Table 0"/>
          <p:cNvGraphicFramePr>
            <a:graphicFrameLocks noGrp="1"/>
          </p:cNvGraphicFramePr>
          <p:nvPr>
            <p:extLst>
              <p:ext uri="{D42A27DB-BD31-4B8C-83A1-F6EECF244321}">
                <p14:modId xmlns:p14="http://schemas.microsoft.com/office/powerpoint/2010/main" val="4231130652"/>
              </p:ext>
            </p:extLst>
          </p:nvPr>
        </p:nvGraphicFramePr>
        <p:xfrm>
          <a:off x="6339840" y="1127125"/>
          <a:ext cx="4805362" cy="1762128"/>
        </p:xfrm>
        <a:graphic>
          <a:graphicData uri="http://schemas.openxmlformats.org/drawingml/2006/table">
            <a:tbl>
              <a:tblPr/>
              <a:tblGrid>
                <a:gridCol w="852487">
                  <a:extLst>
                    <a:ext uri="{9D8B030D-6E8A-4147-A177-3AD203B41FA5}">
                      <a16:colId xmlns:a16="http://schemas.microsoft.com/office/drawing/2014/main" val="20000"/>
                    </a:ext>
                  </a:extLst>
                </a:gridCol>
                <a:gridCol w="960438">
                  <a:extLst>
                    <a:ext uri="{9D8B030D-6E8A-4147-A177-3AD203B41FA5}">
                      <a16:colId xmlns:a16="http://schemas.microsoft.com/office/drawing/2014/main" val="20001"/>
                    </a:ext>
                  </a:extLst>
                </a:gridCol>
                <a:gridCol w="984250">
                  <a:extLst>
                    <a:ext uri="{9D8B030D-6E8A-4147-A177-3AD203B41FA5}">
                      <a16:colId xmlns:a16="http://schemas.microsoft.com/office/drawing/2014/main" val="20002"/>
                    </a:ext>
                  </a:extLst>
                </a:gridCol>
                <a:gridCol w="976312">
                  <a:extLst>
                    <a:ext uri="{9D8B030D-6E8A-4147-A177-3AD203B41FA5}">
                      <a16:colId xmlns:a16="http://schemas.microsoft.com/office/drawing/2014/main" val="20003"/>
                    </a:ext>
                  </a:extLst>
                </a:gridCol>
                <a:gridCol w="1031875">
                  <a:extLst>
                    <a:ext uri="{9D8B030D-6E8A-4147-A177-3AD203B41FA5}">
                      <a16:colId xmlns:a16="http://schemas.microsoft.com/office/drawing/2014/main" val="20004"/>
                    </a:ext>
                  </a:extLst>
                </a:gridCol>
              </a:tblGrid>
              <a:tr h="293688">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Speed</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Relay 1</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Relay 2</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Relay 3</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Ceff</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0 (OFF)</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0µF</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1"/>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1 (Low)</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b="1" u="none" dirty="0">
                          <a:solidFill>
                            <a:srgbClr val="00B0F0"/>
                          </a:solidFill>
                          <a:latin typeface="微软雅黑" pitchFamily="34" charset="0"/>
                          <a:ea typeface="微软雅黑" pitchFamily="34" charset="-122"/>
                          <a:cs typeface="微软雅黑" pitchFamily="34" charset="-120"/>
                        </a:rPr>
                        <a:t>ON</a:t>
                      </a:r>
                      <a:endParaRPr lang="en-US" sz="800" dirty="0">
                        <a:solidFill>
                          <a:srgbClr val="00B0F0"/>
                        </a:solidFill>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1.0µF</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2"/>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2 (Med-Low)</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b="1" u="none" dirty="0">
                          <a:solidFill>
                            <a:srgbClr val="7030A0"/>
                          </a:solidFill>
                          <a:latin typeface="微软雅黑" pitchFamily="34" charset="0"/>
                          <a:ea typeface="微软雅黑" pitchFamily="34" charset="-122"/>
                          <a:cs typeface="微软雅黑" pitchFamily="34" charset="-120"/>
                        </a:rPr>
                        <a:t>ON</a:t>
                      </a:r>
                      <a:endParaRPr lang="en-US" sz="800" dirty="0">
                        <a:solidFill>
                          <a:srgbClr val="7030A0"/>
                        </a:solidFill>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2.2µF</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3"/>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3 (Med-High)</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b="1" u="none" dirty="0">
                          <a:solidFill>
                            <a:srgbClr val="00B050"/>
                          </a:solidFill>
                          <a:latin typeface="微软雅黑" pitchFamily="34" charset="0"/>
                          <a:ea typeface="微软雅黑" pitchFamily="34" charset="-122"/>
                          <a:cs typeface="微软雅黑" pitchFamily="34" charset="-120"/>
                        </a:rPr>
                        <a:t>ON</a:t>
                      </a:r>
                      <a:endParaRPr lang="en-US" sz="800" dirty="0">
                        <a:solidFill>
                          <a:srgbClr val="00B050"/>
                        </a:solidFill>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b="1" u="none" dirty="0">
                          <a:solidFill>
                            <a:srgbClr val="00B050"/>
                          </a:solidFill>
                          <a:latin typeface="微软雅黑" pitchFamily="34" charset="0"/>
                          <a:ea typeface="微软雅黑" pitchFamily="34" charset="-122"/>
                          <a:cs typeface="微软雅黑" pitchFamily="34" charset="-120"/>
                        </a:rPr>
                        <a:t>ON</a:t>
                      </a:r>
                      <a:endParaRPr lang="en-US" sz="800" dirty="0">
                        <a:solidFill>
                          <a:srgbClr val="00B050"/>
                        </a:solidFill>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3.2µF</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4"/>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4 (Max)</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b="1" u="none" dirty="0">
                          <a:solidFill>
                            <a:srgbClr val="FF0000"/>
                          </a:solidFill>
                          <a:latin typeface="微软雅黑" pitchFamily="34" charset="0"/>
                          <a:ea typeface="微软雅黑" pitchFamily="34" charset="-122"/>
                          <a:cs typeface="微软雅黑" pitchFamily="34" charset="-120"/>
                        </a:rPr>
                        <a:t>ON</a:t>
                      </a:r>
                      <a:endParaRPr lang="en-US" sz="800" dirty="0">
                        <a:solidFill>
                          <a:srgbClr val="FF0000"/>
                        </a:solidFill>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Bypass</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5"/>
                  </a:ext>
                </a:extLst>
              </a:tr>
            </a:tbl>
          </a:graphicData>
        </a:graphic>
      </p:graphicFrame>
      <p:sp>
        <p:nvSpPr>
          <p:cNvPr id="31" name="Shape 28"/>
          <p:cNvSpPr/>
          <p:nvPr/>
        </p:nvSpPr>
        <p:spPr>
          <a:xfrm>
            <a:off x="6191249" y="3013076"/>
            <a:ext cx="45719" cy="3677045"/>
          </a:xfrm>
          <a:custGeom>
            <a:avLst/>
            <a:gdLst/>
            <a:ahLst/>
            <a:cxnLst/>
            <a:rect l="l" t="t" r="r" b="b"/>
            <a:pathLst>
              <a:path w="31750" h="3929063">
                <a:moveTo>
                  <a:pt x="0" y="0"/>
                </a:moveTo>
                <a:lnTo>
                  <a:pt x="31750" y="0"/>
                </a:lnTo>
                <a:lnTo>
                  <a:pt x="31750" y="3929063"/>
                </a:lnTo>
                <a:lnTo>
                  <a:pt x="0" y="3929063"/>
                </a:lnTo>
                <a:lnTo>
                  <a:pt x="0" y="0"/>
                </a:lnTo>
                <a:close/>
              </a:path>
            </a:pathLst>
          </a:custGeom>
          <a:solidFill>
            <a:srgbClr val="FFC000"/>
          </a:solidFill>
          <a:ln/>
        </p:spPr>
      </p:sp>
      <p:sp>
        <p:nvSpPr>
          <p:cNvPr id="32" name="Text 29"/>
          <p:cNvSpPr/>
          <p:nvPr/>
        </p:nvSpPr>
        <p:spPr>
          <a:xfrm>
            <a:off x="6334125" y="3013076"/>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Speed Control Implementation</a:t>
            </a:r>
            <a:endParaRPr lang="en-US" sz="1600" dirty="0"/>
          </a:p>
        </p:txBody>
      </p:sp>
      <p:sp>
        <p:nvSpPr>
          <p:cNvPr id="33" name="Shape 30"/>
          <p:cNvSpPr/>
          <p:nvPr/>
        </p:nvSpPr>
        <p:spPr>
          <a:xfrm>
            <a:off x="6337300" y="3339784"/>
            <a:ext cx="5530850" cy="2330528"/>
          </a:xfrm>
          <a:custGeom>
            <a:avLst/>
            <a:gdLst/>
            <a:ahLst/>
            <a:cxnLst/>
            <a:rect l="l" t="t" r="r" b="b"/>
            <a:pathLst>
              <a:path w="5530850" h="2903537">
                <a:moveTo>
                  <a:pt x="31736" y="0"/>
                </a:moveTo>
                <a:lnTo>
                  <a:pt x="5499114" y="0"/>
                </a:lnTo>
                <a:cubicBezTo>
                  <a:pt x="5516641" y="0"/>
                  <a:pt x="5530850" y="14209"/>
                  <a:pt x="5530850" y="31736"/>
                </a:cubicBezTo>
                <a:lnTo>
                  <a:pt x="5530850" y="2871802"/>
                </a:lnTo>
                <a:cubicBezTo>
                  <a:pt x="5530850" y="2889329"/>
                  <a:pt x="5516641" y="2903537"/>
                  <a:pt x="5499114" y="2903537"/>
                </a:cubicBezTo>
                <a:lnTo>
                  <a:pt x="31736" y="2903537"/>
                </a:lnTo>
                <a:cubicBezTo>
                  <a:pt x="14209" y="2903537"/>
                  <a:pt x="0" y="2889329"/>
                  <a:pt x="0" y="2871802"/>
                </a:cubicBezTo>
                <a:lnTo>
                  <a:pt x="0" y="31736"/>
                </a:lnTo>
                <a:cubicBezTo>
                  <a:pt x="0" y="14209"/>
                  <a:pt x="14209" y="0"/>
                  <a:pt x="31736" y="0"/>
                </a:cubicBezTo>
                <a:close/>
              </a:path>
            </a:pathLst>
          </a:custGeom>
          <a:solidFill>
            <a:srgbClr val="F9FAFB"/>
          </a:solidFill>
          <a:ln w="10160">
            <a:solidFill>
              <a:srgbClr val="E5E7EB"/>
            </a:solidFill>
            <a:prstDash val="solid"/>
          </a:ln>
        </p:spPr>
      </p:sp>
      <p:sp>
        <p:nvSpPr>
          <p:cNvPr id="34" name="Text 31"/>
          <p:cNvSpPr/>
          <p:nvPr/>
        </p:nvSpPr>
        <p:spPr>
          <a:xfrm>
            <a:off x="6435725" y="3147696"/>
            <a:ext cx="5389563" cy="2706688"/>
          </a:xfrm>
          <a:prstGeom prst="rect">
            <a:avLst/>
          </a:prstGeom>
          <a:noFill/>
          <a:ln/>
        </p:spPr>
        <p:txBody>
          <a:bodyPr wrap="square" lIns="0" tIns="0" rIns="0" bIns="0" rtlCol="0" anchor="ctr"/>
          <a:lstStyle/>
          <a:p>
            <a:pPr>
              <a:lnSpc>
                <a:spcPct val="100000"/>
              </a:lnSpc>
            </a:pPr>
            <a:r>
              <a:rPr lang="en-US" sz="875" dirty="0">
                <a:solidFill>
                  <a:srgbClr val="0070C0"/>
                </a:solidFill>
                <a:latin typeface="MiSans" pitchFamily="34" charset="0"/>
                <a:ea typeface="MiSans" pitchFamily="34" charset="-122"/>
                <a:cs typeface="MiSans" pitchFamily="34" charset="-120"/>
              </a:rPr>
              <a:t>void</a:t>
            </a:r>
            <a:r>
              <a:rPr lang="en-US" sz="875" dirty="0">
                <a:solidFill>
                  <a:srgbClr val="1F2937"/>
                </a:solidFill>
                <a:latin typeface="MiSans" pitchFamily="34" charset="0"/>
                <a:ea typeface="MiSans" pitchFamily="34" charset="-122"/>
                <a:cs typeface="MiSans" pitchFamily="34" charset="-120"/>
              </a:rPr>
              <a:t> setFan1Speed(</a:t>
            </a:r>
            <a:r>
              <a:rPr lang="en-US" sz="875" dirty="0">
                <a:solidFill>
                  <a:srgbClr val="0070C0"/>
                </a:solidFill>
                <a:latin typeface="MiSans" pitchFamily="34" charset="0"/>
                <a:ea typeface="MiSans" pitchFamily="34" charset="-122"/>
                <a:cs typeface="MiSans" pitchFamily="34" charset="-120"/>
              </a:rPr>
              <a:t>int</a:t>
            </a:r>
            <a:r>
              <a:rPr lang="en-US" sz="875" dirty="0">
                <a:solidFill>
                  <a:srgbClr val="1F2937"/>
                </a:solidFill>
                <a:latin typeface="MiSans" pitchFamily="34" charset="0"/>
                <a:ea typeface="MiSans" pitchFamily="34" charset="-122"/>
                <a:cs typeface="MiSans" pitchFamily="34" charset="-120"/>
              </a:rPr>
              <a:t> speed)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0070C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(speed == 0)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digitalWrite(RELAY_F1_1, RELAY_OFF);</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digitalWrite(RELAY_F1_2, RELAY_OFF);</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digitalWrite(RELAY_F1_3, RELAY_OFF);</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 </a:t>
            </a:r>
            <a:r>
              <a:rPr lang="en-US" sz="875" dirty="0">
                <a:solidFill>
                  <a:srgbClr val="0070C0"/>
                </a:solidFill>
                <a:latin typeface="MiSans" pitchFamily="34" charset="0"/>
                <a:ea typeface="MiSans" pitchFamily="34" charset="-122"/>
                <a:cs typeface="MiSans" pitchFamily="34" charset="-120"/>
              </a:rPr>
              <a:t>else</a:t>
            </a:r>
            <a:r>
              <a:rPr lang="en-US" sz="875" dirty="0">
                <a:solidFill>
                  <a:srgbClr val="1F2937"/>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digitalWrite(RELAY_F1_1,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(speed==1 || speed==3) ? RELAY_ON : RELAY_OFF);</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digitalWrite(RELAY_F1_2,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(speed==2 || speed==3) ? RELAY_ON : RELAY_OFF);</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digitalWrite(RELAY_F1_3,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(speed==4) ? RELAY_ON : RELAY_OFF);</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Blynk.virtualWrite(V3, speed);</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a:t>
            </a:r>
            <a:endParaRPr lang="en-US" sz="1600" dirty="0"/>
          </a:p>
        </p:txBody>
      </p:sp>
      <p:sp>
        <p:nvSpPr>
          <p:cNvPr id="35" name="Shape 32"/>
          <p:cNvSpPr/>
          <p:nvPr/>
        </p:nvSpPr>
        <p:spPr>
          <a:xfrm>
            <a:off x="6334125" y="6053216"/>
            <a:ext cx="2738438" cy="603250"/>
          </a:xfrm>
          <a:custGeom>
            <a:avLst/>
            <a:gdLst/>
            <a:ahLst/>
            <a:cxnLst/>
            <a:rect l="l" t="t" r="r" b="b"/>
            <a:pathLst>
              <a:path w="2738438" h="603250">
                <a:moveTo>
                  <a:pt x="31749" y="0"/>
                </a:moveTo>
                <a:lnTo>
                  <a:pt x="2706688" y="0"/>
                </a:lnTo>
                <a:cubicBezTo>
                  <a:pt x="2724223" y="0"/>
                  <a:pt x="2738438" y="14215"/>
                  <a:pt x="2738438" y="31749"/>
                </a:cubicBezTo>
                <a:lnTo>
                  <a:pt x="2738438" y="571501"/>
                </a:lnTo>
                <a:cubicBezTo>
                  <a:pt x="2738438" y="589035"/>
                  <a:pt x="2724223" y="603250"/>
                  <a:pt x="2706688" y="603250"/>
                </a:cubicBezTo>
                <a:lnTo>
                  <a:pt x="31749" y="603250"/>
                </a:lnTo>
                <a:cubicBezTo>
                  <a:pt x="14215" y="603250"/>
                  <a:pt x="0" y="589035"/>
                  <a:pt x="0" y="571501"/>
                </a:cubicBezTo>
                <a:lnTo>
                  <a:pt x="0" y="31749"/>
                </a:lnTo>
                <a:cubicBezTo>
                  <a:pt x="0" y="14226"/>
                  <a:pt x="14226" y="0"/>
                  <a:pt x="31749" y="0"/>
                </a:cubicBezTo>
                <a:close/>
              </a:path>
            </a:pathLst>
          </a:custGeom>
          <a:solidFill>
            <a:srgbClr val="F9FAFB"/>
          </a:solidFill>
          <a:ln/>
        </p:spPr>
      </p:sp>
      <p:sp>
        <p:nvSpPr>
          <p:cNvPr id="36" name="Text 33"/>
          <p:cNvSpPr/>
          <p:nvPr/>
        </p:nvSpPr>
        <p:spPr>
          <a:xfrm>
            <a:off x="6397625" y="6116716"/>
            <a:ext cx="2667000"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Resistors</a:t>
            </a:r>
            <a:endParaRPr lang="en-US" sz="1600" dirty="0"/>
          </a:p>
        </p:txBody>
      </p:sp>
      <p:sp>
        <p:nvSpPr>
          <p:cNvPr id="37" name="Text 34"/>
          <p:cNvSpPr/>
          <p:nvPr/>
        </p:nvSpPr>
        <p:spPr>
          <a:xfrm>
            <a:off x="6397625" y="6275466"/>
            <a:ext cx="266700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R₁, R₃ = 220kΩ (¼W)</a:t>
            </a:r>
            <a:endParaRPr lang="en-US" sz="1600" dirty="0"/>
          </a:p>
        </p:txBody>
      </p:sp>
      <p:sp>
        <p:nvSpPr>
          <p:cNvPr id="38" name="Text 35"/>
          <p:cNvSpPr/>
          <p:nvPr/>
        </p:nvSpPr>
        <p:spPr>
          <a:xfrm>
            <a:off x="6397625" y="6434216"/>
            <a:ext cx="266700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R₂, R₄ = 2.2Ω (</a:t>
            </a:r>
            <a:r>
              <a:rPr lang="en-US" sz="875" dirty="0">
                <a:solidFill>
                  <a:srgbClr val="6B7280"/>
                </a:solidFill>
                <a:latin typeface="+mj-lt"/>
                <a:ea typeface="Sorts Mill Goudy" pitchFamily="34" charset="-122"/>
                <a:cs typeface="Sorts Mill Goudy" pitchFamily="34" charset="-120"/>
              </a:rPr>
              <a:t>1</a:t>
            </a:r>
            <a:r>
              <a:rPr lang="en-US" sz="875" dirty="0">
                <a:solidFill>
                  <a:srgbClr val="6B7280"/>
                </a:solidFill>
                <a:latin typeface="Sorts Mill Goudy" pitchFamily="34" charset="0"/>
                <a:ea typeface="Sorts Mill Goudy" pitchFamily="34" charset="-122"/>
                <a:cs typeface="Sorts Mill Goudy" pitchFamily="34" charset="-120"/>
              </a:rPr>
              <a:t>W)</a:t>
            </a:r>
            <a:endParaRPr lang="en-US" sz="1600" dirty="0"/>
          </a:p>
        </p:txBody>
      </p:sp>
      <p:sp>
        <p:nvSpPr>
          <p:cNvPr id="39" name="Shape 36"/>
          <p:cNvSpPr/>
          <p:nvPr/>
        </p:nvSpPr>
        <p:spPr>
          <a:xfrm>
            <a:off x="9136063" y="6053216"/>
            <a:ext cx="2738438" cy="603250"/>
          </a:xfrm>
          <a:custGeom>
            <a:avLst/>
            <a:gdLst/>
            <a:ahLst/>
            <a:cxnLst/>
            <a:rect l="l" t="t" r="r" b="b"/>
            <a:pathLst>
              <a:path w="2738438" h="603250">
                <a:moveTo>
                  <a:pt x="31749" y="0"/>
                </a:moveTo>
                <a:lnTo>
                  <a:pt x="2706688" y="0"/>
                </a:lnTo>
                <a:cubicBezTo>
                  <a:pt x="2724223" y="0"/>
                  <a:pt x="2738438" y="14215"/>
                  <a:pt x="2738438" y="31749"/>
                </a:cubicBezTo>
                <a:lnTo>
                  <a:pt x="2738438" y="571501"/>
                </a:lnTo>
                <a:cubicBezTo>
                  <a:pt x="2738438" y="589035"/>
                  <a:pt x="2724223" y="603250"/>
                  <a:pt x="2706688" y="603250"/>
                </a:cubicBezTo>
                <a:lnTo>
                  <a:pt x="31749" y="603250"/>
                </a:lnTo>
                <a:cubicBezTo>
                  <a:pt x="14215" y="603250"/>
                  <a:pt x="0" y="589035"/>
                  <a:pt x="0" y="571501"/>
                </a:cubicBezTo>
                <a:lnTo>
                  <a:pt x="0" y="31749"/>
                </a:lnTo>
                <a:cubicBezTo>
                  <a:pt x="0" y="14226"/>
                  <a:pt x="14226" y="0"/>
                  <a:pt x="31749" y="0"/>
                </a:cubicBezTo>
                <a:close/>
              </a:path>
            </a:pathLst>
          </a:custGeom>
          <a:solidFill>
            <a:srgbClr val="F9FAFB"/>
          </a:solidFill>
          <a:ln/>
        </p:spPr>
      </p:sp>
      <p:sp>
        <p:nvSpPr>
          <p:cNvPr id="40" name="Text 37"/>
          <p:cNvSpPr/>
          <p:nvPr/>
        </p:nvSpPr>
        <p:spPr>
          <a:xfrm>
            <a:off x="9199563" y="6116716"/>
            <a:ext cx="2667000"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Capacitors</a:t>
            </a:r>
            <a:endParaRPr lang="en-US" sz="1600" dirty="0"/>
          </a:p>
        </p:txBody>
      </p:sp>
      <p:sp>
        <p:nvSpPr>
          <p:cNvPr id="41" name="Text 38"/>
          <p:cNvSpPr/>
          <p:nvPr/>
        </p:nvSpPr>
        <p:spPr>
          <a:xfrm>
            <a:off x="9199563" y="6275466"/>
            <a:ext cx="266700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C₁ = </a:t>
            </a:r>
            <a:r>
              <a:rPr lang="en-US" sz="875" dirty="0">
                <a:solidFill>
                  <a:srgbClr val="6B7280"/>
                </a:solidFill>
                <a:latin typeface="+mj-lt"/>
                <a:ea typeface="Sorts Mill Goudy" pitchFamily="34" charset="-122"/>
                <a:cs typeface="Sorts Mill Goudy" pitchFamily="34" charset="-120"/>
              </a:rPr>
              <a:t>1</a:t>
            </a:r>
            <a:r>
              <a:rPr lang="en-US" sz="875" dirty="0">
                <a:solidFill>
                  <a:srgbClr val="6B7280"/>
                </a:solidFill>
                <a:latin typeface="Sorts Mill Goudy" pitchFamily="34" charset="0"/>
                <a:ea typeface="Sorts Mill Goudy" pitchFamily="34" charset="-122"/>
                <a:cs typeface="Sorts Mill Goudy" pitchFamily="34" charset="-120"/>
              </a:rPr>
              <a:t>.0µF, 400V (cb22 </a:t>
            </a:r>
            <a:r>
              <a:rPr lang="en-US" sz="875" dirty="0">
                <a:solidFill>
                  <a:srgbClr val="6B7280"/>
                </a:solidFill>
                <a:latin typeface="+mj-lt"/>
                <a:ea typeface="Sorts Mill Goudy" pitchFamily="34" charset="-122"/>
                <a:cs typeface="Sorts Mill Goudy" pitchFamily="34" charset="-120"/>
              </a:rPr>
              <a:t>1</a:t>
            </a:r>
            <a:r>
              <a:rPr lang="en-US" sz="875" dirty="0">
                <a:solidFill>
                  <a:srgbClr val="6B7280"/>
                </a:solidFill>
                <a:latin typeface="Sorts Mill Goudy" pitchFamily="34" charset="0"/>
                <a:ea typeface="Sorts Mill Goudy" pitchFamily="34" charset="-122"/>
                <a:cs typeface="Sorts Mill Goudy" pitchFamily="34" charset="-120"/>
              </a:rPr>
              <a:t>05j400v)</a:t>
            </a:r>
            <a:endParaRPr lang="en-US" sz="1600" dirty="0"/>
          </a:p>
        </p:txBody>
      </p:sp>
      <p:sp>
        <p:nvSpPr>
          <p:cNvPr id="42" name="Text 39"/>
          <p:cNvSpPr/>
          <p:nvPr/>
        </p:nvSpPr>
        <p:spPr>
          <a:xfrm>
            <a:off x="9199563" y="6434216"/>
            <a:ext cx="266700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C₂ = 2.2µF, 400V(cb22 225j400v)</a:t>
            </a:r>
            <a:endParaRPr lang="en-US" sz="1600" dirty="0"/>
          </a:p>
        </p:txBody>
      </p:sp>
      <p:sp>
        <p:nvSpPr>
          <p:cNvPr id="43" name="Shape 40"/>
          <p:cNvSpPr/>
          <p:nvPr/>
        </p:nvSpPr>
        <p:spPr>
          <a:xfrm>
            <a:off x="317500" y="7039371"/>
            <a:ext cx="11557000" cy="6350"/>
          </a:xfrm>
          <a:custGeom>
            <a:avLst/>
            <a:gdLst/>
            <a:ahLst/>
            <a:cxnLst/>
            <a:rect l="l" t="t" r="r" b="b"/>
            <a:pathLst>
              <a:path w="11557000" h="6350">
                <a:moveTo>
                  <a:pt x="0" y="0"/>
                </a:moveTo>
                <a:lnTo>
                  <a:pt x="11557000" y="0"/>
                </a:lnTo>
                <a:lnTo>
                  <a:pt x="11557000" y="6350"/>
                </a:lnTo>
                <a:lnTo>
                  <a:pt x="0" y="6350"/>
                </a:lnTo>
                <a:lnTo>
                  <a:pt x="0" y="0"/>
                </a:lnTo>
                <a:close/>
              </a:path>
            </a:pathLst>
          </a:custGeom>
          <a:solidFill>
            <a:srgbClr val="E5E7EB"/>
          </a:solidFill>
          <a:ln/>
        </p:spPr>
      </p:sp>
      <p:pic>
        <p:nvPicPr>
          <p:cNvPr id="47" name="Picture 46">
            <a:extLst>
              <a:ext uri="{FF2B5EF4-FFF2-40B4-BE49-F238E27FC236}">
                <a16:creationId xmlns:a16="http://schemas.microsoft.com/office/drawing/2014/main" id="{09BE1C3B-E824-3564-4DB1-F35F51A98B0C}"/>
              </a:ext>
            </a:extLst>
          </p:cNvPr>
          <p:cNvPicPr>
            <a:picLocks noChangeAspect="1"/>
          </p:cNvPicPr>
          <p:nvPr/>
        </p:nvPicPr>
        <p:blipFill>
          <a:blip r:embed="rId3"/>
          <a:srcRect l="4416" t="9606" r="7511" b="10399"/>
          <a:stretch>
            <a:fillRect/>
          </a:stretch>
        </p:blipFill>
        <p:spPr>
          <a:xfrm>
            <a:off x="479425" y="5187074"/>
            <a:ext cx="3480817" cy="1532891"/>
          </a:xfrm>
          <a:prstGeom prst="rect">
            <a:avLst/>
          </a:prstGeom>
        </p:spPr>
      </p:pic>
      <p:sp>
        <p:nvSpPr>
          <p:cNvPr id="48" name="Text 12">
            <a:extLst>
              <a:ext uri="{FF2B5EF4-FFF2-40B4-BE49-F238E27FC236}">
                <a16:creationId xmlns:a16="http://schemas.microsoft.com/office/drawing/2014/main" id="{7F29DEF9-766F-7DE2-70A4-C39E6C78264C}"/>
              </a:ext>
            </a:extLst>
          </p:cNvPr>
          <p:cNvSpPr/>
          <p:nvPr/>
        </p:nvSpPr>
        <p:spPr>
          <a:xfrm>
            <a:off x="479425" y="4858146"/>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Circuit diagram:</a:t>
            </a:r>
            <a:endParaRPr lang="en-US" sz="1600" dirty="0"/>
          </a:p>
        </p:txBody>
      </p:sp>
      <p:sp>
        <p:nvSpPr>
          <p:cNvPr id="49" name="TextBox 48">
            <a:extLst>
              <a:ext uri="{FF2B5EF4-FFF2-40B4-BE49-F238E27FC236}">
                <a16:creationId xmlns:a16="http://schemas.microsoft.com/office/drawing/2014/main" id="{8DFD6FD5-97D9-1029-4ED1-E098244CD80D}"/>
              </a:ext>
            </a:extLst>
          </p:cNvPr>
          <p:cNvSpPr txBox="1"/>
          <p:nvPr/>
        </p:nvSpPr>
        <p:spPr>
          <a:xfrm>
            <a:off x="1679965" y="5707386"/>
            <a:ext cx="447558" cy="200055"/>
          </a:xfrm>
          <a:prstGeom prst="rect">
            <a:avLst/>
          </a:prstGeom>
          <a:noFill/>
        </p:spPr>
        <p:txBody>
          <a:bodyPr wrap="none" rtlCol="0">
            <a:spAutoFit/>
          </a:bodyPr>
          <a:lstStyle/>
          <a:p>
            <a:r>
              <a:rPr lang="en-IN" sz="700" dirty="0">
                <a:solidFill>
                  <a:srgbClr val="717171"/>
                </a:solidFill>
              </a:rPr>
              <a:t>Relay 3</a:t>
            </a:r>
          </a:p>
        </p:txBody>
      </p:sp>
      <p:sp>
        <p:nvSpPr>
          <p:cNvPr id="50" name="TextBox 49">
            <a:extLst>
              <a:ext uri="{FF2B5EF4-FFF2-40B4-BE49-F238E27FC236}">
                <a16:creationId xmlns:a16="http://schemas.microsoft.com/office/drawing/2014/main" id="{31EFE77C-80BD-AA75-3D93-7F888A9DECF2}"/>
              </a:ext>
            </a:extLst>
          </p:cNvPr>
          <p:cNvSpPr txBox="1"/>
          <p:nvPr/>
        </p:nvSpPr>
        <p:spPr>
          <a:xfrm>
            <a:off x="2386321" y="5234994"/>
            <a:ext cx="447558" cy="200055"/>
          </a:xfrm>
          <a:prstGeom prst="rect">
            <a:avLst/>
          </a:prstGeom>
          <a:noFill/>
        </p:spPr>
        <p:txBody>
          <a:bodyPr wrap="none" rtlCol="0">
            <a:spAutoFit/>
          </a:bodyPr>
          <a:lstStyle/>
          <a:p>
            <a:r>
              <a:rPr lang="en-IN" sz="700" dirty="0">
                <a:solidFill>
                  <a:srgbClr val="717171"/>
                </a:solidFill>
              </a:rPr>
              <a:t>Relay 1</a:t>
            </a:r>
          </a:p>
        </p:txBody>
      </p:sp>
      <p:sp>
        <p:nvSpPr>
          <p:cNvPr id="51" name="TextBox 50">
            <a:extLst>
              <a:ext uri="{FF2B5EF4-FFF2-40B4-BE49-F238E27FC236}">
                <a16:creationId xmlns:a16="http://schemas.microsoft.com/office/drawing/2014/main" id="{3803F93F-4937-3128-9671-5D143D4AFF04}"/>
              </a:ext>
            </a:extLst>
          </p:cNvPr>
          <p:cNvSpPr txBox="1"/>
          <p:nvPr/>
        </p:nvSpPr>
        <p:spPr>
          <a:xfrm>
            <a:off x="3353199" y="5215302"/>
            <a:ext cx="447558" cy="200055"/>
          </a:xfrm>
          <a:prstGeom prst="rect">
            <a:avLst/>
          </a:prstGeom>
          <a:noFill/>
        </p:spPr>
        <p:txBody>
          <a:bodyPr wrap="none" rtlCol="0">
            <a:spAutoFit/>
          </a:bodyPr>
          <a:lstStyle/>
          <a:p>
            <a:r>
              <a:rPr lang="en-IN" sz="700" dirty="0">
                <a:solidFill>
                  <a:srgbClr val="717171"/>
                </a:solidFill>
              </a:rPr>
              <a:t>Relay 2</a:t>
            </a:r>
          </a:p>
        </p:txBody>
      </p:sp>
      <p:sp>
        <p:nvSpPr>
          <p:cNvPr id="52" name="TextBox 51">
            <a:extLst>
              <a:ext uri="{FF2B5EF4-FFF2-40B4-BE49-F238E27FC236}">
                <a16:creationId xmlns:a16="http://schemas.microsoft.com/office/drawing/2014/main" id="{2F8808B6-5F37-28B6-870E-88CE6988F389}"/>
              </a:ext>
            </a:extLst>
          </p:cNvPr>
          <p:cNvSpPr txBox="1"/>
          <p:nvPr/>
        </p:nvSpPr>
        <p:spPr>
          <a:xfrm>
            <a:off x="479425" y="5956795"/>
            <a:ext cx="572593" cy="307777"/>
          </a:xfrm>
          <a:prstGeom prst="rect">
            <a:avLst/>
          </a:prstGeom>
          <a:noFill/>
        </p:spPr>
        <p:txBody>
          <a:bodyPr wrap="none" rtlCol="0">
            <a:spAutoFit/>
          </a:bodyPr>
          <a:lstStyle/>
          <a:p>
            <a:pPr algn="ctr"/>
            <a:r>
              <a:rPr lang="en-IN" sz="700" dirty="0">
                <a:solidFill>
                  <a:srgbClr val="717171"/>
                </a:solidFill>
              </a:rPr>
              <a:t>Load</a:t>
            </a:r>
          </a:p>
          <a:p>
            <a:pPr algn="ctr"/>
            <a:r>
              <a:rPr lang="en-IN" sz="700" dirty="0">
                <a:solidFill>
                  <a:srgbClr val="717171"/>
                </a:solidFill>
              </a:rPr>
              <a:t>(light /fan)</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8494" y="317500"/>
            <a:ext cx="3548063" cy="285750"/>
          </a:xfrm>
          <a:prstGeom prst="rect">
            <a:avLst/>
          </a:prstGeom>
          <a:noFill/>
          <a:ln/>
        </p:spPr>
        <p:txBody>
          <a:bodyPr wrap="square" lIns="0" tIns="0" rIns="0" bIns="0" rtlCol="0" anchor="ctr"/>
          <a:lstStyle/>
          <a:p>
            <a:pPr>
              <a:lnSpc>
                <a:spcPct val="100000"/>
              </a:lnSpc>
            </a:pPr>
            <a:r>
              <a:rPr lang="en-US" sz="1875" b="1" dirty="0">
                <a:solidFill>
                  <a:srgbClr val="0070C0"/>
                </a:solidFill>
                <a:latin typeface="Sorts Mill Goudy" pitchFamily="34" charset="0"/>
                <a:ea typeface="Sorts Mill Goudy" pitchFamily="34" charset="-122"/>
                <a:cs typeface="Sorts Mill Goudy" pitchFamily="34" charset="-120"/>
              </a:rPr>
              <a:t>IoT Integration &amp; Safety Systems</a:t>
            </a:r>
            <a:endParaRPr lang="en-US" sz="1600" dirty="0">
              <a:solidFill>
                <a:srgbClr val="0070C0"/>
              </a:solidFill>
            </a:endParaRPr>
          </a:p>
        </p:txBody>
      </p:sp>
      <p:sp>
        <p:nvSpPr>
          <p:cNvPr id="4" name="Shape 2"/>
          <p:cNvSpPr/>
          <p:nvPr/>
        </p:nvSpPr>
        <p:spPr>
          <a:xfrm>
            <a:off x="317500" y="666750"/>
            <a:ext cx="11557000" cy="15875"/>
          </a:xfrm>
          <a:custGeom>
            <a:avLst/>
            <a:gdLst/>
            <a:ahLst/>
            <a:cxnLst/>
            <a:rect l="l" t="t" r="r" b="b"/>
            <a:pathLst>
              <a:path w="11557000" h="15875">
                <a:moveTo>
                  <a:pt x="0" y="0"/>
                </a:moveTo>
                <a:lnTo>
                  <a:pt x="11557000" y="0"/>
                </a:lnTo>
                <a:lnTo>
                  <a:pt x="11557000" y="15875"/>
                </a:lnTo>
                <a:lnTo>
                  <a:pt x="0" y="15875"/>
                </a:lnTo>
                <a:lnTo>
                  <a:pt x="0" y="0"/>
                </a:lnTo>
                <a:close/>
              </a:path>
            </a:pathLst>
          </a:custGeom>
          <a:solidFill>
            <a:srgbClr val="92D050"/>
          </a:solidFill>
          <a:ln/>
        </p:spPr>
      </p:sp>
      <p:sp>
        <p:nvSpPr>
          <p:cNvPr id="5" name="Shape 3"/>
          <p:cNvSpPr/>
          <p:nvPr/>
        </p:nvSpPr>
        <p:spPr>
          <a:xfrm>
            <a:off x="333375" y="809625"/>
            <a:ext cx="31750" cy="2055813"/>
          </a:xfrm>
          <a:custGeom>
            <a:avLst/>
            <a:gdLst/>
            <a:ahLst/>
            <a:cxnLst/>
            <a:rect l="l" t="t" r="r" b="b"/>
            <a:pathLst>
              <a:path w="31750" h="2055813">
                <a:moveTo>
                  <a:pt x="0" y="0"/>
                </a:moveTo>
                <a:lnTo>
                  <a:pt x="31750" y="0"/>
                </a:lnTo>
                <a:lnTo>
                  <a:pt x="31750" y="2055813"/>
                </a:lnTo>
                <a:lnTo>
                  <a:pt x="0" y="2055813"/>
                </a:lnTo>
                <a:lnTo>
                  <a:pt x="0" y="0"/>
                </a:lnTo>
                <a:close/>
              </a:path>
            </a:pathLst>
          </a:custGeom>
          <a:solidFill>
            <a:srgbClr val="FFFF00"/>
          </a:solidFill>
          <a:ln/>
        </p:spPr>
      </p:sp>
      <p:sp>
        <p:nvSpPr>
          <p:cNvPr id="6" name="Text 4"/>
          <p:cNvSpPr/>
          <p:nvPr/>
        </p:nvSpPr>
        <p:spPr>
          <a:xfrm>
            <a:off x="476250"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Blynk Virtual Pin Mapping</a:t>
            </a:r>
            <a:endParaRPr lang="en-US" sz="1600" dirty="0"/>
          </a:p>
        </p:txBody>
      </p:sp>
      <p:sp>
        <p:nvSpPr>
          <p:cNvPr id="7" name="Text 5"/>
          <p:cNvSpPr/>
          <p:nvPr/>
        </p:nvSpPr>
        <p:spPr>
          <a:xfrm>
            <a:off x="476250" y="1127125"/>
            <a:ext cx="5603875" cy="174625"/>
          </a:xfrm>
          <a:prstGeom prst="rect">
            <a:avLst/>
          </a:prstGeom>
          <a:noFill/>
          <a:ln/>
        </p:spPr>
        <p:txBody>
          <a:bodyPr wrap="square" lIns="0" tIns="0" rIns="0" bIns="0" rtlCol="0" anchor="ctr"/>
          <a:lstStyle/>
          <a:p>
            <a:pPr>
              <a:lnSpc>
                <a:spcPct val="110000"/>
              </a:lnSpc>
            </a:pPr>
            <a:r>
              <a:rPr lang="en-US" sz="1000" dirty="0">
                <a:solidFill>
                  <a:srgbClr val="1F2937"/>
                </a:solidFill>
                <a:latin typeface="Sorts Mill Goudy" pitchFamily="34" charset="0"/>
                <a:ea typeface="Sorts Mill Goudy" pitchFamily="34" charset="-122"/>
                <a:cs typeface="Sorts Mill Goudy" pitchFamily="34" charset="-120"/>
              </a:rPr>
              <a:t>The system syncs hardware states to the cloud for remote monitoring.</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2308687754"/>
              </p:ext>
            </p:extLst>
          </p:nvPr>
        </p:nvGraphicFramePr>
        <p:xfrm>
          <a:off x="476250" y="1397000"/>
          <a:ext cx="5540375" cy="1468440"/>
        </p:xfrm>
        <a:graphic>
          <a:graphicData uri="http://schemas.openxmlformats.org/drawingml/2006/table">
            <a:tbl>
              <a:tblPr/>
              <a:tblGrid>
                <a:gridCol w="1295669">
                  <a:extLst>
                    <a:ext uri="{9D8B030D-6E8A-4147-A177-3AD203B41FA5}">
                      <a16:colId xmlns:a16="http://schemas.microsoft.com/office/drawing/2014/main" val="20000"/>
                    </a:ext>
                  </a:extLst>
                </a:gridCol>
                <a:gridCol w="2074660">
                  <a:extLst>
                    <a:ext uri="{9D8B030D-6E8A-4147-A177-3AD203B41FA5}">
                      <a16:colId xmlns:a16="http://schemas.microsoft.com/office/drawing/2014/main" val="20001"/>
                    </a:ext>
                  </a:extLst>
                </a:gridCol>
                <a:gridCol w="2170046">
                  <a:extLst>
                    <a:ext uri="{9D8B030D-6E8A-4147-A177-3AD203B41FA5}">
                      <a16:colId xmlns:a16="http://schemas.microsoft.com/office/drawing/2014/main" val="20002"/>
                    </a:ext>
                  </a:extLst>
                </a:gridCol>
              </a:tblGrid>
              <a:tr h="293688">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Virtual Pin</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Device Assignment</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800" b="1" u="none" dirty="0">
                          <a:solidFill>
                            <a:srgbClr val="FFFFFF"/>
                          </a:solidFill>
                          <a:latin typeface="微软雅黑" pitchFamily="34" charset="0"/>
                          <a:ea typeface="微软雅黑" pitchFamily="34" charset="-122"/>
                          <a:cs typeface="微软雅黑" pitchFamily="34" charset="-120"/>
                        </a:rPr>
                        <a:t>Data Range</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V1</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Light 1 Status</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 (OFF) – 1 (ON)</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1"/>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V2</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Light 2 Status</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 (OFF) – 1 (ON)</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2"/>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V3</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Fan 1 Speed</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 – 4</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9FAFB"/>
                    </a:solidFill>
                  </a:tcPr>
                </a:tc>
                <a:extLst>
                  <a:ext uri="{0D108BD9-81ED-4DB2-BD59-A6C34878D82A}">
                    <a16:rowId xmlns:a16="http://schemas.microsoft.com/office/drawing/2014/main" val="10003"/>
                  </a:ext>
                </a:extLst>
              </a:tr>
              <a:tr h="293688">
                <a:tc>
                  <a:txBody>
                    <a:bodyPr/>
                    <a:lstStyle/>
                    <a:p>
                      <a:pPr algn="ctr"/>
                      <a:r>
                        <a:rPr lang="en-US" sz="800" b="1" u="none" dirty="0">
                          <a:solidFill>
                            <a:srgbClr val="1F2937"/>
                          </a:solidFill>
                          <a:latin typeface="微软雅黑" pitchFamily="34" charset="0"/>
                          <a:ea typeface="微软雅黑" pitchFamily="34" charset="-122"/>
                          <a:cs typeface="微软雅黑" pitchFamily="34" charset="-120"/>
                        </a:rPr>
                        <a:t>V4</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Fan 2 Speed</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tc>
                  <a:txBody>
                    <a:bodyPr/>
                    <a:lstStyle/>
                    <a:p>
                      <a:pPr algn="ctr"/>
                      <a:r>
                        <a:rPr lang="en-US" sz="800" u="none" dirty="0">
                          <a:solidFill>
                            <a:srgbClr val="1F2937"/>
                          </a:solidFill>
                          <a:latin typeface="微软雅黑" pitchFamily="34" charset="0"/>
                          <a:ea typeface="微软雅黑" pitchFamily="34" charset="-122"/>
                          <a:cs typeface="微软雅黑" pitchFamily="34" charset="-120"/>
                        </a:rPr>
                        <a:t>0 – 4</a:t>
                      </a:r>
                      <a:endParaRPr lang="en-US" sz="800" dirty="0">
                        <a:latin typeface="微软雅黑" charset="0"/>
                        <a:ea typeface="微软雅黑" charset="0"/>
                        <a:cs typeface="微软雅黑" charset="0"/>
                      </a:endParaRPr>
                    </a:p>
                  </a:txBody>
                  <a:tcPr marL="63500" marR="63500" marT="63500" marB="63500" anchor="ctr">
                    <a:lnL w="10160" cap="flat" cmpd="sng" algn="ctr">
                      <a:noFill/>
                      <a:prstDash val="solid"/>
                      <a:round/>
                      <a:headEnd type="none" w="med" len="med"/>
                      <a:tailEnd type="none" w="med" len="med"/>
                    </a:lnL>
                    <a:lnR w="10160" cap="flat" cmpd="sng" algn="ctr">
                      <a:noFill/>
                      <a:prstDash val="solid"/>
                      <a:round/>
                      <a:headEnd type="none" w="med" len="med"/>
                      <a:tailEnd type="none" w="med" len="med"/>
                    </a:lnR>
                    <a:lnT w="10160" cap="flat" cmpd="sng" algn="ctr">
                      <a:noFill/>
                      <a:prstDash val="solid"/>
                      <a:round/>
                      <a:headEnd type="none" w="med" len="med"/>
                      <a:tailEnd type="none" w="med" len="med"/>
                    </a:lnT>
                    <a:lnB w="1016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0"/>
                      </a:srgbClr>
                    </a:solidFill>
                  </a:tcPr>
                </a:tc>
                <a:extLst>
                  <a:ext uri="{0D108BD9-81ED-4DB2-BD59-A6C34878D82A}">
                    <a16:rowId xmlns:a16="http://schemas.microsoft.com/office/drawing/2014/main" val="10004"/>
                  </a:ext>
                </a:extLst>
              </a:tr>
            </a:tbl>
          </a:graphicData>
        </a:graphic>
      </p:graphicFrame>
      <p:sp>
        <p:nvSpPr>
          <p:cNvPr id="9" name="Shape 6"/>
          <p:cNvSpPr/>
          <p:nvPr/>
        </p:nvSpPr>
        <p:spPr>
          <a:xfrm>
            <a:off x="333374" y="2990850"/>
            <a:ext cx="45719" cy="3344606"/>
          </a:xfrm>
          <a:custGeom>
            <a:avLst/>
            <a:gdLst/>
            <a:ahLst/>
            <a:cxnLst/>
            <a:rect l="l" t="t" r="r" b="b"/>
            <a:pathLst>
              <a:path w="31750" h="4730750">
                <a:moveTo>
                  <a:pt x="0" y="0"/>
                </a:moveTo>
                <a:lnTo>
                  <a:pt x="31750" y="0"/>
                </a:lnTo>
                <a:lnTo>
                  <a:pt x="31750" y="4730750"/>
                </a:lnTo>
                <a:lnTo>
                  <a:pt x="0" y="4730750"/>
                </a:lnTo>
                <a:lnTo>
                  <a:pt x="0" y="0"/>
                </a:lnTo>
                <a:close/>
              </a:path>
            </a:pathLst>
          </a:custGeom>
          <a:solidFill>
            <a:srgbClr val="7030A0"/>
          </a:solidFill>
          <a:ln/>
        </p:spPr>
      </p:sp>
      <p:sp>
        <p:nvSpPr>
          <p:cNvPr id="10" name="Text 7"/>
          <p:cNvSpPr/>
          <p:nvPr/>
        </p:nvSpPr>
        <p:spPr>
          <a:xfrm>
            <a:off x="476250" y="2990850"/>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Blynk Synchronization Code</a:t>
            </a:r>
            <a:endParaRPr lang="en-US" sz="1600" dirty="0"/>
          </a:p>
        </p:txBody>
      </p:sp>
      <p:sp>
        <p:nvSpPr>
          <p:cNvPr id="11" name="Shape 8"/>
          <p:cNvSpPr/>
          <p:nvPr/>
        </p:nvSpPr>
        <p:spPr>
          <a:xfrm>
            <a:off x="479425" y="3311525"/>
            <a:ext cx="3185754" cy="2546350"/>
          </a:xfrm>
          <a:custGeom>
            <a:avLst/>
            <a:gdLst/>
            <a:ahLst/>
            <a:cxnLst/>
            <a:rect l="l" t="t" r="r" b="b"/>
            <a:pathLst>
              <a:path w="5530850" h="2546350">
                <a:moveTo>
                  <a:pt x="31753" y="0"/>
                </a:moveTo>
                <a:lnTo>
                  <a:pt x="5499097" y="0"/>
                </a:lnTo>
                <a:cubicBezTo>
                  <a:pt x="5516634" y="0"/>
                  <a:pt x="5530850" y="14216"/>
                  <a:pt x="5530850" y="31753"/>
                </a:cubicBezTo>
                <a:lnTo>
                  <a:pt x="5530850" y="2514597"/>
                </a:lnTo>
                <a:cubicBezTo>
                  <a:pt x="5530850" y="2532134"/>
                  <a:pt x="5516634" y="2546350"/>
                  <a:pt x="5499097" y="2546350"/>
                </a:cubicBezTo>
                <a:lnTo>
                  <a:pt x="31753" y="2546350"/>
                </a:lnTo>
                <a:cubicBezTo>
                  <a:pt x="14216" y="2546350"/>
                  <a:pt x="0" y="2532134"/>
                  <a:pt x="0" y="2514597"/>
                </a:cubicBezTo>
                <a:lnTo>
                  <a:pt x="0" y="31753"/>
                </a:lnTo>
                <a:cubicBezTo>
                  <a:pt x="0" y="14216"/>
                  <a:pt x="14216" y="0"/>
                  <a:pt x="31753" y="0"/>
                </a:cubicBezTo>
                <a:close/>
              </a:path>
            </a:pathLst>
          </a:custGeom>
          <a:solidFill>
            <a:srgbClr val="F9FAFB"/>
          </a:solidFill>
          <a:ln w="10160">
            <a:solidFill>
              <a:srgbClr val="E5E7EB"/>
            </a:solidFill>
            <a:prstDash val="solid"/>
          </a:ln>
        </p:spPr>
      </p:sp>
      <p:sp>
        <p:nvSpPr>
          <p:cNvPr id="12" name="Text 9"/>
          <p:cNvSpPr/>
          <p:nvPr/>
        </p:nvSpPr>
        <p:spPr>
          <a:xfrm>
            <a:off x="577850" y="3409951"/>
            <a:ext cx="5389563" cy="2349500"/>
          </a:xfrm>
          <a:prstGeom prst="rect">
            <a:avLst/>
          </a:prstGeom>
          <a:noFill/>
          <a:ln/>
        </p:spPr>
        <p:txBody>
          <a:bodyPr wrap="square" lIns="0" tIns="0" rIns="0" bIns="0" rtlCol="0" anchor="ctr"/>
          <a:lstStyle/>
          <a:p>
            <a:pPr>
              <a:lnSpc>
                <a:spcPct val="100000"/>
              </a:lnSpc>
            </a:pPr>
            <a:r>
              <a:rPr lang="en-US" sz="875" dirty="0">
                <a:solidFill>
                  <a:srgbClr val="6B7280"/>
                </a:solidFill>
                <a:latin typeface="MiSans" pitchFamily="34" charset="0"/>
                <a:ea typeface="MiSans" pitchFamily="34" charset="-122"/>
                <a:cs typeface="MiSans" pitchFamily="34" charset="-120"/>
              </a:rPr>
              <a:t>// Hardware → Cloud (State Updates)</a:t>
            </a:r>
            <a:r>
              <a:rPr lang="en-US" sz="875" dirty="0">
                <a:solidFill>
                  <a:srgbClr val="8B000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(Blynk.connected())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Blynk.virtualWrite(V1, l1State);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Blynk.virtualWrite(V2, l2State);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Blynk.virtualWrite(V3, fan1State);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Blynk.virtualWrite(V4, fan2State);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a:t>
            </a:r>
            <a:endParaRPr lang="en-US" sz="1600" dirty="0"/>
          </a:p>
          <a:p>
            <a:pPr>
              <a:lnSpc>
                <a:spcPct val="100000"/>
              </a:lnSpc>
            </a:pPr>
            <a:r>
              <a:rPr lang="en-US" sz="875" dirty="0">
                <a:solidFill>
                  <a:srgbClr val="6B7280"/>
                </a:solidFill>
                <a:latin typeface="MiSans" pitchFamily="34" charset="0"/>
                <a:ea typeface="MiSans" pitchFamily="34" charset="-122"/>
                <a:cs typeface="MiSans" pitchFamily="34" charset="-120"/>
              </a:rPr>
              <a:t>// Cloud → Hardware (Control Commands)</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BLYNK_WRITE(V1)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l1State = param.asInt();</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digitalWrite(RELAY_L1, l1State);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a:t>
            </a:r>
            <a:endParaRPr lang="en-US" sz="1600" dirty="0"/>
          </a:p>
        </p:txBody>
      </p:sp>
      <p:sp>
        <p:nvSpPr>
          <p:cNvPr id="13" name="Shape 10"/>
          <p:cNvSpPr/>
          <p:nvPr/>
        </p:nvSpPr>
        <p:spPr>
          <a:xfrm>
            <a:off x="6191250" y="809625"/>
            <a:ext cx="31750" cy="2452688"/>
          </a:xfrm>
          <a:custGeom>
            <a:avLst/>
            <a:gdLst/>
            <a:ahLst/>
            <a:cxnLst/>
            <a:rect l="l" t="t" r="r" b="b"/>
            <a:pathLst>
              <a:path w="31750" h="2452688">
                <a:moveTo>
                  <a:pt x="0" y="0"/>
                </a:moveTo>
                <a:lnTo>
                  <a:pt x="31750" y="0"/>
                </a:lnTo>
                <a:lnTo>
                  <a:pt x="31750" y="2452688"/>
                </a:lnTo>
                <a:lnTo>
                  <a:pt x="0" y="2452688"/>
                </a:lnTo>
                <a:lnTo>
                  <a:pt x="0" y="0"/>
                </a:lnTo>
                <a:close/>
              </a:path>
            </a:pathLst>
          </a:custGeom>
          <a:solidFill>
            <a:srgbClr val="00B0F0"/>
          </a:solidFill>
          <a:ln/>
        </p:spPr>
      </p:sp>
      <p:sp>
        <p:nvSpPr>
          <p:cNvPr id="14" name="Text 11"/>
          <p:cNvSpPr/>
          <p:nvPr/>
        </p:nvSpPr>
        <p:spPr>
          <a:xfrm>
            <a:off x="6334125" y="8096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Safety System Logic</a:t>
            </a:r>
            <a:endParaRPr lang="en-US" sz="1600" dirty="0"/>
          </a:p>
        </p:txBody>
      </p:sp>
      <p:sp>
        <p:nvSpPr>
          <p:cNvPr id="15" name="Shape 12"/>
          <p:cNvSpPr/>
          <p:nvPr/>
        </p:nvSpPr>
        <p:spPr>
          <a:xfrm>
            <a:off x="6350000" y="1127125"/>
            <a:ext cx="5524500" cy="579438"/>
          </a:xfrm>
          <a:custGeom>
            <a:avLst/>
            <a:gdLst/>
            <a:ahLst/>
            <a:cxnLst/>
            <a:rect l="l" t="t" r="r" b="b"/>
            <a:pathLst>
              <a:path w="5524500" h="579438">
                <a:moveTo>
                  <a:pt x="31747" y="0"/>
                </a:moveTo>
                <a:lnTo>
                  <a:pt x="5492753" y="0"/>
                </a:lnTo>
                <a:cubicBezTo>
                  <a:pt x="5510286" y="0"/>
                  <a:pt x="5524500" y="14214"/>
                  <a:pt x="5524500" y="31747"/>
                </a:cubicBezTo>
                <a:lnTo>
                  <a:pt x="5524500" y="547690"/>
                </a:lnTo>
                <a:cubicBezTo>
                  <a:pt x="5524500" y="565224"/>
                  <a:pt x="5510286" y="579437"/>
                  <a:pt x="5492753" y="579438"/>
                </a:cubicBezTo>
                <a:lnTo>
                  <a:pt x="31747" y="579438"/>
                </a:lnTo>
                <a:cubicBezTo>
                  <a:pt x="14214" y="579438"/>
                  <a:pt x="0" y="565224"/>
                  <a:pt x="0" y="547690"/>
                </a:cubicBezTo>
                <a:lnTo>
                  <a:pt x="0" y="31747"/>
                </a:lnTo>
                <a:cubicBezTo>
                  <a:pt x="0" y="14214"/>
                  <a:pt x="14214" y="0"/>
                  <a:pt x="31747" y="0"/>
                </a:cubicBezTo>
                <a:close/>
              </a:path>
            </a:pathLst>
          </a:custGeom>
          <a:solidFill>
            <a:srgbClr val="F9FAFB"/>
          </a:solidFill>
          <a:ln/>
        </p:spPr>
      </p:sp>
      <p:sp>
        <p:nvSpPr>
          <p:cNvPr id="16" name="Shape 13"/>
          <p:cNvSpPr/>
          <p:nvPr/>
        </p:nvSpPr>
        <p:spPr>
          <a:xfrm>
            <a:off x="6350000" y="1127125"/>
            <a:ext cx="31750" cy="579438"/>
          </a:xfrm>
          <a:custGeom>
            <a:avLst/>
            <a:gdLst/>
            <a:ahLst/>
            <a:cxnLst/>
            <a:rect l="l" t="t" r="r" b="b"/>
            <a:pathLst>
              <a:path w="31750" h="579438">
                <a:moveTo>
                  <a:pt x="31750" y="0"/>
                </a:moveTo>
                <a:lnTo>
                  <a:pt x="31750" y="0"/>
                </a:lnTo>
                <a:lnTo>
                  <a:pt x="31750" y="579438"/>
                </a:lnTo>
                <a:lnTo>
                  <a:pt x="31750" y="579438"/>
                </a:lnTo>
                <a:cubicBezTo>
                  <a:pt x="14227" y="579438"/>
                  <a:pt x="0" y="565211"/>
                  <a:pt x="0" y="547688"/>
                </a:cubicBezTo>
                <a:lnTo>
                  <a:pt x="0" y="31750"/>
                </a:lnTo>
                <a:cubicBezTo>
                  <a:pt x="0" y="14227"/>
                  <a:pt x="14227" y="0"/>
                  <a:pt x="31750" y="0"/>
                </a:cubicBezTo>
                <a:close/>
              </a:path>
            </a:pathLst>
          </a:custGeom>
          <a:solidFill>
            <a:srgbClr val="FFC000"/>
          </a:solidFill>
          <a:ln/>
        </p:spPr>
      </p:sp>
      <p:sp>
        <p:nvSpPr>
          <p:cNvPr id="17" name="Shape 14"/>
          <p:cNvSpPr/>
          <p:nvPr/>
        </p:nvSpPr>
        <p:spPr>
          <a:xfrm>
            <a:off x="6484938" y="1235076"/>
            <a:ext cx="111125" cy="127000"/>
          </a:xfrm>
          <a:custGeom>
            <a:avLst/>
            <a:gdLst/>
            <a:ahLst/>
            <a:cxn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8B0000"/>
          </a:solidFill>
          <a:ln/>
        </p:spPr>
      </p:sp>
      <p:sp>
        <p:nvSpPr>
          <p:cNvPr id="18" name="Text 15"/>
          <p:cNvSpPr/>
          <p:nvPr/>
        </p:nvSpPr>
        <p:spPr>
          <a:xfrm>
            <a:off x="6659563" y="1222375"/>
            <a:ext cx="51831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Fire Detection</a:t>
            </a:r>
            <a:endParaRPr lang="en-US" sz="1600" dirty="0"/>
          </a:p>
        </p:txBody>
      </p:sp>
      <p:sp>
        <p:nvSpPr>
          <p:cNvPr id="19" name="Text 16"/>
          <p:cNvSpPr/>
          <p:nvPr/>
        </p:nvSpPr>
        <p:spPr>
          <a:xfrm>
            <a:off x="6461125" y="1444625"/>
            <a:ext cx="5373688" cy="166688"/>
          </a:xfrm>
          <a:prstGeom prst="rect">
            <a:avLst/>
          </a:prstGeom>
          <a:noFill/>
          <a:ln/>
        </p:spPr>
        <p:txBody>
          <a:bodyPr wrap="square" lIns="0" tIns="0" rIns="0" bIns="0" rtlCol="0" anchor="ctr"/>
          <a:lstStyle/>
          <a:p>
            <a:pPr>
              <a:lnSpc>
                <a:spcPct val="120000"/>
              </a:lnSpc>
            </a:pPr>
            <a:r>
              <a:rPr lang="en-US" sz="875" dirty="0">
                <a:solidFill>
                  <a:srgbClr val="1F2937"/>
                </a:solidFill>
                <a:latin typeface="Sorts Mill Goudy" pitchFamily="34" charset="0"/>
                <a:ea typeface="Sorts Mill Goudy" pitchFamily="34" charset="-122"/>
                <a:cs typeface="Sorts Mill Goudy" pitchFamily="34" charset="-120"/>
              </a:rPr>
              <a:t>Flame sensor on </a:t>
            </a:r>
            <a:r>
              <a:rPr lang="en-US" sz="875" dirty="0">
                <a:solidFill>
                  <a:srgbClr val="1F2937"/>
                </a:solidFill>
                <a:highlight>
                  <a:srgbClr val="FFFFFF">
                    <a:alpha val="100000"/>
                  </a:srgbClr>
                </a:highlight>
                <a:latin typeface="MiSans" pitchFamily="34" charset="0"/>
                <a:ea typeface="MiSans" pitchFamily="34" charset="-122"/>
                <a:cs typeface="MiSans" pitchFamily="34" charset="-120"/>
              </a:rPr>
              <a:t>Pin 4 </a:t>
            </a:r>
            <a:r>
              <a:rPr lang="en-US" sz="875" dirty="0">
                <a:solidFill>
                  <a:srgbClr val="1F2937"/>
                </a:solidFill>
                <a:latin typeface="Sorts Mill Goudy" pitchFamily="34" charset="0"/>
                <a:ea typeface="Sorts Mill Goudy" pitchFamily="34" charset="-122"/>
                <a:cs typeface="Sorts Mill Goudy" pitchFamily="34" charset="-120"/>
              </a:rPr>
              <a:t>detects hazards and triggers alerts every </a:t>
            </a:r>
            <a:r>
              <a:rPr lang="en-US" sz="875" b="1" dirty="0">
                <a:solidFill>
                  <a:srgbClr val="1F2937"/>
                </a:solidFill>
                <a:latin typeface="Sorts Mill Goudy" pitchFamily="34" charset="0"/>
                <a:ea typeface="Sorts Mill Goudy" pitchFamily="34" charset="-122"/>
                <a:cs typeface="Sorts Mill Goudy" pitchFamily="34" charset="-120"/>
              </a:rPr>
              <a:t>1000ms</a:t>
            </a:r>
            <a:r>
              <a:rPr lang="en-US" sz="875" dirty="0">
                <a:solidFill>
                  <a:srgbClr val="1F2937"/>
                </a:solidFill>
                <a:latin typeface="Sorts Mill Goudy" pitchFamily="34" charset="0"/>
                <a:ea typeface="Sorts Mill Goudy" pitchFamily="34" charset="-122"/>
                <a:cs typeface="Sorts Mill Goudy" pitchFamily="34" charset="-120"/>
              </a:rPr>
              <a:t>.</a:t>
            </a:r>
            <a:endParaRPr lang="en-US" sz="1600" dirty="0"/>
          </a:p>
        </p:txBody>
      </p:sp>
      <p:sp>
        <p:nvSpPr>
          <p:cNvPr id="20" name="Shape 17"/>
          <p:cNvSpPr/>
          <p:nvPr/>
        </p:nvSpPr>
        <p:spPr>
          <a:xfrm>
            <a:off x="6350000" y="1800225"/>
            <a:ext cx="5524500" cy="793750"/>
          </a:xfrm>
          <a:custGeom>
            <a:avLst/>
            <a:gdLst/>
            <a:ahLst/>
            <a:cxnLst/>
            <a:rect l="l" t="t" r="r" b="b"/>
            <a:pathLst>
              <a:path w="5524500" h="793750">
                <a:moveTo>
                  <a:pt x="31750" y="0"/>
                </a:moveTo>
                <a:lnTo>
                  <a:pt x="5492750" y="0"/>
                </a:lnTo>
                <a:cubicBezTo>
                  <a:pt x="5510273" y="0"/>
                  <a:pt x="5524500" y="14227"/>
                  <a:pt x="5524500" y="31750"/>
                </a:cubicBezTo>
                <a:lnTo>
                  <a:pt x="5524500" y="762000"/>
                </a:lnTo>
                <a:cubicBezTo>
                  <a:pt x="5524500" y="779523"/>
                  <a:pt x="5510273" y="793750"/>
                  <a:pt x="5492750" y="793750"/>
                </a:cubicBezTo>
                <a:lnTo>
                  <a:pt x="31750" y="793750"/>
                </a:lnTo>
                <a:cubicBezTo>
                  <a:pt x="14227" y="793750"/>
                  <a:pt x="0" y="779523"/>
                  <a:pt x="0" y="762000"/>
                </a:cubicBezTo>
                <a:lnTo>
                  <a:pt x="0" y="31750"/>
                </a:lnTo>
                <a:cubicBezTo>
                  <a:pt x="0" y="14227"/>
                  <a:pt x="14227" y="0"/>
                  <a:pt x="31750" y="0"/>
                </a:cubicBezTo>
                <a:close/>
              </a:path>
            </a:pathLst>
          </a:custGeom>
          <a:solidFill>
            <a:srgbClr val="F9FAFB"/>
          </a:solidFill>
          <a:ln/>
        </p:spPr>
      </p:sp>
      <p:sp>
        <p:nvSpPr>
          <p:cNvPr id="21" name="Shape 18"/>
          <p:cNvSpPr/>
          <p:nvPr/>
        </p:nvSpPr>
        <p:spPr>
          <a:xfrm>
            <a:off x="6350000" y="1800225"/>
            <a:ext cx="31750" cy="793750"/>
          </a:xfrm>
          <a:custGeom>
            <a:avLst/>
            <a:gdLst/>
            <a:ahLst/>
            <a:cxnLst/>
            <a:rect l="l" t="t" r="r" b="b"/>
            <a:pathLst>
              <a:path w="31750" h="793750">
                <a:moveTo>
                  <a:pt x="31750" y="0"/>
                </a:moveTo>
                <a:lnTo>
                  <a:pt x="31750" y="0"/>
                </a:lnTo>
                <a:lnTo>
                  <a:pt x="31750" y="793750"/>
                </a:lnTo>
                <a:lnTo>
                  <a:pt x="31750" y="793750"/>
                </a:lnTo>
                <a:cubicBezTo>
                  <a:pt x="14227" y="793750"/>
                  <a:pt x="0" y="779523"/>
                  <a:pt x="0" y="762000"/>
                </a:cubicBezTo>
                <a:lnTo>
                  <a:pt x="0" y="31750"/>
                </a:lnTo>
                <a:cubicBezTo>
                  <a:pt x="0" y="14227"/>
                  <a:pt x="14227" y="0"/>
                  <a:pt x="31750" y="0"/>
                </a:cubicBezTo>
                <a:close/>
              </a:path>
            </a:pathLst>
          </a:custGeom>
          <a:solidFill>
            <a:srgbClr val="00B050"/>
          </a:solidFill>
          <a:ln/>
        </p:spPr>
      </p:sp>
      <p:sp>
        <p:nvSpPr>
          <p:cNvPr id="22" name="Shape 19"/>
          <p:cNvSpPr/>
          <p:nvPr/>
        </p:nvSpPr>
        <p:spPr>
          <a:xfrm>
            <a:off x="6461125" y="1908176"/>
            <a:ext cx="158750" cy="127000"/>
          </a:xfrm>
          <a:custGeom>
            <a:avLst/>
            <a:gdLst/>
            <a:ahLst/>
            <a:cxnLst/>
            <a:rect l="l" t="t" r="r" b="b"/>
            <a:pathLst>
              <a:path w="158750" h="127000">
                <a:moveTo>
                  <a:pt x="33734" y="31750"/>
                </a:moveTo>
                <a:cubicBezTo>
                  <a:pt x="33734" y="15322"/>
                  <a:pt x="47072" y="1984"/>
                  <a:pt x="63500" y="1984"/>
                </a:cubicBezTo>
                <a:cubicBezTo>
                  <a:pt x="79928" y="1984"/>
                  <a:pt x="93266" y="15322"/>
                  <a:pt x="93266" y="31750"/>
                </a:cubicBezTo>
                <a:cubicBezTo>
                  <a:pt x="93266" y="48178"/>
                  <a:pt x="79928" y="61516"/>
                  <a:pt x="63500" y="61516"/>
                </a:cubicBezTo>
                <a:cubicBezTo>
                  <a:pt x="47072" y="61516"/>
                  <a:pt x="33734" y="48178"/>
                  <a:pt x="33734" y="31750"/>
                </a:cubicBezTo>
                <a:close/>
                <a:moveTo>
                  <a:pt x="11906" y="119633"/>
                </a:moveTo>
                <a:cubicBezTo>
                  <a:pt x="11906" y="95200"/>
                  <a:pt x="31700" y="75406"/>
                  <a:pt x="56133" y="75406"/>
                </a:cubicBezTo>
                <a:lnTo>
                  <a:pt x="70867" y="75406"/>
                </a:lnTo>
                <a:cubicBezTo>
                  <a:pt x="95300" y="75406"/>
                  <a:pt x="115094" y="95200"/>
                  <a:pt x="115094" y="119633"/>
                </a:cubicBezTo>
                <a:cubicBezTo>
                  <a:pt x="115094" y="123701"/>
                  <a:pt x="111795" y="127000"/>
                  <a:pt x="107727" y="127000"/>
                </a:cubicBezTo>
                <a:lnTo>
                  <a:pt x="19273" y="127000"/>
                </a:lnTo>
                <a:cubicBezTo>
                  <a:pt x="15205" y="127000"/>
                  <a:pt x="11906" y="123701"/>
                  <a:pt x="11906" y="119633"/>
                </a:cubicBezTo>
                <a:close/>
                <a:moveTo>
                  <a:pt x="151904" y="32916"/>
                </a:moveTo>
                <a:lnTo>
                  <a:pt x="132060" y="64666"/>
                </a:lnTo>
                <a:cubicBezTo>
                  <a:pt x="131018" y="66328"/>
                  <a:pt x="129232" y="67370"/>
                  <a:pt x="127273" y="67469"/>
                </a:cubicBezTo>
                <a:cubicBezTo>
                  <a:pt x="125313" y="67568"/>
                  <a:pt x="123428" y="66675"/>
                  <a:pt x="122262" y="65088"/>
                </a:cubicBezTo>
                <a:lnTo>
                  <a:pt x="110356" y="49212"/>
                </a:lnTo>
                <a:cubicBezTo>
                  <a:pt x="108372" y="46583"/>
                  <a:pt x="108917" y="42863"/>
                  <a:pt x="111547" y="40878"/>
                </a:cubicBezTo>
                <a:cubicBezTo>
                  <a:pt x="114176" y="38894"/>
                  <a:pt x="117897" y="39439"/>
                  <a:pt x="119881" y="42069"/>
                </a:cubicBezTo>
                <a:lnTo>
                  <a:pt x="126578" y="50998"/>
                </a:lnTo>
                <a:lnTo>
                  <a:pt x="141808" y="26615"/>
                </a:lnTo>
                <a:cubicBezTo>
                  <a:pt x="143545" y="23837"/>
                  <a:pt x="147216" y="22969"/>
                  <a:pt x="150019" y="24730"/>
                </a:cubicBezTo>
                <a:cubicBezTo>
                  <a:pt x="152822" y="26491"/>
                  <a:pt x="153665" y="30138"/>
                  <a:pt x="151904" y="32941"/>
                </a:cubicBezTo>
                <a:close/>
              </a:path>
            </a:pathLst>
          </a:custGeom>
          <a:solidFill>
            <a:srgbClr val="8B0000"/>
          </a:solidFill>
          <a:ln/>
        </p:spPr>
      </p:sp>
      <p:sp>
        <p:nvSpPr>
          <p:cNvPr id="23" name="Text 20"/>
          <p:cNvSpPr/>
          <p:nvPr/>
        </p:nvSpPr>
        <p:spPr>
          <a:xfrm>
            <a:off x="6659563" y="1895475"/>
            <a:ext cx="51831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Human-in-the-Loop Verification</a:t>
            </a:r>
            <a:endParaRPr lang="en-US" sz="1600" dirty="0"/>
          </a:p>
        </p:txBody>
      </p:sp>
      <p:sp>
        <p:nvSpPr>
          <p:cNvPr id="24" name="Text 21"/>
          <p:cNvSpPr/>
          <p:nvPr/>
        </p:nvSpPr>
        <p:spPr>
          <a:xfrm>
            <a:off x="6461125" y="2149475"/>
            <a:ext cx="5373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ACK (Both Sensors):</a:t>
            </a:r>
            <a:r>
              <a:rPr lang="en-US" sz="875" dirty="0">
                <a:solidFill>
                  <a:srgbClr val="1F2937"/>
                </a:solidFill>
                <a:latin typeface="Sorts Mill Goudy" pitchFamily="34" charset="0"/>
                <a:ea typeface="Sorts Mill Goudy" pitchFamily="34" charset="-122"/>
                <a:cs typeface="Sorts Mill Goudy" pitchFamily="34" charset="-120"/>
              </a:rPr>
              <a:t> Confirms emergency, opens door, and sends Blynk notification</a:t>
            </a:r>
            <a:endParaRPr lang="en-US" sz="1600" dirty="0"/>
          </a:p>
        </p:txBody>
      </p:sp>
      <p:sp>
        <p:nvSpPr>
          <p:cNvPr id="25" name="Text 22"/>
          <p:cNvSpPr/>
          <p:nvPr/>
        </p:nvSpPr>
        <p:spPr>
          <a:xfrm>
            <a:off x="6461125" y="2339975"/>
            <a:ext cx="5373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STOP (One Sensor):</a:t>
            </a:r>
            <a:r>
              <a:rPr lang="en-US" sz="875" dirty="0">
                <a:solidFill>
                  <a:srgbClr val="1F2937"/>
                </a:solidFill>
                <a:latin typeface="Sorts Mill Goudy" pitchFamily="34" charset="0"/>
                <a:ea typeface="Sorts Mill Goudy" pitchFamily="34" charset="-122"/>
                <a:cs typeface="Sorts Mill Goudy" pitchFamily="34" charset="-120"/>
              </a:rPr>
              <a:t> False alarm cancellation</a:t>
            </a:r>
            <a:endParaRPr lang="en-US" sz="1600" dirty="0"/>
          </a:p>
        </p:txBody>
      </p:sp>
      <p:sp>
        <p:nvSpPr>
          <p:cNvPr id="26" name="Shape 23"/>
          <p:cNvSpPr/>
          <p:nvPr/>
        </p:nvSpPr>
        <p:spPr>
          <a:xfrm>
            <a:off x="6350000" y="2689225"/>
            <a:ext cx="5524500" cy="571500"/>
          </a:xfrm>
          <a:custGeom>
            <a:avLst/>
            <a:gdLst/>
            <a:ahLst/>
            <a:cxnLst/>
            <a:rect l="l" t="t" r="r" b="b"/>
            <a:pathLst>
              <a:path w="5524500" h="571500">
                <a:moveTo>
                  <a:pt x="31750" y="0"/>
                </a:moveTo>
                <a:lnTo>
                  <a:pt x="5492747" y="0"/>
                </a:lnTo>
                <a:cubicBezTo>
                  <a:pt x="5510284" y="0"/>
                  <a:pt x="5524500" y="14216"/>
                  <a:pt x="5524500" y="31753"/>
                </a:cubicBezTo>
                <a:lnTo>
                  <a:pt x="5524500" y="539747"/>
                </a:lnTo>
                <a:cubicBezTo>
                  <a:pt x="5524500" y="557284"/>
                  <a:pt x="5510284" y="571500"/>
                  <a:pt x="5492747" y="571500"/>
                </a:cubicBezTo>
                <a:lnTo>
                  <a:pt x="31750" y="571500"/>
                </a:lnTo>
                <a:cubicBezTo>
                  <a:pt x="14227" y="571500"/>
                  <a:pt x="0" y="557273"/>
                  <a:pt x="0" y="539750"/>
                </a:cubicBezTo>
                <a:lnTo>
                  <a:pt x="0" y="31750"/>
                </a:lnTo>
                <a:cubicBezTo>
                  <a:pt x="0" y="14227"/>
                  <a:pt x="14227" y="0"/>
                  <a:pt x="31750" y="0"/>
                </a:cubicBezTo>
                <a:close/>
              </a:path>
            </a:pathLst>
          </a:custGeom>
          <a:solidFill>
            <a:schemeClr val="accent4">
              <a:lumMod val="20000"/>
              <a:lumOff val="80000"/>
            </a:schemeClr>
          </a:solidFill>
          <a:ln/>
        </p:spPr>
      </p:sp>
      <p:sp>
        <p:nvSpPr>
          <p:cNvPr id="27" name="Shape 24"/>
          <p:cNvSpPr/>
          <p:nvPr/>
        </p:nvSpPr>
        <p:spPr>
          <a:xfrm>
            <a:off x="6350000" y="2689225"/>
            <a:ext cx="31750" cy="571500"/>
          </a:xfrm>
          <a:custGeom>
            <a:avLst/>
            <a:gdLst/>
            <a:ahLst/>
            <a:cxnLst/>
            <a:rect l="l" t="t" r="r" b="b"/>
            <a:pathLst>
              <a:path w="31750" h="571500">
                <a:moveTo>
                  <a:pt x="31750" y="0"/>
                </a:moveTo>
                <a:lnTo>
                  <a:pt x="31750" y="0"/>
                </a:lnTo>
                <a:lnTo>
                  <a:pt x="31750" y="571500"/>
                </a:lnTo>
                <a:lnTo>
                  <a:pt x="31750" y="571500"/>
                </a:lnTo>
                <a:cubicBezTo>
                  <a:pt x="14227" y="571500"/>
                  <a:pt x="0" y="557273"/>
                  <a:pt x="0" y="539750"/>
                </a:cubicBezTo>
                <a:lnTo>
                  <a:pt x="0" y="31750"/>
                </a:lnTo>
                <a:cubicBezTo>
                  <a:pt x="0" y="14227"/>
                  <a:pt x="14227" y="0"/>
                  <a:pt x="31750" y="0"/>
                </a:cubicBezTo>
                <a:close/>
              </a:path>
            </a:pathLst>
          </a:custGeom>
          <a:solidFill>
            <a:srgbClr val="FF0000"/>
          </a:solidFill>
          <a:ln/>
        </p:spPr>
      </p:sp>
      <p:sp>
        <p:nvSpPr>
          <p:cNvPr id="28" name="Shape 25"/>
          <p:cNvSpPr/>
          <p:nvPr/>
        </p:nvSpPr>
        <p:spPr>
          <a:xfrm>
            <a:off x="6477000" y="2797176"/>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002060"/>
          </a:solidFill>
          <a:ln/>
        </p:spPr>
      </p:sp>
      <p:sp>
        <p:nvSpPr>
          <p:cNvPr id="29" name="Text 26"/>
          <p:cNvSpPr/>
          <p:nvPr/>
        </p:nvSpPr>
        <p:spPr>
          <a:xfrm>
            <a:off x="6659563" y="2784475"/>
            <a:ext cx="51831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Validation</a:t>
            </a:r>
            <a:endParaRPr lang="en-US" sz="1600" dirty="0"/>
          </a:p>
        </p:txBody>
      </p:sp>
      <p:sp>
        <p:nvSpPr>
          <p:cNvPr id="30" name="Text 27"/>
          <p:cNvSpPr/>
          <p:nvPr/>
        </p:nvSpPr>
        <p:spPr>
          <a:xfrm>
            <a:off x="6461125" y="3006725"/>
            <a:ext cx="5373688" cy="158750"/>
          </a:xfrm>
          <a:prstGeom prst="rect">
            <a:avLst/>
          </a:prstGeom>
          <a:noFill/>
          <a:ln/>
        </p:spPr>
        <p:txBody>
          <a:bodyPr wrap="square" lIns="0" tIns="0" rIns="0" bIns="0" rtlCol="0" anchor="ctr"/>
          <a:lstStyle/>
          <a:p>
            <a:pPr>
              <a:lnSpc>
                <a:spcPct val="120000"/>
              </a:lnSpc>
            </a:pPr>
            <a:r>
              <a:rPr lang="en-US" sz="875" dirty="0">
                <a:solidFill>
                  <a:srgbClr val="1F2937"/>
                </a:solidFill>
                <a:latin typeface="Sorts Mill Goudy" pitchFamily="34" charset="0"/>
                <a:ea typeface="Sorts Mill Goudy" pitchFamily="34" charset="-122"/>
                <a:cs typeface="Sorts Mill Goudy" pitchFamily="34" charset="-120"/>
              </a:rPr>
              <a:t>User must hold sensor(s) for </a:t>
            </a:r>
            <a:r>
              <a:rPr lang="en-US" sz="875" b="1" dirty="0">
                <a:solidFill>
                  <a:srgbClr val="1F2937"/>
                </a:solidFill>
                <a:latin typeface="Sorts Mill Goudy" pitchFamily="34" charset="0"/>
                <a:ea typeface="Sorts Mill Goudy" pitchFamily="34" charset="-122"/>
                <a:cs typeface="Sorts Mill Goudy" pitchFamily="34" charset="-120"/>
              </a:rPr>
              <a:t>2000ms</a:t>
            </a:r>
            <a:r>
              <a:rPr lang="en-US" sz="875" dirty="0">
                <a:solidFill>
                  <a:srgbClr val="1F2937"/>
                </a:solidFill>
                <a:latin typeface="Sorts Mill Goudy" pitchFamily="34" charset="0"/>
                <a:ea typeface="Sorts Mill Goudy" pitchFamily="34" charset="-122"/>
                <a:cs typeface="Sorts Mill Goudy" pitchFamily="34" charset="-120"/>
              </a:rPr>
              <a:t> to prevent accidental triggers.</a:t>
            </a:r>
            <a:endParaRPr lang="en-US" sz="1600" dirty="0"/>
          </a:p>
        </p:txBody>
      </p:sp>
      <p:sp>
        <p:nvSpPr>
          <p:cNvPr id="31" name="Shape 28"/>
          <p:cNvSpPr/>
          <p:nvPr/>
        </p:nvSpPr>
        <p:spPr>
          <a:xfrm>
            <a:off x="6191249" y="3387726"/>
            <a:ext cx="45719" cy="3429000"/>
          </a:xfrm>
          <a:custGeom>
            <a:avLst/>
            <a:gdLst/>
            <a:ahLst/>
            <a:cxnLst/>
            <a:rect l="l" t="t" r="r" b="b"/>
            <a:pathLst>
              <a:path w="31750" h="4333875">
                <a:moveTo>
                  <a:pt x="0" y="0"/>
                </a:moveTo>
                <a:lnTo>
                  <a:pt x="31750" y="0"/>
                </a:lnTo>
                <a:lnTo>
                  <a:pt x="31750" y="4333875"/>
                </a:lnTo>
                <a:lnTo>
                  <a:pt x="0" y="4333875"/>
                </a:lnTo>
                <a:lnTo>
                  <a:pt x="0" y="0"/>
                </a:lnTo>
                <a:close/>
              </a:path>
            </a:pathLst>
          </a:custGeom>
          <a:solidFill>
            <a:srgbClr val="FFC000"/>
          </a:solidFill>
          <a:ln/>
        </p:spPr>
      </p:sp>
      <p:sp>
        <p:nvSpPr>
          <p:cNvPr id="32" name="Text 29"/>
          <p:cNvSpPr/>
          <p:nvPr/>
        </p:nvSpPr>
        <p:spPr>
          <a:xfrm>
            <a:off x="6334125" y="3387725"/>
            <a:ext cx="5619750"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Emergency Response Implementation</a:t>
            </a:r>
            <a:endParaRPr lang="en-US" sz="1600" dirty="0"/>
          </a:p>
        </p:txBody>
      </p:sp>
      <p:sp>
        <p:nvSpPr>
          <p:cNvPr id="33" name="Shape 30"/>
          <p:cNvSpPr/>
          <p:nvPr/>
        </p:nvSpPr>
        <p:spPr>
          <a:xfrm>
            <a:off x="6337300" y="3797338"/>
            <a:ext cx="5530850" cy="2273302"/>
          </a:xfrm>
          <a:custGeom>
            <a:avLst/>
            <a:gdLst/>
            <a:ahLst/>
            <a:cxnLst/>
            <a:rect l="l" t="t" r="r" b="b"/>
            <a:pathLst>
              <a:path w="5530850" h="3625850">
                <a:moveTo>
                  <a:pt x="31762" y="0"/>
                </a:moveTo>
                <a:lnTo>
                  <a:pt x="5499088" y="0"/>
                </a:lnTo>
                <a:cubicBezTo>
                  <a:pt x="5516629" y="0"/>
                  <a:pt x="5530850" y="14221"/>
                  <a:pt x="5530850" y="31762"/>
                </a:cubicBezTo>
                <a:lnTo>
                  <a:pt x="5530850" y="3594088"/>
                </a:lnTo>
                <a:cubicBezTo>
                  <a:pt x="5530850" y="3611629"/>
                  <a:pt x="5516629" y="3625850"/>
                  <a:pt x="5499088" y="3625850"/>
                </a:cubicBezTo>
                <a:lnTo>
                  <a:pt x="31762" y="3625850"/>
                </a:lnTo>
                <a:cubicBezTo>
                  <a:pt x="14221" y="3625850"/>
                  <a:pt x="0" y="3611629"/>
                  <a:pt x="0" y="3594088"/>
                </a:cubicBezTo>
                <a:lnTo>
                  <a:pt x="0" y="31762"/>
                </a:lnTo>
                <a:cubicBezTo>
                  <a:pt x="0" y="14232"/>
                  <a:pt x="14232" y="0"/>
                  <a:pt x="31762" y="0"/>
                </a:cubicBezTo>
                <a:close/>
              </a:path>
            </a:pathLst>
          </a:custGeom>
          <a:solidFill>
            <a:srgbClr val="F9FAFB"/>
          </a:solidFill>
          <a:ln w="10160">
            <a:solidFill>
              <a:srgbClr val="E5E7EB"/>
            </a:solidFill>
            <a:prstDash val="solid"/>
          </a:ln>
        </p:spPr>
      </p:sp>
      <p:sp>
        <p:nvSpPr>
          <p:cNvPr id="34" name="Text 31"/>
          <p:cNvSpPr/>
          <p:nvPr/>
        </p:nvSpPr>
        <p:spPr>
          <a:xfrm>
            <a:off x="6435725" y="3303626"/>
            <a:ext cx="5389563" cy="3429000"/>
          </a:xfrm>
          <a:prstGeom prst="rect">
            <a:avLst/>
          </a:prstGeom>
          <a:noFill/>
          <a:ln/>
        </p:spPr>
        <p:txBody>
          <a:bodyPr wrap="square" lIns="0" tIns="0" rIns="0" bIns="0" rtlCol="0" anchor="ctr"/>
          <a:lstStyle/>
          <a:p>
            <a:pPr>
              <a:lnSpc>
                <a:spcPct val="100000"/>
              </a:lnSpc>
            </a:pPr>
            <a:r>
              <a:rPr lang="en-US" sz="875" dirty="0">
                <a:solidFill>
                  <a:srgbClr val="6B7280"/>
                </a:solidFill>
                <a:latin typeface="MiSans" pitchFamily="34" charset="0"/>
                <a:ea typeface="MiSans" pitchFamily="34" charset="-122"/>
                <a:cs typeface="MiSans" pitchFamily="34" charset="-120"/>
              </a:rPr>
              <a:t>// Fire Detection Loop (Active HIGH)</a:t>
            </a:r>
            <a:r>
              <a:rPr lang="en-US" sz="875" dirty="0">
                <a:solidFill>
                  <a:srgbClr val="8B000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(digitalRead(FLAME_PIN) == HIGH)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8B000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(!fireActive)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fireActive = </a:t>
            </a:r>
            <a:r>
              <a:rPr lang="en-US" sz="875" dirty="0">
                <a:solidFill>
                  <a:srgbClr val="8B0000"/>
                </a:solidFill>
                <a:latin typeface="MiSans" pitchFamily="34" charset="0"/>
                <a:ea typeface="MiSans" pitchFamily="34" charset="-122"/>
                <a:cs typeface="MiSans" pitchFamily="34" charset="-120"/>
              </a:rPr>
              <a:t>true</a:t>
            </a:r>
            <a:r>
              <a:rPr lang="en-US" sz="875" dirty="0">
                <a:solidFill>
                  <a:srgbClr val="1F2937"/>
                </a:solidFill>
                <a:latin typeface="MiSans" pitchFamily="34" charset="0"/>
                <a:ea typeface="MiSans" pitchFamily="34" charset="-122"/>
                <a:cs typeface="MiSans" pitchFamily="34" charset="-120"/>
              </a:rPr>
              <a:t>;</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updateOled("!! FIRE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r>
              <a:rPr lang="en-US" sz="875" dirty="0">
                <a:solidFill>
                  <a:srgbClr val="8B000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(millis() - lastFireMsg &gt; 1000)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lastFireMsg = millis();</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activeClient.print('F'); </a:t>
            </a:r>
            <a:r>
              <a:rPr lang="en-US" sz="875" dirty="0">
                <a:solidFill>
                  <a:srgbClr val="6B7280"/>
                </a:solidFill>
                <a:latin typeface="MiSans" pitchFamily="34" charset="0"/>
                <a:ea typeface="MiSans" pitchFamily="34" charset="-122"/>
                <a:cs typeface="MiSans" pitchFamily="34" charset="-120"/>
              </a:rPr>
              <a:t>// Alert remote</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a:t>
            </a:r>
            <a:endParaRPr lang="en-US" sz="1600" dirty="0"/>
          </a:p>
          <a:p>
            <a:pPr>
              <a:lnSpc>
                <a:spcPct val="100000"/>
              </a:lnSpc>
            </a:pPr>
            <a:r>
              <a:rPr lang="en-US" sz="875" dirty="0">
                <a:solidFill>
                  <a:srgbClr val="6B7280"/>
                </a:solidFill>
                <a:latin typeface="MiSans" pitchFamily="34" charset="0"/>
                <a:ea typeface="MiSans" pitchFamily="34" charset="-122"/>
                <a:cs typeface="MiSans" pitchFamily="34" charset="-120"/>
              </a:rPr>
              <a:t>// ACK: Confirmed Emergency</a:t>
            </a:r>
            <a:r>
              <a:rPr lang="en-US" sz="875" dirty="0">
                <a:solidFill>
                  <a:srgbClr val="8B0000"/>
                </a:solidFill>
                <a:latin typeface="MiSans" pitchFamily="34" charset="0"/>
                <a:ea typeface="MiSans" pitchFamily="34" charset="-122"/>
                <a:cs typeface="MiSans" pitchFamily="34" charset="-120"/>
              </a:rPr>
              <a:t>if</a:t>
            </a:r>
            <a:r>
              <a:rPr lang="en-US" sz="875" dirty="0">
                <a:solidFill>
                  <a:srgbClr val="1F2937"/>
                </a:solidFill>
                <a:latin typeface="MiSans" pitchFamily="34" charset="0"/>
                <a:ea typeface="MiSans" pitchFamily="34" charset="-122"/>
                <a:cs typeface="MiSans" pitchFamily="34" charset="-120"/>
              </a:rPr>
              <a:t> (inputBuffer == "ACK")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fireActive = </a:t>
            </a:r>
            <a:r>
              <a:rPr lang="en-US" sz="875" dirty="0">
                <a:solidFill>
                  <a:srgbClr val="8B0000"/>
                </a:solidFill>
                <a:latin typeface="MiSans" pitchFamily="34" charset="0"/>
                <a:ea typeface="MiSans" pitchFamily="34" charset="-122"/>
                <a:cs typeface="MiSans" pitchFamily="34" charset="-120"/>
              </a:rPr>
              <a:t>false</a:t>
            </a:r>
            <a:r>
              <a:rPr lang="en-US" sz="875" dirty="0">
                <a:solidFill>
                  <a:srgbClr val="1F2937"/>
                </a:solidFill>
                <a:latin typeface="MiSans" pitchFamily="34" charset="0"/>
                <a:ea typeface="MiSans" pitchFamily="34" charset="-122"/>
                <a:cs typeface="MiSans" pitchFamily="34" charset="-120"/>
              </a:rPr>
              <a:t>;</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doorServo.write(90); </a:t>
            </a:r>
            <a:r>
              <a:rPr lang="en-US" sz="875" dirty="0">
                <a:solidFill>
                  <a:srgbClr val="6B7280"/>
                </a:solidFill>
                <a:latin typeface="MiSans" pitchFamily="34" charset="0"/>
                <a:ea typeface="MiSans" pitchFamily="34" charset="-122"/>
                <a:cs typeface="MiSans" pitchFamily="34" charset="-120"/>
              </a:rPr>
              <a:t>// Open door</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Blynk.logEvent("fire_alert", </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    "Fire Alarm Confirmed!");</a:t>
            </a:r>
            <a:endParaRPr lang="en-US" sz="1600" dirty="0"/>
          </a:p>
          <a:p>
            <a:pPr>
              <a:lnSpc>
                <a:spcPct val="100000"/>
              </a:lnSpc>
            </a:pPr>
            <a:r>
              <a:rPr lang="en-US" sz="875" dirty="0">
                <a:solidFill>
                  <a:srgbClr val="1F2937"/>
                </a:solidFill>
                <a:latin typeface="MiSans" pitchFamily="34" charset="0"/>
                <a:ea typeface="MiSans" pitchFamily="34" charset="-122"/>
                <a:cs typeface="MiSans" pitchFamily="34" charset="-120"/>
              </a:rPr>
              <a:t>}</a:t>
            </a:r>
            <a:endParaRPr lang="en-US" sz="1600" dirty="0"/>
          </a:p>
        </p:txBody>
      </p:sp>
      <p:sp>
        <p:nvSpPr>
          <p:cNvPr id="35" name="Shape 32"/>
          <p:cNvSpPr/>
          <p:nvPr/>
        </p:nvSpPr>
        <p:spPr>
          <a:xfrm>
            <a:off x="6365875" y="6241104"/>
            <a:ext cx="5540375" cy="442361"/>
          </a:xfrm>
          <a:custGeom>
            <a:avLst/>
            <a:gdLst/>
            <a:ahLst/>
            <a:cxnLst/>
            <a:rect l="l" t="t" r="r" b="b"/>
            <a:pathLst>
              <a:path w="5540375" h="285750">
                <a:moveTo>
                  <a:pt x="31750" y="0"/>
                </a:moveTo>
                <a:lnTo>
                  <a:pt x="5508625" y="0"/>
                </a:lnTo>
                <a:cubicBezTo>
                  <a:pt x="5526160" y="0"/>
                  <a:pt x="5540375" y="14215"/>
                  <a:pt x="5540375" y="31750"/>
                </a:cubicBezTo>
                <a:lnTo>
                  <a:pt x="5540375" y="254000"/>
                </a:lnTo>
                <a:cubicBezTo>
                  <a:pt x="5540375" y="271535"/>
                  <a:pt x="5526160" y="285750"/>
                  <a:pt x="5508625" y="285750"/>
                </a:cubicBezTo>
                <a:lnTo>
                  <a:pt x="31750" y="285750"/>
                </a:lnTo>
                <a:cubicBezTo>
                  <a:pt x="14215" y="285750"/>
                  <a:pt x="0" y="271535"/>
                  <a:pt x="0" y="254000"/>
                </a:cubicBezTo>
                <a:lnTo>
                  <a:pt x="0" y="31750"/>
                </a:lnTo>
                <a:cubicBezTo>
                  <a:pt x="0" y="14227"/>
                  <a:pt x="14227" y="0"/>
                  <a:pt x="31750" y="0"/>
                </a:cubicBezTo>
                <a:close/>
              </a:path>
            </a:pathLst>
          </a:custGeom>
          <a:solidFill>
            <a:srgbClr val="F9FAFB"/>
          </a:solidFill>
          <a:ln/>
        </p:spPr>
        <p:txBody>
          <a:bodyPr/>
          <a:lstStyle/>
          <a:p>
            <a:endParaRPr lang="en-IN" dirty="0"/>
          </a:p>
        </p:txBody>
      </p:sp>
      <p:sp>
        <p:nvSpPr>
          <p:cNvPr id="36" name="Text 33"/>
          <p:cNvSpPr/>
          <p:nvPr/>
        </p:nvSpPr>
        <p:spPr>
          <a:xfrm>
            <a:off x="6397625" y="6328120"/>
            <a:ext cx="5468938" cy="330306"/>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Password Logic ("1010"):</a:t>
            </a:r>
            <a:r>
              <a:rPr lang="en-US" sz="875" dirty="0">
                <a:solidFill>
                  <a:srgbClr val="1F2937"/>
                </a:solidFill>
                <a:latin typeface="Sorts Mill Goudy" pitchFamily="34" charset="0"/>
                <a:ea typeface="Sorts Mill Goudy" pitchFamily="34" charset="-122"/>
                <a:cs typeface="Sorts Mill Goudy" pitchFamily="34" charset="-120"/>
              </a:rPr>
              <a:t>  Touch + button → “</a:t>
            </a:r>
            <a:r>
              <a:rPr lang="en-US" sz="875" dirty="0">
                <a:solidFill>
                  <a:srgbClr val="1F2937"/>
                </a:solidFill>
                <a:latin typeface="+mj-lt"/>
                <a:ea typeface="Sorts Mill Goudy" pitchFamily="34" charset="-122"/>
                <a:cs typeface="Sorts Mill Goudy" pitchFamily="34" charset="-120"/>
              </a:rPr>
              <a:t>1</a:t>
            </a:r>
            <a:r>
              <a:rPr lang="en-US" sz="875" dirty="0">
                <a:solidFill>
                  <a:srgbClr val="1F2937"/>
                </a:solidFill>
                <a:latin typeface="Sorts Mill Goudy" pitchFamily="34" charset="0"/>
                <a:ea typeface="Sorts Mill Goudy" pitchFamily="34" charset="-122"/>
                <a:cs typeface="Sorts Mill Goudy" pitchFamily="34" charset="-120"/>
              </a:rPr>
              <a:t>” otherwise “</a:t>
            </a:r>
            <a:r>
              <a:rPr lang="en-US" sz="875" dirty="0">
                <a:solidFill>
                  <a:srgbClr val="1F2937"/>
                </a:solidFill>
                <a:latin typeface="+mj-lt"/>
                <a:ea typeface="Sorts Mill Goudy" pitchFamily="34" charset="-122"/>
                <a:cs typeface="Sorts Mill Goudy" pitchFamily="34" charset="-120"/>
              </a:rPr>
              <a:t>0</a:t>
            </a:r>
            <a:r>
              <a:rPr lang="en-US" sz="875" dirty="0">
                <a:solidFill>
                  <a:srgbClr val="1F2937"/>
                </a:solidFill>
                <a:latin typeface="Sorts Mill Goudy" pitchFamily="34" charset="0"/>
                <a:ea typeface="Sorts Mill Goudy" pitchFamily="34" charset="-122"/>
                <a:cs typeface="Sorts Mill Goudy" pitchFamily="34" charset="-120"/>
              </a:rPr>
              <a:t>”2-second hold on the button clears the input while long touch on touch sensor submits the password. </a:t>
            </a:r>
            <a:endParaRPr lang="en-US" sz="1600" dirty="0"/>
          </a:p>
        </p:txBody>
      </p:sp>
      <p:sp>
        <p:nvSpPr>
          <p:cNvPr id="37" name="Shape 34"/>
          <p:cNvSpPr/>
          <p:nvPr/>
        </p:nvSpPr>
        <p:spPr>
          <a:xfrm>
            <a:off x="317500" y="7818836"/>
            <a:ext cx="11557000" cy="6350"/>
          </a:xfrm>
          <a:custGeom>
            <a:avLst/>
            <a:gdLst/>
            <a:ahLst/>
            <a:cxnLst/>
            <a:rect l="l" t="t" r="r" b="b"/>
            <a:pathLst>
              <a:path w="11557000" h="6350">
                <a:moveTo>
                  <a:pt x="0" y="0"/>
                </a:moveTo>
                <a:lnTo>
                  <a:pt x="11557000" y="0"/>
                </a:lnTo>
                <a:lnTo>
                  <a:pt x="11557000" y="6350"/>
                </a:lnTo>
                <a:lnTo>
                  <a:pt x="0" y="6350"/>
                </a:lnTo>
                <a:lnTo>
                  <a:pt x="0" y="0"/>
                </a:lnTo>
                <a:close/>
              </a:path>
            </a:pathLst>
          </a:custGeom>
          <a:solidFill>
            <a:srgbClr val="E5E7EB"/>
          </a:solidFill>
          <a:ln/>
        </p:spPr>
      </p:sp>
      <p:sp>
        <p:nvSpPr>
          <p:cNvPr id="38" name="Text 35"/>
          <p:cNvSpPr/>
          <p:nvPr/>
        </p:nvSpPr>
        <p:spPr>
          <a:xfrm>
            <a:off x="317500" y="7885509"/>
            <a:ext cx="2992438" cy="158750"/>
          </a:xfrm>
          <a:prstGeom prst="rect">
            <a:avLst/>
          </a:prstGeom>
          <a:noFill/>
          <a:ln/>
        </p:spPr>
        <p:txBody>
          <a:bodyPr wrap="square" lIns="0" tIns="0" rIns="0" bIns="0" rtlCol="0" anchor="ctr"/>
          <a:lstStyle/>
          <a:p>
            <a:pPr>
              <a:lnSpc>
                <a:spcPct val="120000"/>
              </a:lnSpc>
            </a:pPr>
            <a:r>
              <a:rPr lang="en-US" sz="875" b="1" dirty="0">
                <a:solidFill>
                  <a:srgbClr val="6B7280"/>
                </a:solidFill>
                <a:latin typeface="Sorts Mill Goudy" pitchFamily="34" charset="0"/>
                <a:ea typeface="Sorts Mill Goudy" pitchFamily="34" charset="-122"/>
                <a:cs typeface="Sorts Mill Goudy" pitchFamily="34" charset="-120"/>
              </a:rPr>
              <a:t>Table 10:</a:t>
            </a:r>
            <a:r>
              <a:rPr lang="en-US" sz="875" dirty="0">
                <a:solidFill>
                  <a:srgbClr val="6B7280"/>
                </a:solidFill>
                <a:latin typeface="Sorts Mill Goudy" pitchFamily="34" charset="0"/>
                <a:ea typeface="Sorts Mill Goudy" pitchFamily="34" charset="-122"/>
                <a:cs typeface="Sorts Mill Goudy" pitchFamily="34" charset="-120"/>
              </a:rPr>
              <a:t> Blynk IoT integration and safety system architecture</a:t>
            </a:r>
            <a:endParaRPr lang="en-US" sz="1600" dirty="0"/>
          </a:p>
        </p:txBody>
      </p:sp>
      <p:sp>
        <p:nvSpPr>
          <p:cNvPr id="39" name="Text 36"/>
          <p:cNvSpPr/>
          <p:nvPr/>
        </p:nvSpPr>
        <p:spPr>
          <a:xfrm>
            <a:off x="10118031" y="7885509"/>
            <a:ext cx="1809750"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Sorts Mill Goudy" pitchFamily="34" charset="0"/>
                <a:ea typeface="Sorts Mill Goudy" pitchFamily="34" charset="-122"/>
                <a:cs typeface="Sorts Mill Goudy" pitchFamily="34" charset="-120"/>
              </a:rPr>
              <a:t>Braille-Based IoT Home Automation</a:t>
            </a:r>
            <a:endParaRPr lang="en-US" sz="1600" dirty="0"/>
          </a:p>
        </p:txBody>
      </p:sp>
      <p:sp>
        <p:nvSpPr>
          <p:cNvPr id="41" name="Rectangle: Rounded Corners 40">
            <a:extLst>
              <a:ext uri="{FF2B5EF4-FFF2-40B4-BE49-F238E27FC236}">
                <a16:creationId xmlns:a16="http://schemas.microsoft.com/office/drawing/2014/main" id="{E36C31CD-3F67-9CD4-DEDF-ABB3E927C2FD}"/>
              </a:ext>
            </a:extLst>
          </p:cNvPr>
          <p:cNvSpPr/>
          <p:nvPr/>
        </p:nvSpPr>
        <p:spPr>
          <a:xfrm>
            <a:off x="4133755" y="3126141"/>
            <a:ext cx="1757195" cy="3371940"/>
          </a:xfrm>
          <a:prstGeom prst="roundRect">
            <a:avLst>
              <a:gd name="adj" fmla="val 1280"/>
            </a:avLst>
          </a:prstGeom>
          <a:blipFill dpi="0" rotWithShape="1">
            <a:blip r:embed="rId3">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1749</Words>
  <Application>Microsoft Office PowerPoint</Application>
  <PresentationFormat>Custom</PresentationFormat>
  <Paragraphs>280</Paragraphs>
  <Slides>10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Sorts Mill Goudy</vt:lpstr>
      <vt:lpstr>微软雅黑</vt:lpstr>
      <vt:lpstr>Times New Roman</vt:lpstr>
      <vt:lpstr>MiSans</vt:lpstr>
      <vt:lpstr>Custom Theme</vt:lpstr>
      <vt:lpstr>PowerPoint Presentation</vt:lpstr>
      <vt:lpstr>PowerPoint Presentation</vt:lpstr>
      <vt:lpstr>PowerPoint Presentation</vt:lpstr>
      <vt:lpstr>PowerPoint Presentation</vt:lpstr>
      <vt:lpstr>PowerPoint Presentation</vt:lpstr>
      <vt:lpstr>Flow chart</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Braille-Based IoT Home Automation - Technical Slides</dc:title>
  <dc:subject>Braille-Based IoT Home Automation - Technical Slides</dc:subject>
  <dc:creator>Kimi</dc:creator>
  <cp:lastModifiedBy>N SRINIVASRAO</cp:lastModifiedBy>
  <cp:revision>4</cp:revision>
  <dcterms:created xsi:type="dcterms:W3CDTF">2026-02-05T16:59:27Z</dcterms:created>
  <dcterms:modified xsi:type="dcterms:W3CDTF">2026-02-05T17:42:55Z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{"Label":"Braille-Based IoT Home Automation - Technical Slides","ContentProducer":"001191110108MACG2KBH8F10000","ProduceID":"19c2ebc4-7012-81a2-8000-00001bee9e3e","ReservedCode1":"","ContentPropagator":"001191110108MACG2KBH8F20000","PropagateID":"19c2ebc4-7012-81a2-8000-00001bee9e3e","ReservedCode2":""}</vt:lpwstr>
  </property>
</Properties>
</file>