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71" r:id="rId3"/>
    <p:sldId id="272" r:id="rId4"/>
    <p:sldId id="273" r:id="rId5"/>
    <p:sldId id="274" r:id="rId6"/>
    <p:sldId id="275"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p:notesSz cx="6858000" cy="12192000"/>
  <p:embeddedFontLst>
    <p:embeddedFont>
      <p:font typeface="微软雅黑" panose="020B0503020204020204" pitchFamily="34" charset="-122"/>
      <p:regular r:id="rId23"/>
      <p:bold r:id="rId24"/>
    </p:embeddedFont>
    <p:embeddedFont>
      <p:font typeface="MiSans" panose="020B0604020202020204" charset="-122"/>
      <p:regular r:id="rId25"/>
    </p:embeddedFont>
    <p:embeddedFont>
      <p:font typeface="Liter"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500"/>
    <a:srgbClr val="2083E7"/>
    <a:srgbClr val="34C759"/>
    <a:srgbClr val="B6EBC3"/>
    <a:srgbClr val="6C6C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4610"/>
  </p:normalViewPr>
  <p:slideViewPr>
    <p:cSldViewPr snapToGrid="0" snapToObjects="1">
      <p:cViewPr varScale="1">
        <p:scale>
          <a:sx n="78" d="100"/>
          <a:sy n="78" d="100"/>
        </p:scale>
        <p:origin x="38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 SRINIVASRAO" userId="e4f6f2814eeb4795" providerId="LiveId" clId="{05A08CEC-94E1-415A-B6BD-F1840C55E903}"/>
    <pc:docChg chg="undo custSel modSld">
      <pc:chgData name="N SRINIVASRAO" userId="e4f6f2814eeb4795" providerId="LiveId" clId="{05A08CEC-94E1-415A-B6BD-F1840C55E903}" dt="2026-02-05T15:52:58.158" v="103" actId="1035"/>
      <pc:docMkLst>
        <pc:docMk/>
      </pc:docMkLst>
      <pc:sldChg chg="modSp mod">
        <pc:chgData name="N SRINIVASRAO" userId="e4f6f2814eeb4795" providerId="LiveId" clId="{05A08CEC-94E1-415A-B6BD-F1840C55E903}" dt="2026-02-05T15:52:58.158" v="103" actId="1035"/>
        <pc:sldMkLst>
          <pc:docMk/>
          <pc:sldMk cId="3433759497" sldId="275"/>
        </pc:sldMkLst>
        <pc:spChg chg="mod">
          <ac:chgData name="N SRINIVASRAO" userId="e4f6f2814eeb4795" providerId="LiveId" clId="{05A08CEC-94E1-415A-B6BD-F1840C55E903}" dt="2026-02-05T15:31:41.058" v="4" actId="208"/>
          <ac:spMkLst>
            <pc:docMk/>
            <pc:sldMk cId="3433759497" sldId="275"/>
            <ac:spMk id="22" creationId="{81DAD596-0026-ADF7-9D56-478E3A96DA49}"/>
          </ac:spMkLst>
        </pc:spChg>
        <pc:spChg chg="mod">
          <ac:chgData name="N SRINIVASRAO" userId="e4f6f2814eeb4795" providerId="LiveId" clId="{05A08CEC-94E1-415A-B6BD-F1840C55E903}" dt="2026-02-05T15:30:43.277" v="0" actId="14100"/>
          <ac:spMkLst>
            <pc:docMk/>
            <pc:sldMk cId="3433759497" sldId="275"/>
            <ac:spMk id="51" creationId="{C7480AAD-D8BF-40BE-68D8-41D2C625E58E}"/>
          </ac:spMkLst>
        </pc:spChg>
        <pc:spChg chg="mod">
          <ac:chgData name="N SRINIVASRAO" userId="e4f6f2814eeb4795" providerId="LiveId" clId="{05A08CEC-94E1-415A-B6BD-F1840C55E903}" dt="2026-02-05T15:52:13.897" v="9" actId="1035"/>
          <ac:spMkLst>
            <pc:docMk/>
            <pc:sldMk cId="3433759497" sldId="275"/>
            <ac:spMk id="140" creationId="{EFFE3EA4-750C-4901-38BC-ED9842836766}"/>
          </ac:spMkLst>
        </pc:spChg>
        <pc:spChg chg="mod">
          <ac:chgData name="N SRINIVASRAO" userId="e4f6f2814eeb4795" providerId="LiveId" clId="{05A08CEC-94E1-415A-B6BD-F1840C55E903}" dt="2026-02-05T15:52:58.158" v="103" actId="1035"/>
          <ac:spMkLst>
            <pc:docMk/>
            <pc:sldMk cId="3433759497" sldId="275"/>
            <ac:spMk id="141" creationId="{94AFB615-A3DF-7851-3BD6-207D7743D09A}"/>
          </ac:spMkLst>
        </pc:spChg>
        <pc:cxnChg chg="mod">
          <ac:chgData name="N SRINIVASRAO" userId="e4f6f2814eeb4795" providerId="LiveId" clId="{05A08CEC-94E1-415A-B6BD-F1840C55E903}" dt="2026-02-05T15:30:43.277" v="0" actId="14100"/>
          <ac:cxnSpMkLst>
            <pc:docMk/>
            <pc:sldMk cId="3433759497" sldId="275"/>
            <ac:cxnSpMk id="99" creationId="{08FB15CD-F820-8857-7B24-BF1FA1D886A3}"/>
          </ac:cxnSpMkLst>
        </pc:cxnChg>
        <pc:cxnChg chg="mod">
          <ac:chgData name="N SRINIVASRAO" userId="e4f6f2814eeb4795" providerId="LiveId" clId="{05A08CEC-94E1-415A-B6BD-F1840C55E903}" dt="2026-02-05T15:30:43.277" v="0" actId="14100"/>
          <ac:cxnSpMkLst>
            <pc:docMk/>
            <pc:sldMk cId="3433759497" sldId="275"/>
            <ac:cxnSpMk id="103" creationId="{631F6ADE-C006-1453-6206-1D42F2EA34F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291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5466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689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545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A0212-E2D6-DB3C-C671-DA3FFDACBD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B1DBA2-DB25-4624-E4B1-54D9AFB7177A}"/>
              </a:ext>
            </a:extLst>
          </p:cNvPr>
          <p:cNvSpPr>
            <a:spLocks noGrp="1"/>
          </p:cNvSpPr>
          <p:nvPr>
            <p:ph type="dt" sz="half" idx="10"/>
          </p:nvPr>
        </p:nvSpPr>
        <p:spPr/>
        <p:txBody>
          <a:bodyPr/>
          <a:lstStyle/>
          <a:p>
            <a:fld id="{C01F2D53-7581-4445-9CB6-0AB4F4A23EE6}" type="datetimeFigureOut">
              <a:rPr lang="en-IN" smtClean="0"/>
              <a:t>05-02-2026</a:t>
            </a:fld>
            <a:endParaRPr lang="en-IN"/>
          </a:p>
        </p:txBody>
      </p:sp>
      <p:sp>
        <p:nvSpPr>
          <p:cNvPr id="4" name="Footer Placeholder 3">
            <a:extLst>
              <a:ext uri="{FF2B5EF4-FFF2-40B4-BE49-F238E27FC236}">
                <a16:creationId xmlns:a16="http://schemas.microsoft.com/office/drawing/2014/main" id="{BBC39AE4-8C7F-D165-AD68-B913C427AB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79A0CA-585B-803D-F047-340E5F1FC470}"/>
              </a:ext>
            </a:extLst>
          </p:cNvPr>
          <p:cNvSpPr>
            <a:spLocks noGrp="1"/>
          </p:cNvSpPr>
          <p:nvPr>
            <p:ph type="sldNum" sz="quarter" idx="12"/>
          </p:nvPr>
        </p:nvSpPr>
        <p:spPr/>
        <p:txBody>
          <a:bodyPr/>
          <a:lstStyle/>
          <a:p>
            <a:fld id="{92BFC839-8200-417E-B560-30E4B2B5BD31}" type="slidenum">
              <a:rPr lang="en-IN" smtClean="0"/>
              <a:t>‹#›</a:t>
            </a:fld>
            <a:endParaRPr lang="en-IN"/>
          </a:p>
        </p:txBody>
      </p:sp>
    </p:spTree>
    <p:extLst>
      <p:ext uri="{BB962C8B-B14F-4D97-AF65-F5344CB8AC3E}">
        <p14:creationId xmlns:p14="http://schemas.microsoft.com/office/powerpoint/2010/main" val="54647396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5300412" y="1193514"/>
            <a:ext cx="1591177" cy="1591177"/>
          </a:xfrm>
          <a:prstGeom prst="rect">
            <a:avLst/>
          </a:prstGeom>
        </p:spPr>
      </p:pic>
      <p:sp>
        <p:nvSpPr>
          <p:cNvPr id="4" name="Text 0"/>
          <p:cNvSpPr/>
          <p:nvPr/>
        </p:nvSpPr>
        <p:spPr>
          <a:xfrm>
            <a:off x="917409" y="3075280"/>
            <a:ext cx="10357183" cy="1173398"/>
          </a:xfrm>
          <a:prstGeom prst="rect">
            <a:avLst/>
          </a:prstGeom>
          <a:noFill/>
          <a:ln/>
        </p:spPr>
        <p:txBody>
          <a:bodyPr wrap="square" lIns="0" tIns="0" rIns="0" bIns="0" rtlCol="0" anchor="t"/>
          <a:lstStyle/>
          <a:p>
            <a:pPr algn="ctr">
              <a:lnSpc>
                <a:spcPts val="4167"/>
              </a:lnSpc>
            </a:pPr>
            <a:r>
              <a:rPr lang="en-US" sz="2667" b="1" dirty="0">
                <a:solidFill>
                  <a:srgbClr val="000000"/>
                </a:solidFill>
                <a:latin typeface="Times New Roman" panose="02020603050405020304" pitchFamily="18" charset="0"/>
                <a:ea typeface="Petrona Bold" pitchFamily="34" charset="-122"/>
                <a:cs typeface="Times New Roman" panose="02020603050405020304" pitchFamily="18" charset="0"/>
              </a:rPr>
              <a:t>Braille-Based IoT Home Automation for </a:t>
            </a:r>
          </a:p>
          <a:p>
            <a:pPr algn="ctr">
              <a:lnSpc>
                <a:spcPts val="4167"/>
              </a:lnSpc>
            </a:pPr>
            <a:r>
              <a:rPr lang="en-US" sz="2667" b="1" dirty="0">
                <a:solidFill>
                  <a:srgbClr val="000000"/>
                </a:solidFill>
                <a:latin typeface="Times New Roman" panose="02020603050405020304" pitchFamily="18" charset="0"/>
                <a:ea typeface="Petrona Bold" pitchFamily="34" charset="-122"/>
                <a:cs typeface="Times New Roman" panose="02020603050405020304" pitchFamily="18" charset="0"/>
              </a:rPr>
              <a:t>Multi-Disability Empowerment</a:t>
            </a:r>
            <a:endParaRPr lang="en-US" sz="2667" dirty="0">
              <a:latin typeface="Times New Roman" panose="02020603050405020304" pitchFamily="18" charset="0"/>
              <a:cs typeface="Times New Roman" panose="02020603050405020304" pitchFamily="18" charset="0"/>
            </a:endParaRPr>
          </a:p>
        </p:txBody>
      </p:sp>
      <p:sp>
        <p:nvSpPr>
          <p:cNvPr id="2" name="TextBox 3">
            <a:extLst>
              <a:ext uri="{FF2B5EF4-FFF2-40B4-BE49-F238E27FC236}">
                <a16:creationId xmlns:a16="http://schemas.microsoft.com/office/drawing/2014/main" id="{0F4C56B9-2995-E5A9-DF47-5F45733E86DE}"/>
              </a:ext>
            </a:extLst>
          </p:cNvPr>
          <p:cNvSpPr txBox="1"/>
          <p:nvPr/>
        </p:nvSpPr>
        <p:spPr>
          <a:xfrm>
            <a:off x="394121" y="396161"/>
            <a:ext cx="11403759" cy="1163267"/>
          </a:xfrm>
          <a:prstGeom prst="rect">
            <a:avLst/>
          </a:prstGeom>
          <a:noFill/>
        </p:spPr>
        <p:txBody>
          <a:bodyPr wrap="square" rtlCol="0">
            <a:spAutoFit/>
          </a:bodyPr>
          <a:lstStyle/>
          <a:p>
            <a:pPr algn="ctr"/>
            <a:r>
              <a:rPr lang="en-US" sz="3125" b="1" dirty="0">
                <a:latin typeface="Times New Roman" panose="02020603050405020304" pitchFamily="18" charset="0"/>
                <a:cs typeface="Times New Roman" panose="02020603050405020304" pitchFamily="18" charset="0"/>
              </a:rPr>
              <a:t>SESHADRI RAO GUDLAVALLERU ENGINEERING COLEGE</a:t>
            </a:r>
          </a:p>
          <a:p>
            <a:pPr algn="ctr"/>
            <a:r>
              <a:rPr lang="en-US" sz="1917" i="1" dirty="0">
                <a:latin typeface="Times New Roman" panose="02020603050405020304" pitchFamily="18" charset="0"/>
                <a:cs typeface="Times New Roman" panose="02020603050405020304" pitchFamily="18" charset="0"/>
              </a:rPr>
              <a:t>(An Autonomous Institute permanently affiliated to JNTUK , Kakinada)</a:t>
            </a:r>
            <a:br>
              <a:rPr lang="en-US" sz="1917" i="1" dirty="0">
                <a:latin typeface="Times New Roman" panose="02020603050405020304" pitchFamily="18" charset="0"/>
                <a:cs typeface="Times New Roman" panose="02020603050405020304" pitchFamily="18" charset="0"/>
              </a:rPr>
            </a:br>
            <a:endParaRPr lang="en-US" sz="1917" i="1" dirty="0">
              <a:latin typeface="Times New Roman" panose="02020603050405020304" pitchFamily="18" charset="0"/>
              <a:cs typeface="Times New Roman" panose="02020603050405020304" pitchFamily="18" charset="0"/>
            </a:endParaRPr>
          </a:p>
        </p:txBody>
      </p:sp>
      <p:sp>
        <p:nvSpPr>
          <p:cNvPr id="9" name="TextBox 5">
            <a:extLst>
              <a:ext uri="{FF2B5EF4-FFF2-40B4-BE49-F238E27FC236}">
                <a16:creationId xmlns:a16="http://schemas.microsoft.com/office/drawing/2014/main" id="{2B41BFEB-B85C-6008-A552-CB34DBDC96D4}"/>
              </a:ext>
            </a:extLst>
          </p:cNvPr>
          <p:cNvSpPr txBox="1"/>
          <p:nvPr/>
        </p:nvSpPr>
        <p:spPr>
          <a:xfrm>
            <a:off x="2822287" y="2700829"/>
            <a:ext cx="6547428" cy="387350"/>
          </a:xfrm>
          <a:prstGeom prst="rect">
            <a:avLst/>
          </a:prstGeom>
          <a:noFill/>
        </p:spPr>
        <p:txBody>
          <a:bodyPr wrap="square" rtlCol="0">
            <a:spAutoFit/>
          </a:bodyPr>
          <a:lstStyle/>
          <a:p>
            <a:pPr algn="l"/>
            <a:r>
              <a:rPr lang="en-US" sz="1917" b="1" dirty="0">
                <a:latin typeface="Times New Roman" panose="02020603050405020304" pitchFamily="18" charset="0"/>
                <a:cs typeface="Times New Roman" panose="02020603050405020304" pitchFamily="18" charset="0"/>
              </a:rPr>
              <a:t>Department of Electronics and Communication Engineering </a:t>
            </a:r>
          </a:p>
        </p:txBody>
      </p:sp>
      <p:sp>
        <p:nvSpPr>
          <p:cNvPr id="11" name="Text 1"/>
          <p:cNvSpPr/>
          <p:nvPr/>
        </p:nvSpPr>
        <p:spPr>
          <a:xfrm>
            <a:off x="7275206" y="5062312"/>
            <a:ext cx="10748211" cy="1399527"/>
          </a:xfrm>
          <a:prstGeom prst="rect">
            <a:avLst/>
          </a:prstGeom>
          <a:noFill/>
          <a:ln/>
        </p:spPr>
        <p:txBody>
          <a:bodyPr wrap="square" lIns="0" tIns="0" rIns="0" bIns="0" rtlCol="0" anchor="t"/>
          <a:lstStyle/>
          <a:p>
            <a:pPr>
              <a:lnSpc>
                <a:spcPts val="2042"/>
              </a:lnSpc>
            </a:pPr>
            <a:r>
              <a:rPr lang="en-US" sz="1917" b="1" dirty="0">
                <a:solidFill>
                  <a:srgbClr val="272525"/>
                </a:solidFill>
                <a:latin typeface="Times New Roman" panose="02020603050405020304" pitchFamily="18" charset="0"/>
                <a:ea typeface="Inter" pitchFamily="34" charset="-122"/>
                <a:cs typeface="Times New Roman" panose="02020603050405020304" pitchFamily="18" charset="0"/>
              </a:rPr>
              <a:t>Batch Members:</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N. Manikanta Raghava — 23485A0424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 Jahnavi — 22481A04F5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N. Venkata Siva Prasanth — 23485A0423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Md. Habeeb Pasha — 22481A04F8</a:t>
            </a:r>
            <a:endParaRPr lang="en-US" sz="1917" dirty="0">
              <a:latin typeface="Times New Roman" panose="02020603050405020304" pitchFamily="18" charset="0"/>
              <a:cs typeface="Times New Roman" panose="02020603050405020304" pitchFamily="18" charset="0"/>
            </a:endParaRPr>
          </a:p>
        </p:txBody>
      </p:sp>
      <p:sp>
        <p:nvSpPr>
          <p:cNvPr id="12" name="Text 2"/>
          <p:cNvSpPr/>
          <p:nvPr/>
        </p:nvSpPr>
        <p:spPr>
          <a:xfrm>
            <a:off x="917409" y="5359438"/>
            <a:ext cx="4233712" cy="909282"/>
          </a:xfrm>
          <a:prstGeom prst="rect">
            <a:avLst/>
          </a:prstGeom>
          <a:noFill/>
          <a:ln/>
        </p:spPr>
        <p:txBody>
          <a:bodyPr wrap="square" lIns="0" tIns="0" rIns="0" bIns="0" rtlCol="0" anchor="t"/>
          <a:lstStyle/>
          <a:p>
            <a:pPr>
              <a:lnSpc>
                <a:spcPts val="2042"/>
              </a:lnSpc>
            </a:pPr>
            <a:r>
              <a:rPr lang="en-US" sz="1917" b="1" dirty="0">
                <a:solidFill>
                  <a:srgbClr val="272525"/>
                </a:solidFill>
                <a:latin typeface="Times New Roman" panose="02020603050405020304" pitchFamily="18" charset="0"/>
                <a:ea typeface="Inter" pitchFamily="34" charset="-122"/>
                <a:cs typeface="Times New Roman" panose="02020603050405020304" pitchFamily="18" charset="0"/>
              </a:rPr>
              <a:t>Guided by:</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a:t>
            </a:r>
          </a:p>
          <a:p>
            <a:pPr>
              <a:lnSpc>
                <a:spcPts val="2042"/>
              </a:lnSpc>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Mr. V. Vittal Reddy</a:t>
            </a:r>
          </a:p>
          <a:p>
            <a:pPr>
              <a:lnSpc>
                <a:spcPts val="2042"/>
              </a:lnSpc>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(Associate Professor)</a:t>
            </a:r>
            <a:endParaRPr lang="en-US" sz="1917"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4CD830D-CF25-3522-AAEB-8446BA8A10D7}"/>
              </a:ext>
            </a:extLst>
          </p:cNvPr>
          <p:cNvSpPr txBox="1"/>
          <p:nvPr/>
        </p:nvSpPr>
        <p:spPr>
          <a:xfrm>
            <a:off x="7190539" y="4681622"/>
            <a:ext cx="1651414" cy="387350"/>
          </a:xfrm>
          <a:prstGeom prst="rect">
            <a:avLst/>
          </a:prstGeom>
          <a:noFill/>
        </p:spPr>
        <p:txBody>
          <a:bodyPr wrap="none" rtlCol="0">
            <a:spAutoFit/>
          </a:bodyPr>
          <a:lstStyle/>
          <a:p>
            <a:r>
              <a:rPr lang="en-US" sz="1917" b="1" dirty="0">
                <a:latin typeface="Times New Roman" panose="02020603050405020304" pitchFamily="18" charset="0"/>
                <a:cs typeface="Times New Roman" panose="02020603050405020304" pitchFamily="18" charset="0"/>
              </a:rPr>
              <a:t>Batch No : </a:t>
            </a:r>
            <a:r>
              <a:rPr lang="en-US" sz="1917" dirty="0">
                <a:latin typeface="Times New Roman" panose="02020603050405020304" pitchFamily="18" charset="0"/>
                <a:cs typeface="Times New Roman" panose="02020603050405020304" pitchFamily="18" charset="0"/>
              </a:rPr>
              <a:t>C5</a:t>
            </a:r>
            <a:endParaRPr lang="en-IN" sz="1917"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58555" y="617141"/>
            <a:ext cx="5474891"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Objectives of the Project Work</a:t>
            </a:r>
            <a:endParaRPr lang="en-US" sz="3125" dirty="0">
              <a:solidFill>
                <a:srgbClr val="2083E7"/>
              </a:solidFill>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F25B3A81-5819-6A8B-5397-94D0C3846DD1}"/>
              </a:ext>
            </a:extLst>
          </p:cNvPr>
          <p:cNvSpPr txBox="1"/>
          <p:nvPr/>
        </p:nvSpPr>
        <p:spPr>
          <a:xfrm>
            <a:off x="1797539" y="2350275"/>
            <a:ext cx="8596923" cy="2157450"/>
          </a:xfrm>
          <a:prstGeom prst="rect">
            <a:avLst/>
          </a:prstGeom>
          <a:noFill/>
        </p:spPr>
        <p:txBody>
          <a:bodyPr wrap="square" rtlCol="0">
            <a:spAutoFit/>
          </a:bodyPr>
          <a:lstStyle/>
          <a:p>
            <a:pPr marL="285739" indent="-285739" algn="just">
              <a:buFont typeface="+mj-lt"/>
              <a:buAutoNum type="arabicPeriod"/>
            </a:pPr>
            <a:r>
              <a:rPr lang="en-US" sz="1917" dirty="0">
                <a:latin typeface="Times New Roman" panose="02020603050405020304" pitchFamily="18" charset="0"/>
                <a:cs typeface="Times New Roman" panose="02020603050405020304" pitchFamily="18" charset="0"/>
              </a:rPr>
              <a:t>Develop a low-cost, accessible Braille-based IoT system that empowers visually and speech-impaired individuals to control home appliances independently, providing real-time confirmation through haptic feedback and audio signals to ensure accuracy and ease of use.</a:t>
            </a:r>
          </a:p>
          <a:p>
            <a:pPr marL="285739" indent="-285739" algn="just">
              <a:buFont typeface="+mj-lt"/>
              <a:buAutoNum type="arabicPeriod"/>
            </a:pPr>
            <a:r>
              <a:rPr lang="en-US" sz="1917" dirty="0">
                <a:latin typeface="Times New Roman" panose="02020603050405020304" pitchFamily="18" charset="0"/>
                <a:cs typeface="Times New Roman" panose="02020603050405020304" pitchFamily="18" charset="0"/>
              </a:rPr>
              <a:t>Implement an intelligent emergency alert system that detects hazards like fire and instantly notifies caregivers via Blynk IoT cloud push notifications ensuring continuous safety and reliability during critical situations.</a:t>
            </a:r>
            <a:endParaRPr lang="en-IN" sz="1917"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36355" y="446739"/>
            <a:ext cx="5119291"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Abstract of the Project Work</a:t>
            </a:r>
            <a:endParaRPr lang="en-US" sz="3125" dirty="0">
              <a:solidFill>
                <a:srgbClr val="2083E7"/>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60C2277-8739-2D8D-BC48-22ACE58AD221}"/>
              </a:ext>
            </a:extLst>
          </p:cNvPr>
          <p:cNvSpPr txBox="1"/>
          <p:nvPr/>
        </p:nvSpPr>
        <p:spPr>
          <a:xfrm>
            <a:off x="708949" y="2358194"/>
            <a:ext cx="10774102" cy="2157450"/>
          </a:xfrm>
          <a:prstGeom prst="rect">
            <a:avLst/>
          </a:prstGeom>
          <a:noFill/>
        </p:spPr>
        <p:txBody>
          <a:bodyPr wrap="square">
            <a:spAutoFit/>
          </a:bodyPr>
          <a:lstStyle/>
          <a:p>
            <a:pPr algn="just"/>
            <a:r>
              <a:rPr lang="en-US" sz="1917" dirty="0">
                <a:latin typeface="Times New Roman" panose="02020603050405020304" pitchFamily="18" charset="0"/>
                <a:cs typeface="Times New Roman" panose="02020603050405020304" pitchFamily="18" charset="0"/>
              </a:rPr>
              <a:t>This project presents a Braille-based IoT home automation system designed to assist visually and speech-impaired individuals. Built on ESP32 microcontrollers, the system employs a custom persistent TCP protocol to transmit commands from a portable six-dot Braille keypad to a central appliance controller. Accessibility is ensured through simultaneous haptic (vibration) and auditory feedback for the user, while an SSD1306 OLED display provides visual status for caregivers. Additionally, the system integrates flame sensors and Blynk IoT connectivity to provide real-time safety alerts, offering a secure, reliable, and inclusive alternative to conventional smart home controls.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66A31-06B9-1BB6-9B07-E7A38951A9B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3E62583-CF37-3D9A-BA08-CFEE519C52FE}"/>
              </a:ext>
            </a:extLst>
          </p:cNvPr>
          <p:cNvSpPr/>
          <p:nvPr/>
        </p:nvSpPr>
        <p:spPr>
          <a:xfrm>
            <a:off x="3720574" y="141491"/>
            <a:ext cx="4750853" cy="311646"/>
          </a:xfrm>
          <a:prstGeom prst="rect">
            <a:avLst/>
          </a:prstGeom>
          <a:noFill/>
          <a:ln/>
        </p:spPr>
        <p:txBody>
          <a:bodyPr wrap="none" lIns="0" tIns="0" rIns="0" bIns="0" rtlCol="0" anchor="t"/>
          <a:lstStyle/>
          <a:p>
            <a:pPr>
              <a:lnSpc>
                <a:spcPts val="2417"/>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Hardware Wiring Diagram</a:t>
            </a:r>
            <a:endParaRPr lang="en-US" sz="3125" dirty="0">
              <a:solidFill>
                <a:srgbClr val="0070C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5E65061-4CF8-380F-F07A-68FFE9CB7264}"/>
              </a:ext>
            </a:extLst>
          </p:cNvPr>
          <p:cNvSpPr txBox="1"/>
          <p:nvPr/>
        </p:nvSpPr>
        <p:spPr>
          <a:xfrm>
            <a:off x="5131634" y="430617"/>
            <a:ext cx="1928733"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Remote Module</a:t>
            </a:r>
          </a:p>
        </p:txBody>
      </p:sp>
      <p:pic>
        <p:nvPicPr>
          <p:cNvPr id="5" name="Picture 4">
            <a:extLst>
              <a:ext uri="{FF2B5EF4-FFF2-40B4-BE49-F238E27FC236}">
                <a16:creationId xmlns:a16="http://schemas.microsoft.com/office/drawing/2014/main" id="{FD821063-7DC4-D480-1B67-FA8EF44FD42C}"/>
              </a:ext>
            </a:extLst>
          </p:cNvPr>
          <p:cNvPicPr>
            <a:picLocks noChangeAspect="1"/>
          </p:cNvPicPr>
          <p:nvPr/>
        </p:nvPicPr>
        <p:blipFill>
          <a:blip r:embed="rId2"/>
          <a:stretch>
            <a:fillRect/>
          </a:stretch>
        </p:blipFill>
        <p:spPr>
          <a:xfrm>
            <a:off x="0" y="1252833"/>
            <a:ext cx="12192000" cy="4352335"/>
          </a:xfrm>
          <a:prstGeom prst="rect">
            <a:avLst/>
          </a:prstGeom>
        </p:spPr>
      </p:pic>
    </p:spTree>
    <p:extLst>
      <p:ext uri="{BB962C8B-B14F-4D97-AF65-F5344CB8AC3E}">
        <p14:creationId xmlns:p14="http://schemas.microsoft.com/office/powerpoint/2010/main" val="299667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3F97C33-7738-6071-6BCF-AF184C8123DD}"/>
              </a:ext>
            </a:extLst>
          </p:cNvPr>
          <p:cNvSpPr/>
          <p:nvPr/>
        </p:nvSpPr>
        <p:spPr>
          <a:xfrm>
            <a:off x="3720574" y="175104"/>
            <a:ext cx="4750853" cy="311646"/>
          </a:xfrm>
          <a:prstGeom prst="rect">
            <a:avLst/>
          </a:prstGeom>
          <a:noFill/>
          <a:ln/>
        </p:spPr>
        <p:txBody>
          <a:bodyPr wrap="none" lIns="0" tIns="0" rIns="0" bIns="0" rtlCol="0" anchor="t"/>
          <a:lstStyle/>
          <a:p>
            <a:pPr>
              <a:lnSpc>
                <a:spcPts val="2417"/>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Hardware Wiring Diagram</a:t>
            </a:r>
            <a:endParaRPr lang="en-US" sz="3125" dirty="0">
              <a:solidFill>
                <a:srgbClr val="0070C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61119DB-D3B7-3283-FE39-240E184194B4}"/>
              </a:ext>
            </a:extLst>
          </p:cNvPr>
          <p:cNvPicPr>
            <a:picLocks noChangeAspect="1"/>
          </p:cNvPicPr>
          <p:nvPr/>
        </p:nvPicPr>
        <p:blipFill>
          <a:blip r:embed="rId2"/>
          <a:srcRect t="5170" b="6614"/>
          <a:stretch>
            <a:fillRect/>
          </a:stretch>
        </p:blipFill>
        <p:spPr>
          <a:xfrm>
            <a:off x="0" y="872100"/>
            <a:ext cx="12192000" cy="5513910"/>
          </a:xfrm>
          <a:prstGeom prst="rect">
            <a:avLst/>
          </a:prstGeom>
        </p:spPr>
      </p:pic>
      <p:sp>
        <p:nvSpPr>
          <p:cNvPr id="9" name="TextBox 8">
            <a:extLst>
              <a:ext uri="{FF2B5EF4-FFF2-40B4-BE49-F238E27FC236}">
                <a16:creationId xmlns:a16="http://schemas.microsoft.com/office/drawing/2014/main" id="{F50F396B-4DD2-641E-322D-3F29F9D3752C}"/>
              </a:ext>
            </a:extLst>
          </p:cNvPr>
          <p:cNvSpPr txBox="1"/>
          <p:nvPr/>
        </p:nvSpPr>
        <p:spPr>
          <a:xfrm>
            <a:off x="4623482" y="471990"/>
            <a:ext cx="2945037"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Appliance Control Module</a:t>
            </a:r>
          </a:p>
        </p:txBody>
      </p:sp>
    </p:spTree>
    <p:extLst>
      <p:ext uri="{BB962C8B-B14F-4D97-AF65-F5344CB8AC3E}">
        <p14:creationId xmlns:p14="http://schemas.microsoft.com/office/powerpoint/2010/main" val="349413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81DAD596-0026-ADF7-9D56-478E3A96DA49}"/>
              </a:ext>
            </a:extLst>
          </p:cNvPr>
          <p:cNvSpPr/>
          <p:nvPr/>
        </p:nvSpPr>
        <p:spPr>
          <a:xfrm>
            <a:off x="186813" y="796413"/>
            <a:ext cx="11788877" cy="1868129"/>
          </a:xfrm>
          <a:prstGeom prst="roundRect">
            <a:avLst/>
          </a:prstGeom>
          <a:solidFill>
            <a:schemeClr val="bg1">
              <a:lumMod val="9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 0">
            <a:extLst>
              <a:ext uri="{FF2B5EF4-FFF2-40B4-BE49-F238E27FC236}">
                <a16:creationId xmlns:a16="http://schemas.microsoft.com/office/drawing/2014/main" id="{4AF58067-0CAB-0EEA-338B-2A4DEE9D41F2}"/>
              </a:ext>
            </a:extLst>
          </p:cNvPr>
          <p:cNvSpPr>
            <a:spLocks noGrp="1"/>
          </p:cNvSpPr>
          <p:nvPr>
            <p:ph type="title"/>
          </p:nvPr>
        </p:nvSpPr>
        <p:spPr>
          <a:xfrm>
            <a:off x="6096000" y="294967"/>
            <a:ext cx="0" cy="0"/>
          </a:xfrm>
          <a:prstGeom prst="rect">
            <a:avLst/>
          </a:prstGeom>
          <a:noFill/>
          <a:ln/>
        </p:spPr>
        <p:txBody>
          <a:bodyPr wrap="none" lIns="0" tIns="0" rIns="0" bIns="0" rtlCol="0" anchor="t"/>
          <a:lstStyle/>
          <a:p>
            <a:pPr>
              <a:lnSpc>
                <a:spcPts val="2417"/>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Flow chart</a:t>
            </a:r>
            <a:endParaRPr lang="en-US" sz="3125" dirty="0">
              <a:solidFill>
                <a:srgbClr val="0070C0"/>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A8D19B2A-420E-FB20-6740-ECDD18EFA610}"/>
              </a:ext>
            </a:extLst>
          </p:cNvPr>
          <p:cNvSpPr/>
          <p:nvPr/>
        </p:nvSpPr>
        <p:spPr>
          <a:xfrm>
            <a:off x="373626" y="1297858"/>
            <a:ext cx="1101213" cy="422788"/>
          </a:xfrm>
          <a:prstGeom prst="roundRect">
            <a:avLst>
              <a:gd name="adj" fmla="val 30621"/>
            </a:avLst>
          </a:prstGeom>
          <a:solidFill>
            <a:srgbClr val="FF950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Power ON</a:t>
            </a:r>
          </a:p>
        </p:txBody>
      </p:sp>
      <p:sp>
        <p:nvSpPr>
          <p:cNvPr id="7" name="Rectangle: Rounded Corners 6">
            <a:extLst>
              <a:ext uri="{FF2B5EF4-FFF2-40B4-BE49-F238E27FC236}">
                <a16:creationId xmlns:a16="http://schemas.microsoft.com/office/drawing/2014/main" id="{49023938-36C4-240B-2B2A-A538CD2CE459}"/>
              </a:ext>
            </a:extLst>
          </p:cNvPr>
          <p:cNvSpPr/>
          <p:nvPr/>
        </p:nvSpPr>
        <p:spPr>
          <a:xfrm>
            <a:off x="1838633" y="1242551"/>
            <a:ext cx="1602657" cy="526026"/>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Initialize sensors &amp; Wi-Fi</a:t>
            </a:r>
          </a:p>
        </p:txBody>
      </p:sp>
      <p:sp>
        <p:nvSpPr>
          <p:cNvPr id="8" name="Rectangle: Rounded Corners 7">
            <a:extLst>
              <a:ext uri="{FF2B5EF4-FFF2-40B4-BE49-F238E27FC236}">
                <a16:creationId xmlns:a16="http://schemas.microsoft.com/office/drawing/2014/main" id="{C8628B4D-DD58-204D-B688-B33CE0ED5240}"/>
              </a:ext>
            </a:extLst>
          </p:cNvPr>
          <p:cNvSpPr/>
          <p:nvPr/>
        </p:nvSpPr>
        <p:spPr>
          <a:xfrm>
            <a:off x="3805084" y="1248696"/>
            <a:ext cx="1101214"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Read inputs </a:t>
            </a:r>
          </a:p>
        </p:txBody>
      </p:sp>
      <p:sp>
        <p:nvSpPr>
          <p:cNvPr id="9" name="Rectangle: Rounded Corners 8">
            <a:extLst>
              <a:ext uri="{FF2B5EF4-FFF2-40B4-BE49-F238E27FC236}">
                <a16:creationId xmlns:a16="http://schemas.microsoft.com/office/drawing/2014/main" id="{F98D5F39-50DC-B48C-8A3D-2D28D58C3D5E}"/>
              </a:ext>
            </a:extLst>
          </p:cNvPr>
          <p:cNvSpPr/>
          <p:nvPr/>
        </p:nvSpPr>
        <p:spPr>
          <a:xfrm>
            <a:off x="4935794" y="1991032"/>
            <a:ext cx="1101214" cy="481780"/>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Send ACK or STOP </a:t>
            </a:r>
          </a:p>
        </p:txBody>
      </p:sp>
      <p:sp>
        <p:nvSpPr>
          <p:cNvPr id="10" name="Rectangle: Rounded Corners 9">
            <a:extLst>
              <a:ext uri="{FF2B5EF4-FFF2-40B4-BE49-F238E27FC236}">
                <a16:creationId xmlns:a16="http://schemas.microsoft.com/office/drawing/2014/main" id="{A29CC0D5-12A7-278E-9CBB-F80E3CDC8DFC}"/>
              </a:ext>
            </a:extLst>
          </p:cNvPr>
          <p:cNvSpPr/>
          <p:nvPr/>
        </p:nvSpPr>
        <p:spPr>
          <a:xfrm>
            <a:off x="6096000" y="1264673"/>
            <a:ext cx="1582994" cy="481781"/>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Send appliance command</a:t>
            </a:r>
          </a:p>
        </p:txBody>
      </p:sp>
      <p:sp>
        <p:nvSpPr>
          <p:cNvPr id="11" name="Diamond 10">
            <a:extLst>
              <a:ext uri="{FF2B5EF4-FFF2-40B4-BE49-F238E27FC236}">
                <a16:creationId xmlns:a16="http://schemas.microsoft.com/office/drawing/2014/main" id="{7E5F49C2-26ED-8166-6880-E2D5A47384E3}"/>
              </a:ext>
            </a:extLst>
          </p:cNvPr>
          <p:cNvSpPr/>
          <p:nvPr/>
        </p:nvSpPr>
        <p:spPr>
          <a:xfrm>
            <a:off x="8455491" y="1196373"/>
            <a:ext cx="1986366"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Is Feedback Received from TCP</a:t>
            </a:r>
          </a:p>
        </p:txBody>
      </p:sp>
      <p:sp>
        <p:nvSpPr>
          <p:cNvPr id="12" name="Rectangle: Rounded Corners 11">
            <a:extLst>
              <a:ext uri="{FF2B5EF4-FFF2-40B4-BE49-F238E27FC236}">
                <a16:creationId xmlns:a16="http://schemas.microsoft.com/office/drawing/2014/main" id="{66AA7FB5-0F4C-AAA3-D148-39C3B0BB305C}"/>
              </a:ext>
            </a:extLst>
          </p:cNvPr>
          <p:cNvSpPr/>
          <p:nvPr/>
        </p:nvSpPr>
        <p:spPr>
          <a:xfrm>
            <a:off x="10717160" y="1548579"/>
            <a:ext cx="1101214" cy="535859"/>
          </a:xfrm>
          <a:prstGeom prst="roundRect">
            <a:avLst>
              <a:gd name="adj" fmla="val 30621"/>
            </a:avLst>
          </a:prstGeom>
          <a:solidFill>
            <a:srgbClr val="34C759"/>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Play Feedback</a:t>
            </a:r>
          </a:p>
        </p:txBody>
      </p:sp>
      <p:cxnSp>
        <p:nvCxnSpPr>
          <p:cNvPr id="32" name="Straight Arrow Connector 31">
            <a:extLst>
              <a:ext uri="{FF2B5EF4-FFF2-40B4-BE49-F238E27FC236}">
                <a16:creationId xmlns:a16="http://schemas.microsoft.com/office/drawing/2014/main" id="{E7C09913-3A8D-C781-9AAD-F8F1EE14BAC5}"/>
              </a:ext>
            </a:extLst>
          </p:cNvPr>
          <p:cNvCxnSpPr>
            <a:stCxn id="6" idx="3"/>
            <a:endCxn id="7" idx="1"/>
          </p:cNvCxnSpPr>
          <p:nvPr/>
        </p:nvCxnSpPr>
        <p:spPr>
          <a:xfrm flipV="1">
            <a:off x="1474839" y="1505564"/>
            <a:ext cx="363794" cy="368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B8D31F57-826F-12E8-D28D-077F3D3792D6}"/>
              </a:ext>
            </a:extLst>
          </p:cNvPr>
          <p:cNvCxnSpPr>
            <a:stCxn id="7" idx="3"/>
            <a:endCxn id="8" idx="1"/>
          </p:cNvCxnSpPr>
          <p:nvPr/>
        </p:nvCxnSpPr>
        <p:spPr>
          <a:xfrm>
            <a:off x="3441290" y="1505564"/>
            <a:ext cx="363794" cy="36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8" name="Straight Arrow Connector 37">
            <a:extLst>
              <a:ext uri="{FF2B5EF4-FFF2-40B4-BE49-F238E27FC236}">
                <a16:creationId xmlns:a16="http://schemas.microsoft.com/office/drawing/2014/main" id="{CB96FF2B-9A7E-0E82-A4EB-83076051C2E3}"/>
              </a:ext>
            </a:extLst>
          </p:cNvPr>
          <p:cNvCxnSpPr>
            <a:endCxn id="10" idx="1"/>
          </p:cNvCxnSpPr>
          <p:nvPr/>
        </p:nvCxnSpPr>
        <p:spPr>
          <a:xfrm>
            <a:off x="4906298" y="1505563"/>
            <a:ext cx="1189702"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Connector: Elbow 41">
            <a:extLst>
              <a:ext uri="{FF2B5EF4-FFF2-40B4-BE49-F238E27FC236}">
                <a16:creationId xmlns:a16="http://schemas.microsoft.com/office/drawing/2014/main" id="{D69D3E48-A022-4154-C4E9-98B7C50C4707}"/>
              </a:ext>
            </a:extLst>
          </p:cNvPr>
          <p:cNvCxnSpPr>
            <a:stCxn id="8" idx="2"/>
            <a:endCxn id="9" idx="1"/>
          </p:cNvCxnSpPr>
          <p:nvPr/>
        </p:nvCxnSpPr>
        <p:spPr>
          <a:xfrm rot="16200000" flipH="1">
            <a:off x="4414684" y="1710812"/>
            <a:ext cx="462116" cy="580103"/>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44" name="Connector: Elbow 43">
            <a:extLst>
              <a:ext uri="{FF2B5EF4-FFF2-40B4-BE49-F238E27FC236}">
                <a16:creationId xmlns:a16="http://schemas.microsoft.com/office/drawing/2014/main" id="{81A88C73-A2FD-C99F-2C6A-A15ACE1F01AD}"/>
              </a:ext>
            </a:extLst>
          </p:cNvPr>
          <p:cNvCxnSpPr>
            <a:stCxn id="12" idx="0"/>
            <a:endCxn id="8" idx="0"/>
          </p:cNvCxnSpPr>
          <p:nvPr/>
        </p:nvCxnSpPr>
        <p:spPr>
          <a:xfrm rot="16200000" flipV="1">
            <a:off x="7661788" y="-2057400"/>
            <a:ext cx="299883" cy="6912076"/>
          </a:xfrm>
          <a:prstGeom prst="bentConnector3">
            <a:avLst>
              <a:gd name="adj1" fmla="val 186066"/>
            </a:avLst>
          </a:prstGeom>
          <a:ln>
            <a:tailEnd type="triangle"/>
          </a:ln>
        </p:spPr>
        <p:style>
          <a:lnRef idx="3">
            <a:schemeClr val="dk1"/>
          </a:lnRef>
          <a:fillRef idx="0">
            <a:schemeClr val="dk1"/>
          </a:fillRef>
          <a:effectRef idx="2">
            <a:schemeClr val="dk1"/>
          </a:effectRef>
          <a:fontRef idx="minor">
            <a:schemeClr val="tx1"/>
          </a:fontRef>
        </p:style>
      </p:cxnSp>
      <p:sp>
        <p:nvSpPr>
          <p:cNvPr id="46" name="Rectangle: Rounded Corners 45">
            <a:extLst>
              <a:ext uri="{FF2B5EF4-FFF2-40B4-BE49-F238E27FC236}">
                <a16:creationId xmlns:a16="http://schemas.microsoft.com/office/drawing/2014/main" id="{23C7DCD5-C18D-6241-9E1F-1C6D699A0518}"/>
              </a:ext>
            </a:extLst>
          </p:cNvPr>
          <p:cNvSpPr/>
          <p:nvPr/>
        </p:nvSpPr>
        <p:spPr>
          <a:xfrm>
            <a:off x="186812" y="3101381"/>
            <a:ext cx="11788877" cy="3702542"/>
          </a:xfrm>
          <a:prstGeom prst="roundRect">
            <a:avLst/>
          </a:prstGeom>
          <a:solidFill>
            <a:schemeClr val="bg1">
              <a:lumMod val="9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7" name="Rectangle: Rounded Corners 46">
            <a:extLst>
              <a:ext uri="{FF2B5EF4-FFF2-40B4-BE49-F238E27FC236}">
                <a16:creationId xmlns:a16="http://schemas.microsoft.com/office/drawing/2014/main" id="{AB38A7E5-B436-1BD6-E77A-F0877AA53DD0}"/>
              </a:ext>
            </a:extLst>
          </p:cNvPr>
          <p:cNvSpPr/>
          <p:nvPr/>
        </p:nvSpPr>
        <p:spPr>
          <a:xfrm>
            <a:off x="388374" y="3743451"/>
            <a:ext cx="1101213" cy="422788"/>
          </a:xfrm>
          <a:prstGeom prst="roundRect">
            <a:avLst>
              <a:gd name="adj" fmla="val 30621"/>
            </a:avLst>
          </a:prstGeom>
          <a:solidFill>
            <a:srgbClr val="FF950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Power ON</a:t>
            </a:r>
          </a:p>
        </p:txBody>
      </p:sp>
      <p:sp>
        <p:nvSpPr>
          <p:cNvPr id="48" name="Rectangle: Rounded Corners 47">
            <a:extLst>
              <a:ext uri="{FF2B5EF4-FFF2-40B4-BE49-F238E27FC236}">
                <a16:creationId xmlns:a16="http://schemas.microsoft.com/office/drawing/2014/main" id="{B38ED511-D5F1-1DFE-80A7-03EBCF24B0C8}"/>
              </a:ext>
            </a:extLst>
          </p:cNvPr>
          <p:cNvSpPr/>
          <p:nvPr/>
        </p:nvSpPr>
        <p:spPr>
          <a:xfrm>
            <a:off x="1720645" y="3533900"/>
            <a:ext cx="1809135" cy="841887"/>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Initialize sensors, Wi-Fi &amp; Display</a:t>
            </a:r>
          </a:p>
        </p:txBody>
      </p:sp>
      <p:sp>
        <p:nvSpPr>
          <p:cNvPr id="49" name="Rectangle: Rounded Corners 48">
            <a:extLst>
              <a:ext uri="{FF2B5EF4-FFF2-40B4-BE49-F238E27FC236}">
                <a16:creationId xmlns:a16="http://schemas.microsoft.com/office/drawing/2014/main" id="{F8DAC6C7-8B69-0DE4-6E7D-C8BCD5B2D419}"/>
              </a:ext>
            </a:extLst>
          </p:cNvPr>
          <p:cNvSpPr/>
          <p:nvPr/>
        </p:nvSpPr>
        <p:spPr>
          <a:xfrm>
            <a:off x="3819832" y="3694289"/>
            <a:ext cx="1465004"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Listen TCP for commands</a:t>
            </a:r>
          </a:p>
        </p:txBody>
      </p:sp>
      <p:sp>
        <p:nvSpPr>
          <p:cNvPr id="50" name="Rectangle: Rounded Corners 49">
            <a:extLst>
              <a:ext uri="{FF2B5EF4-FFF2-40B4-BE49-F238E27FC236}">
                <a16:creationId xmlns:a16="http://schemas.microsoft.com/office/drawing/2014/main" id="{C08023B0-F4FD-4D3B-9389-26213752191A}"/>
              </a:ext>
            </a:extLst>
          </p:cNvPr>
          <p:cNvSpPr/>
          <p:nvPr/>
        </p:nvSpPr>
        <p:spPr>
          <a:xfrm>
            <a:off x="8017990" y="5579807"/>
            <a:ext cx="1194369" cy="481780"/>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Emergency alert</a:t>
            </a:r>
          </a:p>
        </p:txBody>
      </p:sp>
      <p:sp>
        <p:nvSpPr>
          <p:cNvPr id="51" name="Rectangle: Rounded Corners 50">
            <a:extLst>
              <a:ext uri="{FF2B5EF4-FFF2-40B4-BE49-F238E27FC236}">
                <a16:creationId xmlns:a16="http://schemas.microsoft.com/office/drawing/2014/main" id="{C7480AAD-D8BF-40BE-68D8-41D2C625E58E}"/>
              </a:ext>
            </a:extLst>
          </p:cNvPr>
          <p:cNvSpPr/>
          <p:nvPr/>
        </p:nvSpPr>
        <p:spPr>
          <a:xfrm>
            <a:off x="8064568" y="3713954"/>
            <a:ext cx="1101214" cy="481781"/>
          </a:xfrm>
          <a:prstGeom prst="roundRect">
            <a:avLst>
              <a:gd name="adj" fmla="val 24499"/>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Decode command</a:t>
            </a:r>
          </a:p>
        </p:txBody>
      </p:sp>
      <p:sp>
        <p:nvSpPr>
          <p:cNvPr id="52" name="Diamond 51">
            <a:extLst>
              <a:ext uri="{FF2B5EF4-FFF2-40B4-BE49-F238E27FC236}">
                <a16:creationId xmlns:a16="http://schemas.microsoft.com/office/drawing/2014/main" id="{7D28E799-713C-7685-DD18-F48FB4485E59}"/>
              </a:ext>
            </a:extLst>
          </p:cNvPr>
          <p:cNvSpPr/>
          <p:nvPr/>
        </p:nvSpPr>
        <p:spPr>
          <a:xfrm>
            <a:off x="5972540" y="3329267"/>
            <a:ext cx="1809137"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300" dirty="0"/>
              <a:t>Is Command Received </a:t>
            </a:r>
          </a:p>
        </p:txBody>
      </p:sp>
      <p:sp>
        <p:nvSpPr>
          <p:cNvPr id="53" name="Rectangle: Rounded Corners 52">
            <a:extLst>
              <a:ext uri="{FF2B5EF4-FFF2-40B4-BE49-F238E27FC236}">
                <a16:creationId xmlns:a16="http://schemas.microsoft.com/office/drawing/2014/main" id="{2A513333-991D-D6EA-2364-7D97550E3E47}"/>
              </a:ext>
            </a:extLst>
          </p:cNvPr>
          <p:cNvSpPr/>
          <p:nvPr/>
        </p:nvSpPr>
        <p:spPr>
          <a:xfrm>
            <a:off x="10018782" y="4884878"/>
            <a:ext cx="1101214" cy="535859"/>
          </a:xfrm>
          <a:prstGeom prst="roundRect">
            <a:avLst>
              <a:gd name="adj" fmla="val 30621"/>
            </a:avLst>
          </a:prstGeom>
          <a:solidFill>
            <a:srgbClr val="34C759"/>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Update display</a:t>
            </a:r>
          </a:p>
        </p:txBody>
      </p:sp>
      <p:cxnSp>
        <p:nvCxnSpPr>
          <p:cNvPr id="54" name="Straight Arrow Connector 53">
            <a:extLst>
              <a:ext uri="{FF2B5EF4-FFF2-40B4-BE49-F238E27FC236}">
                <a16:creationId xmlns:a16="http://schemas.microsoft.com/office/drawing/2014/main" id="{78E8EE1C-F847-07FF-9F95-3F6954981A58}"/>
              </a:ext>
            </a:extLst>
          </p:cNvPr>
          <p:cNvCxnSpPr>
            <a:cxnSpLocks/>
            <a:stCxn id="47" idx="3"/>
            <a:endCxn id="48" idx="1"/>
          </p:cNvCxnSpPr>
          <p:nvPr/>
        </p:nvCxnSpPr>
        <p:spPr>
          <a:xfrm flipV="1">
            <a:off x="1489587" y="3954844"/>
            <a:ext cx="231058"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5" name="Straight Arrow Connector 54">
            <a:extLst>
              <a:ext uri="{FF2B5EF4-FFF2-40B4-BE49-F238E27FC236}">
                <a16:creationId xmlns:a16="http://schemas.microsoft.com/office/drawing/2014/main" id="{CD45AB73-EB8C-15A8-221D-585B6F8B1714}"/>
              </a:ext>
            </a:extLst>
          </p:cNvPr>
          <p:cNvCxnSpPr>
            <a:cxnSpLocks/>
            <a:stCxn id="48" idx="3"/>
            <a:endCxn id="49" idx="1"/>
          </p:cNvCxnSpPr>
          <p:nvPr/>
        </p:nvCxnSpPr>
        <p:spPr>
          <a:xfrm>
            <a:off x="3529780" y="3954844"/>
            <a:ext cx="2900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a:extLst>
              <a:ext uri="{FF2B5EF4-FFF2-40B4-BE49-F238E27FC236}">
                <a16:creationId xmlns:a16="http://schemas.microsoft.com/office/drawing/2014/main" id="{58FA36F6-0C47-1494-E6C0-C75943646722}"/>
              </a:ext>
            </a:extLst>
          </p:cNvPr>
          <p:cNvCxnSpPr>
            <a:endCxn id="12" idx="1"/>
          </p:cNvCxnSpPr>
          <p:nvPr/>
        </p:nvCxnSpPr>
        <p:spPr>
          <a:xfrm>
            <a:off x="10441857" y="1816508"/>
            <a:ext cx="27530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1" name="Connector: Elbow 70">
            <a:extLst>
              <a:ext uri="{FF2B5EF4-FFF2-40B4-BE49-F238E27FC236}">
                <a16:creationId xmlns:a16="http://schemas.microsoft.com/office/drawing/2014/main" id="{AA369F99-31C4-1D4E-60E6-7E300422DD98}"/>
              </a:ext>
            </a:extLst>
          </p:cNvPr>
          <p:cNvCxnSpPr>
            <a:stCxn id="11" idx="1"/>
            <a:endCxn id="11" idx="0"/>
          </p:cNvCxnSpPr>
          <p:nvPr/>
        </p:nvCxnSpPr>
        <p:spPr>
          <a:xfrm rot="10800000" flipH="1">
            <a:off x="8455490" y="1196373"/>
            <a:ext cx="993183" cy="625578"/>
          </a:xfrm>
          <a:prstGeom prst="bentConnector4">
            <a:avLst>
              <a:gd name="adj1" fmla="val -23017"/>
              <a:gd name="adj2" fmla="val 121740"/>
            </a:avLst>
          </a:prstGeom>
          <a:ln>
            <a:tailEnd type="triangle"/>
          </a:ln>
        </p:spPr>
        <p:style>
          <a:lnRef idx="3">
            <a:schemeClr val="dk1"/>
          </a:lnRef>
          <a:fillRef idx="0">
            <a:schemeClr val="dk1"/>
          </a:fillRef>
          <a:effectRef idx="2">
            <a:schemeClr val="dk1"/>
          </a:effectRef>
          <a:fontRef idx="minor">
            <a:schemeClr val="tx1"/>
          </a:fontRef>
        </p:style>
      </p:cxnSp>
      <p:sp>
        <p:nvSpPr>
          <p:cNvPr id="86" name="Rectangle: Rounded Corners 85">
            <a:extLst>
              <a:ext uri="{FF2B5EF4-FFF2-40B4-BE49-F238E27FC236}">
                <a16:creationId xmlns:a16="http://schemas.microsoft.com/office/drawing/2014/main" id="{355E69CC-A992-E3C0-D4F5-FDBAAF3977B6}"/>
              </a:ext>
            </a:extLst>
          </p:cNvPr>
          <p:cNvSpPr/>
          <p:nvPr/>
        </p:nvSpPr>
        <p:spPr>
          <a:xfrm>
            <a:off x="9659842" y="3694290"/>
            <a:ext cx="1819095"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Execute command &amp; give Feedback</a:t>
            </a:r>
          </a:p>
        </p:txBody>
      </p:sp>
      <p:cxnSp>
        <p:nvCxnSpPr>
          <p:cNvPr id="88" name="Straight Arrow Connector 87">
            <a:extLst>
              <a:ext uri="{FF2B5EF4-FFF2-40B4-BE49-F238E27FC236}">
                <a16:creationId xmlns:a16="http://schemas.microsoft.com/office/drawing/2014/main" id="{45A10AE1-7C9B-2DCE-F14E-155522C44BCB}"/>
              </a:ext>
            </a:extLst>
          </p:cNvPr>
          <p:cNvCxnSpPr>
            <a:stCxn id="49" idx="3"/>
            <a:endCxn id="52" idx="1"/>
          </p:cNvCxnSpPr>
          <p:nvPr/>
        </p:nvCxnSpPr>
        <p:spPr>
          <a:xfrm>
            <a:off x="5284836" y="3954844"/>
            <a:ext cx="687704"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9" name="Straight Arrow Connector 98">
            <a:extLst>
              <a:ext uri="{FF2B5EF4-FFF2-40B4-BE49-F238E27FC236}">
                <a16:creationId xmlns:a16="http://schemas.microsoft.com/office/drawing/2014/main" id="{08FB15CD-F820-8857-7B24-BF1FA1D886A3}"/>
              </a:ext>
            </a:extLst>
          </p:cNvPr>
          <p:cNvCxnSpPr>
            <a:stCxn id="52" idx="3"/>
            <a:endCxn id="51" idx="1"/>
          </p:cNvCxnSpPr>
          <p:nvPr/>
        </p:nvCxnSpPr>
        <p:spPr>
          <a:xfrm>
            <a:off x="7781677" y="3954845"/>
            <a:ext cx="2828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3" name="Straight Arrow Connector 102">
            <a:extLst>
              <a:ext uri="{FF2B5EF4-FFF2-40B4-BE49-F238E27FC236}">
                <a16:creationId xmlns:a16="http://schemas.microsoft.com/office/drawing/2014/main" id="{631F6ADE-C006-1453-6206-1D42F2EA34FB}"/>
              </a:ext>
            </a:extLst>
          </p:cNvPr>
          <p:cNvCxnSpPr>
            <a:stCxn id="51" idx="3"/>
            <a:endCxn id="86" idx="1"/>
          </p:cNvCxnSpPr>
          <p:nvPr/>
        </p:nvCxnSpPr>
        <p:spPr>
          <a:xfrm>
            <a:off x="9165782" y="3954845"/>
            <a:ext cx="4940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5" name="Diamond 104">
            <a:extLst>
              <a:ext uri="{FF2B5EF4-FFF2-40B4-BE49-F238E27FC236}">
                <a16:creationId xmlns:a16="http://schemas.microsoft.com/office/drawing/2014/main" id="{70D10E76-B7E0-947F-6835-D366FB34F92E}"/>
              </a:ext>
            </a:extLst>
          </p:cNvPr>
          <p:cNvSpPr/>
          <p:nvPr/>
        </p:nvSpPr>
        <p:spPr>
          <a:xfrm>
            <a:off x="3647765" y="5192173"/>
            <a:ext cx="1809137"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300" dirty="0"/>
              <a:t>Is Flame detected  </a:t>
            </a:r>
          </a:p>
        </p:txBody>
      </p:sp>
      <p:sp>
        <p:nvSpPr>
          <p:cNvPr id="106" name="Rectangle: Rounded Corners 105">
            <a:extLst>
              <a:ext uri="{FF2B5EF4-FFF2-40B4-BE49-F238E27FC236}">
                <a16:creationId xmlns:a16="http://schemas.microsoft.com/office/drawing/2014/main" id="{94206811-9F28-5229-C7AE-CE15057CB4F5}"/>
              </a:ext>
            </a:extLst>
          </p:cNvPr>
          <p:cNvSpPr/>
          <p:nvPr/>
        </p:nvSpPr>
        <p:spPr>
          <a:xfrm>
            <a:off x="1886798" y="5560141"/>
            <a:ext cx="1465004"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Monitor Flame sensor</a:t>
            </a:r>
          </a:p>
        </p:txBody>
      </p:sp>
      <p:cxnSp>
        <p:nvCxnSpPr>
          <p:cNvPr id="110" name="Straight Arrow Connector 109">
            <a:extLst>
              <a:ext uri="{FF2B5EF4-FFF2-40B4-BE49-F238E27FC236}">
                <a16:creationId xmlns:a16="http://schemas.microsoft.com/office/drawing/2014/main" id="{1008EA08-1352-E84A-E45E-6C85891B7498}"/>
              </a:ext>
            </a:extLst>
          </p:cNvPr>
          <p:cNvCxnSpPr>
            <a:endCxn id="106" idx="0"/>
          </p:cNvCxnSpPr>
          <p:nvPr/>
        </p:nvCxnSpPr>
        <p:spPr>
          <a:xfrm>
            <a:off x="2619300" y="4375787"/>
            <a:ext cx="0" cy="11843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2" name="Straight Arrow Connector 111">
            <a:extLst>
              <a:ext uri="{FF2B5EF4-FFF2-40B4-BE49-F238E27FC236}">
                <a16:creationId xmlns:a16="http://schemas.microsoft.com/office/drawing/2014/main" id="{BA8B5833-6357-C99C-3A1A-A788973201D8}"/>
              </a:ext>
            </a:extLst>
          </p:cNvPr>
          <p:cNvCxnSpPr>
            <a:stCxn id="106" idx="3"/>
            <a:endCxn id="105" idx="1"/>
          </p:cNvCxnSpPr>
          <p:nvPr/>
        </p:nvCxnSpPr>
        <p:spPr>
          <a:xfrm flipV="1">
            <a:off x="3351802" y="5817751"/>
            <a:ext cx="295963" cy="29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4" name="Connector: Elbow 113">
            <a:extLst>
              <a:ext uri="{FF2B5EF4-FFF2-40B4-BE49-F238E27FC236}">
                <a16:creationId xmlns:a16="http://schemas.microsoft.com/office/drawing/2014/main" id="{D4CF69B5-CC6C-9201-5B4E-800388E9E990}"/>
              </a:ext>
            </a:extLst>
          </p:cNvPr>
          <p:cNvCxnSpPr>
            <a:stCxn id="105" idx="2"/>
            <a:endCxn id="106" idx="2"/>
          </p:cNvCxnSpPr>
          <p:nvPr/>
        </p:nvCxnSpPr>
        <p:spPr>
          <a:xfrm rot="5400000" flipH="1">
            <a:off x="3404778" y="5295773"/>
            <a:ext cx="362077" cy="1933034"/>
          </a:xfrm>
          <a:prstGeom prst="bentConnector3">
            <a:avLst>
              <a:gd name="adj1" fmla="val -24775"/>
            </a:avLst>
          </a:prstGeom>
          <a:ln>
            <a:tailEnd type="triangle"/>
          </a:ln>
        </p:spPr>
        <p:style>
          <a:lnRef idx="3">
            <a:schemeClr val="dk1"/>
          </a:lnRef>
          <a:fillRef idx="0">
            <a:schemeClr val="dk1"/>
          </a:fillRef>
          <a:effectRef idx="2">
            <a:schemeClr val="dk1"/>
          </a:effectRef>
          <a:fontRef idx="minor">
            <a:schemeClr val="tx1"/>
          </a:fontRef>
        </p:style>
      </p:cxnSp>
      <p:cxnSp>
        <p:nvCxnSpPr>
          <p:cNvPr id="119" name="Straight Arrow Connector 118">
            <a:extLst>
              <a:ext uri="{FF2B5EF4-FFF2-40B4-BE49-F238E27FC236}">
                <a16:creationId xmlns:a16="http://schemas.microsoft.com/office/drawing/2014/main" id="{5CA3FCD9-5A42-D517-7C43-E74F7A1250A5}"/>
              </a:ext>
            </a:extLst>
          </p:cNvPr>
          <p:cNvCxnSpPr>
            <a:stCxn id="105" idx="3"/>
            <a:endCxn id="50" idx="1"/>
          </p:cNvCxnSpPr>
          <p:nvPr/>
        </p:nvCxnSpPr>
        <p:spPr>
          <a:xfrm>
            <a:off x="5456902" y="5817751"/>
            <a:ext cx="2561088" cy="29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1" name="Connector: Elbow 120">
            <a:extLst>
              <a:ext uri="{FF2B5EF4-FFF2-40B4-BE49-F238E27FC236}">
                <a16:creationId xmlns:a16="http://schemas.microsoft.com/office/drawing/2014/main" id="{1B171AFD-A64B-E9C3-4160-6B3CF619C19B}"/>
              </a:ext>
            </a:extLst>
          </p:cNvPr>
          <p:cNvCxnSpPr>
            <a:stCxn id="50" idx="3"/>
            <a:endCxn id="53" idx="2"/>
          </p:cNvCxnSpPr>
          <p:nvPr/>
        </p:nvCxnSpPr>
        <p:spPr>
          <a:xfrm flipV="1">
            <a:off x="9212359" y="5420737"/>
            <a:ext cx="1357030" cy="399960"/>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25" name="Straight Arrow Connector 124">
            <a:extLst>
              <a:ext uri="{FF2B5EF4-FFF2-40B4-BE49-F238E27FC236}">
                <a16:creationId xmlns:a16="http://schemas.microsoft.com/office/drawing/2014/main" id="{894EC649-DBF4-D78C-E135-4C7180086948}"/>
              </a:ext>
            </a:extLst>
          </p:cNvPr>
          <p:cNvCxnSpPr>
            <a:stCxn id="86" idx="2"/>
            <a:endCxn id="53" idx="0"/>
          </p:cNvCxnSpPr>
          <p:nvPr/>
        </p:nvCxnSpPr>
        <p:spPr>
          <a:xfrm flipH="1">
            <a:off x="10569389" y="4215400"/>
            <a:ext cx="1" cy="6694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7" name="Connector: Elbow 126">
            <a:extLst>
              <a:ext uri="{FF2B5EF4-FFF2-40B4-BE49-F238E27FC236}">
                <a16:creationId xmlns:a16="http://schemas.microsoft.com/office/drawing/2014/main" id="{7674BEBF-8C31-DD15-49CB-574399EAAF9A}"/>
              </a:ext>
            </a:extLst>
          </p:cNvPr>
          <p:cNvCxnSpPr>
            <a:stCxn id="52" idx="2"/>
            <a:endCxn id="49" idx="2"/>
          </p:cNvCxnSpPr>
          <p:nvPr/>
        </p:nvCxnSpPr>
        <p:spPr>
          <a:xfrm rot="5400000" flipH="1">
            <a:off x="5532210" y="3235524"/>
            <a:ext cx="365023" cy="2324775"/>
          </a:xfrm>
          <a:prstGeom prst="bentConnector3">
            <a:avLst>
              <a:gd name="adj1" fmla="val -62626"/>
            </a:avLst>
          </a:prstGeom>
          <a:ln>
            <a:tailEnd type="triangle"/>
          </a:ln>
        </p:spPr>
        <p:style>
          <a:lnRef idx="3">
            <a:schemeClr val="dk1"/>
          </a:lnRef>
          <a:fillRef idx="0">
            <a:schemeClr val="dk1"/>
          </a:fillRef>
          <a:effectRef idx="2">
            <a:schemeClr val="dk1"/>
          </a:effectRef>
          <a:fontRef idx="minor">
            <a:schemeClr val="tx1"/>
          </a:fontRef>
        </p:style>
      </p:cxnSp>
      <p:cxnSp>
        <p:nvCxnSpPr>
          <p:cNvPr id="131" name="Connector: Elbow 130">
            <a:extLst>
              <a:ext uri="{FF2B5EF4-FFF2-40B4-BE49-F238E27FC236}">
                <a16:creationId xmlns:a16="http://schemas.microsoft.com/office/drawing/2014/main" id="{28097E87-0FBF-2AF5-8C0B-256B135F5381}"/>
              </a:ext>
            </a:extLst>
          </p:cNvPr>
          <p:cNvCxnSpPr>
            <a:stCxn id="9" idx="2"/>
            <a:endCxn id="49" idx="0"/>
          </p:cNvCxnSpPr>
          <p:nvPr/>
        </p:nvCxnSpPr>
        <p:spPr>
          <a:xfrm rot="5400000">
            <a:off x="4408630" y="2616517"/>
            <a:ext cx="1221477" cy="934067"/>
          </a:xfrm>
          <a:prstGeom prst="bentConnector3">
            <a:avLst>
              <a:gd name="adj1" fmla="val 32943"/>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4" name="Connector: Elbow 133">
            <a:extLst>
              <a:ext uri="{FF2B5EF4-FFF2-40B4-BE49-F238E27FC236}">
                <a16:creationId xmlns:a16="http://schemas.microsoft.com/office/drawing/2014/main" id="{5254FE19-DEB1-345F-E353-7E4B1DE48677}"/>
              </a:ext>
            </a:extLst>
          </p:cNvPr>
          <p:cNvCxnSpPr>
            <a:stCxn id="10" idx="2"/>
            <a:endCxn id="49" idx="0"/>
          </p:cNvCxnSpPr>
          <p:nvPr/>
        </p:nvCxnSpPr>
        <p:spPr>
          <a:xfrm rot="5400000">
            <a:off x="4745999" y="1552790"/>
            <a:ext cx="1947835" cy="2335163"/>
          </a:xfrm>
          <a:prstGeom prst="bentConnector3">
            <a:avLst>
              <a:gd name="adj1" fmla="val 57928"/>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7" name="Isosceles Triangle 136">
            <a:extLst>
              <a:ext uri="{FF2B5EF4-FFF2-40B4-BE49-F238E27FC236}">
                <a16:creationId xmlns:a16="http://schemas.microsoft.com/office/drawing/2014/main" id="{080DF562-8501-0154-8FF0-C57B67517EB9}"/>
              </a:ext>
            </a:extLst>
          </p:cNvPr>
          <p:cNvSpPr/>
          <p:nvPr/>
        </p:nvSpPr>
        <p:spPr>
          <a:xfrm rot="10800000">
            <a:off x="4524267" y="3631791"/>
            <a:ext cx="56132" cy="52972"/>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40" name="TextBox 139">
            <a:extLst>
              <a:ext uri="{FF2B5EF4-FFF2-40B4-BE49-F238E27FC236}">
                <a16:creationId xmlns:a16="http://schemas.microsoft.com/office/drawing/2014/main" id="{EFFE3EA4-750C-4901-38BC-ED9842836766}"/>
              </a:ext>
            </a:extLst>
          </p:cNvPr>
          <p:cNvSpPr txBox="1"/>
          <p:nvPr/>
        </p:nvSpPr>
        <p:spPr>
          <a:xfrm>
            <a:off x="373626" y="794982"/>
            <a:ext cx="2343783" cy="369332"/>
          </a:xfrm>
          <a:prstGeom prst="rect">
            <a:avLst/>
          </a:prstGeom>
          <a:noFill/>
        </p:spPr>
        <p:txBody>
          <a:bodyPr wrap="none" rtlCol="0">
            <a:spAutoFit/>
          </a:bodyPr>
          <a:lstStyle/>
          <a:p>
            <a:r>
              <a:rPr lang="en-IN" b="1" i="1" dirty="0">
                <a:solidFill>
                  <a:srgbClr val="0070C0"/>
                </a:solidFill>
              </a:rPr>
              <a:t>Braille Keypad Module</a:t>
            </a:r>
          </a:p>
        </p:txBody>
      </p:sp>
      <p:sp>
        <p:nvSpPr>
          <p:cNvPr id="141" name="TextBox 140">
            <a:extLst>
              <a:ext uri="{FF2B5EF4-FFF2-40B4-BE49-F238E27FC236}">
                <a16:creationId xmlns:a16="http://schemas.microsoft.com/office/drawing/2014/main" id="{94AFB615-A3DF-7851-3BD6-207D7743D09A}"/>
              </a:ext>
            </a:extLst>
          </p:cNvPr>
          <p:cNvSpPr txBox="1"/>
          <p:nvPr/>
        </p:nvSpPr>
        <p:spPr>
          <a:xfrm>
            <a:off x="358002" y="3121360"/>
            <a:ext cx="2675156" cy="369332"/>
          </a:xfrm>
          <a:prstGeom prst="rect">
            <a:avLst/>
          </a:prstGeom>
          <a:noFill/>
        </p:spPr>
        <p:txBody>
          <a:bodyPr wrap="none" rtlCol="0">
            <a:spAutoFit/>
          </a:bodyPr>
          <a:lstStyle/>
          <a:p>
            <a:r>
              <a:rPr lang="en-IN" b="1" i="1" dirty="0">
                <a:solidFill>
                  <a:srgbClr val="0070C0"/>
                </a:solidFill>
              </a:rPr>
              <a:t>Appliance Control Module</a:t>
            </a:r>
          </a:p>
        </p:txBody>
      </p:sp>
      <p:sp>
        <p:nvSpPr>
          <p:cNvPr id="142" name="TextBox 141">
            <a:extLst>
              <a:ext uri="{FF2B5EF4-FFF2-40B4-BE49-F238E27FC236}">
                <a16:creationId xmlns:a16="http://schemas.microsoft.com/office/drawing/2014/main" id="{0D25C2E4-2AC1-C13A-6332-E64716A6AEAD}"/>
              </a:ext>
            </a:extLst>
          </p:cNvPr>
          <p:cNvSpPr txBox="1"/>
          <p:nvPr/>
        </p:nvSpPr>
        <p:spPr>
          <a:xfrm>
            <a:off x="4932218" y="1239279"/>
            <a:ext cx="1104790" cy="246221"/>
          </a:xfrm>
          <a:prstGeom prst="rect">
            <a:avLst/>
          </a:prstGeom>
          <a:noFill/>
        </p:spPr>
        <p:txBody>
          <a:bodyPr wrap="none" rtlCol="0">
            <a:spAutoFit/>
          </a:bodyPr>
          <a:lstStyle/>
          <a:p>
            <a:r>
              <a:rPr lang="en-IN" sz="1000" dirty="0"/>
              <a:t>Valid Braille Input</a:t>
            </a:r>
          </a:p>
        </p:txBody>
      </p:sp>
      <p:sp>
        <p:nvSpPr>
          <p:cNvPr id="143" name="TextBox 142">
            <a:extLst>
              <a:ext uri="{FF2B5EF4-FFF2-40B4-BE49-F238E27FC236}">
                <a16:creationId xmlns:a16="http://schemas.microsoft.com/office/drawing/2014/main" id="{6C8E88EA-A9AB-6784-419F-DABFFB86F3F4}"/>
              </a:ext>
            </a:extLst>
          </p:cNvPr>
          <p:cNvSpPr txBox="1"/>
          <p:nvPr/>
        </p:nvSpPr>
        <p:spPr>
          <a:xfrm>
            <a:off x="4285077" y="1785383"/>
            <a:ext cx="793807" cy="246221"/>
          </a:xfrm>
          <a:prstGeom prst="rect">
            <a:avLst/>
          </a:prstGeom>
          <a:noFill/>
        </p:spPr>
        <p:txBody>
          <a:bodyPr wrap="none" rtlCol="0">
            <a:spAutoFit/>
          </a:bodyPr>
          <a:lstStyle/>
          <a:p>
            <a:r>
              <a:rPr lang="en-IN" sz="1000" dirty="0"/>
              <a:t>Emergency </a:t>
            </a:r>
          </a:p>
        </p:txBody>
      </p:sp>
      <p:sp>
        <p:nvSpPr>
          <p:cNvPr id="144" name="TextBox 143">
            <a:extLst>
              <a:ext uri="{FF2B5EF4-FFF2-40B4-BE49-F238E27FC236}">
                <a16:creationId xmlns:a16="http://schemas.microsoft.com/office/drawing/2014/main" id="{BBFF0620-4728-4C9E-D526-7CD03EBA480F}"/>
              </a:ext>
            </a:extLst>
          </p:cNvPr>
          <p:cNvSpPr txBox="1"/>
          <p:nvPr/>
        </p:nvSpPr>
        <p:spPr>
          <a:xfrm>
            <a:off x="10384583" y="1575731"/>
            <a:ext cx="389850" cy="246221"/>
          </a:xfrm>
          <a:prstGeom prst="rect">
            <a:avLst/>
          </a:prstGeom>
          <a:noFill/>
        </p:spPr>
        <p:txBody>
          <a:bodyPr wrap="none" rtlCol="0">
            <a:spAutoFit/>
          </a:bodyPr>
          <a:lstStyle/>
          <a:p>
            <a:r>
              <a:rPr lang="en-IN" sz="1000" dirty="0"/>
              <a:t>Yes </a:t>
            </a:r>
          </a:p>
        </p:txBody>
      </p:sp>
      <p:sp>
        <p:nvSpPr>
          <p:cNvPr id="145" name="TextBox 144">
            <a:extLst>
              <a:ext uri="{FF2B5EF4-FFF2-40B4-BE49-F238E27FC236}">
                <a16:creationId xmlns:a16="http://schemas.microsoft.com/office/drawing/2014/main" id="{82E78F61-16DC-BBE1-E4C7-D2A0B8ADC2C7}"/>
              </a:ext>
            </a:extLst>
          </p:cNvPr>
          <p:cNvSpPr txBox="1"/>
          <p:nvPr/>
        </p:nvSpPr>
        <p:spPr>
          <a:xfrm>
            <a:off x="7734237" y="3714260"/>
            <a:ext cx="389850" cy="246221"/>
          </a:xfrm>
          <a:prstGeom prst="rect">
            <a:avLst/>
          </a:prstGeom>
          <a:noFill/>
        </p:spPr>
        <p:txBody>
          <a:bodyPr wrap="none" rtlCol="0">
            <a:spAutoFit/>
          </a:bodyPr>
          <a:lstStyle/>
          <a:p>
            <a:r>
              <a:rPr lang="en-IN" sz="1000" dirty="0"/>
              <a:t>Yes </a:t>
            </a:r>
          </a:p>
        </p:txBody>
      </p:sp>
      <p:sp>
        <p:nvSpPr>
          <p:cNvPr id="146" name="TextBox 145">
            <a:extLst>
              <a:ext uri="{FF2B5EF4-FFF2-40B4-BE49-F238E27FC236}">
                <a16:creationId xmlns:a16="http://schemas.microsoft.com/office/drawing/2014/main" id="{77884AFE-E097-E7FB-385C-12467DB7C632}"/>
              </a:ext>
            </a:extLst>
          </p:cNvPr>
          <p:cNvSpPr txBox="1"/>
          <p:nvPr/>
        </p:nvSpPr>
        <p:spPr>
          <a:xfrm>
            <a:off x="6542521" y="5590887"/>
            <a:ext cx="389850" cy="246221"/>
          </a:xfrm>
          <a:prstGeom prst="rect">
            <a:avLst/>
          </a:prstGeom>
          <a:noFill/>
        </p:spPr>
        <p:txBody>
          <a:bodyPr wrap="none" rtlCol="0">
            <a:spAutoFit/>
          </a:bodyPr>
          <a:lstStyle/>
          <a:p>
            <a:r>
              <a:rPr lang="en-IN" sz="1000" dirty="0"/>
              <a:t>Yes </a:t>
            </a:r>
          </a:p>
        </p:txBody>
      </p:sp>
      <p:sp>
        <p:nvSpPr>
          <p:cNvPr id="147" name="TextBox 146">
            <a:extLst>
              <a:ext uri="{FF2B5EF4-FFF2-40B4-BE49-F238E27FC236}">
                <a16:creationId xmlns:a16="http://schemas.microsoft.com/office/drawing/2014/main" id="{0F7AB474-DFF9-054B-BF01-0406545CB382}"/>
              </a:ext>
            </a:extLst>
          </p:cNvPr>
          <p:cNvSpPr txBox="1"/>
          <p:nvPr/>
        </p:nvSpPr>
        <p:spPr>
          <a:xfrm>
            <a:off x="8181909" y="1329510"/>
            <a:ext cx="393056" cy="246221"/>
          </a:xfrm>
          <a:prstGeom prst="rect">
            <a:avLst/>
          </a:prstGeom>
          <a:noFill/>
        </p:spPr>
        <p:txBody>
          <a:bodyPr wrap="none" rtlCol="0">
            <a:spAutoFit/>
          </a:bodyPr>
          <a:lstStyle/>
          <a:p>
            <a:r>
              <a:rPr lang="en-IN" sz="1000" dirty="0"/>
              <a:t>No  </a:t>
            </a:r>
          </a:p>
        </p:txBody>
      </p:sp>
      <p:sp>
        <p:nvSpPr>
          <p:cNvPr id="148" name="TextBox 147">
            <a:extLst>
              <a:ext uri="{FF2B5EF4-FFF2-40B4-BE49-F238E27FC236}">
                <a16:creationId xmlns:a16="http://schemas.microsoft.com/office/drawing/2014/main" id="{7F99E7F9-01CE-2C5E-AC31-D77E5C1F67BC}"/>
              </a:ext>
            </a:extLst>
          </p:cNvPr>
          <p:cNvSpPr txBox="1"/>
          <p:nvPr/>
        </p:nvSpPr>
        <p:spPr>
          <a:xfrm>
            <a:off x="5518193" y="4590562"/>
            <a:ext cx="393056" cy="246221"/>
          </a:xfrm>
          <a:prstGeom prst="rect">
            <a:avLst/>
          </a:prstGeom>
          <a:noFill/>
        </p:spPr>
        <p:txBody>
          <a:bodyPr wrap="none" rtlCol="0">
            <a:spAutoFit/>
          </a:bodyPr>
          <a:lstStyle/>
          <a:p>
            <a:r>
              <a:rPr lang="en-IN" sz="1000" dirty="0"/>
              <a:t>No  </a:t>
            </a:r>
          </a:p>
        </p:txBody>
      </p:sp>
      <p:sp>
        <p:nvSpPr>
          <p:cNvPr id="149" name="TextBox 148">
            <a:extLst>
              <a:ext uri="{FF2B5EF4-FFF2-40B4-BE49-F238E27FC236}">
                <a16:creationId xmlns:a16="http://schemas.microsoft.com/office/drawing/2014/main" id="{F6BA028A-64BF-C5AD-D36C-654AA0B42F73}"/>
              </a:ext>
            </a:extLst>
          </p:cNvPr>
          <p:cNvSpPr txBox="1"/>
          <p:nvPr/>
        </p:nvSpPr>
        <p:spPr>
          <a:xfrm>
            <a:off x="3426776" y="6314043"/>
            <a:ext cx="393056" cy="246221"/>
          </a:xfrm>
          <a:prstGeom prst="rect">
            <a:avLst/>
          </a:prstGeom>
          <a:noFill/>
        </p:spPr>
        <p:txBody>
          <a:bodyPr wrap="none" rtlCol="0">
            <a:spAutoFit/>
          </a:bodyPr>
          <a:lstStyle/>
          <a:p>
            <a:r>
              <a:rPr lang="en-IN" sz="1000" dirty="0"/>
              <a:t>No  </a:t>
            </a:r>
          </a:p>
        </p:txBody>
      </p:sp>
      <p:cxnSp>
        <p:nvCxnSpPr>
          <p:cNvPr id="159" name="Connector: Elbow 158">
            <a:extLst>
              <a:ext uri="{FF2B5EF4-FFF2-40B4-BE49-F238E27FC236}">
                <a16:creationId xmlns:a16="http://schemas.microsoft.com/office/drawing/2014/main" id="{6C80C7F7-81B5-2B89-2EF1-43BF114F6D0C}"/>
              </a:ext>
            </a:extLst>
          </p:cNvPr>
          <p:cNvCxnSpPr>
            <a:stCxn id="86" idx="3"/>
            <a:endCxn id="11" idx="2"/>
          </p:cNvCxnSpPr>
          <p:nvPr/>
        </p:nvCxnSpPr>
        <p:spPr>
          <a:xfrm flipH="1" flipV="1">
            <a:off x="9448674" y="2447528"/>
            <a:ext cx="2030263" cy="1507317"/>
          </a:xfrm>
          <a:prstGeom prst="bentConnector4">
            <a:avLst>
              <a:gd name="adj1" fmla="val -11260"/>
              <a:gd name="adj2" fmla="val 67775"/>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1" name="Isosceles Triangle 160">
            <a:extLst>
              <a:ext uri="{FF2B5EF4-FFF2-40B4-BE49-F238E27FC236}">
                <a16:creationId xmlns:a16="http://schemas.microsoft.com/office/drawing/2014/main" id="{768EE49A-0314-473C-3D17-E9B805FA0268}"/>
              </a:ext>
            </a:extLst>
          </p:cNvPr>
          <p:cNvSpPr/>
          <p:nvPr/>
        </p:nvSpPr>
        <p:spPr>
          <a:xfrm>
            <a:off x="9422003" y="2455934"/>
            <a:ext cx="53340" cy="6604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2" name="TextBox 171">
            <a:extLst>
              <a:ext uri="{FF2B5EF4-FFF2-40B4-BE49-F238E27FC236}">
                <a16:creationId xmlns:a16="http://schemas.microsoft.com/office/drawing/2014/main" id="{5D4A0E75-38FF-8060-CCA0-7325C1FCFE23}"/>
              </a:ext>
            </a:extLst>
          </p:cNvPr>
          <p:cNvSpPr txBox="1"/>
          <p:nvPr/>
        </p:nvSpPr>
        <p:spPr>
          <a:xfrm>
            <a:off x="8331204" y="4492293"/>
            <a:ext cx="1223413" cy="400110"/>
          </a:xfrm>
          <a:prstGeom prst="rect">
            <a:avLst/>
          </a:prstGeom>
          <a:noFill/>
        </p:spPr>
        <p:txBody>
          <a:bodyPr wrap="none" rtlCol="0">
            <a:spAutoFit/>
          </a:bodyPr>
          <a:lstStyle/>
          <a:p>
            <a:pPr algn="ctr"/>
            <a:r>
              <a:rPr lang="en-IN" sz="1000" dirty="0"/>
              <a:t>‘F’ fire alert </a:t>
            </a:r>
          </a:p>
          <a:p>
            <a:pPr algn="ctr"/>
            <a:r>
              <a:rPr lang="en-IN" sz="1000" dirty="0"/>
              <a:t>feedback pattern →</a:t>
            </a:r>
          </a:p>
        </p:txBody>
      </p:sp>
      <p:cxnSp>
        <p:nvCxnSpPr>
          <p:cNvPr id="175" name="Connector: Elbow 174">
            <a:extLst>
              <a:ext uri="{FF2B5EF4-FFF2-40B4-BE49-F238E27FC236}">
                <a16:creationId xmlns:a16="http://schemas.microsoft.com/office/drawing/2014/main" id="{B77CE150-CA1F-9BDE-7547-C1D7EAA6B7E7}"/>
              </a:ext>
            </a:extLst>
          </p:cNvPr>
          <p:cNvCxnSpPr>
            <a:cxnSpLocks/>
            <a:stCxn id="50" idx="3"/>
            <a:endCxn id="161" idx="0"/>
          </p:cNvCxnSpPr>
          <p:nvPr/>
        </p:nvCxnSpPr>
        <p:spPr>
          <a:xfrm flipV="1">
            <a:off x="9212359" y="2455934"/>
            <a:ext cx="236314" cy="3364763"/>
          </a:xfrm>
          <a:prstGeom prst="bentConnector4">
            <a:avLst>
              <a:gd name="adj1" fmla="val 44357"/>
              <a:gd name="adj2" fmla="val 89"/>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1" name="TextBox 180">
            <a:extLst>
              <a:ext uri="{FF2B5EF4-FFF2-40B4-BE49-F238E27FC236}">
                <a16:creationId xmlns:a16="http://schemas.microsoft.com/office/drawing/2014/main" id="{F32F0B91-5573-7D4C-3E03-4E6BBAFE15AE}"/>
              </a:ext>
            </a:extLst>
          </p:cNvPr>
          <p:cNvSpPr txBox="1"/>
          <p:nvPr/>
        </p:nvSpPr>
        <p:spPr>
          <a:xfrm>
            <a:off x="10592761" y="3143495"/>
            <a:ext cx="1223413" cy="400110"/>
          </a:xfrm>
          <a:prstGeom prst="rect">
            <a:avLst/>
          </a:prstGeom>
          <a:noFill/>
        </p:spPr>
        <p:txBody>
          <a:bodyPr wrap="none" rtlCol="0">
            <a:spAutoFit/>
          </a:bodyPr>
          <a:lstStyle/>
          <a:p>
            <a:pPr algn="ctr"/>
            <a:r>
              <a:rPr lang="en-IN" sz="1000" dirty="0"/>
              <a:t>S/E/C/W</a:t>
            </a:r>
          </a:p>
          <a:p>
            <a:pPr algn="ctr"/>
            <a:r>
              <a:rPr lang="en-IN" sz="1000" dirty="0"/>
              <a:t>feedback pattern →</a:t>
            </a:r>
          </a:p>
        </p:txBody>
      </p:sp>
      <p:cxnSp>
        <p:nvCxnSpPr>
          <p:cNvPr id="183" name="Connector: Elbow 182">
            <a:extLst>
              <a:ext uri="{FF2B5EF4-FFF2-40B4-BE49-F238E27FC236}">
                <a16:creationId xmlns:a16="http://schemas.microsoft.com/office/drawing/2014/main" id="{DBABEF82-8914-5F7B-03A0-F1EB66AB6C67}"/>
              </a:ext>
            </a:extLst>
          </p:cNvPr>
          <p:cNvCxnSpPr>
            <a:stCxn id="50" idx="2"/>
            <a:endCxn id="106" idx="1"/>
          </p:cNvCxnSpPr>
          <p:nvPr/>
        </p:nvCxnSpPr>
        <p:spPr>
          <a:xfrm rot="5400000" flipH="1">
            <a:off x="5130541" y="2576954"/>
            <a:ext cx="240891" cy="6728377"/>
          </a:xfrm>
          <a:prstGeom prst="bentConnector4">
            <a:avLst>
              <a:gd name="adj1" fmla="val -262244"/>
              <a:gd name="adj2" fmla="val 103398"/>
            </a:avLst>
          </a:prstGeom>
          <a:ln>
            <a:tailEnd type="triangle"/>
          </a:ln>
        </p:spPr>
        <p:style>
          <a:lnRef idx="3">
            <a:schemeClr val="dk1"/>
          </a:lnRef>
          <a:fillRef idx="0">
            <a:schemeClr val="dk1"/>
          </a:fillRef>
          <a:effectRef idx="2">
            <a:schemeClr val="dk1"/>
          </a:effectRef>
          <a:fontRef idx="minor">
            <a:schemeClr val="tx1"/>
          </a:fontRef>
        </p:style>
      </p:cxnSp>
      <p:cxnSp>
        <p:nvCxnSpPr>
          <p:cNvPr id="190" name="Connector: Elbow 189">
            <a:extLst>
              <a:ext uri="{FF2B5EF4-FFF2-40B4-BE49-F238E27FC236}">
                <a16:creationId xmlns:a16="http://schemas.microsoft.com/office/drawing/2014/main" id="{25358D26-1678-4E60-A7A8-4BBA3AAEEF32}"/>
              </a:ext>
            </a:extLst>
          </p:cNvPr>
          <p:cNvCxnSpPr>
            <a:stCxn id="53" idx="1"/>
            <a:endCxn id="49" idx="2"/>
          </p:cNvCxnSpPr>
          <p:nvPr/>
        </p:nvCxnSpPr>
        <p:spPr>
          <a:xfrm rot="10800000">
            <a:off x="4552334" y="4215400"/>
            <a:ext cx="5466448" cy="937409"/>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433759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0071E3"/>
                </a:solidFill>
                <a:latin typeface="Liter" pitchFamily="34" charset="0"/>
                <a:ea typeface="Liter" pitchFamily="34" charset="-122"/>
                <a:cs typeface="Liter" pitchFamily="34" charset="-120"/>
              </a:rPr>
              <a:t>SYSTEM ARCHITECTURE</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D1D1D"/>
                </a:solidFill>
                <a:latin typeface="Liter" pitchFamily="34" charset="0"/>
                <a:ea typeface="Liter" pitchFamily="34" charset="-122"/>
                <a:cs typeface="Liter" pitchFamily="34" charset="-120"/>
              </a:rPr>
              <a:t>The Handshake: Master/Slave Model</a:t>
            </a:r>
            <a:endParaRPr lang="en-US" sz="1600" dirty="0"/>
          </a:p>
        </p:txBody>
      </p:sp>
      <p:sp>
        <p:nvSpPr>
          <p:cNvPr id="4" name="Shape 2"/>
          <p:cNvSpPr/>
          <p:nvPr/>
        </p:nvSpPr>
        <p:spPr>
          <a:xfrm>
            <a:off x="384810" y="1223010"/>
            <a:ext cx="6760845" cy="2484120"/>
          </a:xfrm>
          <a:custGeom>
            <a:avLst/>
            <a:gdLst/>
            <a:ahLst/>
            <a:cxnLst/>
            <a:rect l="l" t="t" r="r" b="b"/>
            <a:pathLst>
              <a:path w="6760845" h="2484120">
                <a:moveTo>
                  <a:pt x="114294" y="0"/>
                </a:moveTo>
                <a:lnTo>
                  <a:pt x="6646551" y="0"/>
                </a:lnTo>
                <a:cubicBezTo>
                  <a:pt x="6709674" y="0"/>
                  <a:pt x="6760845" y="51171"/>
                  <a:pt x="6760845" y="114294"/>
                </a:cubicBezTo>
                <a:lnTo>
                  <a:pt x="6760845" y="2369826"/>
                </a:lnTo>
                <a:cubicBezTo>
                  <a:pt x="6760845" y="2432949"/>
                  <a:pt x="6709674" y="2484120"/>
                  <a:pt x="6646551" y="2484120"/>
                </a:cubicBezTo>
                <a:lnTo>
                  <a:pt x="114294" y="2484120"/>
                </a:lnTo>
                <a:cubicBezTo>
                  <a:pt x="51171" y="2484120"/>
                  <a:pt x="0" y="2432949"/>
                  <a:pt x="0" y="2369826"/>
                </a:cubicBezTo>
                <a:lnTo>
                  <a:pt x="0" y="114294"/>
                </a:lnTo>
                <a:cubicBezTo>
                  <a:pt x="0" y="51171"/>
                  <a:pt x="51171" y="0"/>
                  <a:pt x="114294" y="0"/>
                </a:cubicBezTo>
                <a:close/>
              </a:path>
            </a:pathLst>
          </a:custGeom>
          <a:solidFill>
            <a:srgbClr val="FFFFFF"/>
          </a:solidFill>
          <a:ln w="10160">
            <a:solidFill>
              <a:srgbClr val="E5E5E5"/>
            </a:solidFill>
            <a:prstDash val="solid"/>
          </a:ln>
          <a:effectLst>
            <a:outerShdw blurRad="28575" dist="9525" dir="5400000" algn="bl" rotWithShape="0">
              <a:srgbClr val="000000">
                <a:alpha val="10196"/>
              </a:srgbClr>
            </a:outerShdw>
          </a:effectLst>
        </p:spPr>
      </p:sp>
      <p:sp>
        <p:nvSpPr>
          <p:cNvPr id="5" name="Shape 3"/>
          <p:cNvSpPr/>
          <p:nvPr/>
        </p:nvSpPr>
        <p:spPr>
          <a:xfrm>
            <a:off x="629126" y="1493520"/>
            <a:ext cx="214313" cy="190500"/>
          </a:xfrm>
          <a:custGeom>
            <a:avLst/>
            <a:gdLst/>
            <a:ahLst/>
            <a:cxnLst/>
            <a:rect l="l" t="t" r="r" b="b"/>
            <a:pathLst>
              <a:path w="214313" h="190500">
                <a:moveTo>
                  <a:pt x="92273" y="32742"/>
                </a:moveTo>
                <a:lnTo>
                  <a:pt x="122039" y="32742"/>
                </a:lnTo>
                <a:lnTo>
                  <a:pt x="122039" y="50602"/>
                </a:lnTo>
                <a:lnTo>
                  <a:pt x="92273" y="50602"/>
                </a:lnTo>
                <a:lnTo>
                  <a:pt x="92273" y="32742"/>
                </a:lnTo>
                <a:close/>
                <a:moveTo>
                  <a:pt x="89297" y="11906"/>
                </a:moveTo>
                <a:cubicBezTo>
                  <a:pt x="79437" y="11906"/>
                  <a:pt x="71438" y="19906"/>
                  <a:pt x="71438" y="29766"/>
                </a:cubicBezTo>
                <a:lnTo>
                  <a:pt x="71438" y="53578"/>
                </a:lnTo>
                <a:cubicBezTo>
                  <a:pt x="71438" y="63438"/>
                  <a:pt x="79437" y="71438"/>
                  <a:pt x="89297" y="71438"/>
                </a:cubicBezTo>
                <a:lnTo>
                  <a:pt x="95250" y="71438"/>
                </a:lnTo>
                <a:lnTo>
                  <a:pt x="95250" y="83344"/>
                </a:lnTo>
                <a:lnTo>
                  <a:pt x="11906" y="83344"/>
                </a:lnTo>
                <a:cubicBezTo>
                  <a:pt x="5321" y="83344"/>
                  <a:pt x="0" y="88664"/>
                  <a:pt x="0" y="95250"/>
                </a:cubicBezTo>
                <a:cubicBezTo>
                  <a:pt x="0" y="101836"/>
                  <a:pt x="5321" y="107156"/>
                  <a:pt x="11906" y="107156"/>
                </a:cubicBezTo>
                <a:lnTo>
                  <a:pt x="47625" y="107156"/>
                </a:lnTo>
                <a:lnTo>
                  <a:pt x="47625" y="119063"/>
                </a:lnTo>
                <a:lnTo>
                  <a:pt x="41672" y="119063"/>
                </a:lnTo>
                <a:cubicBezTo>
                  <a:pt x="31812" y="119063"/>
                  <a:pt x="23812" y="127062"/>
                  <a:pt x="23812" y="136922"/>
                </a:cubicBezTo>
                <a:lnTo>
                  <a:pt x="23812" y="160734"/>
                </a:lnTo>
                <a:cubicBezTo>
                  <a:pt x="23812" y="170594"/>
                  <a:pt x="31812" y="178594"/>
                  <a:pt x="41672" y="178594"/>
                </a:cubicBezTo>
                <a:lnTo>
                  <a:pt x="77391" y="178594"/>
                </a:lnTo>
                <a:cubicBezTo>
                  <a:pt x="87250" y="178594"/>
                  <a:pt x="95250" y="170594"/>
                  <a:pt x="95250" y="160734"/>
                </a:cubicBezTo>
                <a:lnTo>
                  <a:pt x="95250" y="136922"/>
                </a:lnTo>
                <a:cubicBezTo>
                  <a:pt x="95250" y="127062"/>
                  <a:pt x="87250" y="119063"/>
                  <a:pt x="77391" y="119063"/>
                </a:cubicBezTo>
                <a:lnTo>
                  <a:pt x="71438" y="119063"/>
                </a:lnTo>
                <a:lnTo>
                  <a:pt x="71438" y="107156"/>
                </a:lnTo>
                <a:lnTo>
                  <a:pt x="142875" y="107156"/>
                </a:lnTo>
                <a:lnTo>
                  <a:pt x="142875" y="119063"/>
                </a:lnTo>
                <a:lnTo>
                  <a:pt x="136922" y="119063"/>
                </a:lnTo>
                <a:cubicBezTo>
                  <a:pt x="127062" y="119063"/>
                  <a:pt x="119063" y="127062"/>
                  <a:pt x="119063" y="136922"/>
                </a:cubicBezTo>
                <a:lnTo>
                  <a:pt x="119063" y="160734"/>
                </a:lnTo>
                <a:cubicBezTo>
                  <a:pt x="119063" y="170594"/>
                  <a:pt x="127062" y="178594"/>
                  <a:pt x="136922" y="178594"/>
                </a:cubicBezTo>
                <a:lnTo>
                  <a:pt x="172641" y="178594"/>
                </a:lnTo>
                <a:cubicBezTo>
                  <a:pt x="182500" y="178594"/>
                  <a:pt x="190500" y="170594"/>
                  <a:pt x="190500" y="160734"/>
                </a:cubicBezTo>
                <a:lnTo>
                  <a:pt x="190500" y="136922"/>
                </a:lnTo>
                <a:cubicBezTo>
                  <a:pt x="190500" y="127062"/>
                  <a:pt x="182500" y="119063"/>
                  <a:pt x="172641" y="119063"/>
                </a:cubicBezTo>
                <a:lnTo>
                  <a:pt x="166688" y="119063"/>
                </a:lnTo>
                <a:lnTo>
                  <a:pt x="166688" y="107156"/>
                </a:lnTo>
                <a:lnTo>
                  <a:pt x="202406" y="107156"/>
                </a:lnTo>
                <a:cubicBezTo>
                  <a:pt x="208992" y="107156"/>
                  <a:pt x="214313" y="101836"/>
                  <a:pt x="214313" y="95250"/>
                </a:cubicBezTo>
                <a:cubicBezTo>
                  <a:pt x="214313" y="88664"/>
                  <a:pt x="208992" y="83344"/>
                  <a:pt x="202406" y="83344"/>
                </a:cubicBezTo>
                <a:lnTo>
                  <a:pt x="119063" y="83344"/>
                </a:lnTo>
                <a:lnTo>
                  <a:pt x="119063" y="71438"/>
                </a:lnTo>
                <a:lnTo>
                  <a:pt x="125016" y="71438"/>
                </a:lnTo>
                <a:cubicBezTo>
                  <a:pt x="134875" y="71438"/>
                  <a:pt x="142875" y="63438"/>
                  <a:pt x="142875" y="53578"/>
                </a:cubicBezTo>
                <a:lnTo>
                  <a:pt x="142875" y="29766"/>
                </a:lnTo>
                <a:cubicBezTo>
                  <a:pt x="142875" y="19906"/>
                  <a:pt x="134875" y="11906"/>
                  <a:pt x="125016" y="11906"/>
                </a:cubicBezTo>
                <a:lnTo>
                  <a:pt x="89297" y="11906"/>
                </a:lnTo>
                <a:close/>
                <a:moveTo>
                  <a:pt x="166688" y="139898"/>
                </a:moveTo>
                <a:lnTo>
                  <a:pt x="169664" y="139898"/>
                </a:lnTo>
                <a:lnTo>
                  <a:pt x="169664" y="157758"/>
                </a:lnTo>
                <a:lnTo>
                  <a:pt x="139898" y="157758"/>
                </a:lnTo>
                <a:lnTo>
                  <a:pt x="139898" y="139898"/>
                </a:lnTo>
                <a:lnTo>
                  <a:pt x="166688" y="139898"/>
                </a:lnTo>
                <a:close/>
                <a:moveTo>
                  <a:pt x="71438" y="139898"/>
                </a:moveTo>
                <a:lnTo>
                  <a:pt x="74414" y="139898"/>
                </a:lnTo>
                <a:lnTo>
                  <a:pt x="74414" y="157758"/>
                </a:lnTo>
                <a:lnTo>
                  <a:pt x="44648" y="157758"/>
                </a:lnTo>
                <a:lnTo>
                  <a:pt x="44648" y="139898"/>
                </a:lnTo>
                <a:lnTo>
                  <a:pt x="71438" y="139898"/>
                </a:lnTo>
                <a:close/>
              </a:path>
            </a:pathLst>
          </a:custGeom>
          <a:solidFill>
            <a:srgbClr val="0071E3"/>
          </a:solidFill>
          <a:ln/>
        </p:spPr>
      </p:sp>
      <p:sp>
        <p:nvSpPr>
          <p:cNvPr id="6" name="Text 4"/>
          <p:cNvSpPr/>
          <p:nvPr/>
        </p:nvSpPr>
        <p:spPr>
          <a:xfrm>
            <a:off x="855345" y="1455420"/>
            <a:ext cx="615315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Communication Protocol</a:t>
            </a:r>
            <a:endParaRPr lang="en-US" sz="1600" dirty="0"/>
          </a:p>
        </p:txBody>
      </p:sp>
      <p:sp>
        <p:nvSpPr>
          <p:cNvPr id="7" name="Shape 5"/>
          <p:cNvSpPr/>
          <p:nvPr/>
        </p:nvSpPr>
        <p:spPr>
          <a:xfrm>
            <a:off x="617220" y="189357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alpha val="10196"/>
            </a:srgbClr>
          </a:solidFill>
          <a:ln/>
        </p:spPr>
      </p:sp>
      <p:sp>
        <p:nvSpPr>
          <p:cNvPr id="8" name="Text 6"/>
          <p:cNvSpPr/>
          <p:nvPr/>
        </p:nvSpPr>
        <p:spPr>
          <a:xfrm>
            <a:off x="690443" y="1931670"/>
            <a:ext cx="238125"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Liter" pitchFamily="34" charset="0"/>
                <a:ea typeface="Liter" pitchFamily="34" charset="-122"/>
                <a:cs typeface="Liter" pitchFamily="34" charset="-120"/>
              </a:rPr>
              <a:t>01</a:t>
            </a:r>
            <a:endParaRPr lang="en-US" sz="1600" dirty="0"/>
          </a:p>
        </p:txBody>
      </p:sp>
      <p:sp>
        <p:nvSpPr>
          <p:cNvPr id="9" name="Text 7"/>
          <p:cNvSpPr/>
          <p:nvPr/>
        </p:nvSpPr>
        <p:spPr>
          <a:xfrm>
            <a:off x="1036320" y="1874520"/>
            <a:ext cx="4333875"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Master/Slave Architecture</a:t>
            </a:r>
            <a:endParaRPr lang="en-US" sz="1600" dirty="0"/>
          </a:p>
        </p:txBody>
      </p:sp>
      <p:sp>
        <p:nvSpPr>
          <p:cNvPr id="10" name="Text 8"/>
          <p:cNvSpPr/>
          <p:nvPr/>
        </p:nvSpPr>
        <p:spPr>
          <a:xfrm>
            <a:off x="1036320" y="2103120"/>
            <a:ext cx="43338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Remote Module (TCP Client) → Appliance Module (TCP Server)</a:t>
            </a:r>
            <a:endParaRPr lang="en-US" sz="1600" dirty="0"/>
          </a:p>
        </p:txBody>
      </p:sp>
      <p:sp>
        <p:nvSpPr>
          <p:cNvPr id="11" name="Shape 9"/>
          <p:cNvSpPr/>
          <p:nvPr/>
        </p:nvSpPr>
        <p:spPr>
          <a:xfrm>
            <a:off x="617220" y="246507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alpha val="10196"/>
            </a:srgbClr>
          </a:solidFill>
          <a:ln/>
        </p:spPr>
      </p:sp>
      <p:sp>
        <p:nvSpPr>
          <p:cNvPr id="12" name="Text 10"/>
          <p:cNvSpPr/>
          <p:nvPr/>
        </p:nvSpPr>
        <p:spPr>
          <a:xfrm>
            <a:off x="676632" y="2503170"/>
            <a:ext cx="266700"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Liter" pitchFamily="34" charset="0"/>
                <a:ea typeface="Liter" pitchFamily="34" charset="-122"/>
                <a:cs typeface="Liter" pitchFamily="34" charset="-120"/>
              </a:rPr>
              <a:t>02</a:t>
            </a:r>
            <a:endParaRPr lang="en-US" sz="1600" dirty="0"/>
          </a:p>
        </p:txBody>
      </p:sp>
      <p:sp>
        <p:nvSpPr>
          <p:cNvPr id="13" name="Text 11"/>
          <p:cNvSpPr/>
          <p:nvPr/>
        </p:nvSpPr>
        <p:spPr>
          <a:xfrm>
            <a:off x="1036320" y="2446020"/>
            <a:ext cx="3743325"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WiFi Mode: WIFI_AP_STA</a:t>
            </a:r>
            <a:endParaRPr lang="en-US" sz="1600" dirty="0"/>
          </a:p>
        </p:txBody>
      </p:sp>
      <p:sp>
        <p:nvSpPr>
          <p:cNvPr id="14" name="Text 12"/>
          <p:cNvSpPr/>
          <p:nvPr/>
        </p:nvSpPr>
        <p:spPr>
          <a:xfrm>
            <a:off x="1036320" y="2674620"/>
            <a:ext cx="37433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Dual-mode operation for flexible network configuration</a:t>
            </a:r>
            <a:endParaRPr lang="en-US" sz="1600" dirty="0"/>
          </a:p>
        </p:txBody>
      </p:sp>
      <p:sp>
        <p:nvSpPr>
          <p:cNvPr id="15" name="Shape 13"/>
          <p:cNvSpPr/>
          <p:nvPr/>
        </p:nvSpPr>
        <p:spPr>
          <a:xfrm>
            <a:off x="617220" y="303657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alpha val="10196"/>
            </a:srgbClr>
          </a:solidFill>
          <a:ln/>
        </p:spPr>
      </p:sp>
      <p:sp>
        <p:nvSpPr>
          <p:cNvPr id="16" name="Text 14"/>
          <p:cNvSpPr/>
          <p:nvPr/>
        </p:nvSpPr>
        <p:spPr>
          <a:xfrm>
            <a:off x="676037" y="3074670"/>
            <a:ext cx="266700"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Liter" pitchFamily="34" charset="0"/>
                <a:ea typeface="Liter" pitchFamily="34" charset="-122"/>
                <a:cs typeface="Liter" pitchFamily="34" charset="-120"/>
              </a:rPr>
              <a:t>03</a:t>
            </a:r>
            <a:endParaRPr lang="en-US" sz="1600" dirty="0"/>
          </a:p>
        </p:txBody>
      </p:sp>
      <p:sp>
        <p:nvSpPr>
          <p:cNvPr id="17" name="Text 15"/>
          <p:cNvSpPr/>
          <p:nvPr/>
        </p:nvSpPr>
        <p:spPr>
          <a:xfrm>
            <a:off x="1036320" y="3017520"/>
            <a:ext cx="4419600"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TCP Communication Port 7890</a:t>
            </a:r>
            <a:endParaRPr lang="en-US" sz="1600" dirty="0"/>
          </a:p>
        </p:txBody>
      </p:sp>
      <p:sp>
        <p:nvSpPr>
          <p:cNvPr id="18" name="Text 16"/>
          <p:cNvSpPr/>
          <p:nvPr/>
        </p:nvSpPr>
        <p:spPr>
          <a:xfrm>
            <a:off x="1036320" y="3246120"/>
            <a:ext cx="44196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Reliable connection-oriented protocol for command transmission</a:t>
            </a:r>
            <a:endParaRPr lang="en-US" sz="1600" dirty="0"/>
          </a:p>
        </p:txBody>
      </p:sp>
      <p:sp>
        <p:nvSpPr>
          <p:cNvPr id="19" name="Shape 17"/>
          <p:cNvSpPr/>
          <p:nvPr/>
        </p:nvSpPr>
        <p:spPr>
          <a:xfrm>
            <a:off x="381000" y="3901440"/>
            <a:ext cx="6762750" cy="2476500"/>
          </a:xfrm>
          <a:custGeom>
            <a:avLst/>
            <a:gdLst/>
            <a:ahLst/>
            <a:cxnLst/>
            <a:rect l="l" t="t" r="r" b="b"/>
            <a:pathLst>
              <a:path w="6762750" h="2476500">
                <a:moveTo>
                  <a:pt x="114290" y="0"/>
                </a:moveTo>
                <a:lnTo>
                  <a:pt x="6648460" y="0"/>
                </a:lnTo>
                <a:cubicBezTo>
                  <a:pt x="6711580" y="0"/>
                  <a:pt x="6762750" y="51170"/>
                  <a:pt x="6762750" y="114290"/>
                </a:cubicBezTo>
                <a:lnTo>
                  <a:pt x="6762750" y="2362210"/>
                </a:lnTo>
                <a:cubicBezTo>
                  <a:pt x="6762750" y="2425330"/>
                  <a:pt x="6711580" y="2476500"/>
                  <a:pt x="6648460" y="2476500"/>
                </a:cubicBezTo>
                <a:lnTo>
                  <a:pt x="114290" y="2476500"/>
                </a:lnTo>
                <a:cubicBezTo>
                  <a:pt x="51170" y="2476500"/>
                  <a:pt x="0" y="2425330"/>
                  <a:pt x="0" y="2362210"/>
                </a:cubicBezTo>
                <a:lnTo>
                  <a:pt x="0" y="114290"/>
                </a:lnTo>
                <a:cubicBezTo>
                  <a:pt x="0" y="51212"/>
                  <a:pt x="51212" y="0"/>
                  <a:pt x="114290" y="0"/>
                </a:cubicBezTo>
                <a:close/>
              </a:path>
            </a:pathLst>
          </a:custGeom>
          <a:solidFill>
            <a:srgbClr val="1D1D1D"/>
          </a:solidFill>
          <a:ln/>
        </p:spPr>
      </p:sp>
      <p:sp>
        <p:nvSpPr>
          <p:cNvPr id="20" name="Shape 18"/>
          <p:cNvSpPr/>
          <p:nvPr/>
        </p:nvSpPr>
        <p:spPr>
          <a:xfrm>
            <a:off x="584597" y="4139565"/>
            <a:ext cx="192881" cy="171450"/>
          </a:xfrm>
          <a:custGeom>
            <a:avLst/>
            <a:gdLst/>
            <a:ahLst/>
            <a:cxnLst/>
            <a:rect l="l" t="t" r="r" b="b"/>
            <a:pathLst>
              <a:path w="192881" h="171450">
                <a:moveTo>
                  <a:pt x="120819" y="402"/>
                </a:moveTo>
                <a:cubicBezTo>
                  <a:pt x="115126" y="-1239"/>
                  <a:pt x="109199" y="2076"/>
                  <a:pt x="107558" y="7769"/>
                </a:cubicBezTo>
                <a:lnTo>
                  <a:pt x="64696" y="157788"/>
                </a:lnTo>
                <a:cubicBezTo>
                  <a:pt x="63055" y="163480"/>
                  <a:pt x="66370" y="169407"/>
                  <a:pt x="72063" y="171048"/>
                </a:cubicBezTo>
                <a:cubicBezTo>
                  <a:pt x="77755" y="172689"/>
                  <a:pt x="83682" y="169374"/>
                  <a:pt x="85323" y="163681"/>
                </a:cubicBezTo>
                <a:lnTo>
                  <a:pt x="128186" y="13662"/>
                </a:lnTo>
                <a:cubicBezTo>
                  <a:pt x="129826" y="7970"/>
                  <a:pt x="126511" y="2043"/>
                  <a:pt x="120819" y="402"/>
                </a:cubicBezTo>
                <a:close/>
                <a:moveTo>
                  <a:pt x="142451" y="45977"/>
                </a:moveTo>
                <a:cubicBezTo>
                  <a:pt x="138265" y="50163"/>
                  <a:pt x="138265" y="56960"/>
                  <a:pt x="142451" y="61146"/>
                </a:cubicBezTo>
                <a:lnTo>
                  <a:pt x="167030" y="85725"/>
                </a:lnTo>
                <a:lnTo>
                  <a:pt x="142451" y="110304"/>
                </a:lnTo>
                <a:cubicBezTo>
                  <a:pt x="138265" y="114490"/>
                  <a:pt x="138265" y="121287"/>
                  <a:pt x="142451" y="125473"/>
                </a:cubicBezTo>
                <a:cubicBezTo>
                  <a:pt x="146637" y="129659"/>
                  <a:pt x="153434" y="129659"/>
                  <a:pt x="157620" y="125473"/>
                </a:cubicBezTo>
                <a:lnTo>
                  <a:pt x="189767" y="93326"/>
                </a:lnTo>
                <a:cubicBezTo>
                  <a:pt x="193953" y="89141"/>
                  <a:pt x="193953" y="82343"/>
                  <a:pt x="189767" y="78157"/>
                </a:cubicBezTo>
                <a:lnTo>
                  <a:pt x="157620" y="46010"/>
                </a:lnTo>
                <a:cubicBezTo>
                  <a:pt x="153434" y="41824"/>
                  <a:pt x="146637" y="41824"/>
                  <a:pt x="142451" y="46010"/>
                </a:cubicBezTo>
                <a:close/>
                <a:moveTo>
                  <a:pt x="50464" y="45977"/>
                </a:moveTo>
                <a:cubicBezTo>
                  <a:pt x="46278" y="41791"/>
                  <a:pt x="39480" y="41791"/>
                  <a:pt x="35295" y="45977"/>
                </a:cubicBezTo>
                <a:lnTo>
                  <a:pt x="3148" y="78124"/>
                </a:lnTo>
                <a:cubicBezTo>
                  <a:pt x="-1038" y="82309"/>
                  <a:pt x="-1038" y="89107"/>
                  <a:pt x="3148" y="93293"/>
                </a:cubicBezTo>
                <a:lnTo>
                  <a:pt x="35295" y="125440"/>
                </a:lnTo>
                <a:cubicBezTo>
                  <a:pt x="39480" y="129626"/>
                  <a:pt x="46278" y="129626"/>
                  <a:pt x="50464" y="125440"/>
                </a:cubicBezTo>
                <a:cubicBezTo>
                  <a:pt x="54650" y="121254"/>
                  <a:pt x="54650" y="114456"/>
                  <a:pt x="50464" y="110270"/>
                </a:cubicBezTo>
                <a:lnTo>
                  <a:pt x="25885" y="85725"/>
                </a:lnTo>
                <a:lnTo>
                  <a:pt x="50430" y="61146"/>
                </a:lnTo>
                <a:cubicBezTo>
                  <a:pt x="54616" y="56960"/>
                  <a:pt x="54616" y="50163"/>
                  <a:pt x="50430" y="45977"/>
                </a:cubicBezTo>
                <a:close/>
              </a:path>
            </a:pathLst>
          </a:custGeom>
          <a:solidFill>
            <a:srgbClr val="0071E3"/>
          </a:solidFill>
          <a:ln/>
        </p:spPr>
      </p:sp>
      <p:sp>
        <p:nvSpPr>
          <p:cNvPr id="21" name="Text 19"/>
          <p:cNvSpPr/>
          <p:nvPr/>
        </p:nvSpPr>
        <p:spPr>
          <a:xfrm>
            <a:off x="790575" y="4091940"/>
            <a:ext cx="62484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Key Code Implementation</a:t>
            </a:r>
            <a:endParaRPr lang="en-US" sz="1600" dirty="0"/>
          </a:p>
        </p:txBody>
      </p:sp>
      <p:sp>
        <p:nvSpPr>
          <p:cNvPr id="22" name="Shape 20"/>
          <p:cNvSpPr/>
          <p:nvPr/>
        </p:nvSpPr>
        <p:spPr>
          <a:xfrm>
            <a:off x="571500" y="4472940"/>
            <a:ext cx="6381750" cy="1714500"/>
          </a:xfrm>
          <a:custGeom>
            <a:avLst/>
            <a:gdLst/>
            <a:ahLst/>
            <a:cxnLst/>
            <a:rect l="l" t="t" r="r" b="b"/>
            <a:pathLst>
              <a:path w="6381750" h="1714500">
                <a:moveTo>
                  <a:pt x="76192" y="0"/>
                </a:moveTo>
                <a:lnTo>
                  <a:pt x="6305558" y="0"/>
                </a:lnTo>
                <a:cubicBezTo>
                  <a:pt x="6347638" y="0"/>
                  <a:pt x="6381750" y="34112"/>
                  <a:pt x="6381750" y="76192"/>
                </a:cubicBezTo>
                <a:lnTo>
                  <a:pt x="6381750" y="1638308"/>
                </a:lnTo>
                <a:cubicBezTo>
                  <a:pt x="6381750" y="1680388"/>
                  <a:pt x="6347638" y="1714500"/>
                  <a:pt x="6305558" y="1714500"/>
                </a:cubicBezTo>
                <a:lnTo>
                  <a:pt x="76192" y="1714500"/>
                </a:lnTo>
                <a:cubicBezTo>
                  <a:pt x="34112" y="1714500"/>
                  <a:pt x="0" y="1680388"/>
                  <a:pt x="0" y="1638308"/>
                </a:cubicBezTo>
                <a:lnTo>
                  <a:pt x="0" y="76192"/>
                </a:lnTo>
                <a:cubicBezTo>
                  <a:pt x="0" y="34141"/>
                  <a:pt x="34141" y="0"/>
                  <a:pt x="76192" y="0"/>
                </a:cubicBezTo>
                <a:close/>
              </a:path>
            </a:pathLst>
          </a:custGeom>
          <a:solidFill>
            <a:srgbClr val="2D2D2D"/>
          </a:solidFill>
          <a:ln/>
        </p:spPr>
      </p:sp>
      <p:sp>
        <p:nvSpPr>
          <p:cNvPr id="23" name="Text 21"/>
          <p:cNvSpPr/>
          <p:nvPr/>
        </p:nvSpPr>
        <p:spPr>
          <a:xfrm>
            <a:off x="723900" y="4587240"/>
            <a:ext cx="6138863" cy="190500"/>
          </a:xfrm>
          <a:prstGeom prst="rect">
            <a:avLst/>
          </a:prstGeom>
          <a:noFill/>
          <a:ln/>
        </p:spPr>
        <p:txBody>
          <a:bodyPr wrap="square" lIns="0" tIns="0" rIns="0" bIns="0" rtlCol="0" anchor="ctr"/>
          <a:lstStyle/>
          <a:p>
            <a:pPr>
              <a:lnSpc>
                <a:spcPct val="130000"/>
              </a:lnSpc>
            </a:pPr>
            <a:r>
              <a:rPr lang="en-US" sz="975" dirty="0">
                <a:solidFill>
                  <a:srgbClr val="0071E3"/>
                </a:solidFill>
                <a:latin typeface="MiSans" pitchFamily="34" charset="0"/>
                <a:ea typeface="MiSans" pitchFamily="34" charset="-122"/>
                <a:cs typeface="MiSans" pitchFamily="34" charset="-120"/>
              </a:rPr>
              <a:t>WiFiServer</a:t>
            </a:r>
            <a:r>
              <a:rPr lang="en-US" sz="975" dirty="0">
                <a:solidFill>
                  <a:srgbClr val="FFFFFF"/>
                </a:solidFill>
                <a:latin typeface="MiSans" pitchFamily="34" charset="0"/>
                <a:ea typeface="MiSans" pitchFamily="34" charset="-122"/>
                <a:cs typeface="MiSans" pitchFamily="34" charset="-120"/>
              </a:rPr>
              <a:t> tcpServer(</a:t>
            </a:r>
            <a:r>
              <a:rPr lang="en-US" sz="975" dirty="0">
                <a:solidFill>
                  <a:srgbClr val="FF9500"/>
                </a:solidFill>
                <a:latin typeface="MiSans" pitchFamily="34" charset="0"/>
                <a:ea typeface="MiSans" pitchFamily="34" charset="-122"/>
                <a:cs typeface="MiSans" pitchFamily="34" charset="-120"/>
              </a:rPr>
              <a:t>7890</a:t>
            </a:r>
            <a:r>
              <a:rPr lang="en-US" sz="975" dirty="0">
                <a:solidFill>
                  <a:srgbClr val="FFFFFF"/>
                </a:solidFill>
                <a:latin typeface="MiSans" pitchFamily="34" charset="0"/>
                <a:ea typeface="MiSans" pitchFamily="34" charset="-122"/>
                <a:cs typeface="MiSans" pitchFamily="34" charset="-120"/>
              </a:rPr>
              <a:t>);</a:t>
            </a:r>
            <a:endParaRPr lang="en-US" sz="1600" dirty="0"/>
          </a:p>
        </p:txBody>
      </p:sp>
      <p:sp>
        <p:nvSpPr>
          <p:cNvPr id="24" name="Text 22"/>
          <p:cNvSpPr/>
          <p:nvPr/>
        </p:nvSpPr>
        <p:spPr>
          <a:xfrm>
            <a:off x="723900" y="4772977"/>
            <a:ext cx="6138863" cy="190500"/>
          </a:xfrm>
          <a:prstGeom prst="rect">
            <a:avLst/>
          </a:prstGeom>
          <a:noFill/>
          <a:ln/>
        </p:spPr>
        <p:txBody>
          <a:bodyPr wrap="square" lIns="0" tIns="0" rIns="0" bIns="0" rtlCol="0" anchor="ctr"/>
          <a:lstStyle/>
          <a:p>
            <a:pPr>
              <a:lnSpc>
                <a:spcPct val="130000"/>
              </a:lnSpc>
            </a:pPr>
            <a:r>
              <a:rPr lang="en-US" sz="975" dirty="0">
                <a:solidFill>
                  <a:srgbClr val="0071E3"/>
                </a:solidFill>
                <a:latin typeface="MiSans" pitchFamily="34" charset="0"/>
                <a:ea typeface="MiSans" pitchFamily="34" charset="-122"/>
                <a:cs typeface="MiSans" pitchFamily="34" charset="-120"/>
              </a:rPr>
              <a:t>WiFiClient</a:t>
            </a:r>
            <a:r>
              <a:rPr lang="en-US" sz="975" dirty="0">
                <a:solidFill>
                  <a:srgbClr val="FFFFFF"/>
                </a:solidFill>
                <a:latin typeface="MiSans" pitchFamily="34" charset="0"/>
                <a:ea typeface="MiSans" pitchFamily="34" charset="-122"/>
                <a:cs typeface="MiSans" pitchFamily="34" charset="-120"/>
              </a:rPr>
              <a:t> activeClient;</a:t>
            </a:r>
            <a:endParaRPr lang="en-US" sz="1600" dirty="0"/>
          </a:p>
        </p:txBody>
      </p:sp>
      <p:sp>
        <p:nvSpPr>
          <p:cNvPr id="25" name="Text 23"/>
          <p:cNvSpPr/>
          <p:nvPr/>
        </p:nvSpPr>
        <p:spPr>
          <a:xfrm>
            <a:off x="723900" y="4973956"/>
            <a:ext cx="2662714" cy="144780"/>
          </a:xfrm>
          <a:prstGeom prst="rect">
            <a:avLst/>
          </a:prstGeom>
          <a:noFill/>
          <a:ln/>
        </p:spPr>
        <p:txBody>
          <a:bodyPr wrap="square" lIns="0" tIns="0" rIns="0" bIns="0" rtlCol="0" anchor="ctr"/>
          <a:lstStyle/>
          <a:p>
            <a:pPr>
              <a:lnSpc>
                <a:spcPct val="130000"/>
              </a:lnSpc>
            </a:pPr>
            <a:r>
              <a:rPr lang="en-US" sz="975" dirty="0">
                <a:solidFill>
                  <a:srgbClr val="86868B"/>
                </a:solidFill>
                <a:latin typeface="MiSans" pitchFamily="34" charset="0"/>
                <a:ea typeface="MiSans" pitchFamily="34" charset="-122"/>
                <a:cs typeface="MiSans" pitchFamily="34" charset="-120"/>
              </a:rPr>
              <a:t>// Server initialization in setup()</a:t>
            </a:r>
            <a:endParaRPr lang="en-US" sz="1600" dirty="0"/>
          </a:p>
        </p:txBody>
      </p:sp>
      <p:sp>
        <p:nvSpPr>
          <p:cNvPr id="26" name="Text 24"/>
          <p:cNvSpPr/>
          <p:nvPr/>
        </p:nvSpPr>
        <p:spPr>
          <a:xfrm>
            <a:off x="723900" y="5144452"/>
            <a:ext cx="6138863" cy="190500"/>
          </a:xfrm>
          <a:prstGeom prst="rect">
            <a:avLst/>
          </a:prstGeom>
          <a:noFill/>
          <a:ln/>
        </p:spPr>
        <p:txBody>
          <a:bodyPr wrap="square" lIns="0" tIns="0" rIns="0" bIns="0" rtlCol="0" anchor="ctr"/>
          <a:lstStyle/>
          <a:p>
            <a:pPr>
              <a:lnSpc>
                <a:spcPct val="130000"/>
              </a:lnSpc>
            </a:pPr>
            <a:r>
              <a:rPr lang="en-US" sz="975" dirty="0">
                <a:solidFill>
                  <a:srgbClr val="FFFFFF"/>
                </a:solidFill>
                <a:latin typeface="MiSans" pitchFamily="34" charset="0"/>
                <a:ea typeface="MiSans" pitchFamily="34" charset="-122"/>
                <a:cs typeface="MiSans" pitchFamily="34" charset="-120"/>
              </a:rPr>
              <a:t>tcpServer.begin();</a:t>
            </a:r>
            <a:endParaRPr lang="en-US" sz="1600" dirty="0"/>
          </a:p>
        </p:txBody>
      </p:sp>
      <p:sp>
        <p:nvSpPr>
          <p:cNvPr id="27" name="Text 25"/>
          <p:cNvSpPr/>
          <p:nvPr/>
        </p:nvSpPr>
        <p:spPr>
          <a:xfrm>
            <a:off x="723900" y="5345431"/>
            <a:ext cx="2959894" cy="144780"/>
          </a:xfrm>
          <a:prstGeom prst="rect">
            <a:avLst/>
          </a:prstGeom>
          <a:noFill/>
          <a:ln/>
        </p:spPr>
        <p:txBody>
          <a:bodyPr wrap="square" lIns="0" tIns="0" rIns="0" bIns="0" rtlCol="0" anchor="ctr"/>
          <a:lstStyle/>
          <a:p>
            <a:pPr>
              <a:lnSpc>
                <a:spcPct val="130000"/>
              </a:lnSpc>
            </a:pPr>
            <a:r>
              <a:rPr lang="en-US" sz="975" dirty="0">
                <a:solidFill>
                  <a:srgbClr val="86868B"/>
                </a:solidFill>
                <a:latin typeface="MiSans" pitchFamily="34" charset="0"/>
                <a:ea typeface="MiSans" pitchFamily="34" charset="-122"/>
                <a:cs typeface="MiSans" pitchFamily="34" charset="-120"/>
              </a:rPr>
              <a:t>// Client connection handling in loop()</a:t>
            </a:r>
            <a:endParaRPr lang="en-US" sz="1600" dirty="0"/>
          </a:p>
        </p:txBody>
      </p:sp>
      <p:sp>
        <p:nvSpPr>
          <p:cNvPr id="28" name="Text 26"/>
          <p:cNvSpPr/>
          <p:nvPr/>
        </p:nvSpPr>
        <p:spPr>
          <a:xfrm>
            <a:off x="723900" y="5515927"/>
            <a:ext cx="6138863" cy="190500"/>
          </a:xfrm>
          <a:prstGeom prst="rect">
            <a:avLst/>
          </a:prstGeom>
          <a:noFill/>
          <a:ln/>
        </p:spPr>
        <p:txBody>
          <a:bodyPr wrap="square" lIns="0" tIns="0" rIns="0" bIns="0" rtlCol="0" anchor="ctr"/>
          <a:lstStyle/>
          <a:p>
            <a:pPr>
              <a:lnSpc>
                <a:spcPct val="130000"/>
              </a:lnSpc>
            </a:pPr>
            <a:r>
              <a:rPr lang="en-US" sz="975" dirty="0">
                <a:solidFill>
                  <a:srgbClr val="0071E3"/>
                </a:solidFill>
                <a:latin typeface="MiSans" pitchFamily="34" charset="0"/>
                <a:ea typeface="MiSans" pitchFamily="34" charset="-122"/>
                <a:cs typeface="MiSans" pitchFamily="34" charset="-120"/>
              </a:rPr>
              <a:t>if</a:t>
            </a:r>
            <a:r>
              <a:rPr lang="en-US" sz="975" dirty="0">
                <a:solidFill>
                  <a:srgbClr val="FFFFFF"/>
                </a:solidFill>
                <a:latin typeface="MiSans" pitchFamily="34" charset="0"/>
                <a:ea typeface="MiSans" pitchFamily="34" charset="-122"/>
                <a:cs typeface="MiSans" pitchFamily="34" charset="-120"/>
              </a:rPr>
              <a:t> (tcpServer.hasClient()) {</a:t>
            </a:r>
            <a:endParaRPr lang="en-US" sz="1600" dirty="0"/>
          </a:p>
        </p:txBody>
      </p:sp>
      <p:sp>
        <p:nvSpPr>
          <p:cNvPr id="29" name="Text 27"/>
          <p:cNvSpPr/>
          <p:nvPr/>
        </p:nvSpPr>
        <p:spPr>
          <a:xfrm>
            <a:off x="723900" y="5701665"/>
            <a:ext cx="6138863" cy="190500"/>
          </a:xfrm>
          <a:prstGeom prst="rect">
            <a:avLst/>
          </a:prstGeom>
          <a:noFill/>
          <a:ln/>
        </p:spPr>
        <p:txBody>
          <a:bodyPr wrap="square" lIns="0" tIns="0" rIns="0" bIns="0" rtlCol="0" anchor="ctr"/>
          <a:lstStyle/>
          <a:p>
            <a:pPr>
              <a:lnSpc>
                <a:spcPct val="130000"/>
              </a:lnSpc>
            </a:pPr>
            <a:r>
              <a:rPr lang="en-US" sz="975" dirty="0">
                <a:solidFill>
                  <a:srgbClr val="FFFFFF"/>
                </a:solidFill>
                <a:latin typeface="MiSans" pitchFamily="34" charset="0"/>
                <a:ea typeface="MiSans" pitchFamily="34" charset="-122"/>
                <a:cs typeface="MiSans" pitchFamily="34" charset="-120"/>
              </a:rPr>
              <a:t>activeClient = tcpServer.available();</a:t>
            </a:r>
            <a:endParaRPr lang="en-US" sz="1600" dirty="0"/>
          </a:p>
        </p:txBody>
      </p:sp>
      <p:sp>
        <p:nvSpPr>
          <p:cNvPr id="30" name="Text 28"/>
          <p:cNvSpPr/>
          <p:nvPr/>
        </p:nvSpPr>
        <p:spPr>
          <a:xfrm>
            <a:off x="723900" y="5887402"/>
            <a:ext cx="6138863" cy="190500"/>
          </a:xfrm>
          <a:prstGeom prst="rect">
            <a:avLst/>
          </a:prstGeom>
          <a:noFill/>
          <a:ln/>
        </p:spPr>
        <p:txBody>
          <a:bodyPr wrap="square" lIns="0" tIns="0" rIns="0" bIns="0" rtlCol="0" anchor="ctr"/>
          <a:lstStyle/>
          <a:p>
            <a:pPr>
              <a:lnSpc>
                <a:spcPct val="130000"/>
              </a:lnSpc>
            </a:pPr>
            <a:r>
              <a:rPr lang="en-US" sz="975" dirty="0">
                <a:solidFill>
                  <a:srgbClr val="FFFFFF"/>
                </a:solidFill>
                <a:latin typeface="MiSans" pitchFamily="34" charset="0"/>
                <a:ea typeface="MiSans" pitchFamily="34" charset="-122"/>
                <a:cs typeface="MiSans" pitchFamily="34" charset="-120"/>
              </a:rPr>
              <a:t>}</a:t>
            </a:r>
            <a:endParaRPr lang="en-US" sz="1600" dirty="0"/>
          </a:p>
        </p:txBody>
      </p:sp>
      <p:sp>
        <p:nvSpPr>
          <p:cNvPr id="31" name="Shape 29"/>
          <p:cNvSpPr/>
          <p:nvPr/>
        </p:nvSpPr>
        <p:spPr>
          <a:xfrm>
            <a:off x="7379970" y="1223010"/>
            <a:ext cx="4427220" cy="5151120"/>
          </a:xfrm>
          <a:custGeom>
            <a:avLst/>
            <a:gdLst/>
            <a:ahLst/>
            <a:cxnLst/>
            <a:rect l="l" t="t" r="r" b="b"/>
            <a:pathLst>
              <a:path w="4427220" h="5151120">
                <a:moveTo>
                  <a:pt x="114311" y="0"/>
                </a:moveTo>
                <a:lnTo>
                  <a:pt x="4312909" y="0"/>
                </a:lnTo>
                <a:cubicBezTo>
                  <a:pt x="4376041" y="0"/>
                  <a:pt x="4427220" y="51179"/>
                  <a:pt x="4427220" y="114311"/>
                </a:cubicBezTo>
                <a:lnTo>
                  <a:pt x="4427220" y="5036809"/>
                </a:lnTo>
                <a:cubicBezTo>
                  <a:pt x="4427220" y="5099941"/>
                  <a:pt x="4376041" y="5151120"/>
                  <a:pt x="4312909" y="5151120"/>
                </a:cubicBezTo>
                <a:lnTo>
                  <a:pt x="114311" y="5151120"/>
                </a:lnTo>
                <a:cubicBezTo>
                  <a:pt x="51179" y="5151120"/>
                  <a:pt x="0" y="5099941"/>
                  <a:pt x="0" y="5036809"/>
                </a:cubicBezTo>
                <a:lnTo>
                  <a:pt x="0" y="114311"/>
                </a:lnTo>
                <a:cubicBezTo>
                  <a:pt x="0" y="51179"/>
                  <a:pt x="51179" y="0"/>
                  <a:pt x="114311" y="0"/>
                </a:cubicBezTo>
                <a:close/>
              </a:path>
            </a:pathLst>
          </a:custGeom>
          <a:solidFill>
            <a:srgbClr val="FFFFFF"/>
          </a:solidFill>
          <a:ln w="10160">
            <a:solidFill>
              <a:srgbClr val="E5E5E5"/>
            </a:solidFill>
            <a:prstDash val="solid"/>
          </a:ln>
          <a:effectLst>
            <a:outerShdw blurRad="28575" dist="9525" dir="5400000" algn="bl" rotWithShape="0">
              <a:srgbClr val="000000">
                <a:alpha val="10196"/>
              </a:srgbClr>
            </a:outerShdw>
          </a:effectLst>
        </p:spPr>
      </p:sp>
      <p:sp>
        <p:nvSpPr>
          <p:cNvPr id="32" name="Shape 30"/>
          <p:cNvSpPr/>
          <p:nvPr/>
        </p:nvSpPr>
        <p:spPr>
          <a:xfrm>
            <a:off x="7636193" y="1493520"/>
            <a:ext cx="190500" cy="190500"/>
          </a:xfrm>
          <a:custGeom>
            <a:avLst/>
            <a:gdLst/>
            <a:ahLst/>
            <a:cxnLst/>
            <a:rect l="l" t="t" r="r" b="b"/>
            <a:pathLst>
              <a:path w="190500" h="190500">
                <a:moveTo>
                  <a:pt x="71438" y="23812"/>
                </a:moveTo>
                <a:cubicBezTo>
                  <a:pt x="71438" y="17227"/>
                  <a:pt x="76758" y="11906"/>
                  <a:pt x="83344" y="11906"/>
                </a:cubicBezTo>
                <a:lnTo>
                  <a:pt x="107156" y="11906"/>
                </a:lnTo>
                <a:cubicBezTo>
                  <a:pt x="113742" y="11906"/>
                  <a:pt x="119063" y="17227"/>
                  <a:pt x="119063" y="23812"/>
                </a:cubicBezTo>
                <a:lnTo>
                  <a:pt x="119063" y="47625"/>
                </a:lnTo>
                <a:cubicBezTo>
                  <a:pt x="119063" y="54211"/>
                  <a:pt x="113742" y="59531"/>
                  <a:pt x="107156" y="59531"/>
                </a:cubicBezTo>
                <a:lnTo>
                  <a:pt x="104180" y="59531"/>
                </a:lnTo>
                <a:lnTo>
                  <a:pt x="104180" y="83344"/>
                </a:lnTo>
                <a:lnTo>
                  <a:pt x="148828" y="83344"/>
                </a:lnTo>
                <a:cubicBezTo>
                  <a:pt x="163637" y="83344"/>
                  <a:pt x="175617" y="95324"/>
                  <a:pt x="175617" y="110133"/>
                </a:cubicBezTo>
                <a:lnTo>
                  <a:pt x="175617" y="130969"/>
                </a:lnTo>
                <a:lnTo>
                  <a:pt x="178594" y="130969"/>
                </a:lnTo>
                <a:cubicBezTo>
                  <a:pt x="185179" y="130969"/>
                  <a:pt x="190500" y="136289"/>
                  <a:pt x="190500" y="142875"/>
                </a:cubicBezTo>
                <a:lnTo>
                  <a:pt x="190500" y="166688"/>
                </a:lnTo>
                <a:cubicBezTo>
                  <a:pt x="190500" y="173273"/>
                  <a:pt x="185179" y="178594"/>
                  <a:pt x="178594" y="178594"/>
                </a:cubicBezTo>
                <a:lnTo>
                  <a:pt x="154781" y="178594"/>
                </a:lnTo>
                <a:cubicBezTo>
                  <a:pt x="148196" y="178594"/>
                  <a:pt x="142875" y="173273"/>
                  <a:pt x="142875" y="166688"/>
                </a:cubicBezTo>
                <a:lnTo>
                  <a:pt x="142875" y="142875"/>
                </a:lnTo>
                <a:cubicBezTo>
                  <a:pt x="142875" y="136289"/>
                  <a:pt x="148196" y="130969"/>
                  <a:pt x="154781" y="130969"/>
                </a:cubicBezTo>
                <a:lnTo>
                  <a:pt x="157758" y="130969"/>
                </a:lnTo>
                <a:lnTo>
                  <a:pt x="157758" y="110133"/>
                </a:lnTo>
                <a:cubicBezTo>
                  <a:pt x="157758" y="105184"/>
                  <a:pt x="153777" y="101203"/>
                  <a:pt x="148828" y="101203"/>
                </a:cubicBezTo>
                <a:lnTo>
                  <a:pt x="104180" y="101203"/>
                </a:lnTo>
                <a:lnTo>
                  <a:pt x="104180" y="130969"/>
                </a:lnTo>
                <a:lnTo>
                  <a:pt x="107156" y="130969"/>
                </a:lnTo>
                <a:cubicBezTo>
                  <a:pt x="113742" y="130969"/>
                  <a:pt x="119063" y="136289"/>
                  <a:pt x="119063" y="142875"/>
                </a:cubicBezTo>
                <a:lnTo>
                  <a:pt x="119063" y="166688"/>
                </a:lnTo>
                <a:cubicBezTo>
                  <a:pt x="119063" y="173273"/>
                  <a:pt x="113742" y="178594"/>
                  <a:pt x="107156" y="178594"/>
                </a:cubicBezTo>
                <a:lnTo>
                  <a:pt x="83344" y="178594"/>
                </a:lnTo>
                <a:cubicBezTo>
                  <a:pt x="76758" y="178594"/>
                  <a:pt x="71438" y="173273"/>
                  <a:pt x="71438" y="166688"/>
                </a:cubicBezTo>
                <a:lnTo>
                  <a:pt x="71438" y="142875"/>
                </a:lnTo>
                <a:cubicBezTo>
                  <a:pt x="71438" y="136289"/>
                  <a:pt x="76758" y="130969"/>
                  <a:pt x="83344" y="130969"/>
                </a:cubicBezTo>
                <a:lnTo>
                  <a:pt x="86320" y="130969"/>
                </a:lnTo>
                <a:lnTo>
                  <a:pt x="86320" y="101203"/>
                </a:lnTo>
                <a:lnTo>
                  <a:pt x="41672" y="101203"/>
                </a:lnTo>
                <a:cubicBezTo>
                  <a:pt x="36723" y="101203"/>
                  <a:pt x="32742" y="105184"/>
                  <a:pt x="32742" y="110133"/>
                </a:cubicBezTo>
                <a:lnTo>
                  <a:pt x="32742" y="130969"/>
                </a:lnTo>
                <a:lnTo>
                  <a:pt x="35719" y="130969"/>
                </a:lnTo>
                <a:cubicBezTo>
                  <a:pt x="42304" y="130969"/>
                  <a:pt x="47625" y="136289"/>
                  <a:pt x="47625" y="142875"/>
                </a:cubicBezTo>
                <a:lnTo>
                  <a:pt x="47625" y="166688"/>
                </a:lnTo>
                <a:cubicBezTo>
                  <a:pt x="47625" y="173273"/>
                  <a:pt x="42304" y="178594"/>
                  <a:pt x="35719" y="178594"/>
                </a:cubicBezTo>
                <a:lnTo>
                  <a:pt x="11906" y="178594"/>
                </a:lnTo>
                <a:cubicBezTo>
                  <a:pt x="5321" y="178594"/>
                  <a:pt x="0" y="173273"/>
                  <a:pt x="0" y="166688"/>
                </a:cubicBezTo>
                <a:lnTo>
                  <a:pt x="0" y="142875"/>
                </a:lnTo>
                <a:cubicBezTo>
                  <a:pt x="0" y="136289"/>
                  <a:pt x="5321" y="130969"/>
                  <a:pt x="11906" y="130969"/>
                </a:cubicBezTo>
                <a:lnTo>
                  <a:pt x="14883" y="130969"/>
                </a:lnTo>
                <a:lnTo>
                  <a:pt x="14883" y="110133"/>
                </a:lnTo>
                <a:cubicBezTo>
                  <a:pt x="14883" y="95324"/>
                  <a:pt x="26863" y="83344"/>
                  <a:pt x="41672" y="83344"/>
                </a:cubicBezTo>
                <a:lnTo>
                  <a:pt x="86320" y="83344"/>
                </a:lnTo>
                <a:lnTo>
                  <a:pt x="86320" y="59531"/>
                </a:lnTo>
                <a:lnTo>
                  <a:pt x="83344" y="59531"/>
                </a:lnTo>
                <a:cubicBezTo>
                  <a:pt x="76758" y="59531"/>
                  <a:pt x="71438" y="54211"/>
                  <a:pt x="71438" y="47625"/>
                </a:cubicBezTo>
                <a:lnTo>
                  <a:pt x="71438" y="23812"/>
                </a:lnTo>
                <a:close/>
              </a:path>
            </a:pathLst>
          </a:custGeom>
          <a:solidFill>
            <a:srgbClr val="0071E3"/>
          </a:solidFill>
          <a:ln/>
        </p:spPr>
      </p:sp>
      <p:sp>
        <p:nvSpPr>
          <p:cNvPr id="33" name="Text 31"/>
          <p:cNvSpPr/>
          <p:nvPr/>
        </p:nvSpPr>
        <p:spPr>
          <a:xfrm>
            <a:off x="7850505" y="1455420"/>
            <a:ext cx="3819525"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Network Topology</a:t>
            </a:r>
            <a:endParaRPr lang="en-US" sz="1600" dirty="0"/>
          </a:p>
        </p:txBody>
      </p:sp>
      <p:sp>
        <p:nvSpPr>
          <p:cNvPr id="34" name="Shape 32"/>
          <p:cNvSpPr/>
          <p:nvPr/>
        </p:nvSpPr>
        <p:spPr>
          <a:xfrm>
            <a:off x="7631430" y="2013585"/>
            <a:ext cx="3943350" cy="1104900"/>
          </a:xfrm>
          <a:custGeom>
            <a:avLst/>
            <a:gdLst/>
            <a:ahLst/>
            <a:cxnLst/>
            <a:rect l="l" t="t" r="r" b="b"/>
            <a:pathLst>
              <a:path w="3943350" h="1104900">
                <a:moveTo>
                  <a:pt x="38100" y="0"/>
                </a:moveTo>
                <a:lnTo>
                  <a:pt x="3829048" y="0"/>
                </a:lnTo>
                <a:cubicBezTo>
                  <a:pt x="3892175" y="0"/>
                  <a:pt x="3943350" y="51175"/>
                  <a:pt x="3943350" y="114302"/>
                </a:cubicBezTo>
                <a:lnTo>
                  <a:pt x="3943350" y="990598"/>
                </a:lnTo>
                <a:cubicBezTo>
                  <a:pt x="3943350" y="1053725"/>
                  <a:pt x="3892175" y="1104900"/>
                  <a:pt x="3829048" y="1104900"/>
                </a:cubicBezTo>
                <a:lnTo>
                  <a:pt x="38100" y="1104900"/>
                </a:lnTo>
                <a:cubicBezTo>
                  <a:pt x="17072" y="1104900"/>
                  <a:pt x="0" y="1087828"/>
                  <a:pt x="0" y="1066800"/>
                </a:cubicBezTo>
                <a:lnTo>
                  <a:pt x="0" y="38100"/>
                </a:lnTo>
                <a:cubicBezTo>
                  <a:pt x="0" y="17072"/>
                  <a:pt x="17072" y="0"/>
                  <a:pt x="38100" y="0"/>
                </a:cubicBezTo>
                <a:close/>
              </a:path>
            </a:pathLst>
          </a:custGeom>
          <a:solidFill>
            <a:srgbClr val="0071E3">
              <a:alpha val="5098"/>
            </a:srgbClr>
          </a:solidFill>
          <a:ln/>
        </p:spPr>
      </p:sp>
      <p:sp>
        <p:nvSpPr>
          <p:cNvPr id="35" name="Shape 33"/>
          <p:cNvSpPr/>
          <p:nvPr/>
        </p:nvSpPr>
        <p:spPr>
          <a:xfrm>
            <a:off x="7631430" y="2013585"/>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0071E3"/>
          </a:solidFill>
          <a:ln/>
        </p:spPr>
      </p:sp>
      <p:sp>
        <p:nvSpPr>
          <p:cNvPr id="36" name="Shape 34"/>
          <p:cNvSpPr/>
          <p:nvPr/>
        </p:nvSpPr>
        <p:spPr>
          <a:xfrm>
            <a:off x="7898130" y="2299335"/>
            <a:ext cx="171450" cy="228600"/>
          </a:xfrm>
          <a:custGeom>
            <a:avLst/>
            <a:gdLst/>
            <a:ahLst/>
            <a:cxnLst/>
            <a:rect l="l" t="t" r="r" b="b"/>
            <a:pathLst>
              <a:path w="171450" h="228600">
                <a:moveTo>
                  <a:pt x="7144" y="28575"/>
                </a:moveTo>
                <a:cubicBezTo>
                  <a:pt x="7144" y="12814"/>
                  <a:pt x="19958" y="0"/>
                  <a:pt x="35719" y="0"/>
                </a:cubicBezTo>
                <a:lnTo>
                  <a:pt x="135731" y="0"/>
                </a:lnTo>
                <a:cubicBezTo>
                  <a:pt x="151492" y="0"/>
                  <a:pt x="164306" y="12814"/>
                  <a:pt x="164306" y="28575"/>
                </a:cubicBezTo>
                <a:lnTo>
                  <a:pt x="164306" y="200025"/>
                </a:lnTo>
                <a:cubicBezTo>
                  <a:pt x="164306" y="215786"/>
                  <a:pt x="151492" y="228600"/>
                  <a:pt x="135731" y="228600"/>
                </a:cubicBezTo>
                <a:lnTo>
                  <a:pt x="35719" y="228600"/>
                </a:lnTo>
                <a:cubicBezTo>
                  <a:pt x="19958" y="228600"/>
                  <a:pt x="7144" y="215786"/>
                  <a:pt x="7144" y="200025"/>
                </a:cubicBezTo>
                <a:lnTo>
                  <a:pt x="7144" y="28575"/>
                </a:lnTo>
                <a:close/>
                <a:moveTo>
                  <a:pt x="35719" y="28575"/>
                </a:moveTo>
                <a:lnTo>
                  <a:pt x="35719" y="164306"/>
                </a:lnTo>
                <a:lnTo>
                  <a:pt x="135731" y="164306"/>
                </a:lnTo>
                <a:lnTo>
                  <a:pt x="135731" y="28575"/>
                </a:lnTo>
                <a:lnTo>
                  <a:pt x="35719" y="28575"/>
                </a:lnTo>
                <a:close/>
                <a:moveTo>
                  <a:pt x="85725" y="210741"/>
                </a:moveTo>
                <a:cubicBezTo>
                  <a:pt x="93628" y="210741"/>
                  <a:pt x="100013" y="204356"/>
                  <a:pt x="100013" y="196453"/>
                </a:cubicBezTo>
                <a:cubicBezTo>
                  <a:pt x="100013" y="188550"/>
                  <a:pt x="93628" y="182166"/>
                  <a:pt x="85725" y="182166"/>
                </a:cubicBezTo>
                <a:cubicBezTo>
                  <a:pt x="77822" y="182166"/>
                  <a:pt x="71438" y="188550"/>
                  <a:pt x="71438" y="196453"/>
                </a:cubicBezTo>
                <a:cubicBezTo>
                  <a:pt x="71438" y="204356"/>
                  <a:pt x="77822" y="210741"/>
                  <a:pt x="85725" y="210741"/>
                </a:cubicBezTo>
                <a:close/>
              </a:path>
            </a:pathLst>
          </a:custGeom>
          <a:solidFill>
            <a:srgbClr val="0071E3"/>
          </a:solidFill>
          <a:ln/>
        </p:spPr>
      </p:sp>
      <p:sp>
        <p:nvSpPr>
          <p:cNvPr id="37" name="Text 35"/>
          <p:cNvSpPr/>
          <p:nvPr/>
        </p:nvSpPr>
        <p:spPr>
          <a:xfrm>
            <a:off x="8241030" y="2204085"/>
            <a:ext cx="1143000"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Remote Module</a:t>
            </a:r>
            <a:endParaRPr lang="en-US" sz="1600" dirty="0"/>
          </a:p>
        </p:txBody>
      </p:sp>
      <p:sp>
        <p:nvSpPr>
          <p:cNvPr id="38" name="Text 36"/>
          <p:cNvSpPr/>
          <p:nvPr/>
        </p:nvSpPr>
        <p:spPr>
          <a:xfrm>
            <a:off x="8241030" y="2432685"/>
            <a:ext cx="113347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TCP Client</a:t>
            </a:r>
            <a:endParaRPr lang="en-US" sz="1600" dirty="0"/>
          </a:p>
        </p:txBody>
      </p:sp>
      <p:sp>
        <p:nvSpPr>
          <p:cNvPr id="39" name="Text 37"/>
          <p:cNvSpPr/>
          <p:nvPr/>
        </p:nvSpPr>
        <p:spPr>
          <a:xfrm>
            <a:off x="7840980" y="2737485"/>
            <a:ext cx="360997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Braille Input • Haptic Output</a:t>
            </a:r>
            <a:endParaRPr lang="en-US" sz="1600" dirty="0"/>
          </a:p>
        </p:txBody>
      </p:sp>
      <p:sp>
        <p:nvSpPr>
          <p:cNvPr id="40" name="Shape 38"/>
          <p:cNvSpPr/>
          <p:nvPr/>
        </p:nvSpPr>
        <p:spPr>
          <a:xfrm>
            <a:off x="9453086" y="3270885"/>
            <a:ext cx="285750" cy="285750"/>
          </a:xfrm>
          <a:custGeom>
            <a:avLst/>
            <a:gdLst/>
            <a:ahLst/>
            <a:cxnLst/>
            <a:rect l="l" t="t" r="r" b="b"/>
            <a:pathLst>
              <a:path w="285750" h="285750">
                <a:moveTo>
                  <a:pt x="226926" y="280504"/>
                </a:moveTo>
                <a:lnTo>
                  <a:pt x="280504" y="226926"/>
                </a:lnTo>
                <a:cubicBezTo>
                  <a:pt x="285638" y="221791"/>
                  <a:pt x="287145" y="214145"/>
                  <a:pt x="284355" y="207448"/>
                </a:cubicBezTo>
                <a:cubicBezTo>
                  <a:pt x="281564" y="200751"/>
                  <a:pt x="275090" y="196453"/>
                  <a:pt x="267891" y="196453"/>
                </a:cubicBezTo>
                <a:lnTo>
                  <a:pt x="232172" y="196453"/>
                </a:lnTo>
                <a:lnTo>
                  <a:pt x="232172" y="17859"/>
                </a:lnTo>
                <a:cubicBezTo>
                  <a:pt x="232172" y="7981"/>
                  <a:pt x="224191" y="0"/>
                  <a:pt x="214313" y="0"/>
                </a:cubicBezTo>
                <a:cubicBezTo>
                  <a:pt x="204434" y="0"/>
                  <a:pt x="196453" y="7981"/>
                  <a:pt x="196453" y="17859"/>
                </a:cubicBezTo>
                <a:lnTo>
                  <a:pt x="196453" y="196453"/>
                </a:lnTo>
                <a:lnTo>
                  <a:pt x="160734" y="196453"/>
                </a:lnTo>
                <a:cubicBezTo>
                  <a:pt x="153535" y="196453"/>
                  <a:pt x="147005" y="200806"/>
                  <a:pt x="144214" y="207504"/>
                </a:cubicBezTo>
                <a:cubicBezTo>
                  <a:pt x="141424" y="214201"/>
                  <a:pt x="142987" y="221847"/>
                  <a:pt x="148065" y="226981"/>
                </a:cubicBezTo>
                <a:lnTo>
                  <a:pt x="201644" y="280560"/>
                </a:lnTo>
                <a:cubicBezTo>
                  <a:pt x="208620" y="287536"/>
                  <a:pt x="219949" y="287536"/>
                  <a:pt x="226926" y="280560"/>
                </a:cubicBezTo>
                <a:close/>
                <a:moveTo>
                  <a:pt x="84051" y="5246"/>
                </a:moveTo>
                <a:cubicBezTo>
                  <a:pt x="77074" y="-1730"/>
                  <a:pt x="65745" y="-1730"/>
                  <a:pt x="58769" y="5246"/>
                </a:cubicBezTo>
                <a:lnTo>
                  <a:pt x="5190" y="58824"/>
                </a:lnTo>
                <a:cubicBezTo>
                  <a:pt x="56" y="63959"/>
                  <a:pt x="-1451" y="71605"/>
                  <a:pt x="1339" y="78302"/>
                </a:cubicBezTo>
                <a:cubicBezTo>
                  <a:pt x="4130" y="84999"/>
                  <a:pt x="10660" y="89297"/>
                  <a:pt x="17859" y="89297"/>
                </a:cubicBezTo>
                <a:lnTo>
                  <a:pt x="53578" y="89297"/>
                </a:lnTo>
                <a:lnTo>
                  <a:pt x="53578" y="267891"/>
                </a:lnTo>
                <a:cubicBezTo>
                  <a:pt x="53578" y="277769"/>
                  <a:pt x="61559" y="285750"/>
                  <a:pt x="71438" y="285750"/>
                </a:cubicBezTo>
                <a:cubicBezTo>
                  <a:pt x="81316" y="285750"/>
                  <a:pt x="89297" y="277769"/>
                  <a:pt x="89297" y="267891"/>
                </a:cubicBezTo>
                <a:lnTo>
                  <a:pt x="89297" y="89297"/>
                </a:lnTo>
                <a:lnTo>
                  <a:pt x="125016" y="89297"/>
                </a:lnTo>
                <a:cubicBezTo>
                  <a:pt x="132215" y="89297"/>
                  <a:pt x="138745" y="84944"/>
                  <a:pt x="141536" y="78246"/>
                </a:cubicBezTo>
                <a:cubicBezTo>
                  <a:pt x="144326" y="71549"/>
                  <a:pt x="142763" y="63903"/>
                  <a:pt x="137685" y="58769"/>
                </a:cubicBezTo>
                <a:lnTo>
                  <a:pt x="84106" y="5190"/>
                </a:lnTo>
                <a:close/>
              </a:path>
            </a:pathLst>
          </a:custGeom>
          <a:solidFill>
            <a:srgbClr val="0071E3"/>
          </a:solidFill>
          <a:ln/>
        </p:spPr>
      </p:sp>
      <p:sp>
        <p:nvSpPr>
          <p:cNvPr id="41" name="Text 39"/>
          <p:cNvSpPr/>
          <p:nvPr/>
        </p:nvSpPr>
        <p:spPr>
          <a:xfrm>
            <a:off x="9159002" y="3632835"/>
            <a:ext cx="933450" cy="190500"/>
          </a:xfrm>
          <a:prstGeom prst="rect">
            <a:avLst/>
          </a:prstGeom>
          <a:noFill/>
          <a:ln/>
        </p:spPr>
        <p:txBody>
          <a:bodyPr wrap="square" lIns="0" tIns="0" rIns="0" bIns="0" rtlCol="0" anchor="ctr"/>
          <a:lstStyle/>
          <a:p>
            <a:pPr>
              <a:lnSpc>
                <a:spcPct val="120000"/>
              </a:lnSpc>
            </a:pPr>
            <a:r>
              <a:rPr lang="en-US" sz="1050" b="1" dirty="0">
                <a:solidFill>
                  <a:srgbClr val="0071E3"/>
                </a:solidFill>
                <a:latin typeface="Liter" pitchFamily="34" charset="0"/>
                <a:ea typeface="Liter" pitchFamily="34" charset="-122"/>
                <a:cs typeface="Liter" pitchFamily="34" charset="-120"/>
              </a:rPr>
              <a:t>TCP Port 7890</a:t>
            </a:r>
            <a:endParaRPr lang="en-US" sz="1600" dirty="0"/>
          </a:p>
        </p:txBody>
      </p:sp>
      <p:sp>
        <p:nvSpPr>
          <p:cNvPr id="42" name="Shape 40"/>
          <p:cNvSpPr/>
          <p:nvPr/>
        </p:nvSpPr>
        <p:spPr>
          <a:xfrm>
            <a:off x="7631430" y="3975735"/>
            <a:ext cx="3943350" cy="1104900"/>
          </a:xfrm>
          <a:custGeom>
            <a:avLst/>
            <a:gdLst/>
            <a:ahLst/>
            <a:cxnLst/>
            <a:rect l="l" t="t" r="r" b="b"/>
            <a:pathLst>
              <a:path w="3943350" h="1104900">
                <a:moveTo>
                  <a:pt x="38100" y="0"/>
                </a:moveTo>
                <a:lnTo>
                  <a:pt x="3829048" y="0"/>
                </a:lnTo>
                <a:cubicBezTo>
                  <a:pt x="3892175" y="0"/>
                  <a:pt x="3943350" y="51175"/>
                  <a:pt x="3943350" y="114302"/>
                </a:cubicBezTo>
                <a:lnTo>
                  <a:pt x="3943350" y="990598"/>
                </a:lnTo>
                <a:cubicBezTo>
                  <a:pt x="3943350" y="1053725"/>
                  <a:pt x="3892175" y="1104900"/>
                  <a:pt x="3829048" y="1104900"/>
                </a:cubicBezTo>
                <a:lnTo>
                  <a:pt x="38100" y="1104900"/>
                </a:lnTo>
                <a:cubicBezTo>
                  <a:pt x="17072" y="1104900"/>
                  <a:pt x="0" y="1087828"/>
                  <a:pt x="0" y="1066800"/>
                </a:cubicBezTo>
                <a:lnTo>
                  <a:pt x="0" y="38100"/>
                </a:lnTo>
                <a:cubicBezTo>
                  <a:pt x="0" y="17072"/>
                  <a:pt x="17072" y="0"/>
                  <a:pt x="38100" y="0"/>
                </a:cubicBezTo>
                <a:close/>
              </a:path>
            </a:pathLst>
          </a:custGeom>
          <a:solidFill>
            <a:srgbClr val="34C759">
              <a:alpha val="5098"/>
            </a:srgbClr>
          </a:solidFill>
          <a:ln/>
        </p:spPr>
      </p:sp>
      <p:sp>
        <p:nvSpPr>
          <p:cNvPr id="43" name="Shape 41"/>
          <p:cNvSpPr/>
          <p:nvPr/>
        </p:nvSpPr>
        <p:spPr>
          <a:xfrm>
            <a:off x="7631430" y="3975735"/>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34C759"/>
          </a:solidFill>
          <a:ln/>
        </p:spPr>
      </p:sp>
      <p:sp>
        <p:nvSpPr>
          <p:cNvPr id="44" name="Shape 42"/>
          <p:cNvSpPr/>
          <p:nvPr/>
        </p:nvSpPr>
        <p:spPr>
          <a:xfrm>
            <a:off x="7883843" y="4261485"/>
            <a:ext cx="200025" cy="228600"/>
          </a:xfrm>
          <a:custGeom>
            <a:avLst/>
            <a:gdLst/>
            <a:ahLst/>
            <a:cxnLst/>
            <a:rect l="l" t="t" r="r" b="b"/>
            <a:pathLst>
              <a:path w="200025" h="228600">
                <a:moveTo>
                  <a:pt x="28575" y="14288"/>
                </a:moveTo>
                <a:cubicBezTo>
                  <a:pt x="12814" y="14288"/>
                  <a:pt x="0" y="27102"/>
                  <a:pt x="0" y="42863"/>
                </a:cubicBezTo>
                <a:lnTo>
                  <a:pt x="0" y="71438"/>
                </a:lnTo>
                <a:cubicBezTo>
                  <a:pt x="0" y="87198"/>
                  <a:pt x="12814" y="100013"/>
                  <a:pt x="28575" y="100013"/>
                </a:cubicBezTo>
                <a:lnTo>
                  <a:pt x="171450" y="100013"/>
                </a:lnTo>
                <a:cubicBezTo>
                  <a:pt x="187211" y="100013"/>
                  <a:pt x="200025" y="87198"/>
                  <a:pt x="200025" y="71438"/>
                </a:cubicBezTo>
                <a:lnTo>
                  <a:pt x="200025" y="42863"/>
                </a:lnTo>
                <a:cubicBezTo>
                  <a:pt x="200025" y="27102"/>
                  <a:pt x="187211" y="14288"/>
                  <a:pt x="171450" y="14288"/>
                </a:cubicBezTo>
                <a:lnTo>
                  <a:pt x="28575" y="14288"/>
                </a:lnTo>
                <a:close/>
                <a:moveTo>
                  <a:pt x="125016" y="46434"/>
                </a:moveTo>
                <a:cubicBezTo>
                  <a:pt x="130930" y="46434"/>
                  <a:pt x="135731" y="51236"/>
                  <a:pt x="135731" y="57150"/>
                </a:cubicBezTo>
                <a:cubicBezTo>
                  <a:pt x="135731" y="63064"/>
                  <a:pt x="130930" y="67866"/>
                  <a:pt x="125016" y="67866"/>
                </a:cubicBezTo>
                <a:cubicBezTo>
                  <a:pt x="119102" y="67866"/>
                  <a:pt x="114300" y="63064"/>
                  <a:pt x="114300" y="57150"/>
                </a:cubicBezTo>
                <a:cubicBezTo>
                  <a:pt x="114300" y="51236"/>
                  <a:pt x="119102" y="46434"/>
                  <a:pt x="125016" y="46434"/>
                </a:cubicBezTo>
                <a:close/>
                <a:moveTo>
                  <a:pt x="150019" y="57150"/>
                </a:moveTo>
                <a:cubicBezTo>
                  <a:pt x="150019" y="51236"/>
                  <a:pt x="154820" y="46434"/>
                  <a:pt x="160734" y="46434"/>
                </a:cubicBezTo>
                <a:cubicBezTo>
                  <a:pt x="166648" y="46434"/>
                  <a:pt x="171450" y="51236"/>
                  <a:pt x="171450" y="57150"/>
                </a:cubicBezTo>
                <a:cubicBezTo>
                  <a:pt x="171450" y="63064"/>
                  <a:pt x="166648" y="67866"/>
                  <a:pt x="160734" y="67866"/>
                </a:cubicBezTo>
                <a:cubicBezTo>
                  <a:pt x="154820" y="67866"/>
                  <a:pt x="150019" y="63064"/>
                  <a:pt x="150019" y="57150"/>
                </a:cubicBezTo>
                <a:close/>
                <a:moveTo>
                  <a:pt x="28575" y="128588"/>
                </a:moveTo>
                <a:cubicBezTo>
                  <a:pt x="12814" y="128588"/>
                  <a:pt x="0" y="141402"/>
                  <a:pt x="0" y="157163"/>
                </a:cubicBezTo>
                <a:lnTo>
                  <a:pt x="0" y="185738"/>
                </a:lnTo>
                <a:cubicBezTo>
                  <a:pt x="0" y="201498"/>
                  <a:pt x="12814" y="214313"/>
                  <a:pt x="28575" y="214313"/>
                </a:cubicBezTo>
                <a:lnTo>
                  <a:pt x="171450" y="214313"/>
                </a:lnTo>
                <a:cubicBezTo>
                  <a:pt x="187211" y="214313"/>
                  <a:pt x="200025" y="201498"/>
                  <a:pt x="200025" y="185738"/>
                </a:cubicBezTo>
                <a:lnTo>
                  <a:pt x="200025" y="157163"/>
                </a:lnTo>
                <a:cubicBezTo>
                  <a:pt x="200025" y="141402"/>
                  <a:pt x="187211" y="128588"/>
                  <a:pt x="171450" y="128588"/>
                </a:cubicBezTo>
                <a:lnTo>
                  <a:pt x="28575" y="128588"/>
                </a:lnTo>
                <a:close/>
                <a:moveTo>
                  <a:pt x="125016" y="160734"/>
                </a:moveTo>
                <a:cubicBezTo>
                  <a:pt x="130930" y="160734"/>
                  <a:pt x="135731" y="165536"/>
                  <a:pt x="135731" y="171450"/>
                </a:cubicBezTo>
                <a:cubicBezTo>
                  <a:pt x="135731" y="177364"/>
                  <a:pt x="130930" y="182166"/>
                  <a:pt x="125016" y="182166"/>
                </a:cubicBezTo>
                <a:cubicBezTo>
                  <a:pt x="119102" y="182166"/>
                  <a:pt x="114300" y="177364"/>
                  <a:pt x="114300" y="171450"/>
                </a:cubicBezTo>
                <a:cubicBezTo>
                  <a:pt x="114300" y="165536"/>
                  <a:pt x="119102" y="160734"/>
                  <a:pt x="125016" y="160734"/>
                </a:cubicBezTo>
                <a:close/>
                <a:moveTo>
                  <a:pt x="150019" y="171450"/>
                </a:moveTo>
                <a:cubicBezTo>
                  <a:pt x="150019" y="165536"/>
                  <a:pt x="154820" y="160734"/>
                  <a:pt x="160734" y="160734"/>
                </a:cubicBezTo>
                <a:cubicBezTo>
                  <a:pt x="166648" y="160734"/>
                  <a:pt x="171450" y="165536"/>
                  <a:pt x="171450" y="171450"/>
                </a:cubicBezTo>
                <a:cubicBezTo>
                  <a:pt x="171450" y="177364"/>
                  <a:pt x="166648" y="182166"/>
                  <a:pt x="160734" y="182166"/>
                </a:cubicBezTo>
                <a:cubicBezTo>
                  <a:pt x="154820" y="182166"/>
                  <a:pt x="150019" y="177364"/>
                  <a:pt x="150019" y="171450"/>
                </a:cubicBezTo>
                <a:close/>
              </a:path>
            </a:pathLst>
          </a:custGeom>
          <a:solidFill>
            <a:srgbClr val="34C759"/>
          </a:solidFill>
          <a:ln/>
        </p:spPr>
      </p:sp>
      <p:sp>
        <p:nvSpPr>
          <p:cNvPr id="45" name="Text 43"/>
          <p:cNvSpPr/>
          <p:nvPr/>
        </p:nvSpPr>
        <p:spPr>
          <a:xfrm>
            <a:off x="8241030" y="4166235"/>
            <a:ext cx="1285875"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Appliance Module</a:t>
            </a:r>
            <a:endParaRPr lang="en-US" sz="1600" dirty="0"/>
          </a:p>
        </p:txBody>
      </p:sp>
      <p:sp>
        <p:nvSpPr>
          <p:cNvPr id="46" name="Text 44"/>
          <p:cNvSpPr/>
          <p:nvPr/>
        </p:nvSpPr>
        <p:spPr>
          <a:xfrm>
            <a:off x="8241030" y="4394835"/>
            <a:ext cx="1276350"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TCP Server</a:t>
            </a:r>
            <a:endParaRPr lang="en-US" sz="1600" dirty="0"/>
          </a:p>
        </p:txBody>
      </p:sp>
      <p:sp>
        <p:nvSpPr>
          <p:cNvPr id="47" name="Text 45"/>
          <p:cNvSpPr/>
          <p:nvPr/>
        </p:nvSpPr>
        <p:spPr>
          <a:xfrm>
            <a:off x="7840980" y="4699635"/>
            <a:ext cx="360997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Relay Control • IoT Integration</a:t>
            </a:r>
            <a:endParaRPr lang="en-US" sz="1600" dirty="0"/>
          </a:p>
        </p:txBody>
      </p:sp>
      <p:sp>
        <p:nvSpPr>
          <p:cNvPr id="48" name="Shape 46"/>
          <p:cNvSpPr/>
          <p:nvPr/>
        </p:nvSpPr>
        <p:spPr>
          <a:xfrm>
            <a:off x="7612380" y="5337810"/>
            <a:ext cx="3962400" cy="7620"/>
          </a:xfrm>
          <a:custGeom>
            <a:avLst/>
            <a:gdLst/>
            <a:ahLst/>
            <a:cxnLst/>
            <a:rect l="l" t="t" r="r" b="b"/>
            <a:pathLst>
              <a:path w="3962400" h="7620">
                <a:moveTo>
                  <a:pt x="0" y="0"/>
                </a:moveTo>
                <a:lnTo>
                  <a:pt x="3962400" y="0"/>
                </a:lnTo>
                <a:lnTo>
                  <a:pt x="3962400" y="7620"/>
                </a:lnTo>
                <a:lnTo>
                  <a:pt x="0" y="7620"/>
                </a:lnTo>
                <a:lnTo>
                  <a:pt x="0" y="0"/>
                </a:lnTo>
                <a:close/>
              </a:path>
            </a:pathLst>
          </a:custGeom>
          <a:solidFill>
            <a:srgbClr val="E5E5E5"/>
          </a:solidFill>
          <a:ln/>
        </p:spPr>
      </p:sp>
      <p:sp>
        <p:nvSpPr>
          <p:cNvPr id="49" name="Shape 47"/>
          <p:cNvSpPr/>
          <p:nvPr/>
        </p:nvSpPr>
        <p:spPr>
          <a:xfrm>
            <a:off x="7612380" y="5494020"/>
            <a:ext cx="1924050" cy="647700"/>
          </a:xfrm>
          <a:custGeom>
            <a:avLst/>
            <a:gdLst/>
            <a:ahLst/>
            <a:cxnLst/>
            <a:rect l="l" t="t" r="r" b="b"/>
            <a:pathLst>
              <a:path w="1924050" h="647700">
                <a:moveTo>
                  <a:pt x="76202" y="0"/>
                </a:moveTo>
                <a:lnTo>
                  <a:pt x="1847848" y="0"/>
                </a:lnTo>
                <a:cubicBezTo>
                  <a:pt x="1889933" y="0"/>
                  <a:pt x="1924050" y="34117"/>
                  <a:pt x="1924050" y="76202"/>
                </a:cubicBezTo>
                <a:lnTo>
                  <a:pt x="1924050" y="571498"/>
                </a:lnTo>
                <a:cubicBezTo>
                  <a:pt x="1924050" y="613583"/>
                  <a:pt x="1889933" y="647700"/>
                  <a:pt x="1847848" y="647700"/>
                </a:cubicBezTo>
                <a:lnTo>
                  <a:pt x="76202" y="647700"/>
                </a:lnTo>
                <a:cubicBezTo>
                  <a:pt x="34117" y="647700"/>
                  <a:pt x="0" y="613583"/>
                  <a:pt x="0" y="571498"/>
                </a:cubicBezTo>
                <a:lnTo>
                  <a:pt x="0" y="76202"/>
                </a:lnTo>
                <a:cubicBezTo>
                  <a:pt x="0" y="34117"/>
                  <a:pt x="34117" y="0"/>
                  <a:pt x="76202" y="0"/>
                </a:cubicBezTo>
                <a:close/>
              </a:path>
            </a:pathLst>
          </a:custGeom>
          <a:solidFill>
            <a:srgbClr val="FAFAFA"/>
          </a:solidFill>
          <a:ln/>
        </p:spPr>
      </p:sp>
      <p:sp>
        <p:nvSpPr>
          <p:cNvPr id="50" name="Text 48"/>
          <p:cNvSpPr/>
          <p:nvPr/>
        </p:nvSpPr>
        <p:spPr>
          <a:xfrm>
            <a:off x="7726680" y="5608320"/>
            <a:ext cx="1762125" cy="190500"/>
          </a:xfrm>
          <a:prstGeom prst="rect">
            <a:avLst/>
          </a:prstGeom>
          <a:noFill/>
          <a:ln/>
        </p:spPr>
        <p:txBody>
          <a:bodyPr wrap="square" lIns="0" tIns="0" rIns="0" bIns="0" rtlCol="0" anchor="ctr"/>
          <a:lstStyle/>
          <a:p>
            <a:pPr>
              <a:lnSpc>
                <a:spcPct val="120000"/>
              </a:lnSpc>
            </a:pPr>
            <a:r>
              <a:rPr lang="en-US" sz="1050" b="1" dirty="0">
                <a:solidFill>
                  <a:srgbClr val="1D1D1D"/>
                </a:solidFill>
                <a:latin typeface="Liter" pitchFamily="34" charset="0"/>
                <a:ea typeface="Liter" pitchFamily="34" charset="-122"/>
                <a:cs typeface="Liter" pitchFamily="34" charset="-120"/>
              </a:rPr>
              <a:t>Network SSID</a:t>
            </a:r>
            <a:endParaRPr lang="en-US" sz="1600" dirty="0"/>
          </a:p>
        </p:txBody>
      </p:sp>
      <p:sp>
        <p:nvSpPr>
          <p:cNvPr id="51" name="Text 49"/>
          <p:cNvSpPr/>
          <p:nvPr/>
        </p:nvSpPr>
        <p:spPr>
          <a:xfrm>
            <a:off x="7726680" y="5836920"/>
            <a:ext cx="17621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ESP32-Server</a:t>
            </a:r>
            <a:endParaRPr lang="en-US" sz="1600" dirty="0"/>
          </a:p>
        </p:txBody>
      </p:sp>
      <p:sp>
        <p:nvSpPr>
          <p:cNvPr id="52" name="Shape 50"/>
          <p:cNvSpPr/>
          <p:nvPr/>
        </p:nvSpPr>
        <p:spPr>
          <a:xfrm>
            <a:off x="9650730" y="5494020"/>
            <a:ext cx="1924050" cy="647700"/>
          </a:xfrm>
          <a:custGeom>
            <a:avLst/>
            <a:gdLst/>
            <a:ahLst/>
            <a:cxnLst/>
            <a:rect l="l" t="t" r="r" b="b"/>
            <a:pathLst>
              <a:path w="1924050" h="647700">
                <a:moveTo>
                  <a:pt x="76202" y="0"/>
                </a:moveTo>
                <a:lnTo>
                  <a:pt x="1847848" y="0"/>
                </a:lnTo>
                <a:cubicBezTo>
                  <a:pt x="1889933" y="0"/>
                  <a:pt x="1924050" y="34117"/>
                  <a:pt x="1924050" y="76202"/>
                </a:cubicBezTo>
                <a:lnTo>
                  <a:pt x="1924050" y="571498"/>
                </a:lnTo>
                <a:cubicBezTo>
                  <a:pt x="1924050" y="613583"/>
                  <a:pt x="1889933" y="647700"/>
                  <a:pt x="1847848" y="647700"/>
                </a:cubicBezTo>
                <a:lnTo>
                  <a:pt x="76202" y="647700"/>
                </a:lnTo>
                <a:cubicBezTo>
                  <a:pt x="34117" y="647700"/>
                  <a:pt x="0" y="613583"/>
                  <a:pt x="0" y="571498"/>
                </a:cubicBezTo>
                <a:lnTo>
                  <a:pt x="0" y="76202"/>
                </a:lnTo>
                <a:cubicBezTo>
                  <a:pt x="0" y="34117"/>
                  <a:pt x="34117" y="0"/>
                  <a:pt x="76202" y="0"/>
                </a:cubicBezTo>
                <a:close/>
              </a:path>
            </a:pathLst>
          </a:custGeom>
          <a:solidFill>
            <a:srgbClr val="FAFAFA"/>
          </a:solidFill>
          <a:ln/>
        </p:spPr>
      </p:sp>
      <p:sp>
        <p:nvSpPr>
          <p:cNvPr id="53" name="Text 51"/>
          <p:cNvSpPr/>
          <p:nvPr/>
        </p:nvSpPr>
        <p:spPr>
          <a:xfrm>
            <a:off x="9765031" y="5608320"/>
            <a:ext cx="1762125" cy="190500"/>
          </a:xfrm>
          <a:prstGeom prst="rect">
            <a:avLst/>
          </a:prstGeom>
          <a:noFill/>
          <a:ln/>
        </p:spPr>
        <p:txBody>
          <a:bodyPr wrap="square" lIns="0" tIns="0" rIns="0" bIns="0" rtlCol="0" anchor="ctr"/>
          <a:lstStyle/>
          <a:p>
            <a:pPr>
              <a:lnSpc>
                <a:spcPct val="120000"/>
              </a:lnSpc>
            </a:pPr>
            <a:r>
              <a:rPr lang="en-US" sz="1050" b="1" dirty="0">
                <a:solidFill>
                  <a:srgbClr val="1D1D1D"/>
                </a:solidFill>
                <a:latin typeface="Liter" pitchFamily="34" charset="0"/>
                <a:ea typeface="Liter" pitchFamily="34" charset="-122"/>
                <a:cs typeface="Liter" pitchFamily="34" charset="-120"/>
              </a:rPr>
              <a:t>Password</a:t>
            </a:r>
            <a:endParaRPr lang="en-US" sz="1600" dirty="0"/>
          </a:p>
        </p:txBody>
      </p:sp>
      <p:sp>
        <p:nvSpPr>
          <p:cNvPr id="54" name="Text 52"/>
          <p:cNvSpPr/>
          <p:nvPr/>
        </p:nvSpPr>
        <p:spPr>
          <a:xfrm>
            <a:off x="9765031" y="5836920"/>
            <a:ext cx="17621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12345678</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55711" y="355711"/>
            <a:ext cx="11542827" cy="177856"/>
          </a:xfrm>
          <a:prstGeom prst="rect">
            <a:avLst/>
          </a:prstGeom>
          <a:noFill/>
          <a:ln/>
        </p:spPr>
        <p:txBody>
          <a:bodyPr wrap="square" lIns="0" tIns="0" rIns="0" bIns="0" rtlCol="0" anchor="ctr"/>
          <a:lstStyle/>
          <a:p>
            <a:pPr>
              <a:lnSpc>
                <a:spcPct val="120000"/>
              </a:lnSpc>
            </a:pPr>
            <a:r>
              <a:rPr lang="en-US" sz="980" b="1" kern="0" spc="49" dirty="0">
                <a:solidFill>
                  <a:srgbClr val="0071E3"/>
                </a:solidFill>
                <a:latin typeface="Liter" pitchFamily="34" charset="0"/>
                <a:ea typeface="Liter" pitchFamily="34" charset="-122"/>
                <a:cs typeface="Liter" pitchFamily="34" charset="-120"/>
              </a:rPr>
              <a:t>REMOTE MODULE</a:t>
            </a:r>
            <a:endParaRPr lang="en-US" sz="1600" dirty="0"/>
          </a:p>
        </p:txBody>
      </p:sp>
      <p:sp>
        <p:nvSpPr>
          <p:cNvPr id="3" name="Text 1"/>
          <p:cNvSpPr/>
          <p:nvPr/>
        </p:nvSpPr>
        <p:spPr>
          <a:xfrm>
            <a:off x="355711" y="604709"/>
            <a:ext cx="11640648" cy="355711"/>
          </a:xfrm>
          <a:prstGeom prst="rect">
            <a:avLst/>
          </a:prstGeom>
          <a:noFill/>
          <a:ln/>
        </p:spPr>
        <p:txBody>
          <a:bodyPr wrap="square" lIns="0" tIns="0" rIns="0" bIns="0" rtlCol="0" anchor="ctr"/>
          <a:lstStyle/>
          <a:p>
            <a:pPr>
              <a:lnSpc>
                <a:spcPct val="90000"/>
              </a:lnSpc>
            </a:pPr>
            <a:r>
              <a:rPr lang="en-US" sz="2521" b="1" dirty="0">
                <a:solidFill>
                  <a:srgbClr val="1D1D1D"/>
                </a:solidFill>
                <a:latin typeface="Liter" pitchFamily="34" charset="0"/>
                <a:ea typeface="Liter" pitchFamily="34" charset="-122"/>
                <a:cs typeface="Liter" pitchFamily="34" charset="-120"/>
              </a:rPr>
              <a:t>Input Logic: The Braille Engine</a:t>
            </a:r>
            <a:endParaRPr lang="en-US" sz="1600" dirty="0"/>
          </a:p>
        </p:txBody>
      </p:sp>
      <p:sp>
        <p:nvSpPr>
          <p:cNvPr id="4" name="Shape 2"/>
          <p:cNvSpPr/>
          <p:nvPr/>
        </p:nvSpPr>
        <p:spPr>
          <a:xfrm>
            <a:off x="359268" y="1141833"/>
            <a:ext cx="5627351" cy="3066230"/>
          </a:xfrm>
          <a:custGeom>
            <a:avLst/>
            <a:gdLst/>
            <a:ahLst/>
            <a:cxnLst/>
            <a:rect l="l" t="t" r="r" b="b"/>
            <a:pathLst>
              <a:path w="5627351" h="3066230">
                <a:moveTo>
                  <a:pt x="106705" y="0"/>
                </a:moveTo>
                <a:lnTo>
                  <a:pt x="5520646" y="0"/>
                </a:lnTo>
                <a:cubicBezTo>
                  <a:pt x="5579577" y="0"/>
                  <a:pt x="5627351" y="47773"/>
                  <a:pt x="5627351" y="106705"/>
                </a:cubicBezTo>
                <a:lnTo>
                  <a:pt x="5627351" y="2959525"/>
                </a:lnTo>
                <a:cubicBezTo>
                  <a:pt x="5627351" y="3018457"/>
                  <a:pt x="5579577" y="3066230"/>
                  <a:pt x="5520646" y="3066230"/>
                </a:cubicBezTo>
                <a:lnTo>
                  <a:pt x="106705" y="3066230"/>
                </a:lnTo>
                <a:cubicBezTo>
                  <a:pt x="47773" y="3066230"/>
                  <a:pt x="0" y="3018457"/>
                  <a:pt x="0" y="2959525"/>
                </a:cubicBezTo>
                <a:lnTo>
                  <a:pt x="0" y="106705"/>
                </a:lnTo>
                <a:cubicBezTo>
                  <a:pt x="0" y="47813"/>
                  <a:pt x="47813" y="0"/>
                  <a:pt x="106705" y="0"/>
                </a:cubicBezTo>
                <a:close/>
              </a:path>
            </a:pathLst>
          </a:custGeom>
          <a:solidFill>
            <a:srgbClr val="FFFFFF"/>
          </a:solidFill>
          <a:ln w="10160">
            <a:solidFill>
              <a:srgbClr val="E5E5E5"/>
            </a:solidFill>
            <a:prstDash val="solid"/>
          </a:ln>
          <a:effectLst>
            <a:outerShdw blurRad="26678" dist="8893" dir="5400000" algn="bl" rotWithShape="0">
              <a:srgbClr val="000000">
                <a:alpha val="10196"/>
              </a:srgbClr>
            </a:outerShdw>
          </a:effectLst>
        </p:spPr>
      </p:sp>
      <p:sp>
        <p:nvSpPr>
          <p:cNvPr id="5" name="Shape 3"/>
          <p:cNvSpPr/>
          <p:nvPr/>
        </p:nvSpPr>
        <p:spPr>
          <a:xfrm>
            <a:off x="620716" y="1394388"/>
            <a:ext cx="133392" cy="177856"/>
          </a:xfrm>
          <a:custGeom>
            <a:avLst/>
            <a:gdLst/>
            <a:ahLst/>
            <a:cxnLst/>
            <a:rect l="l" t="t" r="r" b="b"/>
            <a:pathLst>
              <a:path w="133392" h="177856">
                <a:moveTo>
                  <a:pt x="27790" y="50022"/>
                </a:moveTo>
                <a:cubicBezTo>
                  <a:pt x="43128" y="50022"/>
                  <a:pt x="55580" y="37570"/>
                  <a:pt x="55580" y="22232"/>
                </a:cubicBezTo>
                <a:cubicBezTo>
                  <a:pt x="55580" y="6894"/>
                  <a:pt x="43128" y="-5558"/>
                  <a:pt x="27790" y="-5558"/>
                </a:cubicBezTo>
                <a:cubicBezTo>
                  <a:pt x="12452" y="-5558"/>
                  <a:pt x="0" y="6894"/>
                  <a:pt x="0" y="22232"/>
                </a:cubicBezTo>
                <a:cubicBezTo>
                  <a:pt x="0" y="37570"/>
                  <a:pt x="12452" y="50022"/>
                  <a:pt x="27790" y="50022"/>
                </a:cubicBezTo>
                <a:close/>
                <a:moveTo>
                  <a:pt x="27790" y="116718"/>
                </a:moveTo>
                <a:cubicBezTo>
                  <a:pt x="43128" y="116718"/>
                  <a:pt x="55580" y="104265"/>
                  <a:pt x="55580" y="88928"/>
                </a:cubicBezTo>
                <a:cubicBezTo>
                  <a:pt x="55580" y="73590"/>
                  <a:pt x="43128" y="61138"/>
                  <a:pt x="27790" y="61138"/>
                </a:cubicBezTo>
                <a:cubicBezTo>
                  <a:pt x="12452" y="61138"/>
                  <a:pt x="0" y="73590"/>
                  <a:pt x="0" y="88928"/>
                </a:cubicBezTo>
                <a:cubicBezTo>
                  <a:pt x="0" y="104265"/>
                  <a:pt x="12452" y="116718"/>
                  <a:pt x="27790" y="116718"/>
                </a:cubicBezTo>
                <a:close/>
                <a:moveTo>
                  <a:pt x="27790" y="163961"/>
                </a:moveTo>
                <a:cubicBezTo>
                  <a:pt x="23170" y="163961"/>
                  <a:pt x="19453" y="160244"/>
                  <a:pt x="19453" y="155624"/>
                </a:cubicBezTo>
                <a:cubicBezTo>
                  <a:pt x="19453" y="151004"/>
                  <a:pt x="23170" y="147287"/>
                  <a:pt x="27790" y="147287"/>
                </a:cubicBezTo>
                <a:cubicBezTo>
                  <a:pt x="32410" y="147287"/>
                  <a:pt x="36127" y="151004"/>
                  <a:pt x="36127" y="155624"/>
                </a:cubicBezTo>
                <a:cubicBezTo>
                  <a:pt x="36127" y="160244"/>
                  <a:pt x="32410" y="163961"/>
                  <a:pt x="27790" y="163961"/>
                </a:cubicBezTo>
                <a:close/>
                <a:moveTo>
                  <a:pt x="27790" y="183414"/>
                </a:moveTo>
                <a:cubicBezTo>
                  <a:pt x="43144" y="183414"/>
                  <a:pt x="55580" y="170978"/>
                  <a:pt x="55580" y="155624"/>
                </a:cubicBezTo>
                <a:cubicBezTo>
                  <a:pt x="55580" y="140270"/>
                  <a:pt x="43144" y="127834"/>
                  <a:pt x="27790" y="127834"/>
                </a:cubicBezTo>
                <a:cubicBezTo>
                  <a:pt x="12436" y="127834"/>
                  <a:pt x="0" y="140270"/>
                  <a:pt x="0" y="155624"/>
                </a:cubicBezTo>
                <a:cubicBezTo>
                  <a:pt x="0" y="170978"/>
                  <a:pt x="12436" y="183414"/>
                  <a:pt x="27790" y="183414"/>
                </a:cubicBezTo>
                <a:close/>
                <a:moveTo>
                  <a:pt x="113939" y="155624"/>
                </a:moveTo>
                <a:cubicBezTo>
                  <a:pt x="113939" y="160244"/>
                  <a:pt x="110222" y="163961"/>
                  <a:pt x="105602" y="163961"/>
                </a:cubicBezTo>
                <a:cubicBezTo>
                  <a:pt x="100982" y="163961"/>
                  <a:pt x="97265" y="160244"/>
                  <a:pt x="97265" y="155624"/>
                </a:cubicBezTo>
                <a:cubicBezTo>
                  <a:pt x="97265" y="151004"/>
                  <a:pt x="100982" y="147287"/>
                  <a:pt x="105602" y="147287"/>
                </a:cubicBezTo>
                <a:cubicBezTo>
                  <a:pt x="110222" y="147287"/>
                  <a:pt x="113939" y="151004"/>
                  <a:pt x="113939" y="155624"/>
                </a:cubicBezTo>
                <a:close/>
                <a:moveTo>
                  <a:pt x="133392" y="155624"/>
                </a:moveTo>
                <a:cubicBezTo>
                  <a:pt x="133392" y="140270"/>
                  <a:pt x="120956" y="127834"/>
                  <a:pt x="105602" y="127834"/>
                </a:cubicBezTo>
                <a:cubicBezTo>
                  <a:pt x="90248" y="127834"/>
                  <a:pt x="77812" y="140270"/>
                  <a:pt x="77812" y="155624"/>
                </a:cubicBezTo>
                <a:cubicBezTo>
                  <a:pt x="77812" y="170978"/>
                  <a:pt x="90248" y="183414"/>
                  <a:pt x="105602" y="183414"/>
                </a:cubicBezTo>
                <a:cubicBezTo>
                  <a:pt x="120956" y="183414"/>
                  <a:pt x="133392" y="170978"/>
                  <a:pt x="133392" y="155624"/>
                </a:cubicBezTo>
                <a:close/>
                <a:moveTo>
                  <a:pt x="105602" y="80591"/>
                </a:moveTo>
                <a:cubicBezTo>
                  <a:pt x="110203" y="80591"/>
                  <a:pt x="113939" y="84326"/>
                  <a:pt x="113939" y="88928"/>
                </a:cubicBezTo>
                <a:cubicBezTo>
                  <a:pt x="113939" y="93529"/>
                  <a:pt x="110203" y="97265"/>
                  <a:pt x="105602" y="97265"/>
                </a:cubicBezTo>
                <a:cubicBezTo>
                  <a:pt x="101000" y="97265"/>
                  <a:pt x="97265" y="93529"/>
                  <a:pt x="97265" y="88928"/>
                </a:cubicBezTo>
                <a:cubicBezTo>
                  <a:pt x="97265" y="84326"/>
                  <a:pt x="101000" y="80591"/>
                  <a:pt x="105602" y="80591"/>
                </a:cubicBezTo>
                <a:close/>
                <a:moveTo>
                  <a:pt x="105602" y="116718"/>
                </a:moveTo>
                <a:cubicBezTo>
                  <a:pt x="120939" y="116718"/>
                  <a:pt x="133392" y="104265"/>
                  <a:pt x="133392" y="88928"/>
                </a:cubicBezTo>
                <a:cubicBezTo>
                  <a:pt x="133392" y="73590"/>
                  <a:pt x="120939" y="61138"/>
                  <a:pt x="105602" y="61138"/>
                </a:cubicBezTo>
                <a:cubicBezTo>
                  <a:pt x="90264" y="61138"/>
                  <a:pt x="77812" y="73590"/>
                  <a:pt x="77812" y="88928"/>
                </a:cubicBezTo>
                <a:cubicBezTo>
                  <a:pt x="77812" y="104265"/>
                  <a:pt x="90264" y="116718"/>
                  <a:pt x="105602" y="116718"/>
                </a:cubicBezTo>
                <a:close/>
                <a:moveTo>
                  <a:pt x="105602" y="50022"/>
                </a:moveTo>
                <a:cubicBezTo>
                  <a:pt x="120939" y="50022"/>
                  <a:pt x="133392" y="37570"/>
                  <a:pt x="133392" y="22232"/>
                </a:cubicBezTo>
                <a:cubicBezTo>
                  <a:pt x="133392" y="6894"/>
                  <a:pt x="120939" y="-5558"/>
                  <a:pt x="105602" y="-5558"/>
                </a:cubicBezTo>
                <a:cubicBezTo>
                  <a:pt x="90264" y="-5558"/>
                  <a:pt x="77812" y="6894"/>
                  <a:pt x="77812" y="22232"/>
                </a:cubicBezTo>
                <a:cubicBezTo>
                  <a:pt x="77812" y="37570"/>
                  <a:pt x="90264" y="50022"/>
                  <a:pt x="105602" y="50022"/>
                </a:cubicBezTo>
                <a:close/>
              </a:path>
            </a:pathLst>
          </a:custGeom>
          <a:solidFill>
            <a:srgbClr val="0071E3"/>
          </a:solidFill>
          <a:ln/>
        </p:spPr>
      </p:sp>
      <p:sp>
        <p:nvSpPr>
          <p:cNvPr id="6" name="Text 4"/>
          <p:cNvSpPr/>
          <p:nvPr/>
        </p:nvSpPr>
        <p:spPr>
          <a:xfrm>
            <a:off x="798572" y="1358817"/>
            <a:ext cx="5059991" cy="248998"/>
          </a:xfrm>
          <a:prstGeom prst="rect">
            <a:avLst/>
          </a:prstGeom>
          <a:noFill/>
          <a:ln/>
        </p:spPr>
        <p:txBody>
          <a:bodyPr wrap="square" lIns="0" tIns="0" rIns="0" bIns="0" rtlCol="0" anchor="ctr"/>
          <a:lstStyle/>
          <a:p>
            <a:pPr>
              <a:lnSpc>
                <a:spcPct val="120000"/>
              </a:lnSpc>
            </a:pPr>
            <a:r>
              <a:rPr lang="en-US" sz="1400" b="1" dirty="0">
                <a:solidFill>
                  <a:srgbClr val="1D1D1D"/>
                </a:solidFill>
                <a:latin typeface="Liter" pitchFamily="34" charset="0"/>
                <a:ea typeface="Liter" pitchFamily="34" charset="-122"/>
                <a:cs typeface="Liter" pitchFamily="34" charset="-120"/>
              </a:rPr>
              <a:t>Hardware Input System</a:t>
            </a:r>
            <a:endParaRPr lang="en-US" sz="1600" dirty="0"/>
          </a:p>
        </p:txBody>
      </p:sp>
      <p:sp>
        <p:nvSpPr>
          <p:cNvPr id="7" name="Shape 5"/>
          <p:cNvSpPr/>
          <p:nvPr/>
        </p:nvSpPr>
        <p:spPr>
          <a:xfrm>
            <a:off x="576252" y="1750099"/>
            <a:ext cx="5193383" cy="1156061"/>
          </a:xfrm>
          <a:custGeom>
            <a:avLst/>
            <a:gdLst/>
            <a:ahLst/>
            <a:cxnLst/>
            <a:rect l="l" t="t" r="r" b="b"/>
            <a:pathLst>
              <a:path w="5193383" h="1156061">
                <a:moveTo>
                  <a:pt x="71144" y="0"/>
                </a:moveTo>
                <a:lnTo>
                  <a:pt x="5122239" y="0"/>
                </a:lnTo>
                <a:cubicBezTo>
                  <a:pt x="5161531" y="0"/>
                  <a:pt x="5193383" y="31852"/>
                  <a:pt x="5193383" y="71144"/>
                </a:cubicBezTo>
                <a:lnTo>
                  <a:pt x="5193383" y="1084917"/>
                </a:lnTo>
                <a:cubicBezTo>
                  <a:pt x="5193383" y="1124209"/>
                  <a:pt x="5161531" y="1156061"/>
                  <a:pt x="5122239" y="1156061"/>
                </a:cubicBezTo>
                <a:lnTo>
                  <a:pt x="71144" y="1156061"/>
                </a:lnTo>
                <a:cubicBezTo>
                  <a:pt x="31852" y="1156061"/>
                  <a:pt x="0" y="1124209"/>
                  <a:pt x="0" y="1084917"/>
                </a:cubicBezTo>
                <a:lnTo>
                  <a:pt x="0" y="71144"/>
                </a:lnTo>
                <a:cubicBezTo>
                  <a:pt x="0" y="31852"/>
                  <a:pt x="31852" y="0"/>
                  <a:pt x="71144" y="0"/>
                </a:cubicBezTo>
                <a:close/>
              </a:path>
            </a:pathLst>
          </a:custGeom>
          <a:solidFill>
            <a:srgbClr val="FAFAFA"/>
          </a:solidFill>
          <a:ln/>
        </p:spPr>
      </p:sp>
      <p:sp>
        <p:nvSpPr>
          <p:cNvPr id="8" name="Shape 6"/>
          <p:cNvSpPr/>
          <p:nvPr/>
        </p:nvSpPr>
        <p:spPr>
          <a:xfrm>
            <a:off x="718537" y="1910169"/>
            <a:ext cx="355711" cy="355711"/>
          </a:xfrm>
          <a:custGeom>
            <a:avLst/>
            <a:gdLst/>
            <a:ahLst/>
            <a:cxnLst/>
            <a:rect l="l" t="t" r="r" b="b"/>
            <a:pathLst>
              <a:path w="355711" h="355711">
                <a:moveTo>
                  <a:pt x="71142" y="0"/>
                </a:moveTo>
                <a:lnTo>
                  <a:pt x="284569" y="0"/>
                </a:lnTo>
                <a:cubicBezTo>
                  <a:pt x="323860" y="0"/>
                  <a:pt x="355711" y="31851"/>
                  <a:pt x="355711" y="71142"/>
                </a:cubicBezTo>
                <a:lnTo>
                  <a:pt x="355711" y="284569"/>
                </a:lnTo>
                <a:cubicBezTo>
                  <a:pt x="355711" y="323860"/>
                  <a:pt x="323860" y="355711"/>
                  <a:pt x="284569" y="355711"/>
                </a:cubicBezTo>
                <a:lnTo>
                  <a:pt x="71142" y="355711"/>
                </a:lnTo>
                <a:cubicBezTo>
                  <a:pt x="31851" y="355711"/>
                  <a:pt x="0" y="323860"/>
                  <a:pt x="0" y="284569"/>
                </a:cubicBezTo>
                <a:lnTo>
                  <a:pt x="0" y="71142"/>
                </a:lnTo>
                <a:cubicBezTo>
                  <a:pt x="0" y="31851"/>
                  <a:pt x="31851" y="0"/>
                  <a:pt x="71142" y="0"/>
                </a:cubicBezTo>
                <a:close/>
              </a:path>
            </a:pathLst>
          </a:custGeom>
          <a:solidFill>
            <a:srgbClr val="0071E3"/>
          </a:solidFill>
          <a:ln/>
        </p:spPr>
      </p:sp>
      <p:sp>
        <p:nvSpPr>
          <p:cNvPr id="9" name="Text 7"/>
          <p:cNvSpPr/>
          <p:nvPr/>
        </p:nvSpPr>
        <p:spPr>
          <a:xfrm>
            <a:off x="682965" y="1910169"/>
            <a:ext cx="426853" cy="355711"/>
          </a:xfrm>
          <a:prstGeom prst="rect">
            <a:avLst/>
          </a:prstGeom>
          <a:noFill/>
          <a:ln/>
        </p:spPr>
        <p:txBody>
          <a:bodyPr wrap="square" lIns="0" tIns="0" rIns="0" bIns="0" rtlCol="0" anchor="ctr"/>
          <a:lstStyle/>
          <a:p>
            <a:pPr algn="ctr">
              <a:lnSpc>
                <a:spcPct val="130000"/>
              </a:lnSpc>
            </a:pPr>
            <a:r>
              <a:rPr lang="en-US" sz="1120" b="1" dirty="0">
                <a:solidFill>
                  <a:srgbClr val="FFFFFF"/>
                </a:solidFill>
                <a:latin typeface="Liter" pitchFamily="34" charset="0"/>
                <a:ea typeface="Liter" pitchFamily="34" charset="-122"/>
                <a:cs typeface="Liter" pitchFamily="34" charset="-120"/>
              </a:rPr>
              <a:t>6</a:t>
            </a:r>
            <a:endParaRPr lang="en-US" sz="1600" dirty="0"/>
          </a:p>
        </p:txBody>
      </p:sp>
      <p:sp>
        <p:nvSpPr>
          <p:cNvPr id="10" name="Text 8"/>
          <p:cNvSpPr/>
          <p:nvPr/>
        </p:nvSpPr>
        <p:spPr>
          <a:xfrm>
            <a:off x="1180961" y="1892384"/>
            <a:ext cx="1280560" cy="213427"/>
          </a:xfrm>
          <a:prstGeom prst="rect">
            <a:avLst/>
          </a:prstGeom>
          <a:noFill/>
          <a:ln/>
        </p:spPr>
        <p:txBody>
          <a:bodyPr wrap="square" lIns="0" tIns="0" rIns="0" bIns="0" rtlCol="0" anchor="ctr"/>
          <a:lstStyle/>
          <a:p>
            <a:pPr>
              <a:lnSpc>
                <a:spcPct val="130000"/>
              </a:lnSpc>
            </a:pPr>
            <a:r>
              <a:rPr lang="en-US" sz="1120" b="1" dirty="0">
                <a:solidFill>
                  <a:srgbClr val="1D1D1D"/>
                </a:solidFill>
                <a:latin typeface="Liter" pitchFamily="34" charset="0"/>
                <a:ea typeface="Liter" pitchFamily="34" charset="-122"/>
                <a:cs typeface="Liter" pitchFamily="34" charset="-120"/>
              </a:rPr>
              <a:t>Braille Pushbuttons</a:t>
            </a:r>
            <a:endParaRPr lang="en-US" sz="1600" dirty="0"/>
          </a:p>
        </p:txBody>
      </p:sp>
      <p:sp>
        <p:nvSpPr>
          <p:cNvPr id="11" name="Text 9"/>
          <p:cNvSpPr/>
          <p:nvPr/>
        </p:nvSpPr>
        <p:spPr>
          <a:xfrm>
            <a:off x="1180961" y="2105810"/>
            <a:ext cx="1271667" cy="177856"/>
          </a:xfrm>
          <a:prstGeom prst="rect">
            <a:avLst/>
          </a:prstGeom>
          <a:noFill/>
          <a:ln/>
        </p:spPr>
        <p:txBody>
          <a:bodyPr wrap="square" lIns="0" tIns="0" rIns="0" bIns="0" rtlCol="0" anchor="ctr"/>
          <a:lstStyle/>
          <a:p>
            <a:pPr>
              <a:lnSpc>
                <a:spcPct val="120000"/>
              </a:lnSpc>
            </a:pPr>
            <a:r>
              <a:rPr lang="en-US" sz="980" dirty="0">
                <a:solidFill>
                  <a:srgbClr val="86868B"/>
                </a:solidFill>
                <a:latin typeface="Liter" pitchFamily="34" charset="0"/>
                <a:ea typeface="Liter" pitchFamily="34" charset="-122"/>
                <a:cs typeface="Liter" pitchFamily="34" charset="-120"/>
              </a:rPr>
              <a:t>btnPins[] array</a:t>
            </a:r>
            <a:endParaRPr lang="en-US" sz="1600" dirty="0"/>
          </a:p>
        </p:txBody>
      </p:sp>
      <p:sp>
        <p:nvSpPr>
          <p:cNvPr id="12" name="Text 10"/>
          <p:cNvSpPr/>
          <p:nvPr/>
        </p:nvSpPr>
        <p:spPr>
          <a:xfrm>
            <a:off x="718537" y="2354808"/>
            <a:ext cx="4971063" cy="409068"/>
          </a:xfrm>
          <a:prstGeom prst="rect">
            <a:avLst/>
          </a:prstGeom>
          <a:noFill/>
          <a:ln/>
        </p:spPr>
        <p:txBody>
          <a:bodyPr wrap="square" lIns="0" tIns="0" rIns="0" bIns="0" rtlCol="0" anchor="ctr"/>
          <a:lstStyle/>
          <a:p>
            <a:pPr>
              <a:lnSpc>
                <a:spcPct val="140000"/>
              </a:lnSpc>
            </a:pPr>
            <a:r>
              <a:rPr lang="en-US" sz="980" dirty="0">
                <a:solidFill>
                  <a:srgbClr val="86868B"/>
                </a:solidFill>
                <a:latin typeface="Liter" pitchFamily="34" charset="0"/>
                <a:ea typeface="Liter" pitchFamily="34" charset="-122"/>
                <a:cs typeface="Liter" pitchFamily="34" charset="-120"/>
              </a:rPr>
              <a:t>Six buttons arranged in standard Braille cell pattern (2 columns × 3 rows). Each button represents one dot position.</a:t>
            </a:r>
            <a:endParaRPr lang="en-US" sz="1600" dirty="0"/>
          </a:p>
        </p:txBody>
      </p:sp>
      <p:sp>
        <p:nvSpPr>
          <p:cNvPr id="13" name="Shape 11"/>
          <p:cNvSpPr/>
          <p:nvPr/>
        </p:nvSpPr>
        <p:spPr>
          <a:xfrm>
            <a:off x="576252" y="3043999"/>
            <a:ext cx="5193383" cy="951527"/>
          </a:xfrm>
          <a:custGeom>
            <a:avLst/>
            <a:gdLst/>
            <a:ahLst/>
            <a:cxnLst/>
            <a:rect l="l" t="t" r="r" b="b"/>
            <a:pathLst>
              <a:path w="5193383" h="951527">
                <a:moveTo>
                  <a:pt x="71146" y="0"/>
                </a:moveTo>
                <a:lnTo>
                  <a:pt x="5122237" y="0"/>
                </a:lnTo>
                <a:cubicBezTo>
                  <a:pt x="5161530" y="0"/>
                  <a:pt x="5193383" y="31853"/>
                  <a:pt x="5193383" y="71146"/>
                </a:cubicBezTo>
                <a:lnTo>
                  <a:pt x="5193383" y="880382"/>
                </a:lnTo>
                <a:cubicBezTo>
                  <a:pt x="5193383" y="919674"/>
                  <a:pt x="5161530" y="951527"/>
                  <a:pt x="5122237" y="951527"/>
                </a:cubicBezTo>
                <a:lnTo>
                  <a:pt x="71146" y="951527"/>
                </a:lnTo>
                <a:cubicBezTo>
                  <a:pt x="31853" y="951527"/>
                  <a:pt x="0" y="919674"/>
                  <a:pt x="0" y="880382"/>
                </a:cubicBezTo>
                <a:lnTo>
                  <a:pt x="0" y="71146"/>
                </a:lnTo>
                <a:cubicBezTo>
                  <a:pt x="0" y="31879"/>
                  <a:pt x="31879" y="0"/>
                  <a:pt x="71146" y="0"/>
                </a:cubicBezTo>
                <a:close/>
              </a:path>
            </a:pathLst>
          </a:custGeom>
          <a:solidFill>
            <a:srgbClr val="FAFAFA"/>
          </a:solidFill>
          <a:ln/>
        </p:spPr>
      </p:sp>
      <p:sp>
        <p:nvSpPr>
          <p:cNvPr id="14" name="Shape 12"/>
          <p:cNvSpPr/>
          <p:nvPr/>
        </p:nvSpPr>
        <p:spPr>
          <a:xfrm>
            <a:off x="718537" y="3204069"/>
            <a:ext cx="355711" cy="355711"/>
          </a:xfrm>
          <a:custGeom>
            <a:avLst/>
            <a:gdLst/>
            <a:ahLst/>
            <a:cxnLst/>
            <a:rect l="l" t="t" r="r" b="b"/>
            <a:pathLst>
              <a:path w="355711" h="355711">
                <a:moveTo>
                  <a:pt x="71142" y="0"/>
                </a:moveTo>
                <a:lnTo>
                  <a:pt x="284569" y="0"/>
                </a:lnTo>
                <a:cubicBezTo>
                  <a:pt x="323860" y="0"/>
                  <a:pt x="355711" y="31851"/>
                  <a:pt x="355711" y="71142"/>
                </a:cubicBezTo>
                <a:lnTo>
                  <a:pt x="355711" y="284569"/>
                </a:lnTo>
                <a:cubicBezTo>
                  <a:pt x="355711" y="323860"/>
                  <a:pt x="323860" y="355711"/>
                  <a:pt x="284569" y="355711"/>
                </a:cubicBezTo>
                <a:lnTo>
                  <a:pt x="71142" y="355711"/>
                </a:lnTo>
                <a:cubicBezTo>
                  <a:pt x="31851" y="355711"/>
                  <a:pt x="0" y="323860"/>
                  <a:pt x="0" y="284569"/>
                </a:cubicBezTo>
                <a:lnTo>
                  <a:pt x="0" y="71142"/>
                </a:lnTo>
                <a:cubicBezTo>
                  <a:pt x="0" y="31851"/>
                  <a:pt x="31851" y="0"/>
                  <a:pt x="71142" y="0"/>
                </a:cubicBezTo>
                <a:close/>
              </a:path>
            </a:pathLst>
          </a:custGeom>
          <a:solidFill>
            <a:srgbClr val="FF9500"/>
          </a:solidFill>
          <a:ln/>
        </p:spPr>
      </p:sp>
      <p:sp>
        <p:nvSpPr>
          <p:cNvPr id="15" name="Text 13"/>
          <p:cNvSpPr/>
          <p:nvPr/>
        </p:nvSpPr>
        <p:spPr>
          <a:xfrm>
            <a:off x="682965" y="3204069"/>
            <a:ext cx="426853" cy="355711"/>
          </a:xfrm>
          <a:prstGeom prst="rect">
            <a:avLst/>
          </a:prstGeom>
          <a:noFill/>
          <a:ln/>
        </p:spPr>
        <p:txBody>
          <a:bodyPr wrap="square" lIns="0" tIns="0" rIns="0" bIns="0" rtlCol="0" anchor="ctr"/>
          <a:lstStyle/>
          <a:p>
            <a:pPr algn="ctr">
              <a:lnSpc>
                <a:spcPct val="130000"/>
              </a:lnSpc>
            </a:pPr>
            <a:r>
              <a:rPr lang="en-US" sz="1120" b="1" dirty="0">
                <a:solidFill>
                  <a:srgbClr val="FFFFFF"/>
                </a:solidFill>
                <a:latin typeface="Liter" pitchFamily="34" charset="0"/>
                <a:ea typeface="Liter" pitchFamily="34" charset="-122"/>
                <a:cs typeface="Liter" pitchFamily="34" charset="-120"/>
              </a:rPr>
              <a:t>2</a:t>
            </a:r>
            <a:endParaRPr lang="en-US" sz="1600" dirty="0"/>
          </a:p>
        </p:txBody>
      </p:sp>
      <p:sp>
        <p:nvSpPr>
          <p:cNvPr id="16" name="Text 14"/>
          <p:cNvSpPr/>
          <p:nvPr/>
        </p:nvSpPr>
        <p:spPr>
          <a:xfrm>
            <a:off x="1180961" y="3186283"/>
            <a:ext cx="1351702" cy="213427"/>
          </a:xfrm>
          <a:prstGeom prst="rect">
            <a:avLst/>
          </a:prstGeom>
          <a:noFill/>
          <a:ln/>
        </p:spPr>
        <p:txBody>
          <a:bodyPr wrap="square" lIns="0" tIns="0" rIns="0" bIns="0" rtlCol="0" anchor="ctr"/>
          <a:lstStyle/>
          <a:p>
            <a:pPr>
              <a:lnSpc>
                <a:spcPct val="130000"/>
              </a:lnSpc>
            </a:pPr>
            <a:r>
              <a:rPr lang="en-US" sz="1120" b="1" dirty="0">
                <a:solidFill>
                  <a:srgbClr val="1D1D1D"/>
                </a:solidFill>
                <a:latin typeface="Liter" pitchFamily="34" charset="0"/>
                <a:ea typeface="Liter" pitchFamily="34" charset="-122"/>
                <a:cs typeface="Liter" pitchFamily="34" charset="-120"/>
              </a:rPr>
              <a:t>Touch Sensors</a:t>
            </a:r>
            <a:endParaRPr lang="en-US" sz="1600" dirty="0"/>
          </a:p>
        </p:txBody>
      </p:sp>
      <p:sp>
        <p:nvSpPr>
          <p:cNvPr id="17" name="Text 15"/>
          <p:cNvSpPr/>
          <p:nvPr/>
        </p:nvSpPr>
        <p:spPr>
          <a:xfrm>
            <a:off x="1180961" y="3399710"/>
            <a:ext cx="1342810" cy="177856"/>
          </a:xfrm>
          <a:prstGeom prst="rect">
            <a:avLst/>
          </a:prstGeom>
          <a:noFill/>
          <a:ln/>
        </p:spPr>
        <p:txBody>
          <a:bodyPr wrap="square" lIns="0" tIns="0" rIns="0" bIns="0" rtlCol="0" anchor="ctr"/>
          <a:lstStyle/>
          <a:p>
            <a:pPr>
              <a:lnSpc>
                <a:spcPct val="120000"/>
              </a:lnSpc>
            </a:pPr>
            <a:r>
              <a:rPr lang="en-US" sz="980" dirty="0">
                <a:solidFill>
                  <a:srgbClr val="86868B"/>
                </a:solidFill>
                <a:latin typeface="Liter" pitchFamily="34" charset="0"/>
                <a:ea typeface="Liter" pitchFamily="34" charset="-122"/>
                <a:cs typeface="Liter" pitchFamily="34" charset="-120"/>
              </a:rPr>
              <a:t>touchLeft &amp; touchRight</a:t>
            </a:r>
            <a:endParaRPr lang="en-US" sz="1600" dirty="0"/>
          </a:p>
        </p:txBody>
      </p:sp>
      <p:sp>
        <p:nvSpPr>
          <p:cNvPr id="18" name="Text 16"/>
          <p:cNvSpPr/>
          <p:nvPr/>
        </p:nvSpPr>
        <p:spPr>
          <a:xfrm>
            <a:off x="718537" y="3648708"/>
            <a:ext cx="4971063" cy="204534"/>
          </a:xfrm>
          <a:prstGeom prst="rect">
            <a:avLst/>
          </a:prstGeom>
          <a:noFill/>
          <a:ln/>
        </p:spPr>
        <p:txBody>
          <a:bodyPr wrap="square" lIns="0" tIns="0" rIns="0" bIns="0" rtlCol="0" anchor="ctr"/>
          <a:lstStyle/>
          <a:p>
            <a:pPr>
              <a:lnSpc>
                <a:spcPct val="140000"/>
              </a:lnSpc>
            </a:pPr>
            <a:r>
              <a:rPr lang="en-US" sz="980" dirty="0">
                <a:solidFill>
                  <a:srgbClr val="86868B"/>
                </a:solidFill>
                <a:latin typeface="Liter" pitchFamily="34" charset="0"/>
                <a:ea typeface="Liter" pitchFamily="34" charset="-122"/>
                <a:cs typeface="Liter" pitchFamily="34" charset="-120"/>
              </a:rPr>
              <a:t>TTP223 capacitive touch sensors for mode selection and command confirmation.</a:t>
            </a:r>
            <a:endParaRPr lang="en-US" sz="1600" dirty="0"/>
          </a:p>
        </p:txBody>
      </p:sp>
      <p:sp>
        <p:nvSpPr>
          <p:cNvPr id="19" name="Shape 17"/>
          <p:cNvSpPr/>
          <p:nvPr/>
        </p:nvSpPr>
        <p:spPr>
          <a:xfrm>
            <a:off x="355711" y="4391699"/>
            <a:ext cx="5629129" cy="1965304"/>
          </a:xfrm>
          <a:custGeom>
            <a:avLst/>
            <a:gdLst/>
            <a:ahLst/>
            <a:cxnLst/>
            <a:rect l="l" t="t" r="r" b="b"/>
            <a:pathLst>
              <a:path w="5629129" h="1965304">
                <a:moveTo>
                  <a:pt x="106716" y="0"/>
                </a:moveTo>
                <a:lnTo>
                  <a:pt x="5522413" y="0"/>
                </a:lnTo>
                <a:cubicBezTo>
                  <a:pt x="5581351" y="0"/>
                  <a:pt x="5629129" y="47778"/>
                  <a:pt x="5629129" y="106716"/>
                </a:cubicBezTo>
                <a:lnTo>
                  <a:pt x="5629129" y="1858588"/>
                </a:lnTo>
                <a:cubicBezTo>
                  <a:pt x="5629129" y="1917526"/>
                  <a:pt x="5581351" y="1965304"/>
                  <a:pt x="5522413" y="1965304"/>
                </a:cubicBezTo>
                <a:lnTo>
                  <a:pt x="106716" y="1965304"/>
                </a:lnTo>
                <a:cubicBezTo>
                  <a:pt x="47778" y="1965304"/>
                  <a:pt x="0" y="1917526"/>
                  <a:pt x="0" y="1858588"/>
                </a:cubicBezTo>
                <a:lnTo>
                  <a:pt x="0" y="106716"/>
                </a:lnTo>
                <a:cubicBezTo>
                  <a:pt x="0" y="47778"/>
                  <a:pt x="47778" y="0"/>
                  <a:pt x="106716" y="0"/>
                </a:cubicBezTo>
                <a:close/>
              </a:path>
            </a:pathLst>
          </a:custGeom>
          <a:solidFill>
            <a:srgbClr val="1D1D1D"/>
          </a:solidFill>
          <a:ln/>
        </p:spPr>
      </p:sp>
      <p:sp>
        <p:nvSpPr>
          <p:cNvPr id="20" name="Shape 18"/>
          <p:cNvSpPr/>
          <p:nvPr/>
        </p:nvSpPr>
        <p:spPr>
          <a:xfrm>
            <a:off x="545794" y="4614019"/>
            <a:ext cx="180079" cy="160070"/>
          </a:xfrm>
          <a:custGeom>
            <a:avLst/>
            <a:gdLst/>
            <a:ahLst/>
            <a:cxnLst/>
            <a:rect l="l" t="t" r="r" b="b"/>
            <a:pathLst>
              <a:path w="180079" h="160070">
                <a:moveTo>
                  <a:pt x="112799" y="375"/>
                </a:moveTo>
                <a:cubicBezTo>
                  <a:pt x="107485" y="-1157"/>
                  <a:pt x="101951" y="1938"/>
                  <a:pt x="100419" y="7253"/>
                </a:cubicBezTo>
                <a:lnTo>
                  <a:pt x="60401" y="147314"/>
                </a:lnTo>
                <a:cubicBezTo>
                  <a:pt x="58870" y="152629"/>
                  <a:pt x="61965" y="158163"/>
                  <a:pt x="67279" y="159695"/>
                </a:cubicBezTo>
                <a:cubicBezTo>
                  <a:pt x="72594" y="161227"/>
                  <a:pt x="78128" y="158132"/>
                  <a:pt x="79660" y="152817"/>
                </a:cubicBezTo>
                <a:lnTo>
                  <a:pt x="119677" y="12756"/>
                </a:lnTo>
                <a:cubicBezTo>
                  <a:pt x="121209" y="7441"/>
                  <a:pt x="118114" y="1907"/>
                  <a:pt x="112799" y="375"/>
                </a:cubicBezTo>
                <a:close/>
                <a:moveTo>
                  <a:pt x="132996" y="42925"/>
                </a:moveTo>
                <a:cubicBezTo>
                  <a:pt x="129088" y="46833"/>
                  <a:pt x="129088" y="53180"/>
                  <a:pt x="132996" y="57087"/>
                </a:cubicBezTo>
                <a:lnTo>
                  <a:pt x="155943" y="80035"/>
                </a:lnTo>
                <a:lnTo>
                  <a:pt x="132996" y="102983"/>
                </a:lnTo>
                <a:cubicBezTo>
                  <a:pt x="129088" y="106891"/>
                  <a:pt x="129088" y="113237"/>
                  <a:pt x="132996" y="117145"/>
                </a:cubicBezTo>
                <a:cubicBezTo>
                  <a:pt x="136904" y="121053"/>
                  <a:pt x="143250" y="121053"/>
                  <a:pt x="147158" y="117145"/>
                </a:cubicBezTo>
                <a:lnTo>
                  <a:pt x="177171" y="87132"/>
                </a:lnTo>
                <a:cubicBezTo>
                  <a:pt x="181079" y="83224"/>
                  <a:pt x="181079" y="76877"/>
                  <a:pt x="177171" y="72969"/>
                </a:cubicBezTo>
                <a:lnTo>
                  <a:pt x="147158" y="42956"/>
                </a:lnTo>
                <a:cubicBezTo>
                  <a:pt x="143250" y="39048"/>
                  <a:pt x="136904" y="39048"/>
                  <a:pt x="132996" y="42956"/>
                </a:cubicBezTo>
                <a:close/>
                <a:moveTo>
                  <a:pt x="47114" y="42925"/>
                </a:moveTo>
                <a:cubicBezTo>
                  <a:pt x="43206" y="39017"/>
                  <a:pt x="36860" y="39017"/>
                  <a:pt x="32952" y="42925"/>
                </a:cubicBezTo>
                <a:lnTo>
                  <a:pt x="2939" y="72938"/>
                </a:lnTo>
                <a:cubicBezTo>
                  <a:pt x="-969" y="76846"/>
                  <a:pt x="-969" y="83193"/>
                  <a:pt x="2939" y="87101"/>
                </a:cubicBezTo>
                <a:lnTo>
                  <a:pt x="32952" y="117114"/>
                </a:lnTo>
                <a:cubicBezTo>
                  <a:pt x="36860" y="121022"/>
                  <a:pt x="43206" y="121022"/>
                  <a:pt x="47114" y="117114"/>
                </a:cubicBezTo>
                <a:cubicBezTo>
                  <a:pt x="51022" y="113206"/>
                  <a:pt x="51022" y="106859"/>
                  <a:pt x="47114" y="102951"/>
                </a:cubicBezTo>
                <a:lnTo>
                  <a:pt x="24167" y="80035"/>
                </a:lnTo>
                <a:lnTo>
                  <a:pt x="47083" y="57087"/>
                </a:lnTo>
                <a:cubicBezTo>
                  <a:pt x="50991" y="53180"/>
                  <a:pt x="50991" y="46833"/>
                  <a:pt x="47083" y="42925"/>
                </a:cubicBezTo>
                <a:close/>
              </a:path>
            </a:pathLst>
          </a:custGeom>
          <a:solidFill>
            <a:srgbClr val="0071E3"/>
          </a:solidFill>
          <a:ln/>
        </p:spPr>
      </p:sp>
      <p:sp>
        <p:nvSpPr>
          <p:cNvPr id="21" name="Text 19"/>
          <p:cNvSpPr/>
          <p:nvPr/>
        </p:nvSpPr>
        <p:spPr>
          <a:xfrm>
            <a:off x="738101" y="4569555"/>
            <a:ext cx="5148919" cy="248998"/>
          </a:xfrm>
          <a:prstGeom prst="rect">
            <a:avLst/>
          </a:prstGeom>
          <a:noFill/>
          <a:ln/>
        </p:spPr>
        <p:txBody>
          <a:bodyPr wrap="square" lIns="0" tIns="0" rIns="0" bIns="0" rtlCol="0" anchor="ctr"/>
          <a:lstStyle/>
          <a:p>
            <a:pPr>
              <a:lnSpc>
                <a:spcPct val="130000"/>
              </a:lnSpc>
            </a:pPr>
            <a:r>
              <a:rPr lang="en-US" sz="1260" b="1" dirty="0">
                <a:solidFill>
                  <a:srgbClr val="FFFFFF"/>
                </a:solidFill>
                <a:latin typeface="Liter" pitchFamily="34" charset="0"/>
                <a:ea typeface="Liter" pitchFamily="34" charset="-122"/>
                <a:cs typeface="Liter" pitchFamily="34" charset="-120"/>
              </a:rPr>
              <a:t>Bitwise Pattern Detection</a:t>
            </a:r>
            <a:endParaRPr lang="en-US" sz="1600" dirty="0"/>
          </a:p>
        </p:txBody>
      </p:sp>
      <p:sp>
        <p:nvSpPr>
          <p:cNvPr id="22" name="Shape 20"/>
          <p:cNvSpPr/>
          <p:nvPr/>
        </p:nvSpPr>
        <p:spPr>
          <a:xfrm>
            <a:off x="533567" y="4925267"/>
            <a:ext cx="5273418" cy="1253882"/>
          </a:xfrm>
          <a:custGeom>
            <a:avLst/>
            <a:gdLst/>
            <a:ahLst/>
            <a:cxnLst/>
            <a:rect l="l" t="t" r="r" b="b"/>
            <a:pathLst>
              <a:path w="5273418" h="1253882">
                <a:moveTo>
                  <a:pt x="71145" y="0"/>
                </a:moveTo>
                <a:lnTo>
                  <a:pt x="5202273" y="0"/>
                </a:lnTo>
                <a:cubicBezTo>
                  <a:pt x="5241565" y="0"/>
                  <a:pt x="5273418" y="31853"/>
                  <a:pt x="5273418" y="71145"/>
                </a:cubicBezTo>
                <a:lnTo>
                  <a:pt x="5273418" y="1182737"/>
                </a:lnTo>
                <a:cubicBezTo>
                  <a:pt x="5273418" y="1222029"/>
                  <a:pt x="5241565" y="1253882"/>
                  <a:pt x="5202273" y="1253882"/>
                </a:cubicBezTo>
                <a:lnTo>
                  <a:pt x="71145" y="1253882"/>
                </a:lnTo>
                <a:cubicBezTo>
                  <a:pt x="31853" y="1253882"/>
                  <a:pt x="0" y="1222029"/>
                  <a:pt x="0" y="1182737"/>
                </a:cubicBezTo>
                <a:lnTo>
                  <a:pt x="0" y="71145"/>
                </a:lnTo>
                <a:cubicBezTo>
                  <a:pt x="0" y="31879"/>
                  <a:pt x="31879" y="0"/>
                  <a:pt x="71145" y="0"/>
                </a:cubicBezTo>
                <a:close/>
              </a:path>
            </a:pathLst>
          </a:custGeom>
          <a:solidFill>
            <a:srgbClr val="2D2D2D"/>
          </a:solidFill>
          <a:ln/>
        </p:spPr>
      </p:sp>
      <p:sp>
        <p:nvSpPr>
          <p:cNvPr id="23" name="Text 21"/>
          <p:cNvSpPr/>
          <p:nvPr/>
        </p:nvSpPr>
        <p:spPr>
          <a:xfrm>
            <a:off x="675851" y="5046207"/>
            <a:ext cx="3734745" cy="135170"/>
          </a:xfrm>
          <a:prstGeom prst="rect">
            <a:avLst/>
          </a:prstGeom>
          <a:noFill/>
          <a:ln/>
        </p:spPr>
        <p:txBody>
          <a:bodyPr wrap="square" lIns="0" tIns="0" rIns="0" bIns="0" rtlCol="0" anchor="ctr"/>
          <a:lstStyle/>
          <a:p>
            <a:pPr>
              <a:lnSpc>
                <a:spcPct val="130000"/>
              </a:lnSpc>
            </a:pPr>
            <a:r>
              <a:rPr lang="en-US" sz="910" dirty="0">
                <a:solidFill>
                  <a:srgbClr val="86868B"/>
                </a:solidFill>
                <a:latin typeface="MiSans" pitchFamily="34" charset="0"/>
                <a:ea typeface="MiSans" pitchFamily="34" charset="-122"/>
                <a:cs typeface="MiSans" pitchFamily="34" charset="-120"/>
              </a:rPr>
              <a:t>// Read 6 buttons into binary pattern (Lines 206-209)</a:t>
            </a:r>
            <a:endParaRPr lang="en-US" sz="1600" dirty="0"/>
          </a:p>
        </p:txBody>
      </p:sp>
      <p:sp>
        <p:nvSpPr>
          <p:cNvPr id="24" name="Text 22"/>
          <p:cNvSpPr/>
          <p:nvPr/>
        </p:nvSpPr>
        <p:spPr>
          <a:xfrm>
            <a:off x="675851" y="5205389"/>
            <a:ext cx="5046652" cy="177856"/>
          </a:xfrm>
          <a:prstGeom prst="rect">
            <a:avLst/>
          </a:prstGeom>
          <a:noFill/>
          <a:ln/>
        </p:spPr>
        <p:txBody>
          <a:bodyPr wrap="square" lIns="0" tIns="0" rIns="0" bIns="0" rtlCol="0" anchor="ctr"/>
          <a:lstStyle/>
          <a:p>
            <a:pPr>
              <a:lnSpc>
                <a:spcPct val="130000"/>
              </a:lnSpc>
            </a:pPr>
            <a:r>
              <a:rPr lang="en-US" sz="910" dirty="0">
                <a:solidFill>
                  <a:srgbClr val="0071E3"/>
                </a:solidFill>
                <a:latin typeface="MiSans" pitchFamily="34" charset="0"/>
                <a:ea typeface="MiSans" pitchFamily="34" charset="-122"/>
                <a:cs typeface="MiSans" pitchFamily="34" charset="-120"/>
              </a:rPr>
              <a:t>byte</a:t>
            </a:r>
            <a:r>
              <a:rPr lang="en-US" sz="910" dirty="0">
                <a:solidFill>
                  <a:srgbClr val="FFFFFF"/>
                </a:solidFill>
                <a:latin typeface="MiSans" pitchFamily="34" charset="0"/>
                <a:ea typeface="MiSans" pitchFamily="34" charset="-122"/>
                <a:cs typeface="MiSans" pitchFamily="34" charset="-120"/>
              </a:rPr>
              <a:t> pattern = </a:t>
            </a:r>
            <a:r>
              <a:rPr lang="en-US" sz="910" dirty="0">
                <a:solidFill>
                  <a:srgbClr val="FF9500"/>
                </a:solidFill>
                <a:latin typeface="MiSans" pitchFamily="34" charset="0"/>
                <a:ea typeface="MiSans" pitchFamily="34" charset="-122"/>
                <a:cs typeface="MiSans" pitchFamily="34" charset="-120"/>
              </a:rPr>
              <a:t>0</a:t>
            </a:r>
            <a:r>
              <a:rPr lang="en-US" sz="910" dirty="0">
                <a:solidFill>
                  <a:srgbClr val="FFFFFF"/>
                </a:solidFill>
                <a:latin typeface="MiSans" pitchFamily="34" charset="0"/>
                <a:ea typeface="MiSans" pitchFamily="34" charset="-122"/>
                <a:cs typeface="MiSans" pitchFamily="34" charset="-120"/>
              </a:rPr>
              <a:t>;</a:t>
            </a:r>
            <a:endParaRPr lang="en-US" sz="1600" dirty="0"/>
          </a:p>
        </p:txBody>
      </p:sp>
      <p:sp>
        <p:nvSpPr>
          <p:cNvPr id="25" name="Text 23"/>
          <p:cNvSpPr/>
          <p:nvPr/>
        </p:nvSpPr>
        <p:spPr>
          <a:xfrm>
            <a:off x="675851" y="5378798"/>
            <a:ext cx="5046652" cy="177856"/>
          </a:xfrm>
          <a:prstGeom prst="rect">
            <a:avLst/>
          </a:prstGeom>
          <a:noFill/>
          <a:ln/>
        </p:spPr>
        <p:txBody>
          <a:bodyPr wrap="square" lIns="0" tIns="0" rIns="0" bIns="0" rtlCol="0" anchor="ctr"/>
          <a:lstStyle/>
          <a:p>
            <a:pPr>
              <a:lnSpc>
                <a:spcPct val="130000"/>
              </a:lnSpc>
            </a:pPr>
            <a:r>
              <a:rPr lang="en-US" sz="910" dirty="0">
                <a:solidFill>
                  <a:srgbClr val="0071E3"/>
                </a:solidFill>
                <a:latin typeface="MiSans" pitchFamily="34" charset="0"/>
                <a:ea typeface="MiSans" pitchFamily="34" charset="-122"/>
                <a:cs typeface="MiSans" pitchFamily="34" charset="-120"/>
              </a:rPr>
              <a:t>for</a:t>
            </a:r>
            <a:r>
              <a:rPr lang="en-US" sz="910" dirty="0">
                <a:solidFill>
                  <a:srgbClr val="FFFFFF"/>
                </a:solidFill>
                <a:latin typeface="MiSans" pitchFamily="34" charset="0"/>
                <a:ea typeface="MiSans" pitchFamily="34" charset="-122"/>
                <a:cs typeface="MiSans" pitchFamily="34" charset="-120"/>
              </a:rPr>
              <a:t> (</a:t>
            </a:r>
            <a:r>
              <a:rPr lang="en-US" sz="910" dirty="0">
                <a:solidFill>
                  <a:srgbClr val="0071E3"/>
                </a:solidFill>
                <a:latin typeface="MiSans" pitchFamily="34" charset="0"/>
                <a:ea typeface="MiSans" pitchFamily="34" charset="-122"/>
                <a:cs typeface="MiSans" pitchFamily="34" charset="-120"/>
              </a:rPr>
              <a:t>int</a:t>
            </a:r>
            <a:r>
              <a:rPr lang="en-US" sz="910" dirty="0">
                <a:solidFill>
                  <a:srgbClr val="FFFFFF"/>
                </a:solidFill>
                <a:latin typeface="MiSans" pitchFamily="34" charset="0"/>
                <a:ea typeface="MiSans" pitchFamily="34" charset="-122"/>
                <a:cs typeface="MiSans" pitchFamily="34" charset="-120"/>
              </a:rPr>
              <a:t> i=</a:t>
            </a:r>
            <a:r>
              <a:rPr lang="en-US" sz="910" dirty="0">
                <a:solidFill>
                  <a:srgbClr val="FF9500"/>
                </a:solidFill>
                <a:latin typeface="MiSans" pitchFamily="34" charset="0"/>
                <a:ea typeface="MiSans" pitchFamily="34" charset="-122"/>
                <a:cs typeface="MiSans" pitchFamily="34" charset="-120"/>
              </a:rPr>
              <a:t>0</a:t>
            </a:r>
            <a:r>
              <a:rPr lang="en-US" sz="910" dirty="0">
                <a:solidFill>
                  <a:srgbClr val="FFFFFF"/>
                </a:solidFill>
                <a:latin typeface="MiSans" pitchFamily="34" charset="0"/>
                <a:ea typeface="MiSans" pitchFamily="34" charset="-122"/>
                <a:cs typeface="MiSans" pitchFamily="34" charset="-120"/>
              </a:rPr>
              <a:t>; i&lt;</a:t>
            </a:r>
            <a:r>
              <a:rPr lang="en-US" sz="910" dirty="0">
                <a:solidFill>
                  <a:srgbClr val="FF9500"/>
                </a:solidFill>
                <a:latin typeface="MiSans" pitchFamily="34" charset="0"/>
                <a:ea typeface="MiSans" pitchFamily="34" charset="-122"/>
                <a:cs typeface="MiSans" pitchFamily="34" charset="-120"/>
              </a:rPr>
              <a:t>6</a:t>
            </a:r>
            <a:r>
              <a:rPr lang="en-US" sz="910" dirty="0">
                <a:solidFill>
                  <a:srgbClr val="FFFFFF"/>
                </a:solidFill>
                <a:latin typeface="MiSans" pitchFamily="34" charset="0"/>
                <a:ea typeface="MiSans" pitchFamily="34" charset="-122"/>
                <a:cs typeface="MiSans" pitchFamily="34" charset="-120"/>
              </a:rPr>
              <a:t>; i++) {</a:t>
            </a:r>
            <a:endParaRPr lang="en-US" sz="1600" dirty="0"/>
          </a:p>
        </p:txBody>
      </p:sp>
      <p:sp>
        <p:nvSpPr>
          <p:cNvPr id="26" name="Text 24"/>
          <p:cNvSpPr/>
          <p:nvPr/>
        </p:nvSpPr>
        <p:spPr>
          <a:xfrm>
            <a:off x="675851" y="5552207"/>
            <a:ext cx="5046652" cy="177856"/>
          </a:xfrm>
          <a:prstGeom prst="rect">
            <a:avLst/>
          </a:prstGeom>
          <a:noFill/>
          <a:ln/>
        </p:spPr>
        <p:txBody>
          <a:bodyPr wrap="square" lIns="0" tIns="0" rIns="0" bIns="0" rtlCol="0" anchor="ctr"/>
          <a:lstStyle/>
          <a:p>
            <a:pPr>
              <a:lnSpc>
                <a:spcPct val="130000"/>
              </a:lnSpc>
            </a:pPr>
            <a:r>
              <a:rPr lang="en-US" sz="910" dirty="0">
                <a:solidFill>
                  <a:srgbClr val="0071E3"/>
                </a:solidFill>
                <a:latin typeface="MiSans" pitchFamily="34" charset="0"/>
                <a:ea typeface="MiSans" pitchFamily="34" charset="-122"/>
                <a:cs typeface="MiSans" pitchFamily="34" charset="-120"/>
              </a:rPr>
              <a:t>if</a:t>
            </a:r>
            <a:r>
              <a:rPr lang="en-US" sz="910" dirty="0">
                <a:solidFill>
                  <a:srgbClr val="FFFFFF"/>
                </a:solidFill>
                <a:latin typeface="MiSans" pitchFamily="34" charset="0"/>
                <a:ea typeface="MiSans" pitchFamily="34" charset="-122"/>
                <a:cs typeface="MiSans" pitchFamily="34" charset="-120"/>
              </a:rPr>
              <a:t> (digitalRead(btnPins[i]) == LOW)</a:t>
            </a:r>
            <a:endParaRPr lang="en-US" sz="1600" dirty="0"/>
          </a:p>
        </p:txBody>
      </p:sp>
      <p:sp>
        <p:nvSpPr>
          <p:cNvPr id="27" name="Text 25"/>
          <p:cNvSpPr/>
          <p:nvPr/>
        </p:nvSpPr>
        <p:spPr>
          <a:xfrm>
            <a:off x="675851" y="5725617"/>
            <a:ext cx="5046652" cy="177856"/>
          </a:xfrm>
          <a:prstGeom prst="rect">
            <a:avLst/>
          </a:prstGeom>
          <a:noFill/>
          <a:ln/>
        </p:spPr>
        <p:txBody>
          <a:bodyPr wrap="square" lIns="0" tIns="0" rIns="0" bIns="0" rtlCol="0" anchor="ctr"/>
          <a:lstStyle/>
          <a:p>
            <a:pPr>
              <a:lnSpc>
                <a:spcPct val="130000"/>
              </a:lnSpc>
            </a:pPr>
            <a:r>
              <a:rPr lang="en-US" sz="910" dirty="0">
                <a:solidFill>
                  <a:srgbClr val="FFFFFF"/>
                </a:solidFill>
                <a:latin typeface="MiSans" pitchFamily="34" charset="0"/>
                <a:ea typeface="MiSans" pitchFamily="34" charset="-122"/>
                <a:cs typeface="MiSans" pitchFamily="34" charset="-120"/>
              </a:rPr>
              <a:t>pattern |= (</a:t>
            </a:r>
            <a:r>
              <a:rPr lang="en-US" sz="910" dirty="0">
                <a:solidFill>
                  <a:srgbClr val="FF9500"/>
                </a:solidFill>
                <a:latin typeface="MiSans" pitchFamily="34" charset="0"/>
                <a:ea typeface="MiSans" pitchFamily="34" charset="-122"/>
                <a:cs typeface="MiSans" pitchFamily="34" charset="-120"/>
              </a:rPr>
              <a:t>1</a:t>
            </a:r>
            <a:r>
              <a:rPr lang="en-US" sz="910" dirty="0">
                <a:solidFill>
                  <a:srgbClr val="FFFFFF"/>
                </a:solidFill>
                <a:latin typeface="MiSans" pitchFamily="34" charset="0"/>
                <a:ea typeface="MiSans" pitchFamily="34" charset="-122"/>
                <a:cs typeface="MiSans" pitchFamily="34" charset="-120"/>
              </a:rPr>
              <a:t> &lt;&lt; i);</a:t>
            </a:r>
            <a:endParaRPr lang="en-US" sz="1600" dirty="0"/>
          </a:p>
        </p:txBody>
      </p:sp>
      <p:sp>
        <p:nvSpPr>
          <p:cNvPr id="28" name="Text 26"/>
          <p:cNvSpPr/>
          <p:nvPr/>
        </p:nvSpPr>
        <p:spPr>
          <a:xfrm>
            <a:off x="675851" y="5899026"/>
            <a:ext cx="5046652" cy="177856"/>
          </a:xfrm>
          <a:prstGeom prst="rect">
            <a:avLst/>
          </a:prstGeom>
          <a:noFill/>
          <a:ln/>
        </p:spPr>
        <p:txBody>
          <a:bodyPr wrap="square" lIns="0" tIns="0" rIns="0" bIns="0" rtlCol="0" anchor="ctr"/>
          <a:lstStyle/>
          <a:p>
            <a:pPr>
              <a:lnSpc>
                <a:spcPct val="130000"/>
              </a:lnSpc>
            </a:pPr>
            <a:r>
              <a:rPr lang="en-US" sz="910" dirty="0">
                <a:solidFill>
                  <a:srgbClr val="FFFFFF"/>
                </a:solidFill>
                <a:latin typeface="MiSans" pitchFamily="34" charset="0"/>
                <a:ea typeface="MiSans" pitchFamily="34" charset="-122"/>
                <a:cs typeface="MiSans" pitchFamily="34" charset="-120"/>
              </a:rPr>
              <a:t>}</a:t>
            </a:r>
            <a:endParaRPr lang="en-US" sz="1600" dirty="0"/>
          </a:p>
        </p:txBody>
      </p:sp>
      <p:sp>
        <p:nvSpPr>
          <p:cNvPr id="29" name="Shape 27"/>
          <p:cNvSpPr/>
          <p:nvPr/>
        </p:nvSpPr>
        <p:spPr>
          <a:xfrm>
            <a:off x="6204714" y="829322"/>
            <a:ext cx="5627351" cy="3555333"/>
          </a:xfrm>
          <a:custGeom>
            <a:avLst/>
            <a:gdLst/>
            <a:ahLst/>
            <a:cxnLst/>
            <a:rect l="l" t="t" r="r" b="b"/>
            <a:pathLst>
              <a:path w="5627351" h="3555333">
                <a:moveTo>
                  <a:pt x="106731" y="0"/>
                </a:moveTo>
                <a:lnTo>
                  <a:pt x="5520619" y="0"/>
                </a:lnTo>
                <a:cubicBezTo>
                  <a:pt x="5579565" y="0"/>
                  <a:pt x="5627351" y="47785"/>
                  <a:pt x="5627351" y="106731"/>
                </a:cubicBezTo>
                <a:lnTo>
                  <a:pt x="5627351" y="3448602"/>
                </a:lnTo>
                <a:cubicBezTo>
                  <a:pt x="5627351" y="3507548"/>
                  <a:pt x="5579565" y="3555333"/>
                  <a:pt x="5520619" y="3555333"/>
                </a:cubicBezTo>
                <a:lnTo>
                  <a:pt x="106731" y="3555333"/>
                </a:lnTo>
                <a:cubicBezTo>
                  <a:pt x="47785" y="3555333"/>
                  <a:pt x="0" y="3507548"/>
                  <a:pt x="0" y="3448602"/>
                </a:cubicBezTo>
                <a:lnTo>
                  <a:pt x="0" y="106731"/>
                </a:lnTo>
                <a:cubicBezTo>
                  <a:pt x="0" y="47825"/>
                  <a:pt x="47825" y="0"/>
                  <a:pt x="106731" y="0"/>
                </a:cubicBezTo>
                <a:close/>
              </a:path>
            </a:pathLst>
          </a:custGeom>
          <a:solidFill>
            <a:srgbClr val="FFFFFF"/>
          </a:solidFill>
          <a:ln w="10160">
            <a:solidFill>
              <a:srgbClr val="E5E5E5"/>
            </a:solidFill>
            <a:prstDash val="solid"/>
          </a:ln>
          <a:effectLst>
            <a:outerShdw blurRad="26678" dist="8893" dir="5400000" algn="bl" rotWithShape="0">
              <a:srgbClr val="000000">
                <a:alpha val="10196"/>
              </a:srgbClr>
            </a:outerShdw>
          </a:effectLst>
        </p:spPr>
      </p:sp>
      <p:sp>
        <p:nvSpPr>
          <p:cNvPr id="30" name="Shape 28"/>
          <p:cNvSpPr/>
          <p:nvPr/>
        </p:nvSpPr>
        <p:spPr>
          <a:xfrm>
            <a:off x="6443930" y="1081877"/>
            <a:ext cx="177856" cy="177856"/>
          </a:xfrm>
          <a:custGeom>
            <a:avLst/>
            <a:gdLst/>
            <a:ahLst/>
            <a:cxnLst/>
            <a:rect l="l" t="t" r="r" b="b"/>
            <a:pathLst>
              <a:path w="177856" h="177856">
                <a:moveTo>
                  <a:pt x="174590" y="52315"/>
                </a:moveTo>
                <a:lnTo>
                  <a:pt x="141242" y="85662"/>
                </a:lnTo>
                <a:cubicBezTo>
                  <a:pt x="138046" y="88858"/>
                  <a:pt x="133287" y="89796"/>
                  <a:pt x="129119" y="88059"/>
                </a:cubicBezTo>
                <a:cubicBezTo>
                  <a:pt x="124950" y="86322"/>
                  <a:pt x="122276" y="82293"/>
                  <a:pt x="122276" y="77812"/>
                </a:cubicBezTo>
                <a:lnTo>
                  <a:pt x="122276" y="55580"/>
                </a:lnTo>
                <a:lnTo>
                  <a:pt x="11116" y="55580"/>
                </a:lnTo>
                <a:cubicBezTo>
                  <a:pt x="4967" y="55580"/>
                  <a:pt x="0" y="50612"/>
                  <a:pt x="0" y="44464"/>
                </a:cubicBezTo>
                <a:cubicBezTo>
                  <a:pt x="0" y="38315"/>
                  <a:pt x="4967" y="33348"/>
                  <a:pt x="11116" y="33348"/>
                </a:cubicBezTo>
                <a:lnTo>
                  <a:pt x="122276" y="33348"/>
                </a:lnTo>
                <a:lnTo>
                  <a:pt x="122276" y="11116"/>
                </a:lnTo>
                <a:cubicBezTo>
                  <a:pt x="122276" y="6635"/>
                  <a:pt x="124985" y="2571"/>
                  <a:pt x="129154" y="834"/>
                </a:cubicBezTo>
                <a:cubicBezTo>
                  <a:pt x="133322" y="-903"/>
                  <a:pt x="138081" y="69"/>
                  <a:pt x="141277" y="3231"/>
                </a:cubicBezTo>
                <a:lnTo>
                  <a:pt x="174625" y="36579"/>
                </a:lnTo>
                <a:cubicBezTo>
                  <a:pt x="178967" y="40921"/>
                  <a:pt x="178967" y="47972"/>
                  <a:pt x="174625" y="52315"/>
                </a:cubicBezTo>
                <a:close/>
                <a:moveTo>
                  <a:pt x="36579" y="174590"/>
                </a:moveTo>
                <a:lnTo>
                  <a:pt x="3231" y="141242"/>
                </a:lnTo>
                <a:cubicBezTo>
                  <a:pt x="-1112" y="136900"/>
                  <a:pt x="-1112" y="129848"/>
                  <a:pt x="3231" y="125506"/>
                </a:cubicBezTo>
                <a:lnTo>
                  <a:pt x="36579" y="92158"/>
                </a:lnTo>
                <a:cubicBezTo>
                  <a:pt x="39774" y="88963"/>
                  <a:pt x="44533" y="88025"/>
                  <a:pt x="48702" y="89761"/>
                </a:cubicBezTo>
                <a:cubicBezTo>
                  <a:pt x="52870" y="91498"/>
                  <a:pt x="55580" y="95563"/>
                  <a:pt x="55580" y="100044"/>
                </a:cubicBezTo>
                <a:lnTo>
                  <a:pt x="55580" y="122276"/>
                </a:lnTo>
                <a:lnTo>
                  <a:pt x="166740" y="122276"/>
                </a:lnTo>
                <a:cubicBezTo>
                  <a:pt x="172888" y="122276"/>
                  <a:pt x="177856" y="127243"/>
                  <a:pt x="177856" y="133392"/>
                </a:cubicBezTo>
                <a:cubicBezTo>
                  <a:pt x="177856" y="139540"/>
                  <a:pt x="172888" y="144508"/>
                  <a:pt x="166740" y="144508"/>
                </a:cubicBezTo>
                <a:lnTo>
                  <a:pt x="55580" y="144508"/>
                </a:lnTo>
                <a:lnTo>
                  <a:pt x="55580" y="166740"/>
                </a:lnTo>
                <a:cubicBezTo>
                  <a:pt x="55580" y="171221"/>
                  <a:pt x="52870" y="175285"/>
                  <a:pt x="48702" y="177022"/>
                </a:cubicBezTo>
                <a:cubicBezTo>
                  <a:pt x="44533" y="178759"/>
                  <a:pt x="39774" y="177786"/>
                  <a:pt x="36579" y="174625"/>
                </a:cubicBezTo>
                <a:close/>
              </a:path>
            </a:pathLst>
          </a:custGeom>
          <a:solidFill>
            <a:srgbClr val="0071E3"/>
          </a:solidFill>
          <a:ln/>
        </p:spPr>
      </p:sp>
      <p:sp>
        <p:nvSpPr>
          <p:cNvPr id="31" name="Text 29"/>
          <p:cNvSpPr/>
          <p:nvPr/>
        </p:nvSpPr>
        <p:spPr>
          <a:xfrm>
            <a:off x="6644018" y="1046306"/>
            <a:ext cx="5059991" cy="248998"/>
          </a:xfrm>
          <a:prstGeom prst="rect">
            <a:avLst/>
          </a:prstGeom>
          <a:noFill/>
          <a:ln/>
        </p:spPr>
        <p:txBody>
          <a:bodyPr wrap="square" lIns="0" tIns="0" rIns="0" bIns="0" rtlCol="0" anchor="ctr"/>
          <a:lstStyle/>
          <a:p>
            <a:pPr>
              <a:lnSpc>
                <a:spcPct val="120000"/>
              </a:lnSpc>
            </a:pPr>
            <a:r>
              <a:rPr lang="en-US" sz="1400" b="1" dirty="0">
                <a:solidFill>
                  <a:srgbClr val="1D1D1D"/>
                </a:solidFill>
                <a:latin typeface="Liter" pitchFamily="34" charset="0"/>
                <a:ea typeface="Liter" pitchFamily="34" charset="-122"/>
                <a:cs typeface="Liter" pitchFamily="34" charset="-120"/>
              </a:rPr>
              <a:t>Mode Differentiation Logic</a:t>
            </a:r>
            <a:endParaRPr lang="en-US" sz="1600" dirty="0"/>
          </a:p>
        </p:txBody>
      </p:sp>
      <p:sp>
        <p:nvSpPr>
          <p:cNvPr id="32" name="Shape 30"/>
          <p:cNvSpPr/>
          <p:nvPr/>
        </p:nvSpPr>
        <p:spPr>
          <a:xfrm>
            <a:off x="6439484" y="1437588"/>
            <a:ext cx="5175597" cy="1298346"/>
          </a:xfrm>
          <a:custGeom>
            <a:avLst/>
            <a:gdLst/>
            <a:ahLst/>
            <a:cxnLst/>
            <a:rect l="l" t="t" r="r" b="b"/>
            <a:pathLst>
              <a:path w="5175597" h="1298346">
                <a:moveTo>
                  <a:pt x="0" y="0"/>
                </a:moveTo>
                <a:lnTo>
                  <a:pt x="5104461" y="0"/>
                </a:lnTo>
                <a:cubicBezTo>
                  <a:pt x="5143749" y="0"/>
                  <a:pt x="5175597" y="31849"/>
                  <a:pt x="5175597" y="71136"/>
                </a:cubicBezTo>
                <a:lnTo>
                  <a:pt x="5175597" y="1227209"/>
                </a:lnTo>
                <a:cubicBezTo>
                  <a:pt x="5175597" y="1266497"/>
                  <a:pt x="5143749" y="1298346"/>
                  <a:pt x="5104461" y="1298346"/>
                </a:cubicBezTo>
                <a:lnTo>
                  <a:pt x="0" y="1298346"/>
                </a:lnTo>
                <a:lnTo>
                  <a:pt x="0" y="0"/>
                </a:lnTo>
                <a:close/>
              </a:path>
            </a:pathLst>
          </a:custGeom>
          <a:solidFill>
            <a:srgbClr val="0071E3">
              <a:alpha val="5098"/>
            </a:srgbClr>
          </a:solidFill>
          <a:ln/>
        </p:spPr>
      </p:sp>
      <p:sp>
        <p:nvSpPr>
          <p:cNvPr id="33" name="Shape 31"/>
          <p:cNvSpPr/>
          <p:nvPr/>
        </p:nvSpPr>
        <p:spPr>
          <a:xfrm>
            <a:off x="6439484" y="1440955"/>
            <a:ext cx="35571" cy="1298346"/>
          </a:xfrm>
          <a:custGeom>
            <a:avLst/>
            <a:gdLst/>
            <a:ahLst/>
            <a:cxnLst/>
            <a:rect l="l" t="t" r="r" b="b"/>
            <a:pathLst>
              <a:path w="35571" h="1298346">
                <a:moveTo>
                  <a:pt x="0" y="0"/>
                </a:moveTo>
                <a:lnTo>
                  <a:pt x="35571" y="0"/>
                </a:lnTo>
                <a:lnTo>
                  <a:pt x="35571" y="1298346"/>
                </a:lnTo>
                <a:lnTo>
                  <a:pt x="0" y="1298346"/>
                </a:lnTo>
                <a:lnTo>
                  <a:pt x="0" y="0"/>
                </a:lnTo>
                <a:close/>
              </a:path>
            </a:pathLst>
          </a:custGeom>
          <a:solidFill>
            <a:srgbClr val="0071E3"/>
          </a:solidFill>
          <a:ln/>
        </p:spPr>
      </p:sp>
      <p:sp>
        <p:nvSpPr>
          <p:cNvPr id="34" name="Shape 32"/>
          <p:cNvSpPr/>
          <p:nvPr/>
        </p:nvSpPr>
        <p:spPr>
          <a:xfrm>
            <a:off x="6617339" y="1579873"/>
            <a:ext cx="142284" cy="142284"/>
          </a:xfrm>
          <a:custGeom>
            <a:avLst/>
            <a:gdLst/>
            <a:ahLst/>
            <a:cxnLst/>
            <a:rect l="l" t="t" r="r" b="b"/>
            <a:pathLst>
              <a:path w="142284" h="142284">
                <a:moveTo>
                  <a:pt x="8893" y="26678"/>
                </a:moveTo>
                <a:cubicBezTo>
                  <a:pt x="3974" y="26678"/>
                  <a:pt x="0" y="30652"/>
                  <a:pt x="0" y="35571"/>
                </a:cubicBezTo>
                <a:cubicBezTo>
                  <a:pt x="0" y="40490"/>
                  <a:pt x="3974" y="44464"/>
                  <a:pt x="8893" y="44464"/>
                </a:cubicBezTo>
                <a:lnTo>
                  <a:pt x="66696" y="44464"/>
                </a:lnTo>
                <a:lnTo>
                  <a:pt x="66696" y="26678"/>
                </a:lnTo>
                <a:lnTo>
                  <a:pt x="8893" y="26678"/>
                </a:lnTo>
                <a:close/>
                <a:moveTo>
                  <a:pt x="53357" y="80035"/>
                </a:moveTo>
                <a:cubicBezTo>
                  <a:pt x="48438" y="80035"/>
                  <a:pt x="44464" y="84009"/>
                  <a:pt x="44464" y="88928"/>
                </a:cubicBezTo>
                <a:cubicBezTo>
                  <a:pt x="44464" y="93847"/>
                  <a:pt x="48438" y="97821"/>
                  <a:pt x="53357" y="97821"/>
                </a:cubicBezTo>
                <a:lnTo>
                  <a:pt x="71142" y="97821"/>
                </a:lnTo>
                <a:cubicBezTo>
                  <a:pt x="76061" y="97821"/>
                  <a:pt x="80035" y="93847"/>
                  <a:pt x="80035" y="88928"/>
                </a:cubicBezTo>
                <a:cubicBezTo>
                  <a:pt x="80035" y="84009"/>
                  <a:pt x="76061" y="80035"/>
                  <a:pt x="71142" y="80035"/>
                </a:cubicBezTo>
                <a:lnTo>
                  <a:pt x="53357" y="80035"/>
                </a:lnTo>
                <a:close/>
                <a:moveTo>
                  <a:pt x="35571" y="62249"/>
                </a:moveTo>
                <a:cubicBezTo>
                  <a:pt x="35571" y="67168"/>
                  <a:pt x="39545" y="71142"/>
                  <a:pt x="44464" y="71142"/>
                </a:cubicBezTo>
                <a:lnTo>
                  <a:pt x="57803" y="71142"/>
                </a:lnTo>
                <a:cubicBezTo>
                  <a:pt x="62722" y="71142"/>
                  <a:pt x="66696" y="67168"/>
                  <a:pt x="66696" y="62249"/>
                </a:cubicBezTo>
                <a:cubicBezTo>
                  <a:pt x="66696" y="57331"/>
                  <a:pt x="62722" y="53357"/>
                  <a:pt x="57803" y="53357"/>
                </a:cubicBezTo>
                <a:lnTo>
                  <a:pt x="44464" y="53357"/>
                </a:lnTo>
                <a:cubicBezTo>
                  <a:pt x="39545" y="53357"/>
                  <a:pt x="35571" y="57331"/>
                  <a:pt x="35571" y="62249"/>
                </a:cubicBezTo>
                <a:close/>
                <a:moveTo>
                  <a:pt x="62249" y="106713"/>
                </a:moveTo>
                <a:cubicBezTo>
                  <a:pt x="57331" y="106713"/>
                  <a:pt x="53357" y="110687"/>
                  <a:pt x="53357" y="115606"/>
                </a:cubicBezTo>
                <a:cubicBezTo>
                  <a:pt x="53357" y="120525"/>
                  <a:pt x="57331" y="124499"/>
                  <a:pt x="62249" y="124499"/>
                </a:cubicBezTo>
                <a:lnTo>
                  <a:pt x="80035" y="124499"/>
                </a:lnTo>
                <a:cubicBezTo>
                  <a:pt x="84954" y="124499"/>
                  <a:pt x="88928" y="120525"/>
                  <a:pt x="88928" y="115606"/>
                </a:cubicBezTo>
                <a:cubicBezTo>
                  <a:pt x="88928" y="110687"/>
                  <a:pt x="84954" y="106713"/>
                  <a:pt x="80035" y="106713"/>
                </a:cubicBezTo>
                <a:lnTo>
                  <a:pt x="62249" y="106713"/>
                </a:lnTo>
                <a:close/>
                <a:moveTo>
                  <a:pt x="86705" y="80035"/>
                </a:moveTo>
                <a:lnTo>
                  <a:pt x="86538" y="80035"/>
                </a:lnTo>
                <a:cubicBezTo>
                  <a:pt x="88039" y="82647"/>
                  <a:pt x="88928" y="85676"/>
                  <a:pt x="88928" y="88928"/>
                </a:cubicBezTo>
                <a:cubicBezTo>
                  <a:pt x="88928" y="92596"/>
                  <a:pt x="87816" y="95986"/>
                  <a:pt x="85926" y="98821"/>
                </a:cubicBezTo>
                <a:cubicBezTo>
                  <a:pt x="92846" y="101239"/>
                  <a:pt x="97821" y="107853"/>
                  <a:pt x="97821" y="115606"/>
                </a:cubicBezTo>
                <a:cubicBezTo>
                  <a:pt x="97821" y="118858"/>
                  <a:pt x="96959" y="121887"/>
                  <a:pt x="95431" y="124499"/>
                </a:cubicBezTo>
                <a:lnTo>
                  <a:pt x="97821" y="124499"/>
                </a:lnTo>
                <a:cubicBezTo>
                  <a:pt x="122387" y="124499"/>
                  <a:pt x="142284" y="104601"/>
                  <a:pt x="142284" y="80035"/>
                </a:cubicBezTo>
                <a:lnTo>
                  <a:pt x="142284" y="62889"/>
                </a:lnTo>
                <a:cubicBezTo>
                  <a:pt x="142284" y="51106"/>
                  <a:pt x="137588" y="39795"/>
                  <a:pt x="129251" y="31458"/>
                </a:cubicBezTo>
                <a:lnTo>
                  <a:pt x="126027" y="28235"/>
                </a:lnTo>
                <a:cubicBezTo>
                  <a:pt x="119358" y="21537"/>
                  <a:pt x="110298" y="17786"/>
                  <a:pt x="100877" y="17786"/>
                </a:cubicBezTo>
                <a:lnTo>
                  <a:pt x="93374" y="17786"/>
                </a:lnTo>
                <a:cubicBezTo>
                  <a:pt x="83564" y="17786"/>
                  <a:pt x="75589" y="25761"/>
                  <a:pt x="75589" y="35571"/>
                </a:cubicBezTo>
                <a:lnTo>
                  <a:pt x="75589" y="60026"/>
                </a:lnTo>
                <a:cubicBezTo>
                  <a:pt x="75589" y="66168"/>
                  <a:pt x="80563" y="71142"/>
                  <a:pt x="86705" y="71142"/>
                </a:cubicBezTo>
                <a:cubicBezTo>
                  <a:pt x="92846" y="71142"/>
                  <a:pt x="97821" y="66168"/>
                  <a:pt x="97821" y="60026"/>
                </a:cubicBezTo>
                <a:lnTo>
                  <a:pt x="97821" y="44464"/>
                </a:lnTo>
                <a:cubicBezTo>
                  <a:pt x="97821" y="42018"/>
                  <a:pt x="99821" y="40018"/>
                  <a:pt x="102267" y="40018"/>
                </a:cubicBezTo>
                <a:cubicBezTo>
                  <a:pt x="104712" y="40018"/>
                  <a:pt x="106713" y="42018"/>
                  <a:pt x="106713" y="44464"/>
                </a:cubicBezTo>
                <a:lnTo>
                  <a:pt x="106713" y="60026"/>
                </a:lnTo>
                <a:cubicBezTo>
                  <a:pt x="106713" y="71087"/>
                  <a:pt x="97765" y="80035"/>
                  <a:pt x="86705" y="80035"/>
                </a:cubicBezTo>
                <a:close/>
              </a:path>
            </a:pathLst>
          </a:custGeom>
          <a:solidFill>
            <a:srgbClr val="0071E3"/>
          </a:solidFill>
          <a:ln/>
        </p:spPr>
      </p:sp>
      <p:sp>
        <p:nvSpPr>
          <p:cNvPr id="35" name="Text 33"/>
          <p:cNvSpPr/>
          <p:nvPr/>
        </p:nvSpPr>
        <p:spPr>
          <a:xfrm>
            <a:off x="6777409" y="1544302"/>
            <a:ext cx="4908814" cy="213427"/>
          </a:xfrm>
          <a:prstGeom prst="rect">
            <a:avLst/>
          </a:prstGeom>
          <a:noFill/>
          <a:ln/>
        </p:spPr>
        <p:txBody>
          <a:bodyPr wrap="square" lIns="0" tIns="0" rIns="0" bIns="0" rtlCol="0" anchor="ctr"/>
          <a:lstStyle/>
          <a:p>
            <a:pPr>
              <a:lnSpc>
                <a:spcPct val="130000"/>
              </a:lnSpc>
            </a:pPr>
            <a:r>
              <a:rPr lang="en-US" sz="1120" b="1" dirty="0">
                <a:solidFill>
                  <a:srgbClr val="1D1D1D"/>
                </a:solidFill>
                <a:latin typeface="Liter" pitchFamily="34" charset="0"/>
                <a:ea typeface="Liter" pitchFamily="34" charset="-122"/>
                <a:cs typeface="Liter" pitchFamily="34" charset="-120"/>
              </a:rPr>
              <a:t>Left Touch + Pattern = Number Mode</a:t>
            </a:r>
            <a:endParaRPr lang="en-US" sz="1600" dirty="0"/>
          </a:p>
        </p:txBody>
      </p:sp>
      <p:sp>
        <p:nvSpPr>
          <p:cNvPr id="36" name="Text 34"/>
          <p:cNvSpPr/>
          <p:nvPr/>
        </p:nvSpPr>
        <p:spPr>
          <a:xfrm>
            <a:off x="6599554" y="1828871"/>
            <a:ext cx="5077777" cy="409068"/>
          </a:xfrm>
          <a:prstGeom prst="rect">
            <a:avLst/>
          </a:prstGeom>
          <a:noFill/>
          <a:ln/>
        </p:spPr>
        <p:txBody>
          <a:bodyPr wrap="square" lIns="0" tIns="0" rIns="0" bIns="0" rtlCol="0" anchor="ctr"/>
          <a:lstStyle/>
          <a:p>
            <a:pPr>
              <a:lnSpc>
                <a:spcPct val="140000"/>
              </a:lnSpc>
            </a:pPr>
            <a:r>
              <a:rPr lang="en-US" sz="980" dirty="0">
                <a:solidFill>
                  <a:srgbClr val="86868B"/>
                </a:solidFill>
                <a:latin typeface="Liter" pitchFamily="34" charset="0"/>
                <a:ea typeface="Liter" pitchFamily="34" charset="-122"/>
                <a:cs typeface="Liter" pitchFamily="34" charset="-120"/>
              </a:rPr>
              <a:t>When left touch sensor is activated during button press, pattern maps to digits 1-0 (A-J patterns).</a:t>
            </a:r>
            <a:endParaRPr lang="en-US" sz="1600" dirty="0"/>
          </a:p>
        </p:txBody>
      </p:sp>
      <p:sp>
        <p:nvSpPr>
          <p:cNvPr id="37" name="Shape 35"/>
          <p:cNvSpPr/>
          <p:nvPr/>
        </p:nvSpPr>
        <p:spPr>
          <a:xfrm>
            <a:off x="6599554" y="2617145"/>
            <a:ext cx="5015527" cy="320140"/>
          </a:xfrm>
          <a:custGeom>
            <a:avLst/>
            <a:gdLst/>
            <a:ahLst/>
            <a:cxnLst/>
            <a:rect l="l" t="t" r="r" b="b"/>
            <a:pathLst>
              <a:path w="5015527" h="320140">
                <a:moveTo>
                  <a:pt x="35571" y="0"/>
                </a:moveTo>
                <a:lnTo>
                  <a:pt x="4979957" y="0"/>
                </a:lnTo>
                <a:cubicBezTo>
                  <a:pt x="4999602" y="0"/>
                  <a:pt x="5015527" y="15926"/>
                  <a:pt x="5015527" y="35571"/>
                </a:cubicBezTo>
                <a:lnTo>
                  <a:pt x="5015527" y="284569"/>
                </a:lnTo>
                <a:cubicBezTo>
                  <a:pt x="5015527" y="304214"/>
                  <a:pt x="4999602" y="320140"/>
                  <a:pt x="4979957" y="320140"/>
                </a:cubicBezTo>
                <a:lnTo>
                  <a:pt x="35571" y="320140"/>
                </a:lnTo>
                <a:cubicBezTo>
                  <a:pt x="15939" y="320140"/>
                  <a:pt x="0" y="304201"/>
                  <a:pt x="0" y="284569"/>
                </a:cubicBezTo>
                <a:lnTo>
                  <a:pt x="0" y="35571"/>
                </a:lnTo>
                <a:cubicBezTo>
                  <a:pt x="0" y="15939"/>
                  <a:pt x="15939" y="0"/>
                  <a:pt x="35571" y="0"/>
                </a:cubicBezTo>
                <a:close/>
              </a:path>
            </a:pathLst>
          </a:custGeom>
          <a:solidFill>
            <a:srgbClr val="FFFFFF"/>
          </a:solidFill>
          <a:ln/>
        </p:spPr>
      </p:sp>
      <p:sp>
        <p:nvSpPr>
          <p:cNvPr id="38" name="Text 36"/>
          <p:cNvSpPr/>
          <p:nvPr/>
        </p:nvSpPr>
        <p:spPr>
          <a:xfrm>
            <a:off x="6599554" y="2304634"/>
            <a:ext cx="5077777" cy="320140"/>
          </a:xfrm>
          <a:prstGeom prst="rect">
            <a:avLst/>
          </a:prstGeom>
          <a:noFill/>
          <a:ln/>
        </p:spPr>
        <p:txBody>
          <a:bodyPr wrap="square" lIns="106713" tIns="71142" rIns="106713" bIns="71142" rtlCol="0" anchor="ctr"/>
          <a:lstStyle/>
          <a:p>
            <a:pPr>
              <a:lnSpc>
                <a:spcPct val="120000"/>
              </a:lnSpc>
            </a:pPr>
            <a:r>
              <a:rPr lang="en-US" sz="980" dirty="0">
                <a:solidFill>
                  <a:srgbClr val="0071E3"/>
                </a:solidFill>
                <a:latin typeface="MiSans" pitchFamily="34" charset="0"/>
                <a:ea typeface="MiSans" pitchFamily="34" charset="-122"/>
                <a:cs typeface="MiSans" pitchFamily="34" charset="-120"/>
              </a:rPr>
              <a:t>detectedChar</a:t>
            </a:r>
            <a:r>
              <a:rPr lang="en-US" sz="980" dirty="0">
                <a:solidFill>
                  <a:srgbClr val="1D1D1D"/>
                </a:solidFill>
                <a:latin typeface="MiSans" pitchFamily="34" charset="0"/>
                <a:ea typeface="MiSans" pitchFamily="34" charset="-122"/>
                <a:cs typeface="MiSans" pitchFamily="34" charset="-120"/>
              </a:rPr>
              <a:t> = (i &lt; 9) ? (i + 1) + '0' : '0'</a:t>
            </a:r>
            <a:endParaRPr lang="en-US" sz="1600" dirty="0"/>
          </a:p>
        </p:txBody>
      </p:sp>
      <p:sp>
        <p:nvSpPr>
          <p:cNvPr id="39" name="Shape 37"/>
          <p:cNvSpPr/>
          <p:nvPr/>
        </p:nvSpPr>
        <p:spPr>
          <a:xfrm>
            <a:off x="6439484" y="2873772"/>
            <a:ext cx="5175597" cy="1298346"/>
          </a:xfrm>
          <a:custGeom>
            <a:avLst/>
            <a:gdLst/>
            <a:ahLst/>
            <a:cxnLst/>
            <a:rect l="l" t="t" r="r" b="b"/>
            <a:pathLst>
              <a:path w="5175597" h="1298346">
                <a:moveTo>
                  <a:pt x="0" y="0"/>
                </a:moveTo>
                <a:lnTo>
                  <a:pt x="5104461" y="0"/>
                </a:lnTo>
                <a:cubicBezTo>
                  <a:pt x="5143749" y="0"/>
                  <a:pt x="5175597" y="31849"/>
                  <a:pt x="5175597" y="71136"/>
                </a:cubicBezTo>
                <a:lnTo>
                  <a:pt x="5175597" y="1227209"/>
                </a:lnTo>
                <a:cubicBezTo>
                  <a:pt x="5175597" y="1266497"/>
                  <a:pt x="5143749" y="1298346"/>
                  <a:pt x="5104461" y="1298346"/>
                </a:cubicBezTo>
                <a:lnTo>
                  <a:pt x="0" y="1298346"/>
                </a:lnTo>
                <a:lnTo>
                  <a:pt x="0" y="0"/>
                </a:lnTo>
                <a:close/>
              </a:path>
            </a:pathLst>
          </a:custGeom>
          <a:solidFill>
            <a:srgbClr val="34C759">
              <a:alpha val="5098"/>
            </a:srgbClr>
          </a:solidFill>
          <a:ln/>
        </p:spPr>
      </p:sp>
      <p:sp>
        <p:nvSpPr>
          <p:cNvPr id="40" name="Shape 38"/>
          <p:cNvSpPr/>
          <p:nvPr/>
        </p:nvSpPr>
        <p:spPr>
          <a:xfrm>
            <a:off x="6439484" y="2877139"/>
            <a:ext cx="35571" cy="1298346"/>
          </a:xfrm>
          <a:custGeom>
            <a:avLst/>
            <a:gdLst/>
            <a:ahLst/>
            <a:cxnLst/>
            <a:rect l="l" t="t" r="r" b="b"/>
            <a:pathLst>
              <a:path w="35571" h="1298346">
                <a:moveTo>
                  <a:pt x="0" y="0"/>
                </a:moveTo>
                <a:lnTo>
                  <a:pt x="35571" y="0"/>
                </a:lnTo>
                <a:lnTo>
                  <a:pt x="35571" y="1298346"/>
                </a:lnTo>
                <a:lnTo>
                  <a:pt x="0" y="1298346"/>
                </a:lnTo>
                <a:lnTo>
                  <a:pt x="0" y="0"/>
                </a:lnTo>
                <a:close/>
              </a:path>
            </a:pathLst>
          </a:custGeom>
          <a:solidFill>
            <a:srgbClr val="34C759"/>
          </a:solidFill>
          <a:ln/>
        </p:spPr>
      </p:sp>
      <p:sp>
        <p:nvSpPr>
          <p:cNvPr id="41" name="Shape 39"/>
          <p:cNvSpPr/>
          <p:nvPr/>
        </p:nvSpPr>
        <p:spPr>
          <a:xfrm>
            <a:off x="6617339" y="3016057"/>
            <a:ext cx="142284" cy="142284"/>
          </a:xfrm>
          <a:custGeom>
            <a:avLst/>
            <a:gdLst/>
            <a:ahLst/>
            <a:cxnLst/>
            <a:rect l="l" t="t" r="r" b="b"/>
            <a:pathLst>
              <a:path w="142284" h="142284">
                <a:moveTo>
                  <a:pt x="133392" y="26678"/>
                </a:moveTo>
                <a:cubicBezTo>
                  <a:pt x="138311" y="26678"/>
                  <a:pt x="142284" y="30652"/>
                  <a:pt x="142284" y="35571"/>
                </a:cubicBezTo>
                <a:cubicBezTo>
                  <a:pt x="142284" y="40490"/>
                  <a:pt x="138311" y="44464"/>
                  <a:pt x="133392" y="44464"/>
                </a:cubicBezTo>
                <a:lnTo>
                  <a:pt x="75589" y="44464"/>
                </a:lnTo>
                <a:lnTo>
                  <a:pt x="75589" y="26678"/>
                </a:lnTo>
                <a:lnTo>
                  <a:pt x="133392" y="26678"/>
                </a:lnTo>
                <a:close/>
                <a:moveTo>
                  <a:pt x="88928" y="80035"/>
                </a:moveTo>
                <a:cubicBezTo>
                  <a:pt x="93847" y="80035"/>
                  <a:pt x="97821" y="84009"/>
                  <a:pt x="97821" y="88928"/>
                </a:cubicBezTo>
                <a:cubicBezTo>
                  <a:pt x="97821" y="93847"/>
                  <a:pt x="93847" y="97821"/>
                  <a:pt x="88928" y="97821"/>
                </a:cubicBezTo>
                <a:lnTo>
                  <a:pt x="71142" y="97821"/>
                </a:lnTo>
                <a:cubicBezTo>
                  <a:pt x="66223" y="97821"/>
                  <a:pt x="62249" y="93847"/>
                  <a:pt x="62249" y="88928"/>
                </a:cubicBezTo>
                <a:cubicBezTo>
                  <a:pt x="62249" y="84009"/>
                  <a:pt x="66223" y="80035"/>
                  <a:pt x="71142" y="80035"/>
                </a:cubicBezTo>
                <a:lnTo>
                  <a:pt x="88928" y="80035"/>
                </a:lnTo>
                <a:close/>
                <a:moveTo>
                  <a:pt x="106713" y="62249"/>
                </a:moveTo>
                <a:cubicBezTo>
                  <a:pt x="106713" y="67168"/>
                  <a:pt x="102739" y="71142"/>
                  <a:pt x="97821" y="71142"/>
                </a:cubicBezTo>
                <a:lnTo>
                  <a:pt x="84481" y="71142"/>
                </a:lnTo>
                <a:cubicBezTo>
                  <a:pt x="79563" y="71142"/>
                  <a:pt x="75589" y="67168"/>
                  <a:pt x="75589" y="62249"/>
                </a:cubicBezTo>
                <a:cubicBezTo>
                  <a:pt x="75589" y="57331"/>
                  <a:pt x="79563" y="53357"/>
                  <a:pt x="84481" y="53357"/>
                </a:cubicBezTo>
                <a:lnTo>
                  <a:pt x="97821" y="53357"/>
                </a:lnTo>
                <a:cubicBezTo>
                  <a:pt x="102739" y="53357"/>
                  <a:pt x="106713" y="57331"/>
                  <a:pt x="106713" y="62249"/>
                </a:cubicBezTo>
                <a:close/>
                <a:moveTo>
                  <a:pt x="80035" y="106713"/>
                </a:moveTo>
                <a:cubicBezTo>
                  <a:pt x="84954" y="106713"/>
                  <a:pt x="88928" y="110687"/>
                  <a:pt x="88928" y="115606"/>
                </a:cubicBezTo>
                <a:cubicBezTo>
                  <a:pt x="88928" y="120525"/>
                  <a:pt x="84954" y="124499"/>
                  <a:pt x="80035" y="124499"/>
                </a:cubicBezTo>
                <a:lnTo>
                  <a:pt x="62249" y="124499"/>
                </a:lnTo>
                <a:cubicBezTo>
                  <a:pt x="57331" y="124499"/>
                  <a:pt x="53357" y="120525"/>
                  <a:pt x="53357" y="115606"/>
                </a:cubicBezTo>
                <a:cubicBezTo>
                  <a:pt x="53357" y="110687"/>
                  <a:pt x="57331" y="106713"/>
                  <a:pt x="62249" y="106713"/>
                </a:cubicBezTo>
                <a:lnTo>
                  <a:pt x="80035" y="106713"/>
                </a:lnTo>
                <a:close/>
                <a:moveTo>
                  <a:pt x="55580" y="80035"/>
                </a:moveTo>
                <a:lnTo>
                  <a:pt x="55747" y="80035"/>
                </a:lnTo>
                <a:cubicBezTo>
                  <a:pt x="54246" y="82647"/>
                  <a:pt x="53357" y="85676"/>
                  <a:pt x="53357" y="88928"/>
                </a:cubicBezTo>
                <a:cubicBezTo>
                  <a:pt x="53357" y="92596"/>
                  <a:pt x="54468" y="95986"/>
                  <a:pt x="56358" y="98821"/>
                </a:cubicBezTo>
                <a:cubicBezTo>
                  <a:pt x="49438" y="101239"/>
                  <a:pt x="44464" y="107853"/>
                  <a:pt x="44464" y="115606"/>
                </a:cubicBezTo>
                <a:cubicBezTo>
                  <a:pt x="44464" y="118858"/>
                  <a:pt x="45325" y="121887"/>
                  <a:pt x="46854" y="124499"/>
                </a:cubicBezTo>
                <a:lnTo>
                  <a:pt x="44464" y="124499"/>
                </a:lnTo>
                <a:cubicBezTo>
                  <a:pt x="19898" y="124499"/>
                  <a:pt x="0" y="104601"/>
                  <a:pt x="0" y="80035"/>
                </a:cubicBezTo>
                <a:lnTo>
                  <a:pt x="0" y="62889"/>
                </a:lnTo>
                <a:cubicBezTo>
                  <a:pt x="0" y="51106"/>
                  <a:pt x="4696" y="39795"/>
                  <a:pt x="13033" y="31458"/>
                </a:cubicBezTo>
                <a:lnTo>
                  <a:pt x="16257" y="28235"/>
                </a:lnTo>
                <a:cubicBezTo>
                  <a:pt x="22927" y="21537"/>
                  <a:pt x="31986" y="17786"/>
                  <a:pt x="41407" y="17786"/>
                </a:cubicBezTo>
                <a:lnTo>
                  <a:pt x="48910" y="17786"/>
                </a:lnTo>
                <a:cubicBezTo>
                  <a:pt x="58720" y="17786"/>
                  <a:pt x="66696" y="25761"/>
                  <a:pt x="66696" y="35571"/>
                </a:cubicBezTo>
                <a:lnTo>
                  <a:pt x="66696" y="60026"/>
                </a:lnTo>
                <a:cubicBezTo>
                  <a:pt x="66696" y="66168"/>
                  <a:pt x="61721" y="71142"/>
                  <a:pt x="55580" y="71142"/>
                </a:cubicBezTo>
                <a:cubicBezTo>
                  <a:pt x="49438" y="71142"/>
                  <a:pt x="44464" y="66168"/>
                  <a:pt x="44464" y="60026"/>
                </a:cubicBezTo>
                <a:lnTo>
                  <a:pt x="44464" y="44464"/>
                </a:lnTo>
                <a:cubicBezTo>
                  <a:pt x="44464" y="42018"/>
                  <a:pt x="42463" y="40018"/>
                  <a:pt x="40018" y="40018"/>
                </a:cubicBezTo>
                <a:cubicBezTo>
                  <a:pt x="37572" y="40018"/>
                  <a:pt x="35571" y="42018"/>
                  <a:pt x="35571" y="44464"/>
                </a:cubicBezTo>
                <a:lnTo>
                  <a:pt x="35571" y="60026"/>
                </a:lnTo>
                <a:cubicBezTo>
                  <a:pt x="35571" y="71087"/>
                  <a:pt x="44519" y="80035"/>
                  <a:pt x="55580" y="80035"/>
                </a:cubicBezTo>
                <a:close/>
              </a:path>
            </a:pathLst>
          </a:custGeom>
          <a:solidFill>
            <a:srgbClr val="34C759"/>
          </a:solidFill>
          <a:ln/>
        </p:spPr>
      </p:sp>
      <p:sp>
        <p:nvSpPr>
          <p:cNvPr id="42" name="Text 40"/>
          <p:cNvSpPr/>
          <p:nvPr/>
        </p:nvSpPr>
        <p:spPr>
          <a:xfrm>
            <a:off x="6777409" y="2980485"/>
            <a:ext cx="4908814" cy="213427"/>
          </a:xfrm>
          <a:prstGeom prst="rect">
            <a:avLst/>
          </a:prstGeom>
          <a:noFill/>
          <a:ln/>
        </p:spPr>
        <p:txBody>
          <a:bodyPr wrap="square" lIns="0" tIns="0" rIns="0" bIns="0" rtlCol="0" anchor="ctr"/>
          <a:lstStyle/>
          <a:p>
            <a:pPr>
              <a:lnSpc>
                <a:spcPct val="130000"/>
              </a:lnSpc>
            </a:pPr>
            <a:r>
              <a:rPr lang="en-US" sz="1120" b="1" dirty="0">
                <a:solidFill>
                  <a:srgbClr val="1D1D1D"/>
                </a:solidFill>
                <a:latin typeface="Liter" pitchFamily="34" charset="0"/>
                <a:ea typeface="Liter" pitchFamily="34" charset="-122"/>
                <a:cs typeface="Liter" pitchFamily="34" charset="-120"/>
              </a:rPr>
              <a:t>Right Touch + Pattern = Alphabet Mode</a:t>
            </a:r>
            <a:endParaRPr lang="en-US" sz="1600" dirty="0"/>
          </a:p>
        </p:txBody>
      </p:sp>
      <p:sp>
        <p:nvSpPr>
          <p:cNvPr id="43" name="Text 41"/>
          <p:cNvSpPr/>
          <p:nvPr/>
        </p:nvSpPr>
        <p:spPr>
          <a:xfrm>
            <a:off x="6599554" y="3265054"/>
            <a:ext cx="5077777" cy="409068"/>
          </a:xfrm>
          <a:prstGeom prst="rect">
            <a:avLst/>
          </a:prstGeom>
          <a:noFill/>
          <a:ln/>
        </p:spPr>
        <p:txBody>
          <a:bodyPr wrap="square" lIns="0" tIns="0" rIns="0" bIns="0" rtlCol="0" anchor="ctr"/>
          <a:lstStyle/>
          <a:p>
            <a:pPr>
              <a:lnSpc>
                <a:spcPct val="140000"/>
              </a:lnSpc>
            </a:pPr>
            <a:r>
              <a:rPr lang="en-US" sz="980" dirty="0">
                <a:solidFill>
                  <a:srgbClr val="86868B"/>
                </a:solidFill>
                <a:latin typeface="Liter" pitchFamily="34" charset="0"/>
                <a:ea typeface="Liter" pitchFamily="34" charset="-122"/>
                <a:cs typeface="Liter" pitchFamily="34" charset="-120"/>
              </a:rPr>
              <a:t>When right touch sensor is activated, pattern maps to letters A-Z using brailleMap[] lookup table.</a:t>
            </a:r>
            <a:endParaRPr lang="en-US" sz="1600" dirty="0"/>
          </a:p>
        </p:txBody>
      </p:sp>
      <p:sp>
        <p:nvSpPr>
          <p:cNvPr id="44" name="Shape 42"/>
          <p:cNvSpPr/>
          <p:nvPr/>
        </p:nvSpPr>
        <p:spPr>
          <a:xfrm>
            <a:off x="6599554" y="4053329"/>
            <a:ext cx="5015527" cy="320140"/>
          </a:xfrm>
          <a:custGeom>
            <a:avLst/>
            <a:gdLst/>
            <a:ahLst/>
            <a:cxnLst/>
            <a:rect l="l" t="t" r="r" b="b"/>
            <a:pathLst>
              <a:path w="5015527" h="320140">
                <a:moveTo>
                  <a:pt x="35571" y="0"/>
                </a:moveTo>
                <a:lnTo>
                  <a:pt x="4979957" y="0"/>
                </a:lnTo>
                <a:cubicBezTo>
                  <a:pt x="4999602" y="0"/>
                  <a:pt x="5015527" y="15926"/>
                  <a:pt x="5015527" y="35571"/>
                </a:cubicBezTo>
                <a:lnTo>
                  <a:pt x="5015527" y="284569"/>
                </a:lnTo>
                <a:cubicBezTo>
                  <a:pt x="5015527" y="304214"/>
                  <a:pt x="4999602" y="320140"/>
                  <a:pt x="4979957" y="320140"/>
                </a:cubicBezTo>
                <a:lnTo>
                  <a:pt x="35571" y="320140"/>
                </a:lnTo>
                <a:cubicBezTo>
                  <a:pt x="15939" y="320140"/>
                  <a:pt x="0" y="304201"/>
                  <a:pt x="0" y="284569"/>
                </a:cubicBezTo>
                <a:lnTo>
                  <a:pt x="0" y="35571"/>
                </a:lnTo>
                <a:cubicBezTo>
                  <a:pt x="0" y="15939"/>
                  <a:pt x="15939" y="0"/>
                  <a:pt x="35571" y="0"/>
                </a:cubicBezTo>
                <a:close/>
              </a:path>
            </a:pathLst>
          </a:custGeom>
          <a:solidFill>
            <a:srgbClr val="FFFFFF"/>
          </a:solidFill>
          <a:ln/>
        </p:spPr>
      </p:sp>
      <p:sp>
        <p:nvSpPr>
          <p:cNvPr id="45" name="Text 43"/>
          <p:cNvSpPr/>
          <p:nvPr/>
        </p:nvSpPr>
        <p:spPr>
          <a:xfrm>
            <a:off x="6599554" y="3740818"/>
            <a:ext cx="5077777" cy="320140"/>
          </a:xfrm>
          <a:prstGeom prst="rect">
            <a:avLst/>
          </a:prstGeom>
          <a:noFill/>
          <a:ln/>
        </p:spPr>
        <p:txBody>
          <a:bodyPr wrap="square" lIns="106713" tIns="71142" rIns="106713" bIns="71142" rtlCol="0" anchor="ctr"/>
          <a:lstStyle/>
          <a:p>
            <a:pPr>
              <a:lnSpc>
                <a:spcPct val="120000"/>
              </a:lnSpc>
            </a:pPr>
            <a:r>
              <a:rPr lang="en-US" sz="980" dirty="0">
                <a:solidFill>
                  <a:srgbClr val="34C759"/>
                </a:solidFill>
                <a:latin typeface="MiSans" pitchFamily="34" charset="0"/>
                <a:ea typeface="MiSans" pitchFamily="34" charset="-122"/>
                <a:cs typeface="MiSans" pitchFamily="34" charset="-120"/>
              </a:rPr>
              <a:t>detectedChar</a:t>
            </a:r>
            <a:r>
              <a:rPr lang="en-US" sz="980" dirty="0">
                <a:solidFill>
                  <a:srgbClr val="1D1D1D"/>
                </a:solidFill>
                <a:latin typeface="MiSans" pitchFamily="34" charset="0"/>
                <a:ea typeface="MiSans" pitchFamily="34" charset="-122"/>
                <a:cs typeface="MiSans" pitchFamily="34" charset="-120"/>
              </a:rPr>
              <a:t> = brailleChars[i]</a:t>
            </a:r>
            <a:endParaRPr lang="en-US" sz="1600" dirty="0"/>
          </a:p>
        </p:txBody>
      </p:sp>
      <p:sp>
        <p:nvSpPr>
          <p:cNvPr id="46" name="Shape 44"/>
          <p:cNvSpPr/>
          <p:nvPr/>
        </p:nvSpPr>
        <p:spPr>
          <a:xfrm>
            <a:off x="6204714" y="4485897"/>
            <a:ext cx="5627351" cy="1972418"/>
          </a:xfrm>
          <a:custGeom>
            <a:avLst/>
            <a:gdLst/>
            <a:ahLst/>
            <a:cxnLst/>
            <a:rect l="l" t="t" r="r" b="b"/>
            <a:pathLst>
              <a:path w="5627351" h="1972418">
                <a:moveTo>
                  <a:pt x="106708" y="0"/>
                </a:moveTo>
                <a:lnTo>
                  <a:pt x="5520643" y="0"/>
                </a:lnTo>
                <a:cubicBezTo>
                  <a:pt x="5579576" y="0"/>
                  <a:pt x="5627351" y="47775"/>
                  <a:pt x="5627351" y="106708"/>
                </a:cubicBezTo>
                <a:lnTo>
                  <a:pt x="5627351" y="1865711"/>
                </a:lnTo>
                <a:cubicBezTo>
                  <a:pt x="5627351" y="1924644"/>
                  <a:pt x="5579576" y="1972418"/>
                  <a:pt x="5520643" y="1972418"/>
                </a:cubicBezTo>
                <a:lnTo>
                  <a:pt x="106708" y="1972418"/>
                </a:lnTo>
                <a:cubicBezTo>
                  <a:pt x="47775" y="1972418"/>
                  <a:pt x="0" y="1924644"/>
                  <a:pt x="0" y="1865711"/>
                </a:cubicBezTo>
                <a:lnTo>
                  <a:pt x="0" y="106708"/>
                </a:lnTo>
                <a:cubicBezTo>
                  <a:pt x="0" y="47775"/>
                  <a:pt x="47775" y="0"/>
                  <a:pt x="106708" y="0"/>
                </a:cubicBezTo>
                <a:close/>
              </a:path>
            </a:pathLst>
          </a:custGeom>
          <a:solidFill>
            <a:srgbClr val="FFFFFF"/>
          </a:solidFill>
          <a:ln w="10160">
            <a:solidFill>
              <a:srgbClr val="E5E5E5"/>
            </a:solidFill>
            <a:prstDash val="solid"/>
          </a:ln>
          <a:effectLst>
            <a:outerShdw blurRad="26678" dist="8893" dir="5400000" algn="bl" rotWithShape="0">
              <a:srgbClr val="000000">
                <a:alpha val="10196"/>
              </a:srgbClr>
            </a:outerShdw>
          </a:effectLst>
        </p:spPr>
      </p:sp>
      <p:sp>
        <p:nvSpPr>
          <p:cNvPr id="47" name="Text 45"/>
          <p:cNvSpPr/>
          <p:nvPr/>
        </p:nvSpPr>
        <p:spPr>
          <a:xfrm>
            <a:off x="6386127" y="4667310"/>
            <a:ext cx="5344560" cy="248998"/>
          </a:xfrm>
          <a:prstGeom prst="rect">
            <a:avLst/>
          </a:prstGeom>
          <a:noFill/>
          <a:ln/>
        </p:spPr>
        <p:txBody>
          <a:bodyPr wrap="square" lIns="0" tIns="0" rIns="0" bIns="0" rtlCol="0" anchor="ctr"/>
          <a:lstStyle/>
          <a:p>
            <a:pPr>
              <a:lnSpc>
                <a:spcPct val="130000"/>
              </a:lnSpc>
            </a:pPr>
            <a:r>
              <a:rPr lang="en-US" sz="1260" b="1" dirty="0">
                <a:solidFill>
                  <a:srgbClr val="1D1D1D"/>
                </a:solidFill>
                <a:latin typeface="Liter" pitchFamily="34" charset="0"/>
                <a:ea typeface="Liter" pitchFamily="34" charset="-122"/>
                <a:cs typeface="Liter" pitchFamily="34" charset="-120"/>
              </a:rPr>
              <a:t>Braille Lookup Table</a:t>
            </a:r>
            <a:endParaRPr lang="en-US" sz="1600" dirty="0"/>
          </a:p>
        </p:txBody>
      </p:sp>
      <p:sp>
        <p:nvSpPr>
          <p:cNvPr id="48" name="Shape 46"/>
          <p:cNvSpPr/>
          <p:nvPr/>
        </p:nvSpPr>
        <p:spPr>
          <a:xfrm>
            <a:off x="6386127" y="5023021"/>
            <a:ext cx="5264525" cy="1253882"/>
          </a:xfrm>
          <a:custGeom>
            <a:avLst/>
            <a:gdLst/>
            <a:ahLst/>
            <a:cxnLst/>
            <a:rect l="l" t="t" r="r" b="b"/>
            <a:pathLst>
              <a:path w="5264525" h="1253882">
                <a:moveTo>
                  <a:pt x="71145" y="0"/>
                </a:moveTo>
                <a:lnTo>
                  <a:pt x="5193380" y="0"/>
                </a:lnTo>
                <a:cubicBezTo>
                  <a:pt x="5232672" y="0"/>
                  <a:pt x="5264525" y="31853"/>
                  <a:pt x="5264525" y="71145"/>
                </a:cubicBezTo>
                <a:lnTo>
                  <a:pt x="5264525" y="1182737"/>
                </a:lnTo>
                <a:cubicBezTo>
                  <a:pt x="5264525" y="1222029"/>
                  <a:pt x="5232672" y="1253882"/>
                  <a:pt x="5193380" y="1253882"/>
                </a:cubicBezTo>
                <a:lnTo>
                  <a:pt x="71145" y="1253882"/>
                </a:lnTo>
                <a:cubicBezTo>
                  <a:pt x="31853" y="1253882"/>
                  <a:pt x="0" y="1222029"/>
                  <a:pt x="0" y="1182737"/>
                </a:cubicBezTo>
                <a:lnTo>
                  <a:pt x="0" y="71145"/>
                </a:lnTo>
                <a:cubicBezTo>
                  <a:pt x="0" y="31879"/>
                  <a:pt x="31879" y="0"/>
                  <a:pt x="71145" y="0"/>
                </a:cubicBezTo>
                <a:close/>
              </a:path>
            </a:pathLst>
          </a:custGeom>
          <a:solidFill>
            <a:srgbClr val="F5F5F7"/>
          </a:solidFill>
          <a:ln/>
        </p:spPr>
      </p:sp>
      <p:sp>
        <p:nvSpPr>
          <p:cNvPr id="49" name="Text 47"/>
          <p:cNvSpPr/>
          <p:nvPr/>
        </p:nvSpPr>
        <p:spPr>
          <a:xfrm>
            <a:off x="6528411" y="5143961"/>
            <a:ext cx="2485977" cy="135170"/>
          </a:xfrm>
          <a:prstGeom prst="rect">
            <a:avLst/>
          </a:prstGeom>
          <a:noFill/>
          <a:ln/>
        </p:spPr>
        <p:txBody>
          <a:bodyPr wrap="square" lIns="0" tIns="0" rIns="0" bIns="0" rtlCol="0" anchor="ctr"/>
          <a:lstStyle/>
          <a:p>
            <a:pPr>
              <a:lnSpc>
                <a:spcPct val="130000"/>
              </a:lnSpc>
            </a:pPr>
            <a:r>
              <a:rPr lang="en-US" sz="910" dirty="0">
                <a:solidFill>
                  <a:srgbClr val="86868B"/>
                </a:solidFill>
                <a:latin typeface="MiSans" pitchFamily="34" charset="0"/>
                <a:ea typeface="MiSans" pitchFamily="34" charset="-122"/>
                <a:cs typeface="MiSans" pitchFamily="34" charset="-120"/>
              </a:rPr>
              <a:t>// brailleMap[] array (Lines 29-33)</a:t>
            </a:r>
            <a:endParaRPr lang="en-US" sz="1600" dirty="0"/>
          </a:p>
        </p:txBody>
      </p:sp>
      <p:sp>
        <p:nvSpPr>
          <p:cNvPr id="50" name="Text 48"/>
          <p:cNvSpPr/>
          <p:nvPr/>
        </p:nvSpPr>
        <p:spPr>
          <a:xfrm>
            <a:off x="6528411" y="5303143"/>
            <a:ext cx="5037759" cy="177856"/>
          </a:xfrm>
          <a:prstGeom prst="rect">
            <a:avLst/>
          </a:prstGeom>
          <a:noFill/>
          <a:ln/>
        </p:spPr>
        <p:txBody>
          <a:bodyPr wrap="square" lIns="0" tIns="0" rIns="0" bIns="0" rtlCol="0" anchor="ctr"/>
          <a:lstStyle/>
          <a:p>
            <a:pPr>
              <a:lnSpc>
                <a:spcPct val="130000"/>
              </a:lnSpc>
            </a:pPr>
            <a:r>
              <a:rPr lang="en-US" sz="910" dirty="0">
                <a:solidFill>
                  <a:srgbClr val="0071E3"/>
                </a:solidFill>
                <a:latin typeface="MiSans" pitchFamily="34" charset="0"/>
                <a:ea typeface="MiSans" pitchFamily="34" charset="-122"/>
                <a:cs typeface="MiSans" pitchFamily="34" charset="-120"/>
              </a:rPr>
              <a:t>const byte</a:t>
            </a:r>
            <a:r>
              <a:rPr lang="en-US" sz="910" dirty="0">
                <a:solidFill>
                  <a:srgbClr val="1D1D1D"/>
                </a:solidFill>
                <a:latin typeface="MiSans" pitchFamily="34" charset="0"/>
                <a:ea typeface="MiSans" pitchFamily="34" charset="-122"/>
                <a:cs typeface="MiSans" pitchFamily="34" charset="-120"/>
              </a:rPr>
              <a:t> brailleMap[] = {</a:t>
            </a:r>
            <a:endParaRPr lang="en-US" sz="1600" dirty="0"/>
          </a:p>
        </p:txBody>
      </p:sp>
      <p:sp>
        <p:nvSpPr>
          <p:cNvPr id="51" name="Text 49"/>
          <p:cNvSpPr/>
          <p:nvPr/>
        </p:nvSpPr>
        <p:spPr>
          <a:xfrm>
            <a:off x="6528411" y="5476553"/>
            <a:ext cx="5037759" cy="177856"/>
          </a:xfrm>
          <a:prstGeom prst="rect">
            <a:avLst/>
          </a:prstGeom>
          <a:noFill/>
          <a:ln/>
        </p:spPr>
        <p:txBody>
          <a:bodyPr wrap="square" lIns="0" tIns="0" rIns="0" bIns="0" rtlCol="0" anchor="ctr"/>
          <a:lstStyle/>
          <a:p>
            <a:pPr>
              <a:lnSpc>
                <a:spcPct val="130000"/>
              </a:lnSpc>
            </a:pPr>
            <a:r>
              <a:rPr lang="en-US" sz="910" dirty="0">
                <a:solidFill>
                  <a:srgbClr val="FF9500"/>
                </a:solidFill>
                <a:latin typeface="MiSans" pitchFamily="34" charset="0"/>
                <a:ea typeface="MiSans" pitchFamily="34" charset="-122"/>
                <a:cs typeface="MiSans" pitchFamily="34" charset="-120"/>
              </a:rPr>
              <a:t>1</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3</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9</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25</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17</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11</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27</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19</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10</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26</a:t>
            </a:r>
            <a:r>
              <a:rPr lang="en-US" sz="910" dirty="0">
                <a:solidFill>
                  <a:srgbClr val="1D1D1D"/>
                </a:solidFill>
                <a:latin typeface="MiSans" pitchFamily="34" charset="0"/>
                <a:ea typeface="MiSans" pitchFamily="34" charset="-122"/>
                <a:cs typeface="MiSans" pitchFamily="34" charset="-120"/>
              </a:rPr>
              <a:t>, </a:t>
            </a:r>
            <a:r>
              <a:rPr lang="en-US" sz="910" dirty="0">
                <a:solidFill>
                  <a:srgbClr val="86868B"/>
                </a:solidFill>
                <a:latin typeface="MiSans" pitchFamily="34" charset="0"/>
                <a:ea typeface="MiSans" pitchFamily="34" charset="-122"/>
                <a:cs typeface="MiSans" pitchFamily="34" charset="-120"/>
              </a:rPr>
              <a:t>// A-J</a:t>
            </a:r>
            <a:endParaRPr lang="en-US" sz="1600" dirty="0"/>
          </a:p>
        </p:txBody>
      </p:sp>
      <p:sp>
        <p:nvSpPr>
          <p:cNvPr id="52" name="Text 50"/>
          <p:cNvSpPr/>
          <p:nvPr/>
        </p:nvSpPr>
        <p:spPr>
          <a:xfrm>
            <a:off x="6528411" y="5649962"/>
            <a:ext cx="5037759" cy="177856"/>
          </a:xfrm>
          <a:prstGeom prst="rect">
            <a:avLst/>
          </a:prstGeom>
          <a:noFill/>
          <a:ln/>
        </p:spPr>
        <p:txBody>
          <a:bodyPr wrap="square" lIns="0" tIns="0" rIns="0" bIns="0" rtlCol="0" anchor="ctr"/>
          <a:lstStyle/>
          <a:p>
            <a:pPr>
              <a:lnSpc>
                <a:spcPct val="130000"/>
              </a:lnSpc>
            </a:pPr>
            <a:r>
              <a:rPr lang="en-US" sz="910" dirty="0">
                <a:solidFill>
                  <a:srgbClr val="FF9500"/>
                </a:solidFill>
                <a:latin typeface="MiSans" pitchFamily="34" charset="0"/>
                <a:ea typeface="MiSans" pitchFamily="34" charset="-122"/>
                <a:cs typeface="MiSans" pitchFamily="34" charset="-120"/>
              </a:rPr>
              <a:t>5</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7</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13</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29</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21</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15</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31</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23</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14</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30</a:t>
            </a:r>
            <a:r>
              <a:rPr lang="en-US" sz="910" dirty="0">
                <a:solidFill>
                  <a:srgbClr val="1D1D1D"/>
                </a:solidFill>
                <a:latin typeface="MiSans" pitchFamily="34" charset="0"/>
                <a:ea typeface="MiSans" pitchFamily="34" charset="-122"/>
                <a:cs typeface="MiSans" pitchFamily="34" charset="-120"/>
              </a:rPr>
              <a:t>, </a:t>
            </a:r>
            <a:r>
              <a:rPr lang="en-US" sz="910" dirty="0">
                <a:solidFill>
                  <a:srgbClr val="86868B"/>
                </a:solidFill>
                <a:latin typeface="MiSans" pitchFamily="34" charset="0"/>
                <a:ea typeface="MiSans" pitchFamily="34" charset="-122"/>
                <a:cs typeface="MiSans" pitchFamily="34" charset="-120"/>
              </a:rPr>
              <a:t>// K-T</a:t>
            </a:r>
            <a:endParaRPr lang="en-US" sz="1600" dirty="0"/>
          </a:p>
        </p:txBody>
      </p:sp>
      <p:sp>
        <p:nvSpPr>
          <p:cNvPr id="53" name="Text 51"/>
          <p:cNvSpPr/>
          <p:nvPr/>
        </p:nvSpPr>
        <p:spPr>
          <a:xfrm>
            <a:off x="6528411" y="5823371"/>
            <a:ext cx="5037759" cy="177856"/>
          </a:xfrm>
          <a:prstGeom prst="rect">
            <a:avLst/>
          </a:prstGeom>
          <a:noFill/>
          <a:ln/>
        </p:spPr>
        <p:txBody>
          <a:bodyPr wrap="square" lIns="0" tIns="0" rIns="0" bIns="0" rtlCol="0" anchor="ctr"/>
          <a:lstStyle/>
          <a:p>
            <a:pPr>
              <a:lnSpc>
                <a:spcPct val="130000"/>
              </a:lnSpc>
            </a:pPr>
            <a:r>
              <a:rPr lang="en-US" sz="910" dirty="0">
                <a:solidFill>
                  <a:srgbClr val="FF9500"/>
                </a:solidFill>
                <a:latin typeface="MiSans" pitchFamily="34" charset="0"/>
                <a:ea typeface="MiSans" pitchFamily="34" charset="-122"/>
                <a:cs typeface="MiSans" pitchFamily="34" charset="-120"/>
              </a:rPr>
              <a:t>37</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39</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58</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45</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61</a:t>
            </a:r>
            <a:r>
              <a:rPr lang="en-US" sz="910" dirty="0">
                <a:solidFill>
                  <a:srgbClr val="1D1D1D"/>
                </a:solidFill>
                <a:latin typeface="MiSans" pitchFamily="34" charset="0"/>
                <a:ea typeface="MiSans" pitchFamily="34" charset="-122"/>
                <a:cs typeface="MiSans" pitchFamily="34" charset="-120"/>
              </a:rPr>
              <a:t>, </a:t>
            </a:r>
            <a:r>
              <a:rPr lang="en-US" sz="910" dirty="0">
                <a:solidFill>
                  <a:srgbClr val="FF9500"/>
                </a:solidFill>
                <a:latin typeface="MiSans" pitchFamily="34" charset="0"/>
                <a:ea typeface="MiSans" pitchFamily="34" charset="-122"/>
                <a:cs typeface="MiSans" pitchFamily="34" charset="-120"/>
              </a:rPr>
              <a:t>53</a:t>
            </a:r>
            <a:r>
              <a:rPr lang="en-US" sz="910" dirty="0">
                <a:solidFill>
                  <a:srgbClr val="86868B"/>
                </a:solidFill>
                <a:latin typeface="MiSans" pitchFamily="34" charset="0"/>
                <a:ea typeface="MiSans" pitchFamily="34" charset="-122"/>
                <a:cs typeface="MiSans" pitchFamily="34" charset="-120"/>
              </a:rPr>
              <a:t>// U-Z</a:t>
            </a:r>
            <a:endParaRPr lang="en-US" sz="1600" dirty="0"/>
          </a:p>
        </p:txBody>
      </p:sp>
      <p:sp>
        <p:nvSpPr>
          <p:cNvPr id="54" name="Text 52"/>
          <p:cNvSpPr/>
          <p:nvPr/>
        </p:nvSpPr>
        <p:spPr>
          <a:xfrm>
            <a:off x="6528411" y="5996780"/>
            <a:ext cx="5037759" cy="177856"/>
          </a:xfrm>
          <a:prstGeom prst="rect">
            <a:avLst/>
          </a:prstGeom>
          <a:noFill/>
          <a:ln/>
        </p:spPr>
        <p:txBody>
          <a:bodyPr wrap="square" lIns="0" tIns="0" rIns="0" bIns="0" rtlCol="0" anchor="ctr"/>
          <a:lstStyle/>
          <a:p>
            <a:pPr>
              <a:lnSpc>
                <a:spcPct val="130000"/>
              </a:lnSpc>
            </a:pPr>
            <a:r>
              <a:rPr lang="en-US" sz="910" dirty="0">
                <a:solidFill>
                  <a:srgbClr val="1D1D1D"/>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22753" y="322753"/>
            <a:ext cx="11602976" cy="161377"/>
          </a:xfrm>
          <a:prstGeom prst="rect">
            <a:avLst/>
          </a:prstGeom>
          <a:noFill/>
          <a:ln/>
        </p:spPr>
        <p:txBody>
          <a:bodyPr wrap="square" lIns="0" tIns="0" rIns="0" bIns="0" rtlCol="0" anchor="ctr"/>
          <a:lstStyle/>
          <a:p>
            <a:pPr>
              <a:lnSpc>
                <a:spcPct val="120000"/>
              </a:lnSpc>
            </a:pPr>
            <a:r>
              <a:rPr lang="en-US" sz="889" b="1" kern="0" spc="44" dirty="0">
                <a:solidFill>
                  <a:srgbClr val="0071E3"/>
                </a:solidFill>
                <a:latin typeface="Liter" pitchFamily="34" charset="0"/>
                <a:ea typeface="Liter" pitchFamily="34" charset="-122"/>
                <a:cs typeface="Liter" pitchFamily="34" charset="-120"/>
              </a:rPr>
              <a:t>HAPTIC &amp; AUDIO INTERFACE</a:t>
            </a:r>
            <a:endParaRPr lang="en-US" sz="1600" dirty="0"/>
          </a:p>
        </p:txBody>
      </p:sp>
      <p:sp>
        <p:nvSpPr>
          <p:cNvPr id="3" name="Text 1"/>
          <p:cNvSpPr/>
          <p:nvPr/>
        </p:nvSpPr>
        <p:spPr>
          <a:xfrm>
            <a:off x="322753" y="548680"/>
            <a:ext cx="11691733" cy="322753"/>
          </a:xfrm>
          <a:prstGeom prst="rect">
            <a:avLst/>
          </a:prstGeom>
          <a:noFill/>
          <a:ln/>
        </p:spPr>
        <p:txBody>
          <a:bodyPr wrap="square" lIns="0" tIns="0" rIns="0" bIns="0" rtlCol="0" anchor="ctr"/>
          <a:lstStyle/>
          <a:p>
            <a:pPr>
              <a:lnSpc>
                <a:spcPct val="90000"/>
              </a:lnSpc>
            </a:pPr>
            <a:r>
              <a:rPr lang="en-US" sz="2287" b="1" dirty="0">
                <a:solidFill>
                  <a:srgbClr val="1D1D1D"/>
                </a:solidFill>
                <a:latin typeface="Liter" pitchFamily="34" charset="0"/>
                <a:ea typeface="Liter" pitchFamily="34" charset="-122"/>
                <a:cs typeface="Liter" pitchFamily="34" charset="-120"/>
              </a:rPr>
              <a:t>Feedback Systems</a:t>
            </a:r>
            <a:endParaRPr lang="en-US" sz="1600" dirty="0"/>
          </a:p>
        </p:txBody>
      </p:sp>
      <p:sp>
        <p:nvSpPr>
          <p:cNvPr id="4" name="Shape 2"/>
          <p:cNvSpPr/>
          <p:nvPr/>
        </p:nvSpPr>
        <p:spPr>
          <a:xfrm>
            <a:off x="325981" y="878723"/>
            <a:ext cx="6840753" cy="3903699"/>
          </a:xfrm>
          <a:custGeom>
            <a:avLst/>
            <a:gdLst/>
            <a:ahLst/>
            <a:cxnLst/>
            <a:rect l="l" t="t" r="r" b="b"/>
            <a:pathLst>
              <a:path w="6840753" h="3903699">
                <a:moveTo>
                  <a:pt x="96812" y="0"/>
                </a:moveTo>
                <a:lnTo>
                  <a:pt x="6743941" y="0"/>
                </a:lnTo>
                <a:cubicBezTo>
                  <a:pt x="6797409" y="0"/>
                  <a:pt x="6840753" y="43344"/>
                  <a:pt x="6840753" y="96812"/>
                </a:cubicBezTo>
                <a:lnTo>
                  <a:pt x="6840753" y="3806888"/>
                </a:lnTo>
                <a:cubicBezTo>
                  <a:pt x="6840753" y="3860355"/>
                  <a:pt x="6797409" y="3903699"/>
                  <a:pt x="6743941" y="3903699"/>
                </a:cubicBezTo>
                <a:lnTo>
                  <a:pt x="96812" y="3903699"/>
                </a:lnTo>
                <a:cubicBezTo>
                  <a:pt x="43344" y="3903699"/>
                  <a:pt x="0" y="3860355"/>
                  <a:pt x="0" y="3806888"/>
                </a:cubicBezTo>
                <a:lnTo>
                  <a:pt x="0" y="96812"/>
                </a:lnTo>
                <a:cubicBezTo>
                  <a:pt x="0" y="43344"/>
                  <a:pt x="43344" y="0"/>
                  <a:pt x="96812" y="0"/>
                </a:cubicBezTo>
                <a:close/>
              </a:path>
            </a:pathLst>
          </a:custGeom>
          <a:solidFill>
            <a:srgbClr val="FFFFFF"/>
          </a:solidFill>
          <a:ln w="10160">
            <a:solidFill>
              <a:srgbClr val="E5E5E5"/>
            </a:solidFill>
            <a:prstDash val="solid"/>
          </a:ln>
          <a:effectLst>
            <a:outerShdw blurRad="24206" dist="8069" dir="5400000" algn="bl" rotWithShape="0">
              <a:srgbClr val="000000">
                <a:alpha val="10196"/>
              </a:srgbClr>
            </a:outerShdw>
          </a:effectLst>
        </p:spPr>
      </p:sp>
      <p:sp>
        <p:nvSpPr>
          <p:cNvPr id="5" name="Shape 3"/>
          <p:cNvSpPr/>
          <p:nvPr/>
        </p:nvSpPr>
        <p:spPr>
          <a:xfrm>
            <a:off x="522860" y="1107878"/>
            <a:ext cx="201721" cy="161377"/>
          </a:xfrm>
          <a:custGeom>
            <a:avLst/>
            <a:gdLst/>
            <a:ahLst/>
            <a:cxnLst/>
            <a:rect l="l" t="t" r="r" b="b"/>
            <a:pathLst>
              <a:path w="201721" h="161377">
                <a:moveTo>
                  <a:pt x="168185" y="10244"/>
                </a:moveTo>
                <a:cubicBezTo>
                  <a:pt x="164938" y="7596"/>
                  <a:pt x="160179" y="8100"/>
                  <a:pt x="157531" y="11347"/>
                </a:cubicBezTo>
                <a:cubicBezTo>
                  <a:pt x="154884" y="14593"/>
                  <a:pt x="155388" y="19353"/>
                  <a:pt x="158634" y="22000"/>
                </a:cubicBezTo>
                <a:cubicBezTo>
                  <a:pt x="175718" y="35868"/>
                  <a:pt x="186592" y="56986"/>
                  <a:pt x="186592" y="80688"/>
                </a:cubicBezTo>
                <a:cubicBezTo>
                  <a:pt x="186592" y="104390"/>
                  <a:pt x="175718" y="125508"/>
                  <a:pt x="158634" y="139408"/>
                </a:cubicBezTo>
                <a:cubicBezTo>
                  <a:pt x="155388" y="142056"/>
                  <a:pt x="154915" y="146815"/>
                  <a:pt x="157531" y="150061"/>
                </a:cubicBezTo>
                <a:cubicBezTo>
                  <a:pt x="160147" y="153308"/>
                  <a:pt x="164938" y="153781"/>
                  <a:pt x="168185" y="151164"/>
                </a:cubicBezTo>
                <a:cubicBezTo>
                  <a:pt x="188640" y="134491"/>
                  <a:pt x="201721" y="109118"/>
                  <a:pt x="201721" y="80688"/>
                </a:cubicBezTo>
                <a:cubicBezTo>
                  <a:pt x="201721" y="52258"/>
                  <a:pt x="188640" y="26854"/>
                  <a:pt x="168185" y="10244"/>
                </a:cubicBezTo>
                <a:close/>
                <a:moveTo>
                  <a:pt x="149116" y="33725"/>
                </a:moveTo>
                <a:cubicBezTo>
                  <a:pt x="145869" y="31078"/>
                  <a:pt x="141110" y="31582"/>
                  <a:pt x="138462" y="34828"/>
                </a:cubicBezTo>
                <a:cubicBezTo>
                  <a:pt x="135815" y="38075"/>
                  <a:pt x="136319" y="42834"/>
                  <a:pt x="139566" y="45482"/>
                </a:cubicBezTo>
                <a:cubicBezTo>
                  <a:pt x="149809" y="53803"/>
                  <a:pt x="156334" y="66473"/>
                  <a:pt x="156334" y="80688"/>
                </a:cubicBezTo>
                <a:cubicBezTo>
                  <a:pt x="156334" y="94903"/>
                  <a:pt x="149809" y="107574"/>
                  <a:pt x="139566" y="115926"/>
                </a:cubicBezTo>
                <a:cubicBezTo>
                  <a:pt x="136319" y="118574"/>
                  <a:pt x="135846" y="123333"/>
                  <a:pt x="138462" y="126580"/>
                </a:cubicBezTo>
                <a:cubicBezTo>
                  <a:pt x="141078" y="129826"/>
                  <a:pt x="145869" y="130299"/>
                  <a:pt x="149116" y="127683"/>
                </a:cubicBezTo>
                <a:cubicBezTo>
                  <a:pt x="162732" y="116588"/>
                  <a:pt x="171463" y="99663"/>
                  <a:pt x="171463" y="80720"/>
                </a:cubicBezTo>
                <a:cubicBezTo>
                  <a:pt x="171463" y="61777"/>
                  <a:pt x="162732" y="44851"/>
                  <a:pt x="149116" y="33757"/>
                </a:cubicBezTo>
                <a:close/>
                <a:moveTo>
                  <a:pt x="130047" y="57207"/>
                </a:moveTo>
                <a:cubicBezTo>
                  <a:pt x="126800" y="54559"/>
                  <a:pt x="122041" y="55063"/>
                  <a:pt x="119393" y="58310"/>
                </a:cubicBezTo>
                <a:cubicBezTo>
                  <a:pt x="116746" y="61556"/>
                  <a:pt x="117250" y="66316"/>
                  <a:pt x="120497" y="68963"/>
                </a:cubicBezTo>
                <a:cubicBezTo>
                  <a:pt x="123901" y="71737"/>
                  <a:pt x="126075" y="75960"/>
                  <a:pt x="126075" y="80688"/>
                </a:cubicBezTo>
                <a:cubicBezTo>
                  <a:pt x="126075" y="85416"/>
                  <a:pt x="123901" y="89640"/>
                  <a:pt x="120497" y="92445"/>
                </a:cubicBezTo>
                <a:cubicBezTo>
                  <a:pt x="117250" y="95092"/>
                  <a:pt x="116777" y="99852"/>
                  <a:pt x="119393" y="103098"/>
                </a:cubicBezTo>
                <a:cubicBezTo>
                  <a:pt x="122010" y="106345"/>
                  <a:pt x="126800" y="106817"/>
                  <a:pt x="130047" y="104201"/>
                </a:cubicBezTo>
                <a:cubicBezTo>
                  <a:pt x="136823" y="98623"/>
                  <a:pt x="141205" y="90175"/>
                  <a:pt x="141205" y="80688"/>
                </a:cubicBezTo>
                <a:cubicBezTo>
                  <a:pt x="141205" y="71201"/>
                  <a:pt x="136823" y="62754"/>
                  <a:pt x="130047" y="57207"/>
                </a:cubicBezTo>
                <a:close/>
                <a:moveTo>
                  <a:pt x="25215" y="110946"/>
                </a:moveTo>
                <a:lnTo>
                  <a:pt x="40344" y="110946"/>
                </a:lnTo>
                <a:lnTo>
                  <a:pt x="82611" y="148517"/>
                </a:lnTo>
                <a:cubicBezTo>
                  <a:pt x="84628" y="150313"/>
                  <a:pt x="87213" y="151291"/>
                  <a:pt x="89892" y="151291"/>
                </a:cubicBezTo>
                <a:cubicBezTo>
                  <a:pt x="95943" y="151291"/>
                  <a:pt x="100860" y="146374"/>
                  <a:pt x="100860" y="140322"/>
                </a:cubicBezTo>
                <a:lnTo>
                  <a:pt x="100860" y="21055"/>
                </a:lnTo>
                <a:cubicBezTo>
                  <a:pt x="100860" y="15003"/>
                  <a:pt x="95943" y="10086"/>
                  <a:pt x="89892" y="10086"/>
                </a:cubicBezTo>
                <a:cubicBezTo>
                  <a:pt x="87213" y="10086"/>
                  <a:pt x="84628" y="11063"/>
                  <a:pt x="82611" y="12860"/>
                </a:cubicBezTo>
                <a:lnTo>
                  <a:pt x="40344" y="50430"/>
                </a:lnTo>
                <a:lnTo>
                  <a:pt x="25215" y="50430"/>
                </a:lnTo>
                <a:cubicBezTo>
                  <a:pt x="16863" y="50430"/>
                  <a:pt x="10086" y="57207"/>
                  <a:pt x="10086" y="65559"/>
                </a:cubicBezTo>
                <a:lnTo>
                  <a:pt x="10086" y="95817"/>
                </a:lnTo>
                <a:cubicBezTo>
                  <a:pt x="10086" y="104170"/>
                  <a:pt x="16863" y="110946"/>
                  <a:pt x="25215" y="110946"/>
                </a:cubicBezTo>
                <a:close/>
              </a:path>
            </a:pathLst>
          </a:custGeom>
          <a:solidFill>
            <a:srgbClr val="0071E3"/>
          </a:solidFill>
          <a:ln/>
        </p:spPr>
      </p:sp>
      <p:sp>
        <p:nvSpPr>
          <p:cNvPr id="6" name="Text 4"/>
          <p:cNvSpPr/>
          <p:nvPr/>
        </p:nvSpPr>
        <p:spPr>
          <a:xfrm>
            <a:off x="724581" y="1075602"/>
            <a:ext cx="6325962" cy="225927"/>
          </a:xfrm>
          <a:prstGeom prst="rect">
            <a:avLst/>
          </a:prstGeom>
          <a:noFill/>
          <a:ln/>
        </p:spPr>
        <p:txBody>
          <a:bodyPr wrap="square" lIns="0" tIns="0" rIns="0" bIns="0" rtlCol="0" anchor="ctr"/>
          <a:lstStyle/>
          <a:p>
            <a:pPr>
              <a:lnSpc>
                <a:spcPct val="120000"/>
              </a:lnSpc>
            </a:pPr>
            <a:r>
              <a:rPr lang="en-US" sz="1271" b="1" dirty="0">
                <a:solidFill>
                  <a:srgbClr val="1D1D1D"/>
                </a:solidFill>
                <a:latin typeface="Liter" pitchFamily="34" charset="0"/>
                <a:ea typeface="Liter" pitchFamily="34" charset="-122"/>
                <a:cs typeface="Liter" pitchFamily="34" charset="-120"/>
              </a:rPr>
              <a:t>Feedback Function Implementation</a:t>
            </a:r>
            <a:endParaRPr lang="en-US" sz="1600" dirty="0"/>
          </a:p>
        </p:txBody>
      </p:sp>
      <p:sp>
        <p:nvSpPr>
          <p:cNvPr id="7" name="Shape 5"/>
          <p:cNvSpPr/>
          <p:nvPr/>
        </p:nvSpPr>
        <p:spPr>
          <a:xfrm>
            <a:off x="522860" y="1430631"/>
            <a:ext cx="6446994" cy="3025811"/>
          </a:xfrm>
          <a:custGeom>
            <a:avLst/>
            <a:gdLst/>
            <a:ahLst/>
            <a:cxnLst/>
            <a:rect l="l" t="t" r="r" b="b"/>
            <a:pathLst>
              <a:path w="6446994" h="3025811">
                <a:moveTo>
                  <a:pt x="64541" y="0"/>
                </a:moveTo>
                <a:lnTo>
                  <a:pt x="6382454" y="0"/>
                </a:lnTo>
                <a:cubicBezTo>
                  <a:pt x="6418098" y="0"/>
                  <a:pt x="6446994" y="28896"/>
                  <a:pt x="6446994" y="64541"/>
                </a:cubicBezTo>
                <a:lnTo>
                  <a:pt x="6446994" y="2961270"/>
                </a:lnTo>
                <a:cubicBezTo>
                  <a:pt x="6446994" y="2996915"/>
                  <a:pt x="6418098" y="3025811"/>
                  <a:pt x="6382454" y="3025811"/>
                </a:cubicBezTo>
                <a:lnTo>
                  <a:pt x="64541" y="3025811"/>
                </a:lnTo>
                <a:cubicBezTo>
                  <a:pt x="28896" y="3025811"/>
                  <a:pt x="0" y="2996915"/>
                  <a:pt x="0" y="2961270"/>
                </a:cubicBezTo>
                <a:lnTo>
                  <a:pt x="0" y="64541"/>
                </a:lnTo>
                <a:cubicBezTo>
                  <a:pt x="0" y="28920"/>
                  <a:pt x="28920" y="0"/>
                  <a:pt x="64541" y="0"/>
                </a:cubicBezTo>
                <a:close/>
              </a:path>
            </a:pathLst>
          </a:custGeom>
          <a:solidFill>
            <a:srgbClr val="F5F5F7"/>
          </a:solidFill>
          <a:ln/>
        </p:spPr>
      </p:sp>
      <p:sp>
        <p:nvSpPr>
          <p:cNvPr id="8" name="Text 6"/>
          <p:cNvSpPr/>
          <p:nvPr/>
        </p:nvSpPr>
        <p:spPr>
          <a:xfrm>
            <a:off x="651961" y="1527457"/>
            <a:ext cx="6241239" cy="161377"/>
          </a:xfrm>
          <a:prstGeom prst="rect">
            <a:avLst/>
          </a:prstGeom>
          <a:noFill/>
          <a:ln/>
        </p:spPr>
        <p:txBody>
          <a:bodyPr wrap="square" lIns="0" tIns="0" rIns="0" bIns="0" rtlCol="0" anchor="ctr"/>
          <a:lstStyle/>
          <a:p>
            <a:pPr>
              <a:lnSpc>
                <a:spcPct val="130000"/>
              </a:lnSpc>
            </a:pPr>
            <a:r>
              <a:rPr lang="en-US" sz="826" dirty="0">
                <a:solidFill>
                  <a:srgbClr val="0071E3"/>
                </a:solidFill>
                <a:latin typeface="MiSans" pitchFamily="34" charset="0"/>
                <a:ea typeface="MiSans" pitchFamily="34" charset="-122"/>
                <a:cs typeface="MiSans" pitchFamily="34" charset="-120"/>
              </a:rPr>
              <a:t>voidtriggerFeedback</a:t>
            </a:r>
            <a:r>
              <a:rPr lang="en-US" sz="826" dirty="0">
                <a:solidFill>
                  <a:srgbClr val="1D1D1D"/>
                </a:solidFill>
                <a:latin typeface="MiSans" pitchFamily="34" charset="0"/>
                <a:ea typeface="MiSans" pitchFamily="34" charset="-122"/>
                <a:cs typeface="MiSans" pitchFamily="34" charset="-120"/>
              </a:rPr>
              <a:t>(</a:t>
            </a:r>
            <a:r>
              <a:rPr lang="en-US" sz="826" dirty="0">
                <a:solidFill>
                  <a:srgbClr val="0071E3"/>
                </a:solidFill>
                <a:latin typeface="MiSans" pitchFamily="34" charset="0"/>
                <a:ea typeface="MiSans" pitchFamily="34" charset="-122"/>
                <a:cs typeface="MiSans" pitchFamily="34" charset="-120"/>
              </a:rPr>
              <a:t>char</a:t>
            </a:r>
            <a:r>
              <a:rPr lang="en-US" sz="826" dirty="0">
                <a:solidFill>
                  <a:srgbClr val="1D1D1D"/>
                </a:solidFill>
                <a:latin typeface="MiSans" pitchFamily="34" charset="0"/>
                <a:ea typeface="MiSans" pitchFamily="34" charset="-122"/>
                <a:cs typeface="MiSans" pitchFamily="34" charset="-120"/>
              </a:rPr>
              <a:t> type) {</a:t>
            </a:r>
            <a:endParaRPr lang="en-US" sz="1600" dirty="0"/>
          </a:p>
        </p:txBody>
      </p:sp>
      <p:sp>
        <p:nvSpPr>
          <p:cNvPr id="9" name="Text 7"/>
          <p:cNvSpPr/>
          <p:nvPr/>
        </p:nvSpPr>
        <p:spPr>
          <a:xfrm>
            <a:off x="651961" y="1684799"/>
            <a:ext cx="6241239" cy="161377"/>
          </a:xfrm>
          <a:prstGeom prst="rect">
            <a:avLst/>
          </a:prstGeom>
          <a:noFill/>
          <a:ln/>
        </p:spPr>
        <p:txBody>
          <a:bodyPr wrap="square" lIns="0" tIns="0" rIns="0" bIns="0" rtlCol="0" anchor="ctr"/>
          <a:lstStyle/>
          <a:p>
            <a:pPr>
              <a:lnSpc>
                <a:spcPct val="130000"/>
              </a:lnSpc>
            </a:pPr>
            <a:r>
              <a:rPr lang="en-US" sz="826" dirty="0">
                <a:solidFill>
                  <a:srgbClr val="0071E3"/>
                </a:solidFill>
                <a:latin typeface="MiSans" pitchFamily="34" charset="0"/>
                <a:ea typeface="MiSans" pitchFamily="34" charset="-122"/>
                <a:cs typeface="MiSans" pitchFamily="34" charset="-120"/>
              </a:rPr>
              <a:t>if</a:t>
            </a:r>
            <a:r>
              <a:rPr lang="en-US" sz="826" dirty="0">
                <a:solidFill>
                  <a:srgbClr val="1D1D1D"/>
                </a:solidFill>
                <a:latin typeface="MiSans" pitchFamily="34" charset="0"/>
                <a:ea typeface="MiSans" pitchFamily="34" charset="-122"/>
                <a:cs typeface="MiSans" pitchFamily="34" charset="-120"/>
              </a:rPr>
              <a:t> (type == </a:t>
            </a:r>
            <a:r>
              <a:rPr lang="en-US" sz="826" dirty="0">
                <a:solidFill>
                  <a:srgbClr val="34C759"/>
                </a:solidFill>
                <a:latin typeface="MiSans" pitchFamily="34" charset="0"/>
                <a:ea typeface="MiSans" pitchFamily="34" charset="-122"/>
                <a:cs typeface="MiSans" pitchFamily="34" charset="-120"/>
              </a:rPr>
              <a:t>'S'</a:t>
            </a:r>
            <a:r>
              <a:rPr lang="en-US" sz="826" dirty="0">
                <a:solidFill>
                  <a:srgbClr val="1D1D1D"/>
                </a:solidFill>
                <a:latin typeface="MiSans" pitchFamily="34" charset="0"/>
                <a:ea typeface="MiSans" pitchFamily="34" charset="-122"/>
                <a:cs typeface="MiSans" pitchFamily="34" charset="-120"/>
              </a:rPr>
              <a:t>) { </a:t>
            </a:r>
            <a:r>
              <a:rPr lang="en-US" sz="826" dirty="0">
                <a:solidFill>
                  <a:srgbClr val="86868B"/>
                </a:solidFill>
                <a:latin typeface="MiSans" pitchFamily="34" charset="0"/>
                <a:ea typeface="MiSans" pitchFamily="34" charset="-122"/>
                <a:cs typeface="MiSans" pitchFamily="34" charset="-120"/>
              </a:rPr>
              <a:t>// Success - 400ms</a:t>
            </a:r>
            <a:endParaRPr lang="en-US" sz="1600" dirty="0"/>
          </a:p>
        </p:txBody>
      </p:sp>
      <p:sp>
        <p:nvSpPr>
          <p:cNvPr id="10" name="Text 8"/>
          <p:cNvSpPr/>
          <p:nvPr/>
        </p:nvSpPr>
        <p:spPr>
          <a:xfrm>
            <a:off x="651961" y="1842141"/>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digitalWrite(vibMotor, HIGH);</a:t>
            </a:r>
            <a:endParaRPr lang="en-US" sz="1600" dirty="0"/>
          </a:p>
        </p:txBody>
      </p:sp>
      <p:sp>
        <p:nvSpPr>
          <p:cNvPr id="11" name="Text 9"/>
          <p:cNvSpPr/>
          <p:nvPr/>
        </p:nvSpPr>
        <p:spPr>
          <a:xfrm>
            <a:off x="651961" y="1999483"/>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digitalWrite(buzzer, HIGH);</a:t>
            </a:r>
            <a:endParaRPr lang="en-US" sz="1600" dirty="0"/>
          </a:p>
        </p:txBody>
      </p:sp>
      <p:sp>
        <p:nvSpPr>
          <p:cNvPr id="12" name="Text 10"/>
          <p:cNvSpPr/>
          <p:nvPr/>
        </p:nvSpPr>
        <p:spPr>
          <a:xfrm>
            <a:off x="651961" y="2156825"/>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delay(</a:t>
            </a:r>
            <a:r>
              <a:rPr lang="en-US" sz="826" dirty="0">
                <a:solidFill>
                  <a:srgbClr val="FF9500"/>
                </a:solidFill>
                <a:latin typeface="MiSans" pitchFamily="34" charset="0"/>
                <a:ea typeface="MiSans" pitchFamily="34" charset="-122"/>
                <a:cs typeface="MiSans" pitchFamily="34" charset="-120"/>
              </a:rPr>
              <a:t>400</a:t>
            </a:r>
            <a:r>
              <a:rPr lang="en-US" sz="826" dirty="0">
                <a:solidFill>
                  <a:srgbClr val="1D1D1D"/>
                </a:solidFill>
                <a:latin typeface="MiSans" pitchFamily="34" charset="0"/>
                <a:ea typeface="MiSans" pitchFamily="34" charset="-122"/>
                <a:cs typeface="MiSans" pitchFamily="34" charset="-120"/>
              </a:rPr>
              <a:t>);</a:t>
            </a:r>
            <a:endParaRPr lang="en-US" sz="1600" dirty="0"/>
          </a:p>
        </p:txBody>
      </p:sp>
      <p:sp>
        <p:nvSpPr>
          <p:cNvPr id="13" name="Text 11"/>
          <p:cNvSpPr/>
          <p:nvPr/>
        </p:nvSpPr>
        <p:spPr>
          <a:xfrm>
            <a:off x="651961" y="2314168"/>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digitalWrite(vibMotor, LOW);</a:t>
            </a:r>
            <a:endParaRPr lang="en-US" sz="1600" dirty="0"/>
          </a:p>
        </p:txBody>
      </p:sp>
      <p:sp>
        <p:nvSpPr>
          <p:cNvPr id="14" name="Text 12"/>
          <p:cNvSpPr/>
          <p:nvPr/>
        </p:nvSpPr>
        <p:spPr>
          <a:xfrm>
            <a:off x="651961" y="2471510"/>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digitalWrite(buzzer, LOW);</a:t>
            </a:r>
            <a:endParaRPr lang="en-US" sz="1600" dirty="0"/>
          </a:p>
        </p:txBody>
      </p:sp>
      <p:sp>
        <p:nvSpPr>
          <p:cNvPr id="15" name="Text 13"/>
          <p:cNvSpPr/>
          <p:nvPr/>
        </p:nvSpPr>
        <p:spPr>
          <a:xfrm>
            <a:off x="651961" y="2628852"/>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a:t>
            </a:r>
            <a:endParaRPr lang="en-US" sz="1600" dirty="0"/>
          </a:p>
        </p:txBody>
      </p:sp>
      <p:sp>
        <p:nvSpPr>
          <p:cNvPr id="16" name="Text 14"/>
          <p:cNvSpPr/>
          <p:nvPr/>
        </p:nvSpPr>
        <p:spPr>
          <a:xfrm>
            <a:off x="651961" y="2786194"/>
            <a:ext cx="6241239" cy="161377"/>
          </a:xfrm>
          <a:prstGeom prst="rect">
            <a:avLst/>
          </a:prstGeom>
          <a:noFill/>
          <a:ln/>
        </p:spPr>
        <p:txBody>
          <a:bodyPr wrap="square" lIns="0" tIns="0" rIns="0" bIns="0" rtlCol="0" anchor="ctr"/>
          <a:lstStyle/>
          <a:p>
            <a:pPr>
              <a:lnSpc>
                <a:spcPct val="130000"/>
              </a:lnSpc>
            </a:pPr>
            <a:r>
              <a:rPr lang="en-US" sz="826" dirty="0">
                <a:solidFill>
                  <a:srgbClr val="0071E3"/>
                </a:solidFill>
                <a:latin typeface="MiSans" pitchFamily="34" charset="0"/>
                <a:ea typeface="MiSans" pitchFamily="34" charset="-122"/>
                <a:cs typeface="MiSans" pitchFamily="34" charset="-120"/>
              </a:rPr>
              <a:t>else if</a:t>
            </a:r>
            <a:r>
              <a:rPr lang="en-US" sz="826" dirty="0">
                <a:solidFill>
                  <a:srgbClr val="1D1D1D"/>
                </a:solidFill>
                <a:latin typeface="MiSans" pitchFamily="34" charset="0"/>
                <a:ea typeface="MiSans" pitchFamily="34" charset="-122"/>
                <a:cs typeface="MiSans" pitchFamily="34" charset="-120"/>
              </a:rPr>
              <a:t> (type == </a:t>
            </a:r>
            <a:r>
              <a:rPr lang="en-US" sz="826" dirty="0">
                <a:solidFill>
                  <a:srgbClr val="34C759"/>
                </a:solidFill>
                <a:latin typeface="MiSans" pitchFamily="34" charset="0"/>
                <a:ea typeface="MiSans" pitchFamily="34" charset="-122"/>
                <a:cs typeface="MiSans" pitchFamily="34" charset="-120"/>
              </a:rPr>
              <a:t>'E'</a:t>
            </a:r>
            <a:r>
              <a:rPr lang="en-US" sz="826" dirty="0">
                <a:solidFill>
                  <a:srgbClr val="1D1D1D"/>
                </a:solidFill>
                <a:latin typeface="MiSans" pitchFamily="34" charset="0"/>
                <a:ea typeface="MiSans" pitchFamily="34" charset="-122"/>
                <a:cs typeface="MiSans" pitchFamily="34" charset="-120"/>
              </a:rPr>
              <a:t>) { </a:t>
            </a:r>
            <a:r>
              <a:rPr lang="en-US" sz="826" dirty="0">
                <a:solidFill>
                  <a:srgbClr val="86868B"/>
                </a:solidFill>
                <a:latin typeface="MiSans" pitchFamily="34" charset="0"/>
                <a:ea typeface="MiSans" pitchFamily="34" charset="-122"/>
                <a:cs typeface="MiSans" pitchFamily="34" charset="-120"/>
              </a:rPr>
              <a:t>// Error - 800ms</a:t>
            </a:r>
            <a:endParaRPr lang="en-US" sz="1600" dirty="0"/>
          </a:p>
        </p:txBody>
      </p:sp>
      <p:sp>
        <p:nvSpPr>
          <p:cNvPr id="17" name="Text 15"/>
          <p:cNvSpPr/>
          <p:nvPr/>
        </p:nvSpPr>
        <p:spPr>
          <a:xfrm>
            <a:off x="903810" y="2956445"/>
            <a:ext cx="1940957" cy="122646"/>
          </a:xfrm>
          <a:prstGeom prst="rect">
            <a:avLst/>
          </a:prstGeom>
          <a:noFill/>
          <a:ln/>
        </p:spPr>
        <p:txBody>
          <a:bodyPr wrap="square" lIns="0" tIns="0" rIns="0" bIns="0" rtlCol="0" anchor="ctr"/>
          <a:lstStyle/>
          <a:p>
            <a:pPr>
              <a:lnSpc>
                <a:spcPct val="130000"/>
              </a:lnSpc>
            </a:pPr>
            <a:r>
              <a:rPr lang="en-US" sz="826" dirty="0">
                <a:solidFill>
                  <a:srgbClr val="86868B"/>
                </a:solidFill>
                <a:latin typeface="MiSans" pitchFamily="34" charset="0"/>
                <a:ea typeface="MiSans" pitchFamily="34" charset="-122"/>
                <a:cs typeface="MiSans" pitchFamily="34" charset="-120"/>
              </a:rPr>
              <a:t>// Long vibration/beep pattern</a:t>
            </a:r>
            <a:endParaRPr lang="en-US" sz="1600" dirty="0"/>
          </a:p>
        </p:txBody>
      </p:sp>
      <p:sp>
        <p:nvSpPr>
          <p:cNvPr id="18" name="Text 16"/>
          <p:cNvSpPr/>
          <p:nvPr/>
        </p:nvSpPr>
        <p:spPr>
          <a:xfrm>
            <a:off x="651961" y="3100878"/>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delay(</a:t>
            </a:r>
            <a:r>
              <a:rPr lang="en-US" sz="826" dirty="0">
                <a:solidFill>
                  <a:srgbClr val="FF9500"/>
                </a:solidFill>
                <a:latin typeface="MiSans" pitchFamily="34" charset="0"/>
                <a:ea typeface="MiSans" pitchFamily="34" charset="-122"/>
                <a:cs typeface="MiSans" pitchFamily="34" charset="-120"/>
              </a:rPr>
              <a:t>800</a:t>
            </a:r>
            <a:r>
              <a:rPr lang="en-US" sz="826" dirty="0">
                <a:solidFill>
                  <a:srgbClr val="1D1D1D"/>
                </a:solidFill>
                <a:latin typeface="MiSans" pitchFamily="34" charset="0"/>
                <a:ea typeface="MiSans" pitchFamily="34" charset="-122"/>
                <a:cs typeface="MiSans" pitchFamily="34" charset="-120"/>
              </a:rPr>
              <a:t>);</a:t>
            </a:r>
            <a:endParaRPr lang="en-US" sz="1600" dirty="0"/>
          </a:p>
        </p:txBody>
      </p:sp>
      <p:sp>
        <p:nvSpPr>
          <p:cNvPr id="19" name="Text 17"/>
          <p:cNvSpPr/>
          <p:nvPr/>
        </p:nvSpPr>
        <p:spPr>
          <a:xfrm>
            <a:off x="651961" y="3258221"/>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a:t>
            </a:r>
            <a:endParaRPr lang="en-US" sz="1600" dirty="0"/>
          </a:p>
        </p:txBody>
      </p:sp>
      <p:sp>
        <p:nvSpPr>
          <p:cNvPr id="20" name="Text 18"/>
          <p:cNvSpPr/>
          <p:nvPr/>
        </p:nvSpPr>
        <p:spPr>
          <a:xfrm>
            <a:off x="651961" y="3415563"/>
            <a:ext cx="6241239" cy="161377"/>
          </a:xfrm>
          <a:prstGeom prst="rect">
            <a:avLst/>
          </a:prstGeom>
          <a:noFill/>
          <a:ln/>
        </p:spPr>
        <p:txBody>
          <a:bodyPr wrap="square" lIns="0" tIns="0" rIns="0" bIns="0" rtlCol="0" anchor="ctr"/>
          <a:lstStyle/>
          <a:p>
            <a:pPr>
              <a:lnSpc>
                <a:spcPct val="130000"/>
              </a:lnSpc>
            </a:pPr>
            <a:r>
              <a:rPr lang="en-US" sz="826" dirty="0">
                <a:solidFill>
                  <a:srgbClr val="0071E3"/>
                </a:solidFill>
                <a:latin typeface="MiSans" pitchFamily="34" charset="0"/>
                <a:ea typeface="MiSans" pitchFamily="34" charset="-122"/>
                <a:cs typeface="MiSans" pitchFamily="34" charset="-120"/>
              </a:rPr>
              <a:t>else if</a:t>
            </a:r>
            <a:r>
              <a:rPr lang="en-US" sz="826" dirty="0">
                <a:solidFill>
                  <a:srgbClr val="1D1D1D"/>
                </a:solidFill>
                <a:latin typeface="MiSans" pitchFamily="34" charset="0"/>
                <a:ea typeface="MiSans" pitchFamily="34" charset="-122"/>
                <a:cs typeface="MiSans" pitchFamily="34" charset="-120"/>
              </a:rPr>
              <a:t> (type == </a:t>
            </a:r>
            <a:r>
              <a:rPr lang="en-US" sz="826" dirty="0">
                <a:solidFill>
                  <a:srgbClr val="34C759"/>
                </a:solidFill>
                <a:latin typeface="MiSans" pitchFamily="34" charset="0"/>
                <a:ea typeface="MiSans" pitchFamily="34" charset="-122"/>
                <a:cs typeface="MiSans" pitchFamily="34" charset="-120"/>
              </a:rPr>
              <a:t>'C'</a:t>
            </a:r>
            <a:r>
              <a:rPr lang="en-US" sz="826" dirty="0">
                <a:solidFill>
                  <a:srgbClr val="1D1D1D"/>
                </a:solidFill>
                <a:latin typeface="MiSans" pitchFamily="34" charset="0"/>
                <a:ea typeface="MiSans" pitchFamily="34" charset="-122"/>
                <a:cs typeface="MiSans" pitchFamily="34" charset="-120"/>
              </a:rPr>
              <a:t>) { </a:t>
            </a:r>
            <a:r>
              <a:rPr lang="en-US" sz="826" dirty="0">
                <a:solidFill>
                  <a:srgbClr val="86868B"/>
                </a:solidFill>
                <a:latin typeface="MiSans" pitchFamily="34" charset="0"/>
                <a:ea typeface="MiSans" pitchFamily="34" charset="-122"/>
                <a:cs typeface="MiSans" pitchFamily="34" charset="-120"/>
              </a:rPr>
              <a:t>// Correct Password - 5× short</a:t>
            </a:r>
            <a:endParaRPr lang="en-US" sz="1600" dirty="0"/>
          </a:p>
        </p:txBody>
      </p:sp>
      <p:sp>
        <p:nvSpPr>
          <p:cNvPr id="21" name="Text 19"/>
          <p:cNvSpPr/>
          <p:nvPr/>
        </p:nvSpPr>
        <p:spPr>
          <a:xfrm>
            <a:off x="651961" y="3572905"/>
            <a:ext cx="6241239" cy="161377"/>
          </a:xfrm>
          <a:prstGeom prst="rect">
            <a:avLst/>
          </a:prstGeom>
          <a:noFill/>
          <a:ln/>
        </p:spPr>
        <p:txBody>
          <a:bodyPr wrap="square" lIns="0" tIns="0" rIns="0" bIns="0" rtlCol="0" anchor="ctr"/>
          <a:lstStyle/>
          <a:p>
            <a:pPr>
              <a:lnSpc>
                <a:spcPct val="130000"/>
              </a:lnSpc>
            </a:pPr>
            <a:r>
              <a:rPr lang="en-US" sz="826" dirty="0">
                <a:solidFill>
                  <a:srgbClr val="0071E3"/>
                </a:solidFill>
                <a:latin typeface="MiSans" pitchFamily="34" charset="0"/>
                <a:ea typeface="MiSans" pitchFamily="34" charset="-122"/>
                <a:cs typeface="MiSans" pitchFamily="34" charset="-120"/>
              </a:rPr>
              <a:t>for</a:t>
            </a:r>
            <a:r>
              <a:rPr lang="en-US" sz="826" dirty="0">
                <a:solidFill>
                  <a:srgbClr val="1D1D1D"/>
                </a:solidFill>
                <a:latin typeface="MiSans" pitchFamily="34" charset="0"/>
                <a:ea typeface="MiSans" pitchFamily="34" charset="-122"/>
                <a:cs typeface="MiSans" pitchFamily="34" charset="-120"/>
              </a:rPr>
              <a:t> (</a:t>
            </a:r>
            <a:r>
              <a:rPr lang="en-US" sz="826" dirty="0">
                <a:solidFill>
                  <a:srgbClr val="0071E3"/>
                </a:solidFill>
                <a:latin typeface="MiSans" pitchFamily="34" charset="0"/>
                <a:ea typeface="MiSans" pitchFamily="34" charset="-122"/>
                <a:cs typeface="MiSans" pitchFamily="34" charset="-120"/>
              </a:rPr>
              <a:t>int</a:t>
            </a:r>
            <a:r>
              <a:rPr lang="en-US" sz="826" dirty="0">
                <a:solidFill>
                  <a:srgbClr val="1D1D1D"/>
                </a:solidFill>
                <a:latin typeface="MiSans" pitchFamily="34" charset="0"/>
                <a:ea typeface="MiSans" pitchFamily="34" charset="-122"/>
                <a:cs typeface="MiSans" pitchFamily="34" charset="-120"/>
              </a:rPr>
              <a:t> i=</a:t>
            </a:r>
            <a:r>
              <a:rPr lang="en-US" sz="826" dirty="0">
                <a:solidFill>
                  <a:srgbClr val="FF9500"/>
                </a:solidFill>
                <a:latin typeface="MiSans" pitchFamily="34" charset="0"/>
                <a:ea typeface="MiSans" pitchFamily="34" charset="-122"/>
                <a:cs typeface="MiSans" pitchFamily="34" charset="-120"/>
              </a:rPr>
              <a:t>0</a:t>
            </a:r>
            <a:r>
              <a:rPr lang="en-US" sz="826" dirty="0">
                <a:solidFill>
                  <a:srgbClr val="1D1D1D"/>
                </a:solidFill>
                <a:latin typeface="MiSans" pitchFamily="34" charset="0"/>
                <a:ea typeface="MiSans" pitchFamily="34" charset="-122"/>
                <a:cs typeface="MiSans" pitchFamily="34" charset="-120"/>
              </a:rPr>
              <a:t>; i&lt;</a:t>
            </a:r>
            <a:r>
              <a:rPr lang="en-US" sz="826" dirty="0">
                <a:solidFill>
                  <a:srgbClr val="FF9500"/>
                </a:solidFill>
                <a:latin typeface="MiSans" pitchFamily="34" charset="0"/>
                <a:ea typeface="MiSans" pitchFamily="34" charset="-122"/>
                <a:cs typeface="MiSans" pitchFamily="34" charset="-120"/>
              </a:rPr>
              <a:t>5</a:t>
            </a:r>
            <a:r>
              <a:rPr lang="en-US" sz="826" dirty="0">
                <a:solidFill>
                  <a:srgbClr val="1D1D1D"/>
                </a:solidFill>
                <a:latin typeface="MiSans" pitchFamily="34" charset="0"/>
                <a:ea typeface="MiSans" pitchFamily="34" charset="-122"/>
                <a:cs typeface="MiSans" pitchFamily="34" charset="-120"/>
              </a:rPr>
              <a:t>; i++) {</a:t>
            </a:r>
            <a:endParaRPr lang="en-US" sz="1600" dirty="0"/>
          </a:p>
        </p:txBody>
      </p:sp>
      <p:sp>
        <p:nvSpPr>
          <p:cNvPr id="22" name="Text 20"/>
          <p:cNvSpPr/>
          <p:nvPr/>
        </p:nvSpPr>
        <p:spPr>
          <a:xfrm>
            <a:off x="1029683" y="3743156"/>
            <a:ext cx="1689108" cy="122646"/>
          </a:xfrm>
          <a:prstGeom prst="rect">
            <a:avLst/>
          </a:prstGeom>
          <a:noFill/>
          <a:ln/>
        </p:spPr>
        <p:txBody>
          <a:bodyPr wrap="square" lIns="0" tIns="0" rIns="0" bIns="0" rtlCol="0" anchor="ctr"/>
          <a:lstStyle/>
          <a:p>
            <a:pPr>
              <a:lnSpc>
                <a:spcPct val="130000"/>
              </a:lnSpc>
            </a:pPr>
            <a:r>
              <a:rPr lang="en-US" sz="826" dirty="0">
                <a:solidFill>
                  <a:srgbClr val="86868B"/>
                </a:solidFill>
                <a:latin typeface="MiSans" pitchFamily="34" charset="0"/>
                <a:ea typeface="MiSans" pitchFamily="34" charset="-122"/>
                <a:cs typeface="MiSans" pitchFamily="34" charset="-120"/>
              </a:rPr>
              <a:t>// 400ms ON, 200ms OFF × 5</a:t>
            </a:r>
            <a:endParaRPr lang="en-US" sz="1600" dirty="0"/>
          </a:p>
        </p:txBody>
      </p:sp>
      <p:sp>
        <p:nvSpPr>
          <p:cNvPr id="23" name="Text 21"/>
          <p:cNvSpPr/>
          <p:nvPr/>
        </p:nvSpPr>
        <p:spPr>
          <a:xfrm>
            <a:off x="651961" y="3887589"/>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a:t>
            </a:r>
            <a:endParaRPr lang="en-US" sz="1600" dirty="0"/>
          </a:p>
        </p:txBody>
      </p:sp>
      <p:sp>
        <p:nvSpPr>
          <p:cNvPr id="24" name="Text 22"/>
          <p:cNvSpPr/>
          <p:nvPr/>
        </p:nvSpPr>
        <p:spPr>
          <a:xfrm>
            <a:off x="651961" y="4044931"/>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a:t>
            </a:r>
            <a:endParaRPr lang="en-US" sz="1600" dirty="0"/>
          </a:p>
        </p:txBody>
      </p:sp>
      <p:sp>
        <p:nvSpPr>
          <p:cNvPr id="25" name="Text 23"/>
          <p:cNvSpPr/>
          <p:nvPr/>
        </p:nvSpPr>
        <p:spPr>
          <a:xfrm>
            <a:off x="651961" y="4202273"/>
            <a:ext cx="6241239" cy="161377"/>
          </a:xfrm>
          <a:prstGeom prst="rect">
            <a:avLst/>
          </a:prstGeom>
          <a:noFill/>
          <a:ln/>
        </p:spPr>
        <p:txBody>
          <a:bodyPr wrap="square" lIns="0" tIns="0" rIns="0" bIns="0" rtlCol="0" anchor="ctr"/>
          <a:lstStyle/>
          <a:p>
            <a:pPr>
              <a:lnSpc>
                <a:spcPct val="130000"/>
              </a:lnSpc>
            </a:pPr>
            <a:r>
              <a:rPr lang="en-US" sz="826" dirty="0">
                <a:solidFill>
                  <a:srgbClr val="1D1D1D"/>
                </a:solidFill>
                <a:latin typeface="MiSans" pitchFamily="34" charset="0"/>
                <a:ea typeface="MiSans" pitchFamily="34" charset="-122"/>
                <a:cs typeface="MiSans" pitchFamily="34" charset="-120"/>
              </a:rPr>
              <a:t>}</a:t>
            </a:r>
            <a:endParaRPr lang="en-US" sz="1600" dirty="0"/>
          </a:p>
        </p:txBody>
      </p:sp>
      <p:sp>
        <p:nvSpPr>
          <p:cNvPr id="26" name="Shape 24"/>
          <p:cNvSpPr/>
          <p:nvPr/>
        </p:nvSpPr>
        <p:spPr>
          <a:xfrm>
            <a:off x="325981" y="4950250"/>
            <a:ext cx="6840753" cy="1749322"/>
          </a:xfrm>
          <a:custGeom>
            <a:avLst/>
            <a:gdLst/>
            <a:ahLst/>
            <a:cxnLst/>
            <a:rect l="l" t="t" r="r" b="b"/>
            <a:pathLst>
              <a:path w="6840753" h="1749322">
                <a:moveTo>
                  <a:pt x="96825" y="0"/>
                </a:moveTo>
                <a:lnTo>
                  <a:pt x="6743928" y="0"/>
                </a:lnTo>
                <a:cubicBezTo>
                  <a:pt x="6797403" y="0"/>
                  <a:pt x="6840753" y="43350"/>
                  <a:pt x="6840753" y="96825"/>
                </a:cubicBezTo>
                <a:lnTo>
                  <a:pt x="6840753" y="1652497"/>
                </a:lnTo>
                <a:cubicBezTo>
                  <a:pt x="6840753" y="1705972"/>
                  <a:pt x="6797403" y="1749322"/>
                  <a:pt x="6743928" y="1749322"/>
                </a:cubicBezTo>
                <a:lnTo>
                  <a:pt x="96825" y="1749322"/>
                </a:lnTo>
                <a:cubicBezTo>
                  <a:pt x="43350" y="1749322"/>
                  <a:pt x="0" y="1705972"/>
                  <a:pt x="0" y="1652497"/>
                </a:cubicBezTo>
                <a:lnTo>
                  <a:pt x="0" y="96825"/>
                </a:lnTo>
                <a:cubicBezTo>
                  <a:pt x="0" y="43386"/>
                  <a:pt x="43386" y="0"/>
                  <a:pt x="96825" y="0"/>
                </a:cubicBezTo>
                <a:close/>
              </a:path>
            </a:pathLst>
          </a:custGeom>
          <a:solidFill>
            <a:srgbClr val="FFFFFF"/>
          </a:solidFill>
          <a:ln w="10160">
            <a:solidFill>
              <a:srgbClr val="E5E5E5"/>
            </a:solidFill>
            <a:prstDash val="solid"/>
          </a:ln>
          <a:effectLst>
            <a:outerShdw blurRad="24206" dist="8069" dir="5400000" algn="bl" rotWithShape="0">
              <a:srgbClr val="000000">
                <a:alpha val="10196"/>
              </a:srgbClr>
            </a:outerShdw>
          </a:effectLst>
        </p:spPr>
      </p:sp>
      <p:sp>
        <p:nvSpPr>
          <p:cNvPr id="27" name="Text 25"/>
          <p:cNvSpPr/>
          <p:nvPr/>
        </p:nvSpPr>
        <p:spPr>
          <a:xfrm>
            <a:off x="522860" y="5147128"/>
            <a:ext cx="6527682" cy="225927"/>
          </a:xfrm>
          <a:prstGeom prst="rect">
            <a:avLst/>
          </a:prstGeom>
          <a:noFill/>
          <a:ln/>
        </p:spPr>
        <p:txBody>
          <a:bodyPr wrap="square" lIns="0" tIns="0" rIns="0" bIns="0" rtlCol="0" anchor="ctr"/>
          <a:lstStyle/>
          <a:p>
            <a:pPr>
              <a:lnSpc>
                <a:spcPct val="120000"/>
              </a:lnSpc>
            </a:pPr>
            <a:r>
              <a:rPr lang="en-US" sz="1271" b="1" dirty="0">
                <a:solidFill>
                  <a:srgbClr val="1D1D1D"/>
                </a:solidFill>
                <a:latin typeface="Liter" pitchFamily="34" charset="0"/>
                <a:ea typeface="Liter" pitchFamily="34" charset="-122"/>
                <a:cs typeface="Liter" pitchFamily="34" charset="-120"/>
              </a:rPr>
              <a:t>Hardware Pin Configuration</a:t>
            </a:r>
            <a:endParaRPr lang="en-US" sz="1600" dirty="0"/>
          </a:p>
        </p:txBody>
      </p:sp>
      <p:sp>
        <p:nvSpPr>
          <p:cNvPr id="28" name="Shape 26"/>
          <p:cNvSpPr/>
          <p:nvPr/>
        </p:nvSpPr>
        <p:spPr>
          <a:xfrm>
            <a:off x="522860" y="5502157"/>
            <a:ext cx="3162981" cy="1000535"/>
          </a:xfrm>
          <a:custGeom>
            <a:avLst/>
            <a:gdLst/>
            <a:ahLst/>
            <a:cxnLst/>
            <a:rect l="l" t="t" r="r" b="b"/>
            <a:pathLst>
              <a:path w="3162981" h="1000535">
                <a:moveTo>
                  <a:pt x="64555" y="0"/>
                </a:moveTo>
                <a:lnTo>
                  <a:pt x="3098426" y="0"/>
                </a:lnTo>
                <a:cubicBezTo>
                  <a:pt x="3134079" y="0"/>
                  <a:pt x="3162981" y="28902"/>
                  <a:pt x="3162981" y="64555"/>
                </a:cubicBezTo>
                <a:lnTo>
                  <a:pt x="3162981" y="935980"/>
                </a:lnTo>
                <a:cubicBezTo>
                  <a:pt x="3162981" y="971633"/>
                  <a:pt x="3134079" y="1000535"/>
                  <a:pt x="3098426" y="1000535"/>
                </a:cubicBezTo>
                <a:lnTo>
                  <a:pt x="64555" y="1000535"/>
                </a:lnTo>
                <a:cubicBezTo>
                  <a:pt x="28902" y="1000535"/>
                  <a:pt x="0" y="971633"/>
                  <a:pt x="0" y="935980"/>
                </a:cubicBezTo>
                <a:lnTo>
                  <a:pt x="0" y="64555"/>
                </a:lnTo>
                <a:cubicBezTo>
                  <a:pt x="0" y="28926"/>
                  <a:pt x="28926" y="0"/>
                  <a:pt x="64555" y="0"/>
                </a:cubicBezTo>
                <a:close/>
              </a:path>
            </a:pathLst>
          </a:custGeom>
          <a:solidFill>
            <a:srgbClr val="FAFAFA"/>
          </a:solidFill>
          <a:ln/>
        </p:spPr>
      </p:sp>
      <p:sp>
        <p:nvSpPr>
          <p:cNvPr id="29" name="Shape 27"/>
          <p:cNvSpPr/>
          <p:nvPr/>
        </p:nvSpPr>
        <p:spPr>
          <a:xfrm>
            <a:off x="662047" y="5728084"/>
            <a:ext cx="181549" cy="161377"/>
          </a:xfrm>
          <a:custGeom>
            <a:avLst/>
            <a:gdLst/>
            <a:ahLst/>
            <a:cxnLst/>
            <a:rect l="l" t="t" r="r" b="b"/>
            <a:pathLst>
              <a:path w="181549" h="161377">
                <a:moveTo>
                  <a:pt x="27705" y="3625"/>
                </a:moveTo>
                <a:cubicBezTo>
                  <a:pt x="24143" y="1450"/>
                  <a:pt x="19479" y="2616"/>
                  <a:pt x="17304" y="6178"/>
                </a:cubicBezTo>
                <a:cubicBezTo>
                  <a:pt x="9487" y="19100"/>
                  <a:pt x="5011" y="34261"/>
                  <a:pt x="5011" y="50430"/>
                </a:cubicBezTo>
                <a:cubicBezTo>
                  <a:pt x="5011" y="66599"/>
                  <a:pt x="9487" y="81760"/>
                  <a:pt x="17304" y="94683"/>
                </a:cubicBezTo>
                <a:cubicBezTo>
                  <a:pt x="19479" y="98244"/>
                  <a:pt x="24112" y="99410"/>
                  <a:pt x="27705" y="97236"/>
                </a:cubicBezTo>
                <a:cubicBezTo>
                  <a:pt x="31298" y="95061"/>
                  <a:pt x="32433" y="90428"/>
                  <a:pt x="30258" y="86834"/>
                </a:cubicBezTo>
                <a:cubicBezTo>
                  <a:pt x="23860" y="76244"/>
                  <a:pt x="20172" y="63763"/>
                  <a:pt x="20172" y="50430"/>
                </a:cubicBezTo>
                <a:cubicBezTo>
                  <a:pt x="20172" y="37098"/>
                  <a:pt x="23860" y="24616"/>
                  <a:pt x="30290" y="13994"/>
                </a:cubicBezTo>
                <a:cubicBezTo>
                  <a:pt x="32464" y="10433"/>
                  <a:pt x="31298" y="5768"/>
                  <a:pt x="27737" y="3593"/>
                </a:cubicBezTo>
                <a:close/>
                <a:moveTo>
                  <a:pt x="153812" y="3625"/>
                </a:moveTo>
                <a:cubicBezTo>
                  <a:pt x="150250" y="5799"/>
                  <a:pt x="149084" y="10433"/>
                  <a:pt x="151259" y="14026"/>
                </a:cubicBezTo>
                <a:cubicBezTo>
                  <a:pt x="157689" y="24648"/>
                  <a:pt x="161377" y="37129"/>
                  <a:pt x="161377" y="50462"/>
                </a:cubicBezTo>
                <a:cubicBezTo>
                  <a:pt x="161377" y="63794"/>
                  <a:pt x="157689" y="76276"/>
                  <a:pt x="151259" y="86898"/>
                </a:cubicBezTo>
                <a:cubicBezTo>
                  <a:pt x="149084" y="90459"/>
                  <a:pt x="150250" y="95124"/>
                  <a:pt x="153812" y="97299"/>
                </a:cubicBezTo>
                <a:cubicBezTo>
                  <a:pt x="157374" y="99474"/>
                  <a:pt x="162038" y="98307"/>
                  <a:pt x="164213" y="94746"/>
                </a:cubicBezTo>
                <a:cubicBezTo>
                  <a:pt x="172030" y="81823"/>
                  <a:pt x="176506" y="66662"/>
                  <a:pt x="176506" y="50493"/>
                </a:cubicBezTo>
                <a:cubicBezTo>
                  <a:pt x="176506" y="34324"/>
                  <a:pt x="172030" y="19100"/>
                  <a:pt x="164213" y="6178"/>
                </a:cubicBezTo>
                <a:cubicBezTo>
                  <a:pt x="162038" y="2616"/>
                  <a:pt x="157405" y="1450"/>
                  <a:pt x="153812" y="3625"/>
                </a:cubicBezTo>
                <a:close/>
                <a:moveTo>
                  <a:pt x="100860" y="67892"/>
                </a:moveTo>
                <a:cubicBezTo>
                  <a:pt x="106880" y="64393"/>
                  <a:pt x="110946" y="57900"/>
                  <a:pt x="110946" y="50430"/>
                </a:cubicBezTo>
                <a:cubicBezTo>
                  <a:pt x="110946" y="39304"/>
                  <a:pt x="101900" y="30258"/>
                  <a:pt x="90774" y="30258"/>
                </a:cubicBezTo>
                <a:cubicBezTo>
                  <a:pt x="79648" y="30258"/>
                  <a:pt x="70602" y="39304"/>
                  <a:pt x="70602" y="50430"/>
                </a:cubicBezTo>
                <a:cubicBezTo>
                  <a:pt x="70602" y="57900"/>
                  <a:pt x="74668" y="64425"/>
                  <a:pt x="80688" y="67892"/>
                </a:cubicBezTo>
                <a:lnTo>
                  <a:pt x="80688" y="151291"/>
                </a:lnTo>
                <a:cubicBezTo>
                  <a:pt x="80688" y="156869"/>
                  <a:pt x="85195" y="161377"/>
                  <a:pt x="90774" y="161377"/>
                </a:cubicBezTo>
                <a:cubicBezTo>
                  <a:pt x="96353" y="161377"/>
                  <a:pt x="100860" y="156869"/>
                  <a:pt x="100860" y="151291"/>
                </a:cubicBezTo>
                <a:lnTo>
                  <a:pt x="100860" y="67892"/>
                </a:lnTo>
                <a:close/>
                <a:moveTo>
                  <a:pt x="56797" y="28682"/>
                </a:moveTo>
                <a:cubicBezTo>
                  <a:pt x="59066" y="25152"/>
                  <a:pt x="58026" y="20487"/>
                  <a:pt x="54528" y="18218"/>
                </a:cubicBezTo>
                <a:cubicBezTo>
                  <a:pt x="51029" y="15949"/>
                  <a:pt x="46333" y="16989"/>
                  <a:pt x="44063" y="20487"/>
                </a:cubicBezTo>
                <a:cubicBezTo>
                  <a:pt x="38516" y="29123"/>
                  <a:pt x="35301" y="39399"/>
                  <a:pt x="35301" y="50430"/>
                </a:cubicBezTo>
                <a:cubicBezTo>
                  <a:pt x="35301" y="61462"/>
                  <a:pt x="38516" y="71737"/>
                  <a:pt x="44063" y="80373"/>
                </a:cubicBezTo>
                <a:cubicBezTo>
                  <a:pt x="46333" y="83903"/>
                  <a:pt x="50998" y="84912"/>
                  <a:pt x="54528" y="82642"/>
                </a:cubicBezTo>
                <a:cubicBezTo>
                  <a:pt x="58058" y="80373"/>
                  <a:pt x="59066" y="75708"/>
                  <a:pt x="56797" y="72178"/>
                </a:cubicBezTo>
                <a:cubicBezTo>
                  <a:pt x="52763" y="65906"/>
                  <a:pt x="50430" y="58436"/>
                  <a:pt x="50430" y="50430"/>
                </a:cubicBezTo>
                <a:cubicBezTo>
                  <a:pt x="50430" y="42424"/>
                  <a:pt x="52763" y="34954"/>
                  <a:pt x="56797" y="28682"/>
                </a:cubicBezTo>
                <a:close/>
                <a:moveTo>
                  <a:pt x="137485" y="20487"/>
                </a:moveTo>
                <a:cubicBezTo>
                  <a:pt x="135216" y="16957"/>
                  <a:pt x="130551" y="15949"/>
                  <a:pt x="127021" y="18218"/>
                </a:cubicBezTo>
                <a:cubicBezTo>
                  <a:pt x="123491" y="20487"/>
                  <a:pt x="122482" y="25152"/>
                  <a:pt x="124752" y="28682"/>
                </a:cubicBezTo>
                <a:cubicBezTo>
                  <a:pt x="128786" y="34954"/>
                  <a:pt x="131118" y="42424"/>
                  <a:pt x="131118" y="50430"/>
                </a:cubicBezTo>
                <a:cubicBezTo>
                  <a:pt x="131118" y="58436"/>
                  <a:pt x="128786" y="65906"/>
                  <a:pt x="124752" y="72178"/>
                </a:cubicBezTo>
                <a:cubicBezTo>
                  <a:pt x="122482" y="75708"/>
                  <a:pt x="123522" y="80373"/>
                  <a:pt x="127021" y="82642"/>
                </a:cubicBezTo>
                <a:cubicBezTo>
                  <a:pt x="130520" y="84912"/>
                  <a:pt x="135216" y="83872"/>
                  <a:pt x="137485" y="80373"/>
                </a:cubicBezTo>
                <a:cubicBezTo>
                  <a:pt x="143033" y="71737"/>
                  <a:pt x="146248" y="61462"/>
                  <a:pt x="146248" y="50430"/>
                </a:cubicBezTo>
                <a:cubicBezTo>
                  <a:pt x="146248" y="39399"/>
                  <a:pt x="143033" y="29123"/>
                  <a:pt x="137485" y="20487"/>
                </a:cubicBezTo>
                <a:close/>
              </a:path>
            </a:pathLst>
          </a:custGeom>
          <a:solidFill>
            <a:srgbClr val="0071E3"/>
          </a:solidFill>
          <a:ln/>
        </p:spPr>
      </p:sp>
      <p:sp>
        <p:nvSpPr>
          <p:cNvPr id="30" name="Text 28"/>
          <p:cNvSpPr/>
          <p:nvPr/>
        </p:nvSpPr>
        <p:spPr>
          <a:xfrm>
            <a:off x="950508" y="5631258"/>
            <a:ext cx="960191" cy="193652"/>
          </a:xfrm>
          <a:prstGeom prst="rect">
            <a:avLst/>
          </a:prstGeom>
          <a:noFill/>
          <a:ln/>
        </p:spPr>
        <p:txBody>
          <a:bodyPr wrap="square" lIns="0" tIns="0" rIns="0" bIns="0" rtlCol="0" anchor="ctr"/>
          <a:lstStyle/>
          <a:p>
            <a:pPr>
              <a:lnSpc>
                <a:spcPct val="130000"/>
              </a:lnSpc>
            </a:pPr>
            <a:r>
              <a:rPr lang="en-US" sz="1017" b="1" dirty="0">
                <a:solidFill>
                  <a:srgbClr val="1D1D1D"/>
                </a:solidFill>
                <a:latin typeface="Liter" pitchFamily="34" charset="0"/>
                <a:ea typeface="Liter" pitchFamily="34" charset="-122"/>
                <a:cs typeface="Liter" pitchFamily="34" charset="-120"/>
              </a:rPr>
              <a:t>Vibration Motor</a:t>
            </a:r>
            <a:endParaRPr lang="en-US" sz="1600" dirty="0"/>
          </a:p>
        </p:txBody>
      </p:sp>
      <p:sp>
        <p:nvSpPr>
          <p:cNvPr id="31" name="Text 29"/>
          <p:cNvSpPr/>
          <p:nvPr/>
        </p:nvSpPr>
        <p:spPr>
          <a:xfrm>
            <a:off x="950508" y="5824910"/>
            <a:ext cx="952122" cy="161377"/>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Pin 12</a:t>
            </a:r>
            <a:endParaRPr lang="en-US" sz="1600" dirty="0"/>
          </a:p>
        </p:txBody>
      </p:sp>
      <p:sp>
        <p:nvSpPr>
          <p:cNvPr id="32" name="Text 30"/>
          <p:cNvSpPr/>
          <p:nvPr/>
        </p:nvSpPr>
        <p:spPr>
          <a:xfrm>
            <a:off x="651961" y="6050837"/>
            <a:ext cx="2961260" cy="322753"/>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NPN transistor driver (2N2222) with 1kΩ base resistor and 1N4007 flyback diode</a:t>
            </a:r>
            <a:endParaRPr lang="en-US" sz="1600" dirty="0"/>
          </a:p>
        </p:txBody>
      </p:sp>
      <p:sp>
        <p:nvSpPr>
          <p:cNvPr id="33" name="Shape 31"/>
          <p:cNvSpPr/>
          <p:nvPr/>
        </p:nvSpPr>
        <p:spPr>
          <a:xfrm>
            <a:off x="3812723" y="5502157"/>
            <a:ext cx="3162981" cy="1000535"/>
          </a:xfrm>
          <a:custGeom>
            <a:avLst/>
            <a:gdLst/>
            <a:ahLst/>
            <a:cxnLst/>
            <a:rect l="l" t="t" r="r" b="b"/>
            <a:pathLst>
              <a:path w="3162981" h="1000535">
                <a:moveTo>
                  <a:pt x="64555" y="0"/>
                </a:moveTo>
                <a:lnTo>
                  <a:pt x="3098426" y="0"/>
                </a:lnTo>
                <a:cubicBezTo>
                  <a:pt x="3134079" y="0"/>
                  <a:pt x="3162981" y="28902"/>
                  <a:pt x="3162981" y="64555"/>
                </a:cubicBezTo>
                <a:lnTo>
                  <a:pt x="3162981" y="935980"/>
                </a:lnTo>
                <a:cubicBezTo>
                  <a:pt x="3162981" y="971633"/>
                  <a:pt x="3134079" y="1000535"/>
                  <a:pt x="3098426" y="1000535"/>
                </a:cubicBezTo>
                <a:lnTo>
                  <a:pt x="64555" y="1000535"/>
                </a:lnTo>
                <a:cubicBezTo>
                  <a:pt x="28902" y="1000535"/>
                  <a:pt x="0" y="971633"/>
                  <a:pt x="0" y="935980"/>
                </a:cubicBezTo>
                <a:lnTo>
                  <a:pt x="0" y="64555"/>
                </a:lnTo>
                <a:cubicBezTo>
                  <a:pt x="0" y="28926"/>
                  <a:pt x="28926" y="0"/>
                  <a:pt x="64555" y="0"/>
                </a:cubicBezTo>
                <a:close/>
              </a:path>
            </a:pathLst>
          </a:custGeom>
          <a:solidFill>
            <a:srgbClr val="FAFAFA"/>
          </a:solidFill>
          <a:ln/>
        </p:spPr>
      </p:sp>
      <p:sp>
        <p:nvSpPr>
          <p:cNvPr id="34" name="Shape 32"/>
          <p:cNvSpPr/>
          <p:nvPr/>
        </p:nvSpPr>
        <p:spPr>
          <a:xfrm>
            <a:off x="3961997" y="5728084"/>
            <a:ext cx="161377" cy="161377"/>
          </a:xfrm>
          <a:custGeom>
            <a:avLst/>
            <a:gdLst/>
            <a:ahLst/>
            <a:cxnLst/>
            <a:rect l="l" t="t" r="r" b="b"/>
            <a:pathLst>
              <a:path w="161377" h="161377">
                <a:moveTo>
                  <a:pt x="147508" y="2206"/>
                </a:moveTo>
                <a:cubicBezTo>
                  <a:pt x="149904" y="4129"/>
                  <a:pt x="151291" y="7029"/>
                  <a:pt x="151291" y="10086"/>
                </a:cubicBezTo>
                <a:lnTo>
                  <a:pt x="151291" y="105903"/>
                </a:lnTo>
                <a:cubicBezTo>
                  <a:pt x="151291" y="119835"/>
                  <a:pt x="137737" y="131118"/>
                  <a:pt x="121032" y="131118"/>
                </a:cubicBezTo>
                <a:cubicBezTo>
                  <a:pt x="104327" y="131118"/>
                  <a:pt x="90774" y="119835"/>
                  <a:pt x="90774" y="105903"/>
                </a:cubicBezTo>
                <a:cubicBezTo>
                  <a:pt x="90774" y="91972"/>
                  <a:pt x="104327" y="80688"/>
                  <a:pt x="121032" y="80688"/>
                </a:cubicBezTo>
                <a:cubicBezTo>
                  <a:pt x="124563" y="80688"/>
                  <a:pt x="127967" y="81193"/>
                  <a:pt x="131118" y="82138"/>
                </a:cubicBezTo>
                <a:lnTo>
                  <a:pt x="131118" y="45356"/>
                </a:lnTo>
                <a:lnTo>
                  <a:pt x="60516" y="61052"/>
                </a:lnTo>
                <a:lnTo>
                  <a:pt x="60516" y="126075"/>
                </a:lnTo>
                <a:cubicBezTo>
                  <a:pt x="60516" y="140007"/>
                  <a:pt x="46963" y="151291"/>
                  <a:pt x="30258" y="151291"/>
                </a:cubicBezTo>
                <a:cubicBezTo>
                  <a:pt x="13553" y="151291"/>
                  <a:pt x="0" y="140007"/>
                  <a:pt x="0" y="126075"/>
                </a:cubicBezTo>
                <a:cubicBezTo>
                  <a:pt x="0" y="112144"/>
                  <a:pt x="13553" y="100860"/>
                  <a:pt x="30258" y="100860"/>
                </a:cubicBezTo>
                <a:cubicBezTo>
                  <a:pt x="33788" y="100860"/>
                  <a:pt x="37192" y="101365"/>
                  <a:pt x="40344" y="102310"/>
                </a:cubicBezTo>
                <a:lnTo>
                  <a:pt x="40344" y="30258"/>
                </a:lnTo>
                <a:cubicBezTo>
                  <a:pt x="40344" y="25530"/>
                  <a:pt x="43622" y="21433"/>
                  <a:pt x="48255" y="20424"/>
                </a:cubicBezTo>
                <a:lnTo>
                  <a:pt x="139030" y="252"/>
                </a:lnTo>
                <a:cubicBezTo>
                  <a:pt x="142024" y="-410"/>
                  <a:pt x="145144" y="315"/>
                  <a:pt x="147540" y="2238"/>
                </a:cubicBezTo>
                <a:close/>
              </a:path>
            </a:pathLst>
          </a:custGeom>
          <a:solidFill>
            <a:srgbClr val="FF9500"/>
          </a:solidFill>
          <a:ln/>
        </p:spPr>
      </p:sp>
      <p:sp>
        <p:nvSpPr>
          <p:cNvPr id="35" name="Text 33"/>
          <p:cNvSpPr/>
          <p:nvPr/>
        </p:nvSpPr>
        <p:spPr>
          <a:xfrm>
            <a:off x="4240371" y="5631258"/>
            <a:ext cx="451854" cy="193652"/>
          </a:xfrm>
          <a:prstGeom prst="rect">
            <a:avLst/>
          </a:prstGeom>
          <a:noFill/>
          <a:ln/>
        </p:spPr>
        <p:txBody>
          <a:bodyPr wrap="square" lIns="0" tIns="0" rIns="0" bIns="0" rtlCol="0" anchor="ctr"/>
          <a:lstStyle/>
          <a:p>
            <a:pPr>
              <a:lnSpc>
                <a:spcPct val="130000"/>
              </a:lnSpc>
            </a:pPr>
            <a:r>
              <a:rPr lang="en-US" sz="1017" b="1" dirty="0">
                <a:solidFill>
                  <a:srgbClr val="1D1D1D"/>
                </a:solidFill>
                <a:latin typeface="Liter" pitchFamily="34" charset="0"/>
                <a:ea typeface="Liter" pitchFamily="34" charset="-122"/>
                <a:cs typeface="Liter" pitchFamily="34" charset="-120"/>
              </a:rPr>
              <a:t>Buzzer</a:t>
            </a:r>
            <a:endParaRPr lang="en-US" sz="1600" dirty="0"/>
          </a:p>
        </p:txBody>
      </p:sp>
      <p:sp>
        <p:nvSpPr>
          <p:cNvPr id="36" name="Text 34"/>
          <p:cNvSpPr/>
          <p:nvPr/>
        </p:nvSpPr>
        <p:spPr>
          <a:xfrm>
            <a:off x="4240371" y="5824910"/>
            <a:ext cx="443786" cy="161377"/>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Pin 25</a:t>
            </a:r>
            <a:endParaRPr lang="en-US" sz="1600" dirty="0"/>
          </a:p>
        </p:txBody>
      </p:sp>
      <p:sp>
        <p:nvSpPr>
          <p:cNvPr id="37" name="Text 35"/>
          <p:cNvSpPr/>
          <p:nvPr/>
        </p:nvSpPr>
        <p:spPr>
          <a:xfrm>
            <a:off x="3941824" y="6050837"/>
            <a:ext cx="2961260" cy="322753"/>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Active piezo buzzer for audio feedback synchronized with vibration</a:t>
            </a:r>
            <a:endParaRPr lang="en-US" sz="1600" dirty="0"/>
          </a:p>
        </p:txBody>
      </p:sp>
      <p:sp>
        <p:nvSpPr>
          <p:cNvPr id="38" name="Shape 36"/>
          <p:cNvSpPr/>
          <p:nvPr/>
        </p:nvSpPr>
        <p:spPr>
          <a:xfrm>
            <a:off x="7370471" y="878723"/>
            <a:ext cx="4492724" cy="4206225"/>
          </a:xfrm>
          <a:custGeom>
            <a:avLst/>
            <a:gdLst/>
            <a:ahLst/>
            <a:cxnLst/>
            <a:rect l="l" t="t" r="r" b="b"/>
            <a:pathLst>
              <a:path w="4492724" h="5025266">
                <a:moveTo>
                  <a:pt x="96818" y="0"/>
                </a:moveTo>
                <a:lnTo>
                  <a:pt x="4395906" y="0"/>
                </a:lnTo>
                <a:cubicBezTo>
                  <a:pt x="4449377" y="0"/>
                  <a:pt x="4492724" y="43347"/>
                  <a:pt x="4492724" y="96818"/>
                </a:cubicBezTo>
                <a:lnTo>
                  <a:pt x="4492724" y="4928448"/>
                </a:lnTo>
                <a:cubicBezTo>
                  <a:pt x="4492724" y="4981919"/>
                  <a:pt x="4449377" y="5025266"/>
                  <a:pt x="4395906" y="5025266"/>
                </a:cubicBezTo>
                <a:lnTo>
                  <a:pt x="96818" y="5025266"/>
                </a:lnTo>
                <a:cubicBezTo>
                  <a:pt x="43347" y="5025266"/>
                  <a:pt x="0" y="4981919"/>
                  <a:pt x="0" y="4928448"/>
                </a:cubicBezTo>
                <a:lnTo>
                  <a:pt x="0" y="96818"/>
                </a:lnTo>
                <a:cubicBezTo>
                  <a:pt x="0" y="43347"/>
                  <a:pt x="43347" y="0"/>
                  <a:pt x="96818" y="0"/>
                </a:cubicBezTo>
                <a:close/>
              </a:path>
            </a:pathLst>
          </a:custGeom>
          <a:solidFill>
            <a:srgbClr val="FFFFFF"/>
          </a:solidFill>
          <a:ln w="10160">
            <a:solidFill>
              <a:srgbClr val="E5E5E5"/>
            </a:solidFill>
            <a:prstDash val="solid"/>
          </a:ln>
          <a:effectLst>
            <a:outerShdw blurRad="24206" dist="8069" dir="5400000" algn="bl" rotWithShape="0">
              <a:srgbClr val="000000">
                <a:alpha val="10196"/>
              </a:srgbClr>
            </a:outerShdw>
          </a:effectLst>
        </p:spPr>
      </p:sp>
      <p:sp>
        <p:nvSpPr>
          <p:cNvPr id="39" name="Shape 37"/>
          <p:cNvSpPr/>
          <p:nvPr/>
        </p:nvSpPr>
        <p:spPr>
          <a:xfrm>
            <a:off x="7597609" y="1107878"/>
            <a:ext cx="141205" cy="161377"/>
          </a:xfrm>
          <a:custGeom>
            <a:avLst/>
            <a:gdLst/>
            <a:ahLst/>
            <a:cxnLst/>
            <a:rect l="l" t="t" r="r" b="b"/>
            <a:pathLst>
              <a:path w="141205" h="161377">
                <a:moveTo>
                  <a:pt x="80688" y="50430"/>
                </a:moveTo>
                <a:lnTo>
                  <a:pt x="80688" y="80688"/>
                </a:lnTo>
                <a:lnTo>
                  <a:pt x="121032" y="80688"/>
                </a:lnTo>
                <a:lnTo>
                  <a:pt x="121032" y="50430"/>
                </a:lnTo>
                <a:lnTo>
                  <a:pt x="80688" y="50430"/>
                </a:lnTo>
                <a:close/>
                <a:moveTo>
                  <a:pt x="60516" y="50430"/>
                </a:moveTo>
                <a:lnTo>
                  <a:pt x="20172" y="50430"/>
                </a:lnTo>
                <a:lnTo>
                  <a:pt x="20172" y="80688"/>
                </a:lnTo>
                <a:lnTo>
                  <a:pt x="60516" y="80688"/>
                </a:lnTo>
                <a:lnTo>
                  <a:pt x="60516" y="50430"/>
                </a:lnTo>
                <a:close/>
                <a:moveTo>
                  <a:pt x="0" y="100860"/>
                </a:moveTo>
                <a:lnTo>
                  <a:pt x="0" y="30258"/>
                </a:lnTo>
                <a:cubicBezTo>
                  <a:pt x="0" y="19132"/>
                  <a:pt x="9046" y="10086"/>
                  <a:pt x="20172" y="10086"/>
                </a:cubicBezTo>
                <a:lnTo>
                  <a:pt x="121032" y="10086"/>
                </a:lnTo>
                <a:cubicBezTo>
                  <a:pt x="132159" y="10086"/>
                  <a:pt x="141205" y="19132"/>
                  <a:pt x="141205" y="30258"/>
                </a:cubicBezTo>
                <a:lnTo>
                  <a:pt x="141205" y="131118"/>
                </a:lnTo>
                <a:cubicBezTo>
                  <a:pt x="141205" y="142245"/>
                  <a:pt x="132159" y="151291"/>
                  <a:pt x="121032" y="151291"/>
                </a:cubicBezTo>
                <a:lnTo>
                  <a:pt x="20172" y="151291"/>
                </a:lnTo>
                <a:cubicBezTo>
                  <a:pt x="9046" y="151291"/>
                  <a:pt x="0" y="142245"/>
                  <a:pt x="0" y="131118"/>
                </a:cubicBezTo>
                <a:lnTo>
                  <a:pt x="0" y="100860"/>
                </a:lnTo>
                <a:close/>
                <a:moveTo>
                  <a:pt x="121032" y="100860"/>
                </a:moveTo>
                <a:lnTo>
                  <a:pt x="80688" y="100860"/>
                </a:lnTo>
                <a:lnTo>
                  <a:pt x="80688" y="131118"/>
                </a:lnTo>
                <a:lnTo>
                  <a:pt x="121032" y="131118"/>
                </a:lnTo>
                <a:lnTo>
                  <a:pt x="121032" y="100860"/>
                </a:lnTo>
                <a:close/>
                <a:moveTo>
                  <a:pt x="60516" y="131118"/>
                </a:moveTo>
                <a:lnTo>
                  <a:pt x="60516" y="100860"/>
                </a:lnTo>
                <a:lnTo>
                  <a:pt x="20172" y="100860"/>
                </a:lnTo>
                <a:lnTo>
                  <a:pt x="20172" y="131118"/>
                </a:lnTo>
                <a:lnTo>
                  <a:pt x="60516" y="131118"/>
                </a:lnTo>
                <a:close/>
              </a:path>
            </a:pathLst>
          </a:custGeom>
          <a:solidFill>
            <a:srgbClr val="0071E3"/>
          </a:solidFill>
          <a:ln/>
        </p:spPr>
      </p:sp>
      <p:sp>
        <p:nvSpPr>
          <p:cNvPr id="40" name="Text 38"/>
          <p:cNvSpPr/>
          <p:nvPr/>
        </p:nvSpPr>
        <p:spPr>
          <a:xfrm>
            <a:off x="7769072" y="1075602"/>
            <a:ext cx="3977932" cy="225927"/>
          </a:xfrm>
          <a:prstGeom prst="rect">
            <a:avLst/>
          </a:prstGeom>
          <a:noFill/>
          <a:ln/>
        </p:spPr>
        <p:txBody>
          <a:bodyPr wrap="square" lIns="0" tIns="0" rIns="0" bIns="0" rtlCol="0" anchor="ctr"/>
          <a:lstStyle/>
          <a:p>
            <a:pPr>
              <a:lnSpc>
                <a:spcPct val="120000"/>
              </a:lnSpc>
            </a:pPr>
            <a:r>
              <a:rPr lang="en-US" sz="1271" b="1" dirty="0">
                <a:solidFill>
                  <a:srgbClr val="1D1D1D"/>
                </a:solidFill>
                <a:latin typeface="Liter" pitchFamily="34" charset="0"/>
                <a:ea typeface="Liter" pitchFamily="34" charset="-122"/>
                <a:cs typeface="Liter" pitchFamily="34" charset="-120"/>
              </a:rPr>
              <a:t>Feedback Patterns</a:t>
            </a:r>
            <a:endParaRPr lang="en-US" sz="1600" dirty="0"/>
          </a:p>
        </p:txBody>
      </p:sp>
      <p:sp>
        <p:nvSpPr>
          <p:cNvPr id="41" name="Shape 39"/>
          <p:cNvSpPr/>
          <p:nvPr/>
        </p:nvSpPr>
        <p:spPr>
          <a:xfrm>
            <a:off x="7583489" y="1430631"/>
            <a:ext cx="4082827" cy="580956"/>
          </a:xfrm>
          <a:custGeom>
            <a:avLst/>
            <a:gdLst/>
            <a:ahLst/>
            <a:cxnLst/>
            <a:rect l="l" t="t" r="r" b="b"/>
            <a:pathLst>
              <a:path w="4082827" h="580956">
                <a:moveTo>
                  <a:pt x="32275" y="0"/>
                </a:moveTo>
                <a:lnTo>
                  <a:pt x="4018277" y="0"/>
                </a:lnTo>
                <a:cubicBezTo>
                  <a:pt x="4053927" y="0"/>
                  <a:pt x="4082827" y="28900"/>
                  <a:pt x="4082827" y="64550"/>
                </a:cubicBezTo>
                <a:lnTo>
                  <a:pt x="4082827" y="516406"/>
                </a:lnTo>
                <a:cubicBezTo>
                  <a:pt x="4082827" y="552056"/>
                  <a:pt x="4053927" y="580956"/>
                  <a:pt x="4018277" y="580956"/>
                </a:cubicBezTo>
                <a:lnTo>
                  <a:pt x="32275" y="580956"/>
                </a:lnTo>
                <a:cubicBezTo>
                  <a:pt x="14450" y="580956"/>
                  <a:pt x="0" y="566506"/>
                  <a:pt x="0" y="548680"/>
                </a:cubicBezTo>
                <a:lnTo>
                  <a:pt x="0" y="32275"/>
                </a:lnTo>
                <a:cubicBezTo>
                  <a:pt x="0" y="14450"/>
                  <a:pt x="14450" y="0"/>
                  <a:pt x="32275" y="0"/>
                </a:cubicBezTo>
                <a:close/>
              </a:path>
            </a:pathLst>
          </a:custGeom>
          <a:solidFill>
            <a:srgbClr val="34C759">
              <a:alpha val="5098"/>
            </a:srgbClr>
          </a:solidFill>
          <a:ln/>
        </p:spPr>
      </p:sp>
      <p:sp>
        <p:nvSpPr>
          <p:cNvPr id="42" name="Shape 40"/>
          <p:cNvSpPr/>
          <p:nvPr/>
        </p:nvSpPr>
        <p:spPr>
          <a:xfrm>
            <a:off x="7583489" y="1430631"/>
            <a:ext cx="32275" cy="580956"/>
          </a:xfrm>
          <a:custGeom>
            <a:avLst/>
            <a:gdLst/>
            <a:ahLst/>
            <a:cxnLst/>
            <a:rect l="l" t="t" r="r" b="b"/>
            <a:pathLst>
              <a:path w="32275" h="580956">
                <a:moveTo>
                  <a:pt x="32275" y="0"/>
                </a:moveTo>
                <a:lnTo>
                  <a:pt x="32275" y="0"/>
                </a:lnTo>
                <a:lnTo>
                  <a:pt x="32275" y="580956"/>
                </a:lnTo>
                <a:lnTo>
                  <a:pt x="32275" y="580956"/>
                </a:lnTo>
                <a:cubicBezTo>
                  <a:pt x="14450" y="580956"/>
                  <a:pt x="0" y="566506"/>
                  <a:pt x="0" y="548680"/>
                </a:cubicBezTo>
                <a:lnTo>
                  <a:pt x="0" y="32275"/>
                </a:lnTo>
                <a:cubicBezTo>
                  <a:pt x="0" y="14462"/>
                  <a:pt x="14462" y="0"/>
                  <a:pt x="32275" y="0"/>
                </a:cubicBezTo>
                <a:close/>
              </a:path>
            </a:pathLst>
          </a:custGeom>
          <a:solidFill>
            <a:srgbClr val="34C759"/>
          </a:solidFill>
          <a:ln/>
        </p:spPr>
      </p:sp>
      <p:sp>
        <p:nvSpPr>
          <p:cNvPr id="43" name="Shape 41"/>
          <p:cNvSpPr/>
          <p:nvPr/>
        </p:nvSpPr>
        <p:spPr>
          <a:xfrm>
            <a:off x="7696452" y="1527457"/>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34C759"/>
          </a:solidFill>
          <a:ln/>
        </p:spPr>
      </p:sp>
      <p:sp>
        <p:nvSpPr>
          <p:cNvPr id="44" name="Text 42"/>
          <p:cNvSpPr/>
          <p:nvPr/>
        </p:nvSpPr>
        <p:spPr>
          <a:xfrm>
            <a:off x="7656108" y="1532619"/>
            <a:ext cx="467992" cy="387304"/>
          </a:xfrm>
          <a:prstGeom prst="rect">
            <a:avLst/>
          </a:prstGeom>
          <a:noFill/>
          <a:ln/>
        </p:spPr>
        <p:txBody>
          <a:bodyPr wrap="square" lIns="0" tIns="0" rIns="0" bIns="0" rtlCol="0" anchor="ctr"/>
          <a:lstStyle/>
          <a:p>
            <a:pPr algn="ctr">
              <a:lnSpc>
                <a:spcPct val="120000"/>
              </a:lnSpc>
            </a:pPr>
            <a:r>
              <a:rPr lang="en-US" sz="1271" b="1" dirty="0">
                <a:solidFill>
                  <a:srgbClr val="FFFFFF"/>
                </a:solidFill>
                <a:latin typeface="Liter" pitchFamily="34" charset="0"/>
                <a:ea typeface="Liter" pitchFamily="34" charset="-122"/>
                <a:cs typeface="Liter" pitchFamily="34" charset="-120"/>
              </a:rPr>
              <a:t>S</a:t>
            </a:r>
            <a:endParaRPr lang="en-US" sz="1600" dirty="0"/>
          </a:p>
        </p:txBody>
      </p:sp>
      <p:sp>
        <p:nvSpPr>
          <p:cNvPr id="45" name="Text 43"/>
          <p:cNvSpPr/>
          <p:nvPr/>
        </p:nvSpPr>
        <p:spPr>
          <a:xfrm>
            <a:off x="8180582" y="1543594"/>
            <a:ext cx="3453459" cy="193652"/>
          </a:xfrm>
          <a:prstGeom prst="rect">
            <a:avLst/>
          </a:prstGeom>
          <a:noFill/>
          <a:ln/>
        </p:spPr>
        <p:txBody>
          <a:bodyPr wrap="square" lIns="0" tIns="0" rIns="0" bIns="0" rtlCol="0" anchor="ctr"/>
          <a:lstStyle/>
          <a:p>
            <a:pPr>
              <a:lnSpc>
                <a:spcPct val="130000"/>
              </a:lnSpc>
            </a:pPr>
            <a:r>
              <a:rPr lang="en-US" sz="1017" b="1" dirty="0">
                <a:solidFill>
                  <a:srgbClr val="1D1D1D"/>
                </a:solidFill>
                <a:latin typeface="Liter" pitchFamily="34" charset="0"/>
                <a:ea typeface="Liter" pitchFamily="34" charset="-122"/>
                <a:cs typeface="Liter" pitchFamily="34" charset="-120"/>
              </a:rPr>
              <a:t>Success</a:t>
            </a:r>
            <a:endParaRPr lang="en-US" sz="1600" dirty="0"/>
          </a:p>
        </p:txBody>
      </p:sp>
      <p:sp>
        <p:nvSpPr>
          <p:cNvPr id="46" name="Text 44"/>
          <p:cNvSpPr/>
          <p:nvPr/>
        </p:nvSpPr>
        <p:spPr>
          <a:xfrm>
            <a:off x="8180582" y="1737246"/>
            <a:ext cx="3445390" cy="161377"/>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400ms short vibration/beep</a:t>
            </a:r>
            <a:endParaRPr lang="en-US" sz="1600" dirty="0"/>
          </a:p>
        </p:txBody>
      </p:sp>
      <p:sp>
        <p:nvSpPr>
          <p:cNvPr id="47" name="Shape 45"/>
          <p:cNvSpPr/>
          <p:nvPr/>
        </p:nvSpPr>
        <p:spPr>
          <a:xfrm>
            <a:off x="7583489" y="2108412"/>
            <a:ext cx="4082827" cy="580956"/>
          </a:xfrm>
          <a:custGeom>
            <a:avLst/>
            <a:gdLst/>
            <a:ahLst/>
            <a:cxnLst/>
            <a:rect l="l" t="t" r="r" b="b"/>
            <a:pathLst>
              <a:path w="4082827" h="580956">
                <a:moveTo>
                  <a:pt x="32275" y="0"/>
                </a:moveTo>
                <a:lnTo>
                  <a:pt x="4018277" y="0"/>
                </a:lnTo>
                <a:cubicBezTo>
                  <a:pt x="4053927" y="0"/>
                  <a:pt x="4082827" y="28900"/>
                  <a:pt x="4082827" y="64550"/>
                </a:cubicBezTo>
                <a:lnTo>
                  <a:pt x="4082827" y="516406"/>
                </a:lnTo>
                <a:cubicBezTo>
                  <a:pt x="4082827" y="552056"/>
                  <a:pt x="4053927" y="580956"/>
                  <a:pt x="4018277" y="580956"/>
                </a:cubicBezTo>
                <a:lnTo>
                  <a:pt x="32275" y="580956"/>
                </a:lnTo>
                <a:cubicBezTo>
                  <a:pt x="14450" y="580956"/>
                  <a:pt x="0" y="566506"/>
                  <a:pt x="0" y="548680"/>
                </a:cubicBezTo>
                <a:lnTo>
                  <a:pt x="0" y="32275"/>
                </a:lnTo>
                <a:cubicBezTo>
                  <a:pt x="0" y="14450"/>
                  <a:pt x="14450" y="0"/>
                  <a:pt x="32275" y="0"/>
                </a:cubicBezTo>
                <a:close/>
              </a:path>
            </a:pathLst>
          </a:custGeom>
          <a:solidFill>
            <a:srgbClr val="FF3B30">
              <a:alpha val="5098"/>
            </a:srgbClr>
          </a:solidFill>
          <a:ln/>
        </p:spPr>
      </p:sp>
      <p:sp>
        <p:nvSpPr>
          <p:cNvPr id="48" name="Shape 46"/>
          <p:cNvSpPr/>
          <p:nvPr/>
        </p:nvSpPr>
        <p:spPr>
          <a:xfrm>
            <a:off x="7583489" y="2107612"/>
            <a:ext cx="32275" cy="580956"/>
          </a:xfrm>
          <a:custGeom>
            <a:avLst/>
            <a:gdLst/>
            <a:ahLst/>
            <a:cxnLst/>
            <a:rect l="l" t="t" r="r" b="b"/>
            <a:pathLst>
              <a:path w="32275" h="580956">
                <a:moveTo>
                  <a:pt x="32275" y="0"/>
                </a:moveTo>
                <a:lnTo>
                  <a:pt x="32275" y="0"/>
                </a:lnTo>
                <a:lnTo>
                  <a:pt x="32275" y="580956"/>
                </a:lnTo>
                <a:lnTo>
                  <a:pt x="32275" y="580956"/>
                </a:lnTo>
                <a:cubicBezTo>
                  <a:pt x="14450" y="580956"/>
                  <a:pt x="0" y="566506"/>
                  <a:pt x="0" y="548680"/>
                </a:cubicBezTo>
                <a:lnTo>
                  <a:pt x="0" y="32275"/>
                </a:lnTo>
                <a:cubicBezTo>
                  <a:pt x="0" y="14462"/>
                  <a:pt x="14462" y="0"/>
                  <a:pt x="32275" y="0"/>
                </a:cubicBezTo>
                <a:close/>
              </a:path>
            </a:pathLst>
          </a:custGeom>
          <a:solidFill>
            <a:srgbClr val="FF3B30"/>
          </a:solidFill>
          <a:ln/>
        </p:spPr>
      </p:sp>
      <p:sp>
        <p:nvSpPr>
          <p:cNvPr id="49" name="Shape 47"/>
          <p:cNvSpPr/>
          <p:nvPr/>
        </p:nvSpPr>
        <p:spPr>
          <a:xfrm>
            <a:off x="7696452" y="2205238"/>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FF3B30"/>
          </a:solidFill>
          <a:ln/>
        </p:spPr>
      </p:sp>
      <p:sp>
        <p:nvSpPr>
          <p:cNvPr id="50" name="Text 48"/>
          <p:cNvSpPr/>
          <p:nvPr/>
        </p:nvSpPr>
        <p:spPr>
          <a:xfrm>
            <a:off x="7656108" y="2205238"/>
            <a:ext cx="467992" cy="387304"/>
          </a:xfrm>
          <a:prstGeom prst="rect">
            <a:avLst/>
          </a:prstGeom>
          <a:noFill/>
          <a:ln/>
        </p:spPr>
        <p:txBody>
          <a:bodyPr wrap="square" lIns="0" tIns="0" rIns="0" bIns="0" rtlCol="0" anchor="ctr"/>
          <a:lstStyle/>
          <a:p>
            <a:pPr algn="ctr">
              <a:lnSpc>
                <a:spcPct val="120000"/>
              </a:lnSpc>
            </a:pPr>
            <a:r>
              <a:rPr lang="en-US" sz="1271" b="1" dirty="0">
                <a:solidFill>
                  <a:srgbClr val="FFFFFF"/>
                </a:solidFill>
                <a:latin typeface="Liter" pitchFamily="34" charset="0"/>
                <a:ea typeface="Liter" pitchFamily="34" charset="-122"/>
                <a:cs typeface="Liter" pitchFamily="34" charset="-120"/>
              </a:rPr>
              <a:t>E</a:t>
            </a:r>
            <a:endParaRPr lang="en-US" sz="1600" dirty="0"/>
          </a:p>
        </p:txBody>
      </p:sp>
      <p:sp>
        <p:nvSpPr>
          <p:cNvPr id="51" name="Text 49"/>
          <p:cNvSpPr/>
          <p:nvPr/>
        </p:nvSpPr>
        <p:spPr>
          <a:xfrm>
            <a:off x="8180582" y="2221376"/>
            <a:ext cx="3453459" cy="193652"/>
          </a:xfrm>
          <a:prstGeom prst="rect">
            <a:avLst/>
          </a:prstGeom>
          <a:noFill/>
          <a:ln/>
        </p:spPr>
        <p:txBody>
          <a:bodyPr wrap="square" lIns="0" tIns="0" rIns="0" bIns="0" rtlCol="0" anchor="ctr"/>
          <a:lstStyle/>
          <a:p>
            <a:pPr>
              <a:lnSpc>
                <a:spcPct val="130000"/>
              </a:lnSpc>
            </a:pPr>
            <a:r>
              <a:rPr lang="en-US" sz="1017" b="1" dirty="0">
                <a:solidFill>
                  <a:srgbClr val="1D1D1D"/>
                </a:solidFill>
                <a:latin typeface="Liter" pitchFamily="34" charset="0"/>
                <a:ea typeface="Liter" pitchFamily="34" charset="-122"/>
                <a:cs typeface="Liter" pitchFamily="34" charset="-120"/>
              </a:rPr>
              <a:t>Error</a:t>
            </a:r>
            <a:endParaRPr lang="en-US" sz="1600" dirty="0"/>
          </a:p>
        </p:txBody>
      </p:sp>
      <p:sp>
        <p:nvSpPr>
          <p:cNvPr id="52" name="Text 50"/>
          <p:cNvSpPr/>
          <p:nvPr/>
        </p:nvSpPr>
        <p:spPr>
          <a:xfrm>
            <a:off x="8180582" y="2415028"/>
            <a:ext cx="3445390" cy="161377"/>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800ms long vibration/beep</a:t>
            </a:r>
            <a:endParaRPr lang="en-US" sz="1600" dirty="0"/>
          </a:p>
        </p:txBody>
      </p:sp>
      <p:sp>
        <p:nvSpPr>
          <p:cNvPr id="53" name="Shape 51"/>
          <p:cNvSpPr/>
          <p:nvPr/>
        </p:nvSpPr>
        <p:spPr>
          <a:xfrm>
            <a:off x="7583489" y="2786194"/>
            <a:ext cx="4082827" cy="580956"/>
          </a:xfrm>
          <a:custGeom>
            <a:avLst/>
            <a:gdLst/>
            <a:ahLst/>
            <a:cxnLst/>
            <a:rect l="l" t="t" r="r" b="b"/>
            <a:pathLst>
              <a:path w="4082827" h="580956">
                <a:moveTo>
                  <a:pt x="32275" y="0"/>
                </a:moveTo>
                <a:lnTo>
                  <a:pt x="4018277" y="0"/>
                </a:lnTo>
                <a:cubicBezTo>
                  <a:pt x="4053927" y="0"/>
                  <a:pt x="4082827" y="28900"/>
                  <a:pt x="4082827" y="64550"/>
                </a:cubicBezTo>
                <a:lnTo>
                  <a:pt x="4082827" y="516406"/>
                </a:lnTo>
                <a:cubicBezTo>
                  <a:pt x="4082827" y="552056"/>
                  <a:pt x="4053927" y="580956"/>
                  <a:pt x="4018277" y="580956"/>
                </a:cubicBezTo>
                <a:lnTo>
                  <a:pt x="32275" y="580956"/>
                </a:lnTo>
                <a:cubicBezTo>
                  <a:pt x="14450" y="580956"/>
                  <a:pt x="0" y="566506"/>
                  <a:pt x="0" y="548680"/>
                </a:cubicBezTo>
                <a:lnTo>
                  <a:pt x="0" y="32275"/>
                </a:lnTo>
                <a:cubicBezTo>
                  <a:pt x="0" y="14450"/>
                  <a:pt x="14450" y="0"/>
                  <a:pt x="32275" y="0"/>
                </a:cubicBezTo>
                <a:close/>
              </a:path>
            </a:pathLst>
          </a:custGeom>
          <a:solidFill>
            <a:srgbClr val="FF9500">
              <a:alpha val="5098"/>
            </a:srgbClr>
          </a:solidFill>
          <a:ln/>
        </p:spPr>
      </p:sp>
      <p:sp>
        <p:nvSpPr>
          <p:cNvPr id="54" name="Shape 52"/>
          <p:cNvSpPr/>
          <p:nvPr/>
        </p:nvSpPr>
        <p:spPr>
          <a:xfrm>
            <a:off x="7583489" y="2786194"/>
            <a:ext cx="32275" cy="580956"/>
          </a:xfrm>
          <a:custGeom>
            <a:avLst/>
            <a:gdLst/>
            <a:ahLst/>
            <a:cxnLst/>
            <a:rect l="l" t="t" r="r" b="b"/>
            <a:pathLst>
              <a:path w="32275" h="580956">
                <a:moveTo>
                  <a:pt x="32275" y="0"/>
                </a:moveTo>
                <a:lnTo>
                  <a:pt x="32275" y="0"/>
                </a:lnTo>
                <a:lnTo>
                  <a:pt x="32275" y="580956"/>
                </a:lnTo>
                <a:lnTo>
                  <a:pt x="32275" y="580956"/>
                </a:lnTo>
                <a:cubicBezTo>
                  <a:pt x="14450" y="580956"/>
                  <a:pt x="0" y="566506"/>
                  <a:pt x="0" y="548680"/>
                </a:cubicBezTo>
                <a:lnTo>
                  <a:pt x="0" y="32275"/>
                </a:lnTo>
                <a:cubicBezTo>
                  <a:pt x="0" y="14462"/>
                  <a:pt x="14462" y="0"/>
                  <a:pt x="32275" y="0"/>
                </a:cubicBezTo>
                <a:close/>
              </a:path>
            </a:pathLst>
          </a:custGeom>
          <a:solidFill>
            <a:srgbClr val="FF9500"/>
          </a:solidFill>
          <a:ln/>
        </p:spPr>
      </p:sp>
      <p:sp>
        <p:nvSpPr>
          <p:cNvPr id="55" name="Shape 53"/>
          <p:cNvSpPr/>
          <p:nvPr/>
        </p:nvSpPr>
        <p:spPr>
          <a:xfrm>
            <a:off x="7696452" y="2883020"/>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FF9500"/>
          </a:solidFill>
          <a:ln/>
        </p:spPr>
      </p:sp>
      <p:sp>
        <p:nvSpPr>
          <p:cNvPr id="56" name="Text 54"/>
          <p:cNvSpPr/>
          <p:nvPr/>
        </p:nvSpPr>
        <p:spPr>
          <a:xfrm>
            <a:off x="7656108" y="2883020"/>
            <a:ext cx="467992" cy="387304"/>
          </a:xfrm>
          <a:prstGeom prst="rect">
            <a:avLst/>
          </a:prstGeom>
          <a:noFill/>
          <a:ln/>
        </p:spPr>
        <p:txBody>
          <a:bodyPr wrap="square" lIns="0" tIns="0" rIns="0" bIns="0" rtlCol="0" anchor="ctr"/>
          <a:lstStyle/>
          <a:p>
            <a:pPr algn="ctr">
              <a:lnSpc>
                <a:spcPct val="120000"/>
              </a:lnSpc>
            </a:pPr>
            <a:r>
              <a:rPr lang="en-US" sz="1271" b="1" dirty="0">
                <a:solidFill>
                  <a:srgbClr val="FFFFFF"/>
                </a:solidFill>
                <a:latin typeface="Liter" pitchFamily="34" charset="0"/>
                <a:ea typeface="Liter" pitchFamily="34" charset="-122"/>
                <a:cs typeface="Liter" pitchFamily="34" charset="-120"/>
              </a:rPr>
              <a:t>F</a:t>
            </a:r>
            <a:endParaRPr lang="en-US" sz="1600" dirty="0"/>
          </a:p>
        </p:txBody>
      </p:sp>
      <p:sp>
        <p:nvSpPr>
          <p:cNvPr id="57" name="Text 55"/>
          <p:cNvSpPr/>
          <p:nvPr/>
        </p:nvSpPr>
        <p:spPr>
          <a:xfrm>
            <a:off x="8180582" y="2899158"/>
            <a:ext cx="3453459" cy="193652"/>
          </a:xfrm>
          <a:prstGeom prst="rect">
            <a:avLst/>
          </a:prstGeom>
          <a:noFill/>
          <a:ln/>
        </p:spPr>
        <p:txBody>
          <a:bodyPr wrap="square" lIns="0" tIns="0" rIns="0" bIns="0" rtlCol="0" anchor="ctr"/>
          <a:lstStyle/>
          <a:p>
            <a:pPr>
              <a:lnSpc>
                <a:spcPct val="130000"/>
              </a:lnSpc>
            </a:pPr>
            <a:r>
              <a:rPr lang="en-US" sz="1017" b="1" dirty="0">
                <a:solidFill>
                  <a:srgbClr val="1D1D1D"/>
                </a:solidFill>
                <a:latin typeface="Liter" pitchFamily="34" charset="0"/>
                <a:ea typeface="Liter" pitchFamily="34" charset="-122"/>
                <a:cs typeface="Liter" pitchFamily="34" charset="-120"/>
              </a:rPr>
              <a:t>Fire Emergency</a:t>
            </a:r>
            <a:endParaRPr lang="en-US" sz="1600" dirty="0"/>
          </a:p>
        </p:txBody>
      </p:sp>
      <p:sp>
        <p:nvSpPr>
          <p:cNvPr id="58" name="Text 56"/>
          <p:cNvSpPr/>
          <p:nvPr/>
        </p:nvSpPr>
        <p:spPr>
          <a:xfrm>
            <a:off x="8180582" y="3092810"/>
            <a:ext cx="3445390" cy="161377"/>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Continuous loop until ACK/STOP</a:t>
            </a:r>
            <a:endParaRPr lang="en-US" sz="1600" dirty="0"/>
          </a:p>
        </p:txBody>
      </p:sp>
      <p:sp>
        <p:nvSpPr>
          <p:cNvPr id="59" name="Shape 57"/>
          <p:cNvSpPr/>
          <p:nvPr/>
        </p:nvSpPr>
        <p:spPr>
          <a:xfrm>
            <a:off x="7583489" y="3463976"/>
            <a:ext cx="4082827" cy="580956"/>
          </a:xfrm>
          <a:custGeom>
            <a:avLst/>
            <a:gdLst/>
            <a:ahLst/>
            <a:cxnLst/>
            <a:rect l="l" t="t" r="r" b="b"/>
            <a:pathLst>
              <a:path w="4082827" h="580956">
                <a:moveTo>
                  <a:pt x="32275" y="0"/>
                </a:moveTo>
                <a:lnTo>
                  <a:pt x="4018277" y="0"/>
                </a:lnTo>
                <a:cubicBezTo>
                  <a:pt x="4053927" y="0"/>
                  <a:pt x="4082827" y="28900"/>
                  <a:pt x="4082827" y="64550"/>
                </a:cubicBezTo>
                <a:lnTo>
                  <a:pt x="4082827" y="516406"/>
                </a:lnTo>
                <a:cubicBezTo>
                  <a:pt x="4082827" y="552056"/>
                  <a:pt x="4053927" y="580956"/>
                  <a:pt x="4018277" y="580956"/>
                </a:cubicBezTo>
                <a:lnTo>
                  <a:pt x="32275" y="580956"/>
                </a:lnTo>
                <a:cubicBezTo>
                  <a:pt x="14450" y="580956"/>
                  <a:pt x="0" y="566506"/>
                  <a:pt x="0" y="548680"/>
                </a:cubicBezTo>
                <a:lnTo>
                  <a:pt x="0" y="32275"/>
                </a:lnTo>
                <a:cubicBezTo>
                  <a:pt x="0" y="14450"/>
                  <a:pt x="14450" y="0"/>
                  <a:pt x="32275" y="0"/>
                </a:cubicBezTo>
                <a:close/>
              </a:path>
            </a:pathLst>
          </a:custGeom>
          <a:solidFill>
            <a:srgbClr val="0071E3">
              <a:alpha val="5098"/>
            </a:srgbClr>
          </a:solidFill>
          <a:ln/>
        </p:spPr>
      </p:sp>
      <p:sp>
        <p:nvSpPr>
          <p:cNvPr id="60" name="Shape 58"/>
          <p:cNvSpPr/>
          <p:nvPr/>
        </p:nvSpPr>
        <p:spPr>
          <a:xfrm>
            <a:off x="7583489" y="3463976"/>
            <a:ext cx="32275" cy="580956"/>
          </a:xfrm>
          <a:custGeom>
            <a:avLst/>
            <a:gdLst/>
            <a:ahLst/>
            <a:cxnLst/>
            <a:rect l="l" t="t" r="r" b="b"/>
            <a:pathLst>
              <a:path w="32275" h="580956">
                <a:moveTo>
                  <a:pt x="32275" y="0"/>
                </a:moveTo>
                <a:lnTo>
                  <a:pt x="32275" y="0"/>
                </a:lnTo>
                <a:lnTo>
                  <a:pt x="32275" y="580956"/>
                </a:lnTo>
                <a:lnTo>
                  <a:pt x="32275" y="580956"/>
                </a:lnTo>
                <a:cubicBezTo>
                  <a:pt x="14450" y="580956"/>
                  <a:pt x="0" y="566506"/>
                  <a:pt x="0" y="548680"/>
                </a:cubicBezTo>
                <a:lnTo>
                  <a:pt x="0" y="32275"/>
                </a:lnTo>
                <a:cubicBezTo>
                  <a:pt x="0" y="14462"/>
                  <a:pt x="14462" y="0"/>
                  <a:pt x="32275" y="0"/>
                </a:cubicBezTo>
                <a:close/>
              </a:path>
            </a:pathLst>
          </a:custGeom>
          <a:solidFill>
            <a:srgbClr val="0071E3"/>
          </a:solidFill>
          <a:ln/>
        </p:spPr>
      </p:sp>
      <p:sp>
        <p:nvSpPr>
          <p:cNvPr id="61" name="Shape 59"/>
          <p:cNvSpPr/>
          <p:nvPr/>
        </p:nvSpPr>
        <p:spPr>
          <a:xfrm>
            <a:off x="7696452" y="3560802"/>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0071E3"/>
          </a:solidFill>
          <a:ln/>
        </p:spPr>
      </p:sp>
      <p:sp>
        <p:nvSpPr>
          <p:cNvPr id="62" name="Text 60"/>
          <p:cNvSpPr/>
          <p:nvPr/>
        </p:nvSpPr>
        <p:spPr>
          <a:xfrm>
            <a:off x="7656108" y="3560802"/>
            <a:ext cx="467992" cy="387304"/>
          </a:xfrm>
          <a:prstGeom prst="rect">
            <a:avLst/>
          </a:prstGeom>
          <a:noFill/>
          <a:ln/>
        </p:spPr>
        <p:txBody>
          <a:bodyPr wrap="square" lIns="0" tIns="0" rIns="0" bIns="0" rtlCol="0" anchor="ctr"/>
          <a:lstStyle/>
          <a:p>
            <a:pPr algn="ctr">
              <a:lnSpc>
                <a:spcPct val="120000"/>
              </a:lnSpc>
            </a:pPr>
            <a:r>
              <a:rPr lang="en-US" sz="1271" b="1" dirty="0">
                <a:solidFill>
                  <a:srgbClr val="FFFFFF"/>
                </a:solidFill>
                <a:latin typeface="Liter" pitchFamily="34" charset="0"/>
                <a:ea typeface="Liter" pitchFamily="34" charset="-122"/>
                <a:cs typeface="Liter" pitchFamily="34" charset="-120"/>
              </a:rPr>
              <a:t>C</a:t>
            </a:r>
            <a:endParaRPr lang="en-US" sz="1600" dirty="0"/>
          </a:p>
        </p:txBody>
      </p:sp>
      <p:sp>
        <p:nvSpPr>
          <p:cNvPr id="63" name="Text 61"/>
          <p:cNvSpPr/>
          <p:nvPr/>
        </p:nvSpPr>
        <p:spPr>
          <a:xfrm>
            <a:off x="8180582" y="3576939"/>
            <a:ext cx="3453459" cy="193652"/>
          </a:xfrm>
          <a:prstGeom prst="rect">
            <a:avLst/>
          </a:prstGeom>
          <a:noFill/>
          <a:ln/>
        </p:spPr>
        <p:txBody>
          <a:bodyPr wrap="square" lIns="0" tIns="0" rIns="0" bIns="0" rtlCol="0" anchor="ctr"/>
          <a:lstStyle/>
          <a:p>
            <a:pPr>
              <a:lnSpc>
                <a:spcPct val="130000"/>
              </a:lnSpc>
            </a:pPr>
            <a:r>
              <a:rPr lang="en-US" sz="1017" b="1" dirty="0">
                <a:solidFill>
                  <a:srgbClr val="1D1D1D"/>
                </a:solidFill>
                <a:latin typeface="Liter" pitchFamily="34" charset="0"/>
                <a:ea typeface="Liter" pitchFamily="34" charset="-122"/>
                <a:cs typeface="Liter" pitchFamily="34" charset="-120"/>
              </a:rPr>
              <a:t>Correct Password</a:t>
            </a:r>
            <a:endParaRPr lang="en-US" sz="1600" dirty="0"/>
          </a:p>
        </p:txBody>
      </p:sp>
      <p:sp>
        <p:nvSpPr>
          <p:cNvPr id="64" name="Text 62"/>
          <p:cNvSpPr/>
          <p:nvPr/>
        </p:nvSpPr>
        <p:spPr>
          <a:xfrm>
            <a:off x="8180582" y="3770591"/>
            <a:ext cx="3445390" cy="161377"/>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5× short beeps/vibrations</a:t>
            </a:r>
            <a:endParaRPr lang="en-US" sz="1600" dirty="0"/>
          </a:p>
        </p:txBody>
      </p:sp>
      <p:sp>
        <p:nvSpPr>
          <p:cNvPr id="65" name="Shape 63"/>
          <p:cNvSpPr/>
          <p:nvPr/>
        </p:nvSpPr>
        <p:spPr>
          <a:xfrm>
            <a:off x="7583489" y="4141757"/>
            <a:ext cx="4082827" cy="580956"/>
          </a:xfrm>
          <a:custGeom>
            <a:avLst/>
            <a:gdLst/>
            <a:ahLst/>
            <a:cxnLst/>
            <a:rect l="l" t="t" r="r" b="b"/>
            <a:pathLst>
              <a:path w="4082827" h="580956">
                <a:moveTo>
                  <a:pt x="32275" y="0"/>
                </a:moveTo>
                <a:lnTo>
                  <a:pt x="4018277" y="0"/>
                </a:lnTo>
                <a:cubicBezTo>
                  <a:pt x="4053927" y="0"/>
                  <a:pt x="4082827" y="28900"/>
                  <a:pt x="4082827" y="64550"/>
                </a:cubicBezTo>
                <a:lnTo>
                  <a:pt x="4082827" y="516406"/>
                </a:lnTo>
                <a:cubicBezTo>
                  <a:pt x="4082827" y="552056"/>
                  <a:pt x="4053927" y="580956"/>
                  <a:pt x="4018277" y="580956"/>
                </a:cubicBezTo>
                <a:lnTo>
                  <a:pt x="32275" y="580956"/>
                </a:lnTo>
                <a:cubicBezTo>
                  <a:pt x="14450" y="580956"/>
                  <a:pt x="0" y="566506"/>
                  <a:pt x="0" y="548680"/>
                </a:cubicBezTo>
                <a:lnTo>
                  <a:pt x="0" y="32275"/>
                </a:lnTo>
                <a:cubicBezTo>
                  <a:pt x="0" y="14450"/>
                  <a:pt x="14450" y="0"/>
                  <a:pt x="32275" y="0"/>
                </a:cubicBezTo>
                <a:close/>
              </a:path>
            </a:pathLst>
          </a:custGeom>
          <a:solidFill>
            <a:srgbClr val="AF52DE">
              <a:alpha val="5098"/>
            </a:srgbClr>
          </a:solidFill>
          <a:ln/>
        </p:spPr>
      </p:sp>
      <p:sp>
        <p:nvSpPr>
          <p:cNvPr id="66" name="Shape 64"/>
          <p:cNvSpPr/>
          <p:nvPr/>
        </p:nvSpPr>
        <p:spPr>
          <a:xfrm>
            <a:off x="7583489" y="4141757"/>
            <a:ext cx="32275" cy="580956"/>
          </a:xfrm>
          <a:custGeom>
            <a:avLst/>
            <a:gdLst/>
            <a:ahLst/>
            <a:cxnLst/>
            <a:rect l="l" t="t" r="r" b="b"/>
            <a:pathLst>
              <a:path w="32275" h="580956">
                <a:moveTo>
                  <a:pt x="32275" y="0"/>
                </a:moveTo>
                <a:lnTo>
                  <a:pt x="32275" y="0"/>
                </a:lnTo>
                <a:lnTo>
                  <a:pt x="32275" y="580956"/>
                </a:lnTo>
                <a:lnTo>
                  <a:pt x="32275" y="580956"/>
                </a:lnTo>
                <a:cubicBezTo>
                  <a:pt x="14450" y="580956"/>
                  <a:pt x="0" y="566506"/>
                  <a:pt x="0" y="548680"/>
                </a:cubicBezTo>
                <a:lnTo>
                  <a:pt x="0" y="32275"/>
                </a:lnTo>
                <a:cubicBezTo>
                  <a:pt x="0" y="14462"/>
                  <a:pt x="14462" y="0"/>
                  <a:pt x="32275" y="0"/>
                </a:cubicBezTo>
                <a:close/>
              </a:path>
            </a:pathLst>
          </a:custGeom>
          <a:solidFill>
            <a:srgbClr val="AF52DE"/>
          </a:solidFill>
          <a:ln/>
        </p:spPr>
      </p:sp>
      <p:sp>
        <p:nvSpPr>
          <p:cNvPr id="67" name="Shape 65"/>
          <p:cNvSpPr/>
          <p:nvPr/>
        </p:nvSpPr>
        <p:spPr>
          <a:xfrm>
            <a:off x="7696452" y="4238583"/>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AF52DE"/>
          </a:solidFill>
          <a:ln/>
        </p:spPr>
      </p:sp>
      <p:sp>
        <p:nvSpPr>
          <p:cNvPr id="68" name="Text 66"/>
          <p:cNvSpPr/>
          <p:nvPr/>
        </p:nvSpPr>
        <p:spPr>
          <a:xfrm>
            <a:off x="7656108" y="4238583"/>
            <a:ext cx="467992" cy="387304"/>
          </a:xfrm>
          <a:prstGeom prst="rect">
            <a:avLst/>
          </a:prstGeom>
          <a:noFill/>
          <a:ln/>
        </p:spPr>
        <p:txBody>
          <a:bodyPr wrap="square" lIns="0" tIns="0" rIns="0" bIns="0" rtlCol="0" anchor="ctr"/>
          <a:lstStyle/>
          <a:p>
            <a:pPr algn="ctr">
              <a:lnSpc>
                <a:spcPct val="120000"/>
              </a:lnSpc>
            </a:pPr>
            <a:r>
              <a:rPr lang="en-US" sz="1271" b="1" dirty="0">
                <a:solidFill>
                  <a:srgbClr val="FFFFFF"/>
                </a:solidFill>
                <a:latin typeface="Liter" pitchFamily="34" charset="0"/>
                <a:ea typeface="Liter" pitchFamily="34" charset="-122"/>
                <a:cs typeface="Liter" pitchFamily="34" charset="-120"/>
              </a:rPr>
              <a:t>W</a:t>
            </a:r>
            <a:endParaRPr lang="en-US" sz="1600" dirty="0"/>
          </a:p>
        </p:txBody>
      </p:sp>
      <p:sp>
        <p:nvSpPr>
          <p:cNvPr id="69" name="Text 67"/>
          <p:cNvSpPr/>
          <p:nvPr/>
        </p:nvSpPr>
        <p:spPr>
          <a:xfrm>
            <a:off x="8180582" y="4254721"/>
            <a:ext cx="3453459" cy="193652"/>
          </a:xfrm>
          <a:prstGeom prst="rect">
            <a:avLst/>
          </a:prstGeom>
          <a:noFill/>
          <a:ln/>
        </p:spPr>
        <p:txBody>
          <a:bodyPr wrap="square" lIns="0" tIns="0" rIns="0" bIns="0" rtlCol="0" anchor="ctr"/>
          <a:lstStyle/>
          <a:p>
            <a:pPr>
              <a:lnSpc>
                <a:spcPct val="130000"/>
              </a:lnSpc>
            </a:pPr>
            <a:r>
              <a:rPr lang="en-US" sz="1017" b="1" dirty="0">
                <a:solidFill>
                  <a:srgbClr val="1D1D1D"/>
                </a:solidFill>
                <a:latin typeface="Liter" pitchFamily="34" charset="0"/>
                <a:ea typeface="Liter" pitchFamily="34" charset="-122"/>
                <a:cs typeface="Liter" pitchFamily="34" charset="-120"/>
              </a:rPr>
              <a:t>Wrong Password</a:t>
            </a:r>
            <a:endParaRPr lang="en-US" sz="1600" dirty="0"/>
          </a:p>
        </p:txBody>
      </p:sp>
      <p:sp>
        <p:nvSpPr>
          <p:cNvPr id="70" name="Text 68"/>
          <p:cNvSpPr/>
          <p:nvPr/>
        </p:nvSpPr>
        <p:spPr>
          <a:xfrm>
            <a:off x="8180582" y="4448373"/>
            <a:ext cx="3445390" cy="161377"/>
          </a:xfrm>
          <a:prstGeom prst="rect">
            <a:avLst/>
          </a:prstGeom>
          <a:noFill/>
          <a:ln/>
        </p:spPr>
        <p:txBody>
          <a:bodyPr wrap="square" lIns="0" tIns="0" rIns="0" bIns="0" rtlCol="0" anchor="ctr"/>
          <a:lstStyle/>
          <a:p>
            <a:pPr>
              <a:lnSpc>
                <a:spcPct val="120000"/>
              </a:lnSpc>
            </a:pPr>
            <a:r>
              <a:rPr lang="en-US" sz="889" dirty="0">
                <a:solidFill>
                  <a:srgbClr val="86868B"/>
                </a:solidFill>
                <a:latin typeface="Liter" pitchFamily="34" charset="0"/>
                <a:ea typeface="Liter" pitchFamily="34" charset="-122"/>
                <a:cs typeface="Liter" pitchFamily="34" charset="-120"/>
              </a:rPr>
              <a:t>5× long beeps/vibrations</a:t>
            </a:r>
            <a:endParaRPr lang="en-US" sz="1600" dirty="0"/>
          </a:p>
        </p:txBody>
      </p:sp>
      <p:sp>
        <p:nvSpPr>
          <p:cNvPr id="71" name="Shape 69"/>
          <p:cNvSpPr/>
          <p:nvPr/>
        </p:nvSpPr>
        <p:spPr>
          <a:xfrm>
            <a:off x="7370471" y="5625333"/>
            <a:ext cx="4492724" cy="635824"/>
          </a:xfrm>
          <a:custGeom>
            <a:avLst/>
            <a:gdLst/>
            <a:ahLst/>
            <a:cxnLst/>
            <a:rect l="l" t="t" r="r" b="b"/>
            <a:pathLst>
              <a:path w="4492724" h="635824">
                <a:moveTo>
                  <a:pt x="96823" y="0"/>
                </a:moveTo>
                <a:lnTo>
                  <a:pt x="4395901" y="0"/>
                </a:lnTo>
                <a:cubicBezTo>
                  <a:pt x="4449375" y="0"/>
                  <a:pt x="4492724" y="43349"/>
                  <a:pt x="4492724" y="96823"/>
                </a:cubicBezTo>
                <a:lnTo>
                  <a:pt x="4492724" y="539000"/>
                </a:lnTo>
                <a:cubicBezTo>
                  <a:pt x="4492724" y="592474"/>
                  <a:pt x="4449375" y="635824"/>
                  <a:pt x="4395901" y="635824"/>
                </a:cubicBezTo>
                <a:lnTo>
                  <a:pt x="96823" y="635824"/>
                </a:lnTo>
                <a:cubicBezTo>
                  <a:pt x="43349" y="635824"/>
                  <a:pt x="0" y="592474"/>
                  <a:pt x="0" y="539000"/>
                </a:cubicBezTo>
                <a:lnTo>
                  <a:pt x="0" y="96823"/>
                </a:lnTo>
                <a:cubicBezTo>
                  <a:pt x="0" y="43349"/>
                  <a:pt x="43349" y="0"/>
                  <a:pt x="96823" y="0"/>
                </a:cubicBezTo>
                <a:close/>
              </a:path>
            </a:pathLst>
          </a:custGeom>
          <a:solidFill>
            <a:srgbClr val="0071E3">
              <a:alpha val="5098"/>
            </a:srgbClr>
          </a:solidFill>
          <a:ln w="10160">
            <a:solidFill>
              <a:srgbClr val="0071E3">
                <a:alpha val="20000"/>
              </a:srgbClr>
            </a:solidFill>
            <a:prstDash val="solid"/>
          </a:ln>
        </p:spPr>
      </p:sp>
      <p:sp>
        <p:nvSpPr>
          <p:cNvPr id="72" name="Shape 70"/>
          <p:cNvSpPr/>
          <p:nvPr/>
        </p:nvSpPr>
        <p:spPr>
          <a:xfrm>
            <a:off x="7533059" y="5789936"/>
            <a:ext cx="84723" cy="112964"/>
          </a:xfrm>
          <a:custGeom>
            <a:avLst/>
            <a:gdLst/>
            <a:ahLst/>
            <a:cxnLst/>
            <a:rect l="l" t="t" r="r" b="b"/>
            <a:pathLst>
              <a:path w="84723" h="112964">
                <a:moveTo>
                  <a:pt x="64623" y="84723"/>
                </a:moveTo>
                <a:cubicBezTo>
                  <a:pt x="66234" y="79803"/>
                  <a:pt x="69455" y="75346"/>
                  <a:pt x="73095" y="71507"/>
                </a:cubicBezTo>
                <a:cubicBezTo>
                  <a:pt x="80310" y="63917"/>
                  <a:pt x="84723" y="53658"/>
                  <a:pt x="84723" y="42361"/>
                </a:cubicBezTo>
                <a:cubicBezTo>
                  <a:pt x="84723" y="18974"/>
                  <a:pt x="65748" y="0"/>
                  <a:pt x="42361" y="0"/>
                </a:cubicBezTo>
                <a:cubicBezTo>
                  <a:pt x="18974" y="0"/>
                  <a:pt x="0" y="18974"/>
                  <a:pt x="0" y="42361"/>
                </a:cubicBezTo>
                <a:cubicBezTo>
                  <a:pt x="0" y="53658"/>
                  <a:pt x="4413" y="63917"/>
                  <a:pt x="11627" y="71507"/>
                </a:cubicBezTo>
                <a:cubicBezTo>
                  <a:pt x="15268" y="75346"/>
                  <a:pt x="18511" y="79803"/>
                  <a:pt x="20100" y="84723"/>
                </a:cubicBezTo>
                <a:lnTo>
                  <a:pt x="64601" y="84723"/>
                </a:lnTo>
                <a:close/>
                <a:moveTo>
                  <a:pt x="63542" y="95313"/>
                </a:moveTo>
                <a:lnTo>
                  <a:pt x="21181" y="95313"/>
                </a:lnTo>
                <a:lnTo>
                  <a:pt x="21181" y="98843"/>
                </a:lnTo>
                <a:cubicBezTo>
                  <a:pt x="21181" y="108595"/>
                  <a:pt x="29079" y="116494"/>
                  <a:pt x="38831" y="116494"/>
                </a:cubicBezTo>
                <a:lnTo>
                  <a:pt x="45891" y="116494"/>
                </a:lnTo>
                <a:cubicBezTo>
                  <a:pt x="55643" y="116494"/>
                  <a:pt x="63542" y="108595"/>
                  <a:pt x="63542" y="98843"/>
                </a:cubicBezTo>
                <a:lnTo>
                  <a:pt x="63542" y="95313"/>
                </a:lnTo>
                <a:close/>
                <a:moveTo>
                  <a:pt x="40596" y="24711"/>
                </a:moveTo>
                <a:cubicBezTo>
                  <a:pt x="31815" y="24711"/>
                  <a:pt x="24711" y="31815"/>
                  <a:pt x="24711" y="40596"/>
                </a:cubicBezTo>
                <a:cubicBezTo>
                  <a:pt x="24711" y="43531"/>
                  <a:pt x="22350" y="45891"/>
                  <a:pt x="19416" y="45891"/>
                </a:cubicBezTo>
                <a:cubicBezTo>
                  <a:pt x="16481" y="45891"/>
                  <a:pt x="14120" y="43531"/>
                  <a:pt x="14120" y="40596"/>
                </a:cubicBezTo>
                <a:cubicBezTo>
                  <a:pt x="14120" y="25968"/>
                  <a:pt x="25968" y="14120"/>
                  <a:pt x="40596" y="14120"/>
                </a:cubicBezTo>
                <a:cubicBezTo>
                  <a:pt x="43531" y="14120"/>
                  <a:pt x="45891" y="16481"/>
                  <a:pt x="45891" y="19416"/>
                </a:cubicBezTo>
                <a:cubicBezTo>
                  <a:pt x="45891" y="22350"/>
                  <a:pt x="43531" y="24711"/>
                  <a:pt x="40596" y="24711"/>
                </a:cubicBezTo>
                <a:close/>
              </a:path>
            </a:pathLst>
          </a:custGeom>
          <a:solidFill>
            <a:srgbClr val="0071E3"/>
          </a:solidFill>
          <a:ln/>
        </p:spPr>
      </p:sp>
      <p:sp>
        <p:nvSpPr>
          <p:cNvPr id="73" name="Text 71"/>
          <p:cNvSpPr/>
          <p:nvPr/>
        </p:nvSpPr>
        <p:spPr>
          <a:xfrm>
            <a:off x="7689051" y="5757660"/>
            <a:ext cx="4098297" cy="371166"/>
          </a:xfrm>
          <a:prstGeom prst="rect">
            <a:avLst/>
          </a:prstGeom>
          <a:noFill/>
          <a:ln/>
        </p:spPr>
        <p:txBody>
          <a:bodyPr wrap="square" lIns="0" tIns="0" rIns="0" bIns="0" rtlCol="0" anchor="ctr"/>
          <a:lstStyle/>
          <a:p>
            <a:pPr>
              <a:lnSpc>
                <a:spcPct val="140000"/>
              </a:lnSpc>
            </a:pPr>
            <a:r>
              <a:rPr lang="en-US" sz="889" b="1" dirty="0">
                <a:solidFill>
                  <a:srgbClr val="1D1D1D"/>
                </a:solidFill>
                <a:latin typeface="Liter" pitchFamily="34" charset="0"/>
                <a:ea typeface="Liter" pitchFamily="34" charset="-122"/>
                <a:cs typeface="Liter" pitchFamily="34" charset="-120"/>
              </a:rPr>
              <a:t>Design Principle:</a:t>
            </a:r>
            <a:r>
              <a:rPr lang="en-US" sz="889" dirty="0">
                <a:solidFill>
                  <a:srgbClr val="1D1D1D"/>
                </a:solidFill>
                <a:latin typeface="Liter" pitchFamily="34" charset="0"/>
                <a:ea typeface="Liter" pitchFamily="34" charset="-122"/>
                <a:cs typeface="Liter" pitchFamily="34" charset="-120"/>
              </a:rPr>
              <a:t> Non-visual interaction ensuring visually impaired users receive immediate tactile and auditory confirmation of all system actions.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Liter" pitchFamily="34" charset="0"/>
                <a:ea typeface="Liter" pitchFamily="34" charset="-122"/>
                <a:cs typeface="Liter" pitchFamily="34" charset="-120"/>
              </a:rPr>
              <a:t>SAFETY SYSTEM</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Liter" pitchFamily="34" charset="0"/>
                <a:ea typeface="Liter" pitchFamily="34" charset="-122"/>
                <a:cs typeface="Liter" pitchFamily="34" charset="-120"/>
              </a:rPr>
              <a:t>Emergency Detection Logic (Client Side)</a:t>
            </a:r>
            <a:endParaRPr lang="en-US" sz="1600" dirty="0"/>
          </a:p>
        </p:txBody>
      </p:sp>
      <p:sp>
        <p:nvSpPr>
          <p:cNvPr id="4" name="Shape 2"/>
          <p:cNvSpPr/>
          <p:nvPr/>
        </p:nvSpPr>
        <p:spPr>
          <a:xfrm>
            <a:off x="320675" y="891357"/>
            <a:ext cx="5673725" cy="3139307"/>
          </a:xfrm>
          <a:custGeom>
            <a:avLst/>
            <a:gdLst/>
            <a:ahLst/>
            <a:cxnLst/>
            <a:rect l="l" t="t" r="r" b="b"/>
            <a:pathLst>
              <a:path w="5673725" h="3252787">
                <a:moveTo>
                  <a:pt x="95242" y="0"/>
                </a:moveTo>
                <a:lnTo>
                  <a:pt x="5578483" y="0"/>
                </a:lnTo>
                <a:cubicBezTo>
                  <a:pt x="5631084" y="0"/>
                  <a:pt x="5673725" y="42641"/>
                  <a:pt x="5673725" y="95242"/>
                </a:cubicBezTo>
                <a:lnTo>
                  <a:pt x="5673725" y="3157546"/>
                </a:lnTo>
                <a:cubicBezTo>
                  <a:pt x="5673725" y="3210146"/>
                  <a:pt x="5631084" y="3252787"/>
                  <a:pt x="5578483" y="3252787"/>
                </a:cubicBezTo>
                <a:lnTo>
                  <a:pt x="95242" y="3252787"/>
                </a:lnTo>
                <a:cubicBezTo>
                  <a:pt x="42641" y="3252787"/>
                  <a:pt x="0" y="3210146"/>
                  <a:pt x="0" y="3157546"/>
                </a:cubicBezTo>
                <a:lnTo>
                  <a:pt x="0" y="95242"/>
                </a:lnTo>
                <a:cubicBezTo>
                  <a:pt x="0" y="42676"/>
                  <a:pt x="42676" y="0"/>
                  <a:pt x="95242"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5" name="Shape 3"/>
          <p:cNvSpPr/>
          <p:nvPr/>
        </p:nvSpPr>
        <p:spPr>
          <a:xfrm>
            <a:off x="534194" y="1244600"/>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FF9500"/>
          </a:solidFill>
          <a:ln/>
        </p:spPr>
      </p:sp>
      <p:sp>
        <p:nvSpPr>
          <p:cNvPr id="6" name="Text 4"/>
          <p:cNvSpPr/>
          <p:nvPr/>
        </p:nvSpPr>
        <p:spPr>
          <a:xfrm>
            <a:off x="712788" y="1085032"/>
            <a:ext cx="516731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Emergency Trigger Mechanism</a:t>
            </a:r>
            <a:endParaRPr lang="en-US" sz="1600" dirty="0"/>
          </a:p>
        </p:txBody>
      </p:sp>
      <p:sp>
        <p:nvSpPr>
          <p:cNvPr id="7" name="Shape 5"/>
          <p:cNvSpPr/>
          <p:nvPr/>
        </p:nvSpPr>
        <p:spPr>
          <a:xfrm>
            <a:off x="530225" y="1434282"/>
            <a:ext cx="5270500" cy="881063"/>
          </a:xfrm>
          <a:custGeom>
            <a:avLst/>
            <a:gdLst/>
            <a:ahLst/>
            <a:cxnLst/>
            <a:rect l="l" t="t" r="r" b="b"/>
            <a:pathLst>
              <a:path w="5270500" h="881063">
                <a:moveTo>
                  <a:pt x="31750" y="0"/>
                </a:moveTo>
                <a:lnTo>
                  <a:pt x="5207002" y="0"/>
                </a:lnTo>
                <a:cubicBezTo>
                  <a:pt x="5242071" y="0"/>
                  <a:pt x="5270500" y="28429"/>
                  <a:pt x="5270500" y="63498"/>
                </a:cubicBezTo>
                <a:lnTo>
                  <a:pt x="5270500" y="817564"/>
                </a:lnTo>
                <a:cubicBezTo>
                  <a:pt x="5270500" y="852633"/>
                  <a:pt x="5242071" y="881063"/>
                  <a:pt x="5207002" y="881063"/>
                </a:cubicBezTo>
                <a:lnTo>
                  <a:pt x="31750" y="881063"/>
                </a:lnTo>
                <a:cubicBezTo>
                  <a:pt x="14227" y="881063"/>
                  <a:pt x="0" y="866836"/>
                  <a:pt x="0" y="849313"/>
                </a:cubicBezTo>
                <a:lnTo>
                  <a:pt x="0" y="31750"/>
                </a:lnTo>
                <a:cubicBezTo>
                  <a:pt x="0" y="14227"/>
                  <a:pt x="14227" y="0"/>
                  <a:pt x="31750" y="0"/>
                </a:cubicBezTo>
                <a:close/>
              </a:path>
            </a:pathLst>
          </a:custGeom>
          <a:solidFill>
            <a:srgbClr val="FF9500">
              <a:alpha val="5098"/>
            </a:srgbClr>
          </a:solidFill>
          <a:ln/>
        </p:spPr>
      </p:sp>
      <p:sp>
        <p:nvSpPr>
          <p:cNvPr id="8" name="Shape 6"/>
          <p:cNvSpPr/>
          <p:nvPr/>
        </p:nvSpPr>
        <p:spPr>
          <a:xfrm>
            <a:off x="530225" y="1434282"/>
            <a:ext cx="31750" cy="881063"/>
          </a:xfrm>
          <a:custGeom>
            <a:avLst/>
            <a:gdLst/>
            <a:ahLst/>
            <a:cxnLst/>
            <a:rect l="l" t="t" r="r" b="b"/>
            <a:pathLst>
              <a:path w="31750" h="881063">
                <a:moveTo>
                  <a:pt x="31750" y="0"/>
                </a:moveTo>
                <a:lnTo>
                  <a:pt x="31750" y="0"/>
                </a:lnTo>
                <a:lnTo>
                  <a:pt x="31750" y="881063"/>
                </a:lnTo>
                <a:lnTo>
                  <a:pt x="31750" y="881063"/>
                </a:lnTo>
                <a:cubicBezTo>
                  <a:pt x="14227" y="881063"/>
                  <a:pt x="0" y="866836"/>
                  <a:pt x="0" y="849313"/>
                </a:cubicBezTo>
                <a:lnTo>
                  <a:pt x="0" y="31750"/>
                </a:lnTo>
                <a:cubicBezTo>
                  <a:pt x="0" y="14227"/>
                  <a:pt x="14227" y="0"/>
                  <a:pt x="31750" y="0"/>
                </a:cubicBezTo>
                <a:close/>
              </a:path>
            </a:pathLst>
          </a:custGeom>
          <a:solidFill>
            <a:srgbClr val="FF9500"/>
          </a:solidFill>
          <a:ln/>
        </p:spPr>
      </p:sp>
      <p:sp>
        <p:nvSpPr>
          <p:cNvPr id="9" name="Text 7"/>
          <p:cNvSpPr/>
          <p:nvPr/>
        </p:nvSpPr>
        <p:spPr>
          <a:xfrm>
            <a:off x="673100" y="1561282"/>
            <a:ext cx="506412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Liter" pitchFamily="34" charset="0"/>
                <a:ea typeface="Liter" pitchFamily="34" charset="-122"/>
                <a:cs typeface="Liter" pitchFamily="34" charset="-120"/>
              </a:rPr>
              <a:t>1. Fire Detection Signal</a:t>
            </a:r>
            <a:endParaRPr lang="en-US" sz="1600" dirty="0"/>
          </a:p>
        </p:txBody>
      </p:sp>
      <p:sp>
        <p:nvSpPr>
          <p:cNvPr id="10" name="Text 8"/>
          <p:cNvSpPr/>
          <p:nvPr/>
        </p:nvSpPr>
        <p:spPr>
          <a:xfrm>
            <a:off x="673100" y="1815282"/>
            <a:ext cx="5056188" cy="373063"/>
          </a:xfrm>
          <a:prstGeom prst="rect">
            <a:avLst/>
          </a:prstGeom>
          <a:noFill/>
          <a:ln/>
        </p:spPr>
        <p:txBody>
          <a:bodyPr wrap="square" lIns="0" tIns="0" rIns="0" bIns="0" rtlCol="0" anchor="ctr"/>
          <a:lstStyle/>
          <a:p>
            <a:pPr>
              <a:lnSpc>
                <a:spcPct val="140000"/>
              </a:lnSpc>
            </a:pPr>
            <a:r>
              <a:rPr lang="en-US" sz="875" dirty="0">
                <a:solidFill>
                  <a:srgbClr val="86868B"/>
                </a:solidFill>
                <a:latin typeface="Liter" pitchFamily="34" charset="0"/>
                <a:ea typeface="Liter" pitchFamily="34" charset="-122"/>
                <a:cs typeface="Liter" pitchFamily="34" charset="-120"/>
              </a:rPr>
              <a:t>Server sends character </a:t>
            </a:r>
            <a:r>
              <a:rPr lang="en-US" sz="875" dirty="0">
                <a:solidFill>
                  <a:srgbClr val="86868B"/>
                </a:solidFill>
                <a:highlight>
                  <a:srgbClr val="FFFFFF">
                    <a:alpha val="100000"/>
                  </a:srgbClr>
                </a:highlight>
                <a:latin typeface="MiSans" pitchFamily="34" charset="0"/>
                <a:ea typeface="MiSans" pitchFamily="34" charset="-122"/>
                <a:cs typeface="MiSans" pitchFamily="34" charset="-120"/>
              </a:rPr>
              <a:t>'F' </a:t>
            </a:r>
            <a:r>
              <a:rPr lang="en-US" sz="875" dirty="0">
                <a:solidFill>
                  <a:srgbClr val="86868B"/>
                </a:solidFill>
                <a:latin typeface="Liter" pitchFamily="34" charset="0"/>
                <a:ea typeface="Liter" pitchFamily="34" charset="-122"/>
                <a:cs typeface="Liter" pitchFamily="34" charset="-120"/>
              </a:rPr>
              <a:t>when flame sensor detects fire. Client immediately enters </a:t>
            </a:r>
            <a:r>
              <a:rPr lang="en-US" sz="875" dirty="0">
                <a:solidFill>
                  <a:srgbClr val="86868B"/>
                </a:solidFill>
                <a:highlight>
                  <a:srgbClr val="FFFFFF">
                    <a:alpha val="100000"/>
                  </a:srgbClr>
                </a:highlight>
                <a:latin typeface="MiSans" pitchFamily="34" charset="0"/>
                <a:ea typeface="MiSans" pitchFamily="34" charset="-122"/>
                <a:cs typeface="MiSans" pitchFamily="34" charset="-120"/>
              </a:rPr>
              <a:t>emergencyMode </a:t>
            </a:r>
            <a:r>
              <a:rPr lang="en-US" sz="875" dirty="0">
                <a:solidFill>
                  <a:srgbClr val="86868B"/>
                </a:solidFill>
                <a:latin typeface="Liter" pitchFamily="34" charset="0"/>
                <a:ea typeface="Liter" pitchFamily="34" charset="-122"/>
                <a:cs typeface="Liter" pitchFamily="34" charset="-120"/>
              </a:rPr>
              <a:t>.</a:t>
            </a:r>
            <a:endParaRPr lang="en-US" sz="1600" dirty="0"/>
          </a:p>
        </p:txBody>
      </p:sp>
      <p:sp>
        <p:nvSpPr>
          <p:cNvPr id="11" name="Shape 9"/>
          <p:cNvSpPr/>
          <p:nvPr/>
        </p:nvSpPr>
        <p:spPr>
          <a:xfrm>
            <a:off x="530225" y="2443139"/>
            <a:ext cx="5270500" cy="690563"/>
          </a:xfrm>
          <a:custGeom>
            <a:avLst/>
            <a:gdLst/>
            <a:ahLst/>
            <a:cxnLst/>
            <a:rect l="l" t="t" r="r" b="b"/>
            <a:pathLst>
              <a:path w="5270500" h="690563">
                <a:moveTo>
                  <a:pt x="31750" y="0"/>
                </a:moveTo>
                <a:lnTo>
                  <a:pt x="5207003" y="0"/>
                </a:lnTo>
                <a:cubicBezTo>
                  <a:pt x="5242071" y="0"/>
                  <a:pt x="5270500" y="28429"/>
                  <a:pt x="5270500" y="63497"/>
                </a:cubicBezTo>
                <a:lnTo>
                  <a:pt x="5270500" y="627065"/>
                </a:lnTo>
                <a:cubicBezTo>
                  <a:pt x="5270500" y="662134"/>
                  <a:pt x="5242071" y="690563"/>
                  <a:pt x="5207003" y="690563"/>
                </a:cubicBezTo>
                <a:lnTo>
                  <a:pt x="31750" y="690563"/>
                </a:lnTo>
                <a:cubicBezTo>
                  <a:pt x="14227" y="690563"/>
                  <a:pt x="0" y="676336"/>
                  <a:pt x="0" y="658813"/>
                </a:cubicBezTo>
                <a:lnTo>
                  <a:pt x="0" y="31750"/>
                </a:lnTo>
                <a:cubicBezTo>
                  <a:pt x="0" y="14227"/>
                  <a:pt x="14227" y="0"/>
                  <a:pt x="31750" y="0"/>
                </a:cubicBezTo>
                <a:close/>
              </a:path>
            </a:pathLst>
          </a:custGeom>
          <a:solidFill>
            <a:srgbClr val="0071E3">
              <a:alpha val="5098"/>
            </a:srgbClr>
          </a:solidFill>
          <a:ln/>
        </p:spPr>
      </p:sp>
      <p:sp>
        <p:nvSpPr>
          <p:cNvPr id="12" name="Shape 10"/>
          <p:cNvSpPr/>
          <p:nvPr/>
        </p:nvSpPr>
        <p:spPr>
          <a:xfrm>
            <a:off x="530225" y="2443139"/>
            <a:ext cx="31750" cy="690563"/>
          </a:xfrm>
          <a:custGeom>
            <a:avLst/>
            <a:gdLst/>
            <a:ahLst/>
            <a:cxnLst/>
            <a:rect l="l" t="t" r="r" b="b"/>
            <a:pathLst>
              <a:path w="31750" h="690563">
                <a:moveTo>
                  <a:pt x="31750" y="0"/>
                </a:moveTo>
                <a:lnTo>
                  <a:pt x="31750" y="0"/>
                </a:lnTo>
                <a:lnTo>
                  <a:pt x="31750" y="690563"/>
                </a:lnTo>
                <a:lnTo>
                  <a:pt x="31750" y="690563"/>
                </a:lnTo>
                <a:cubicBezTo>
                  <a:pt x="14227" y="690563"/>
                  <a:pt x="0" y="676336"/>
                  <a:pt x="0" y="658813"/>
                </a:cubicBezTo>
                <a:lnTo>
                  <a:pt x="0" y="31750"/>
                </a:lnTo>
                <a:cubicBezTo>
                  <a:pt x="0" y="14227"/>
                  <a:pt x="14227" y="0"/>
                  <a:pt x="31750" y="0"/>
                </a:cubicBezTo>
                <a:close/>
              </a:path>
            </a:pathLst>
          </a:custGeom>
          <a:solidFill>
            <a:srgbClr val="0071E3"/>
          </a:solidFill>
          <a:ln/>
        </p:spPr>
      </p:sp>
      <p:sp>
        <p:nvSpPr>
          <p:cNvPr id="13" name="Text 11"/>
          <p:cNvSpPr/>
          <p:nvPr/>
        </p:nvSpPr>
        <p:spPr>
          <a:xfrm>
            <a:off x="673100" y="2570139"/>
            <a:ext cx="506412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Liter" pitchFamily="34" charset="0"/>
                <a:ea typeface="Liter" pitchFamily="34" charset="-122"/>
                <a:cs typeface="Liter" pitchFamily="34" charset="-120"/>
              </a:rPr>
              <a:t>2. Continuous Alert Pattern</a:t>
            </a:r>
            <a:endParaRPr lang="en-US" sz="1600" dirty="0"/>
          </a:p>
        </p:txBody>
      </p:sp>
      <p:sp>
        <p:nvSpPr>
          <p:cNvPr id="14" name="Text 12"/>
          <p:cNvSpPr/>
          <p:nvPr/>
        </p:nvSpPr>
        <p:spPr>
          <a:xfrm>
            <a:off x="673100" y="2824139"/>
            <a:ext cx="5056188" cy="182563"/>
          </a:xfrm>
          <a:prstGeom prst="rect">
            <a:avLst/>
          </a:prstGeom>
          <a:noFill/>
          <a:ln/>
        </p:spPr>
        <p:txBody>
          <a:bodyPr wrap="square" lIns="0" tIns="0" rIns="0" bIns="0" rtlCol="0" anchor="ctr"/>
          <a:lstStyle/>
          <a:p>
            <a:pPr>
              <a:lnSpc>
                <a:spcPct val="140000"/>
              </a:lnSpc>
            </a:pPr>
            <a:r>
              <a:rPr lang="en-US" sz="875" dirty="0">
                <a:solidFill>
                  <a:srgbClr val="86868B"/>
                </a:solidFill>
                <a:latin typeface="Liter" pitchFamily="34" charset="0"/>
                <a:ea typeface="Liter" pitchFamily="34" charset="-122"/>
                <a:cs typeface="Liter" pitchFamily="34" charset="-120"/>
              </a:rPr>
              <a:t>System generates continuous short beeps/vibrations (400ms ON, 600ms OFF) until user responds.</a:t>
            </a:r>
            <a:endParaRPr lang="en-US" sz="1600" dirty="0"/>
          </a:p>
        </p:txBody>
      </p:sp>
      <p:sp>
        <p:nvSpPr>
          <p:cNvPr id="15" name="Shape 13"/>
          <p:cNvSpPr/>
          <p:nvPr/>
        </p:nvSpPr>
        <p:spPr>
          <a:xfrm>
            <a:off x="530225" y="3258718"/>
            <a:ext cx="5270500" cy="690563"/>
          </a:xfrm>
          <a:custGeom>
            <a:avLst/>
            <a:gdLst/>
            <a:ahLst/>
            <a:cxnLst/>
            <a:rect l="l" t="t" r="r" b="b"/>
            <a:pathLst>
              <a:path w="5270500" h="690563">
                <a:moveTo>
                  <a:pt x="31750" y="0"/>
                </a:moveTo>
                <a:lnTo>
                  <a:pt x="5207003" y="0"/>
                </a:lnTo>
                <a:cubicBezTo>
                  <a:pt x="5242071" y="0"/>
                  <a:pt x="5270500" y="28429"/>
                  <a:pt x="5270500" y="63497"/>
                </a:cubicBezTo>
                <a:lnTo>
                  <a:pt x="5270500" y="627065"/>
                </a:lnTo>
                <a:cubicBezTo>
                  <a:pt x="5270500" y="662134"/>
                  <a:pt x="5242071" y="690563"/>
                  <a:pt x="5207003" y="690563"/>
                </a:cubicBezTo>
                <a:lnTo>
                  <a:pt x="31750" y="690563"/>
                </a:lnTo>
                <a:cubicBezTo>
                  <a:pt x="14227" y="690563"/>
                  <a:pt x="0" y="676336"/>
                  <a:pt x="0" y="658813"/>
                </a:cubicBezTo>
                <a:lnTo>
                  <a:pt x="0" y="31750"/>
                </a:lnTo>
                <a:cubicBezTo>
                  <a:pt x="0" y="14227"/>
                  <a:pt x="14227" y="0"/>
                  <a:pt x="31750" y="0"/>
                </a:cubicBezTo>
                <a:close/>
              </a:path>
            </a:pathLst>
          </a:custGeom>
          <a:solidFill>
            <a:srgbClr val="34C759">
              <a:alpha val="5098"/>
            </a:srgbClr>
          </a:solidFill>
          <a:ln/>
        </p:spPr>
      </p:sp>
      <p:sp>
        <p:nvSpPr>
          <p:cNvPr id="16" name="Shape 14"/>
          <p:cNvSpPr/>
          <p:nvPr/>
        </p:nvSpPr>
        <p:spPr>
          <a:xfrm>
            <a:off x="530225" y="3258718"/>
            <a:ext cx="31750" cy="690563"/>
          </a:xfrm>
          <a:custGeom>
            <a:avLst/>
            <a:gdLst/>
            <a:ahLst/>
            <a:cxnLst/>
            <a:rect l="l" t="t" r="r" b="b"/>
            <a:pathLst>
              <a:path w="31750" h="690563">
                <a:moveTo>
                  <a:pt x="31750" y="0"/>
                </a:moveTo>
                <a:lnTo>
                  <a:pt x="31750" y="0"/>
                </a:lnTo>
                <a:lnTo>
                  <a:pt x="31750" y="690563"/>
                </a:lnTo>
                <a:lnTo>
                  <a:pt x="31750" y="690563"/>
                </a:lnTo>
                <a:cubicBezTo>
                  <a:pt x="14227" y="690563"/>
                  <a:pt x="0" y="676336"/>
                  <a:pt x="0" y="658813"/>
                </a:cubicBezTo>
                <a:lnTo>
                  <a:pt x="0" y="31750"/>
                </a:lnTo>
                <a:cubicBezTo>
                  <a:pt x="0" y="14227"/>
                  <a:pt x="14227" y="0"/>
                  <a:pt x="31750" y="0"/>
                </a:cubicBezTo>
                <a:close/>
              </a:path>
            </a:pathLst>
          </a:custGeom>
          <a:solidFill>
            <a:srgbClr val="34C759"/>
          </a:solidFill>
          <a:ln/>
        </p:spPr>
      </p:sp>
      <p:sp>
        <p:nvSpPr>
          <p:cNvPr id="17" name="Text 15"/>
          <p:cNvSpPr/>
          <p:nvPr/>
        </p:nvSpPr>
        <p:spPr>
          <a:xfrm>
            <a:off x="673100" y="3385718"/>
            <a:ext cx="506412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Liter" pitchFamily="34" charset="0"/>
                <a:ea typeface="Liter" pitchFamily="34" charset="-122"/>
                <a:cs typeface="Liter" pitchFamily="34" charset="-120"/>
              </a:rPr>
              <a:t>3. User Response Window</a:t>
            </a:r>
            <a:endParaRPr lang="en-US" sz="1600" dirty="0"/>
          </a:p>
        </p:txBody>
      </p:sp>
      <p:sp>
        <p:nvSpPr>
          <p:cNvPr id="18" name="Text 16"/>
          <p:cNvSpPr/>
          <p:nvPr/>
        </p:nvSpPr>
        <p:spPr>
          <a:xfrm>
            <a:off x="673100" y="3639718"/>
            <a:ext cx="5056188" cy="182563"/>
          </a:xfrm>
          <a:prstGeom prst="rect">
            <a:avLst/>
          </a:prstGeom>
          <a:noFill/>
          <a:ln/>
        </p:spPr>
        <p:txBody>
          <a:bodyPr wrap="square" lIns="0" tIns="0" rIns="0" bIns="0" rtlCol="0" anchor="ctr"/>
          <a:lstStyle/>
          <a:p>
            <a:pPr>
              <a:lnSpc>
                <a:spcPct val="140000"/>
              </a:lnSpc>
            </a:pPr>
            <a:r>
              <a:rPr lang="en-US" sz="875" dirty="0">
                <a:solidFill>
                  <a:srgbClr val="86868B"/>
                </a:solidFill>
                <a:latin typeface="Liter" pitchFamily="34" charset="0"/>
                <a:ea typeface="Liter" pitchFamily="34" charset="-122"/>
                <a:cs typeface="Liter" pitchFamily="34" charset="-120"/>
              </a:rPr>
              <a:t>System monitors touch sensors for user confirmation within configurable timeout period.</a:t>
            </a:r>
            <a:endParaRPr lang="en-US" sz="1600" dirty="0"/>
          </a:p>
        </p:txBody>
      </p:sp>
      <p:sp>
        <p:nvSpPr>
          <p:cNvPr id="19" name="Shape 17"/>
          <p:cNvSpPr/>
          <p:nvPr/>
        </p:nvSpPr>
        <p:spPr>
          <a:xfrm>
            <a:off x="317500" y="4125914"/>
            <a:ext cx="5683250" cy="2682875"/>
          </a:xfrm>
          <a:custGeom>
            <a:avLst/>
            <a:gdLst/>
            <a:ahLst/>
            <a:cxn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1D1D1D"/>
          </a:solidFill>
          <a:ln/>
        </p:spPr>
      </p:sp>
      <p:sp>
        <p:nvSpPr>
          <p:cNvPr id="20" name="Shape 18"/>
          <p:cNvSpPr/>
          <p:nvPr/>
        </p:nvSpPr>
        <p:spPr>
          <a:xfrm>
            <a:off x="487164" y="4324352"/>
            <a:ext cx="160734" cy="142875"/>
          </a:xfrm>
          <a:custGeom>
            <a:avLst/>
            <a:gdLst/>
            <a:ahLst/>
            <a:cxnLst/>
            <a:rect l="l" t="t" r="r" b="b"/>
            <a:pathLst>
              <a:path w="160734" h="142875">
                <a:moveTo>
                  <a:pt x="100682" y="335"/>
                </a:moveTo>
                <a:cubicBezTo>
                  <a:pt x="95938" y="-1032"/>
                  <a:pt x="90999" y="1730"/>
                  <a:pt x="89632" y="6474"/>
                </a:cubicBezTo>
                <a:lnTo>
                  <a:pt x="53913" y="131490"/>
                </a:lnTo>
                <a:cubicBezTo>
                  <a:pt x="52546" y="136234"/>
                  <a:pt x="55308" y="141173"/>
                  <a:pt x="60052" y="142540"/>
                </a:cubicBezTo>
                <a:cubicBezTo>
                  <a:pt x="64796" y="143907"/>
                  <a:pt x="69735" y="141145"/>
                  <a:pt x="71103" y="136401"/>
                </a:cubicBezTo>
                <a:lnTo>
                  <a:pt x="106821" y="11385"/>
                </a:lnTo>
                <a:cubicBezTo>
                  <a:pt x="108189" y="6641"/>
                  <a:pt x="105426" y="1702"/>
                  <a:pt x="100682" y="335"/>
                </a:cubicBezTo>
                <a:close/>
                <a:moveTo>
                  <a:pt x="118709" y="38314"/>
                </a:moveTo>
                <a:cubicBezTo>
                  <a:pt x="115221" y="41802"/>
                  <a:pt x="115221" y="47467"/>
                  <a:pt x="118709" y="50955"/>
                </a:cubicBezTo>
                <a:lnTo>
                  <a:pt x="139192" y="71438"/>
                </a:lnTo>
                <a:lnTo>
                  <a:pt x="118709" y="91920"/>
                </a:lnTo>
                <a:cubicBezTo>
                  <a:pt x="115221" y="95408"/>
                  <a:pt x="115221" y="101073"/>
                  <a:pt x="118709" y="104561"/>
                </a:cubicBezTo>
                <a:cubicBezTo>
                  <a:pt x="122197" y="108049"/>
                  <a:pt x="127862" y="108049"/>
                  <a:pt x="131350" y="104561"/>
                </a:cubicBezTo>
                <a:lnTo>
                  <a:pt x="158139" y="77772"/>
                </a:lnTo>
                <a:cubicBezTo>
                  <a:pt x="161627" y="74284"/>
                  <a:pt x="161627" y="68619"/>
                  <a:pt x="158139" y="65131"/>
                </a:cubicBezTo>
                <a:lnTo>
                  <a:pt x="131350" y="38342"/>
                </a:lnTo>
                <a:cubicBezTo>
                  <a:pt x="127862" y="34854"/>
                  <a:pt x="122197" y="34854"/>
                  <a:pt x="118709" y="38342"/>
                </a:cubicBezTo>
                <a:close/>
                <a:moveTo>
                  <a:pt x="42053" y="38314"/>
                </a:moveTo>
                <a:cubicBezTo>
                  <a:pt x="38565" y="34826"/>
                  <a:pt x="32900" y="34826"/>
                  <a:pt x="29412" y="38314"/>
                </a:cubicBezTo>
                <a:lnTo>
                  <a:pt x="2623" y="65103"/>
                </a:lnTo>
                <a:cubicBezTo>
                  <a:pt x="-865" y="68591"/>
                  <a:pt x="-865" y="74256"/>
                  <a:pt x="2623" y="77744"/>
                </a:cubicBezTo>
                <a:lnTo>
                  <a:pt x="29412" y="104533"/>
                </a:lnTo>
                <a:cubicBezTo>
                  <a:pt x="32900" y="108021"/>
                  <a:pt x="38565" y="108021"/>
                  <a:pt x="42053" y="104533"/>
                </a:cubicBezTo>
                <a:cubicBezTo>
                  <a:pt x="45541" y="101045"/>
                  <a:pt x="45541" y="95380"/>
                  <a:pt x="42053" y="91892"/>
                </a:cubicBezTo>
                <a:lnTo>
                  <a:pt x="21571" y="71438"/>
                </a:lnTo>
                <a:lnTo>
                  <a:pt x="42025" y="50955"/>
                </a:lnTo>
                <a:cubicBezTo>
                  <a:pt x="45514" y="47467"/>
                  <a:pt x="45514" y="41802"/>
                  <a:pt x="42025" y="38314"/>
                </a:cubicBezTo>
                <a:close/>
              </a:path>
            </a:pathLst>
          </a:custGeom>
          <a:solidFill>
            <a:srgbClr val="0071E3"/>
          </a:solidFill>
          <a:ln/>
        </p:spPr>
      </p:sp>
      <p:sp>
        <p:nvSpPr>
          <p:cNvPr id="21" name="Text 19"/>
          <p:cNvSpPr/>
          <p:nvPr/>
        </p:nvSpPr>
        <p:spPr>
          <a:xfrm>
            <a:off x="658813" y="4284664"/>
            <a:ext cx="5254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Emergency Mode Entry</a:t>
            </a:r>
            <a:endParaRPr lang="en-US" sz="1600" dirty="0"/>
          </a:p>
        </p:txBody>
      </p:sp>
      <p:sp>
        <p:nvSpPr>
          <p:cNvPr id="22" name="Shape 20"/>
          <p:cNvSpPr/>
          <p:nvPr/>
        </p:nvSpPr>
        <p:spPr>
          <a:xfrm>
            <a:off x="476250" y="4602164"/>
            <a:ext cx="5365750" cy="2047875"/>
          </a:xfrm>
          <a:custGeom>
            <a:avLst/>
            <a:gdLst/>
            <a:ahLst/>
            <a:cxnLst/>
            <a:rect l="l" t="t" r="r" b="b"/>
            <a:pathLst>
              <a:path w="5365750" h="2047875">
                <a:moveTo>
                  <a:pt x="63505" y="0"/>
                </a:moveTo>
                <a:lnTo>
                  <a:pt x="5302245" y="0"/>
                </a:lnTo>
                <a:cubicBezTo>
                  <a:pt x="5337318" y="0"/>
                  <a:pt x="5365750" y="28432"/>
                  <a:pt x="5365750" y="63505"/>
                </a:cubicBezTo>
                <a:lnTo>
                  <a:pt x="5365750" y="1984370"/>
                </a:lnTo>
                <a:cubicBezTo>
                  <a:pt x="5365750" y="2019443"/>
                  <a:pt x="5337318" y="2047875"/>
                  <a:pt x="5302245" y="2047875"/>
                </a:cubicBezTo>
                <a:lnTo>
                  <a:pt x="63505" y="2047875"/>
                </a:lnTo>
                <a:cubicBezTo>
                  <a:pt x="28432" y="2047875"/>
                  <a:pt x="0" y="2019443"/>
                  <a:pt x="0" y="1984370"/>
                </a:cubicBezTo>
                <a:lnTo>
                  <a:pt x="0" y="63505"/>
                </a:lnTo>
                <a:cubicBezTo>
                  <a:pt x="0" y="28455"/>
                  <a:pt x="28455" y="0"/>
                  <a:pt x="63505" y="0"/>
                </a:cubicBezTo>
                <a:close/>
              </a:path>
            </a:pathLst>
          </a:custGeom>
          <a:solidFill>
            <a:srgbClr val="2D2D2D"/>
          </a:solidFill>
          <a:ln/>
        </p:spPr>
      </p:sp>
      <p:sp>
        <p:nvSpPr>
          <p:cNvPr id="23" name="Text 21"/>
          <p:cNvSpPr/>
          <p:nvPr/>
        </p:nvSpPr>
        <p:spPr>
          <a:xfrm>
            <a:off x="603250" y="4710113"/>
            <a:ext cx="2404666"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Lines 114-120: Fire alert detection</a:t>
            </a:r>
            <a:endParaRPr lang="en-US" sz="1600" dirty="0"/>
          </a:p>
        </p:txBody>
      </p:sp>
      <p:sp>
        <p:nvSpPr>
          <p:cNvPr id="24" name="Text 22"/>
          <p:cNvSpPr/>
          <p:nvPr/>
        </p:nvSpPr>
        <p:spPr>
          <a:xfrm>
            <a:off x="603250" y="4852193"/>
            <a:ext cx="5163344"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FFFFFF"/>
                </a:solidFill>
                <a:latin typeface="MiSans" pitchFamily="34" charset="0"/>
                <a:ea typeface="MiSans" pitchFamily="34" charset="-122"/>
                <a:cs typeface="MiSans" pitchFamily="34" charset="-120"/>
              </a:rPr>
              <a:t> (c == </a:t>
            </a:r>
            <a:r>
              <a:rPr lang="en-US" sz="813" dirty="0">
                <a:solidFill>
                  <a:srgbClr val="34C759"/>
                </a:solidFill>
                <a:latin typeface="MiSans" pitchFamily="34" charset="0"/>
                <a:ea typeface="MiSans" pitchFamily="34" charset="-122"/>
                <a:cs typeface="MiSans" pitchFamily="34" charset="-120"/>
              </a:rPr>
              <a:t>'F'</a:t>
            </a:r>
            <a:r>
              <a:rPr lang="en-US" sz="813" dirty="0">
                <a:solidFill>
                  <a:srgbClr val="FFFFFF"/>
                </a:solidFill>
                <a:latin typeface="MiSans" pitchFamily="34" charset="0"/>
                <a:ea typeface="MiSans" pitchFamily="34" charset="-122"/>
                <a:cs typeface="MiSans" pitchFamily="34" charset="-120"/>
              </a:rPr>
              <a:t>) {</a:t>
            </a:r>
            <a:endParaRPr lang="en-US" sz="1600" dirty="0"/>
          </a:p>
        </p:txBody>
      </p:sp>
      <p:sp>
        <p:nvSpPr>
          <p:cNvPr id="25" name="Text 23"/>
          <p:cNvSpPr/>
          <p:nvPr/>
        </p:nvSpPr>
        <p:spPr>
          <a:xfrm>
            <a:off x="603250" y="5006975"/>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emergencyMode = </a:t>
            </a:r>
            <a:r>
              <a:rPr lang="en-US" sz="813" dirty="0">
                <a:solidFill>
                  <a:srgbClr val="0071E3"/>
                </a:solidFill>
                <a:latin typeface="MiSans" pitchFamily="34" charset="0"/>
                <a:ea typeface="MiSans" pitchFamily="34" charset="-122"/>
                <a:cs typeface="MiSans" pitchFamily="34" charset="-120"/>
              </a:rPr>
              <a:t>true</a:t>
            </a: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26" name="Text 24"/>
          <p:cNvSpPr/>
          <p:nvPr/>
        </p:nvSpPr>
        <p:spPr>
          <a:xfrm>
            <a:off x="603250" y="5161756"/>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emergencyTimer = millis();</a:t>
            </a:r>
            <a:endParaRPr lang="en-US" sz="1600" dirty="0"/>
          </a:p>
        </p:txBody>
      </p:sp>
      <p:sp>
        <p:nvSpPr>
          <p:cNvPr id="27" name="Text 25"/>
          <p:cNvSpPr/>
          <p:nvPr/>
        </p:nvSpPr>
        <p:spPr>
          <a:xfrm>
            <a:off x="603250" y="5316537"/>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28" name="Text 26"/>
          <p:cNvSpPr/>
          <p:nvPr/>
        </p:nvSpPr>
        <p:spPr>
          <a:xfrm>
            <a:off x="603250" y="5484019"/>
            <a:ext cx="2652415"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Lines 127-137: Continuous alert pattern</a:t>
            </a:r>
            <a:endParaRPr lang="en-US" sz="1600" dirty="0"/>
          </a:p>
        </p:txBody>
      </p:sp>
      <p:sp>
        <p:nvSpPr>
          <p:cNvPr id="29" name="Text 27"/>
          <p:cNvSpPr/>
          <p:nvPr/>
        </p:nvSpPr>
        <p:spPr>
          <a:xfrm>
            <a:off x="603250" y="5626100"/>
            <a:ext cx="5163344"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FFFFFF"/>
                </a:solidFill>
                <a:latin typeface="MiSans" pitchFamily="34" charset="0"/>
                <a:ea typeface="MiSans" pitchFamily="34" charset="-122"/>
                <a:cs typeface="MiSans" pitchFamily="34" charset="-120"/>
              </a:rPr>
              <a:t> (millis() - emergencyTimer &gt; </a:t>
            </a:r>
            <a:r>
              <a:rPr lang="en-US" sz="813" dirty="0">
                <a:solidFill>
                  <a:srgbClr val="FF9500"/>
                </a:solidFill>
                <a:latin typeface="MiSans" pitchFamily="34" charset="0"/>
                <a:ea typeface="MiSans" pitchFamily="34" charset="-122"/>
                <a:cs typeface="MiSans" pitchFamily="34" charset="-120"/>
              </a:rPr>
              <a:t>1000</a:t>
            </a:r>
            <a:r>
              <a:rPr lang="en-US" sz="813" dirty="0">
                <a:solidFill>
                  <a:srgbClr val="FFFFFF"/>
                </a:solidFill>
                <a:latin typeface="MiSans" pitchFamily="34" charset="0"/>
                <a:ea typeface="MiSans" pitchFamily="34" charset="-122"/>
                <a:cs typeface="MiSans" pitchFamily="34" charset="-120"/>
              </a:rPr>
              <a:t>) {</a:t>
            </a:r>
            <a:endParaRPr lang="en-US" sz="1600" dirty="0"/>
          </a:p>
        </p:txBody>
      </p:sp>
      <p:sp>
        <p:nvSpPr>
          <p:cNvPr id="30" name="Text 28"/>
          <p:cNvSpPr/>
          <p:nvPr/>
        </p:nvSpPr>
        <p:spPr>
          <a:xfrm>
            <a:off x="603250" y="5780881"/>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digitalWrite(vibMotor, HIGH);</a:t>
            </a:r>
            <a:endParaRPr lang="en-US" sz="1600" dirty="0"/>
          </a:p>
        </p:txBody>
      </p:sp>
      <p:sp>
        <p:nvSpPr>
          <p:cNvPr id="31" name="Text 29"/>
          <p:cNvSpPr/>
          <p:nvPr/>
        </p:nvSpPr>
        <p:spPr>
          <a:xfrm>
            <a:off x="603250" y="5935662"/>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digitalWrite(buzzer, HIGH);</a:t>
            </a:r>
            <a:endParaRPr lang="en-US" sz="1600" dirty="0"/>
          </a:p>
        </p:txBody>
      </p:sp>
      <p:sp>
        <p:nvSpPr>
          <p:cNvPr id="32" name="Text 30"/>
          <p:cNvSpPr/>
          <p:nvPr/>
        </p:nvSpPr>
        <p:spPr>
          <a:xfrm>
            <a:off x="603250" y="6090443"/>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delay(</a:t>
            </a:r>
            <a:r>
              <a:rPr lang="en-US" sz="813" dirty="0">
                <a:solidFill>
                  <a:srgbClr val="FF9500"/>
                </a:solidFill>
                <a:latin typeface="MiSans" pitchFamily="34" charset="0"/>
                <a:ea typeface="MiSans" pitchFamily="34" charset="-122"/>
                <a:cs typeface="MiSans" pitchFamily="34" charset="-120"/>
              </a:rPr>
              <a:t>400</a:t>
            </a: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33" name="Text 31"/>
          <p:cNvSpPr/>
          <p:nvPr/>
        </p:nvSpPr>
        <p:spPr>
          <a:xfrm>
            <a:off x="727174" y="6257925"/>
            <a:ext cx="1661616"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 alternating pattern</a:t>
            </a:r>
            <a:endParaRPr lang="en-US" sz="1600" dirty="0"/>
          </a:p>
        </p:txBody>
      </p:sp>
      <p:sp>
        <p:nvSpPr>
          <p:cNvPr id="34" name="Text 32"/>
          <p:cNvSpPr/>
          <p:nvPr/>
        </p:nvSpPr>
        <p:spPr>
          <a:xfrm>
            <a:off x="603250" y="6400006"/>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35" name="Shape 33"/>
          <p:cNvSpPr/>
          <p:nvPr/>
        </p:nvSpPr>
        <p:spPr>
          <a:xfrm>
            <a:off x="6194425" y="1019175"/>
            <a:ext cx="5673725" cy="4276725"/>
          </a:xfrm>
          <a:custGeom>
            <a:avLst/>
            <a:gdLst/>
            <a:ahLst/>
            <a:cxnLst/>
            <a:rect l="l" t="t" r="r" b="b"/>
            <a:pathLst>
              <a:path w="5673725" h="5284788">
                <a:moveTo>
                  <a:pt x="95232" y="0"/>
                </a:moveTo>
                <a:lnTo>
                  <a:pt x="5578493" y="0"/>
                </a:lnTo>
                <a:cubicBezTo>
                  <a:pt x="5631088" y="0"/>
                  <a:pt x="5673725" y="42637"/>
                  <a:pt x="5673725" y="95232"/>
                </a:cubicBezTo>
                <a:lnTo>
                  <a:pt x="5673725" y="5189556"/>
                </a:lnTo>
                <a:cubicBezTo>
                  <a:pt x="5673725" y="5242151"/>
                  <a:pt x="5631088" y="5284788"/>
                  <a:pt x="5578493" y="5284788"/>
                </a:cubicBezTo>
                <a:lnTo>
                  <a:pt x="95232" y="5284788"/>
                </a:lnTo>
                <a:cubicBezTo>
                  <a:pt x="42637" y="5284788"/>
                  <a:pt x="0" y="5242151"/>
                  <a:pt x="0" y="5189556"/>
                </a:cubicBezTo>
                <a:lnTo>
                  <a:pt x="0" y="95232"/>
                </a:lnTo>
                <a:cubicBezTo>
                  <a:pt x="0" y="42637"/>
                  <a:pt x="42637" y="0"/>
                  <a:pt x="95232"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36" name="Shape 34"/>
          <p:cNvSpPr/>
          <p:nvPr/>
        </p:nvSpPr>
        <p:spPr>
          <a:xfrm>
            <a:off x="6417866" y="1244600"/>
            <a:ext cx="138906" cy="158750"/>
          </a:xfrm>
          <a:custGeom>
            <a:avLst/>
            <a:gdLst/>
            <a:ahLst/>
            <a:cxnLst/>
            <a:rect l="l" t="t" r="r" b="b"/>
            <a:pathLst>
              <a:path w="138906" h="158750">
                <a:moveTo>
                  <a:pt x="39688" y="12402"/>
                </a:moveTo>
                <a:cubicBezTo>
                  <a:pt x="39688" y="5550"/>
                  <a:pt x="45238" y="0"/>
                  <a:pt x="52090" y="0"/>
                </a:cubicBezTo>
                <a:cubicBezTo>
                  <a:pt x="58942" y="0"/>
                  <a:pt x="64492" y="5550"/>
                  <a:pt x="64492" y="12402"/>
                </a:cubicBezTo>
                <a:lnTo>
                  <a:pt x="64492" y="58353"/>
                </a:lnTo>
                <a:cubicBezTo>
                  <a:pt x="67128" y="55997"/>
                  <a:pt x="70600" y="54570"/>
                  <a:pt x="74414" y="54570"/>
                </a:cubicBezTo>
                <a:cubicBezTo>
                  <a:pt x="80801" y="54570"/>
                  <a:pt x="86258" y="58601"/>
                  <a:pt x="88367" y="64244"/>
                </a:cubicBezTo>
                <a:cubicBezTo>
                  <a:pt x="91095" y="61361"/>
                  <a:pt x="94940" y="59531"/>
                  <a:pt x="99219" y="59531"/>
                </a:cubicBezTo>
                <a:cubicBezTo>
                  <a:pt x="107063" y="59531"/>
                  <a:pt x="113481" y="65577"/>
                  <a:pt x="114071" y="73267"/>
                </a:cubicBezTo>
                <a:cubicBezTo>
                  <a:pt x="116706" y="70879"/>
                  <a:pt x="120210" y="69453"/>
                  <a:pt x="124023" y="69453"/>
                </a:cubicBezTo>
                <a:cubicBezTo>
                  <a:pt x="132240" y="69453"/>
                  <a:pt x="138906" y="76119"/>
                  <a:pt x="138906" y="84336"/>
                </a:cubicBezTo>
                <a:lnTo>
                  <a:pt x="138906" y="119062"/>
                </a:lnTo>
                <a:cubicBezTo>
                  <a:pt x="138906" y="140984"/>
                  <a:pt x="121140" y="158750"/>
                  <a:pt x="99219" y="158750"/>
                </a:cubicBezTo>
                <a:lnTo>
                  <a:pt x="72771" y="158750"/>
                </a:lnTo>
                <a:cubicBezTo>
                  <a:pt x="71220" y="158750"/>
                  <a:pt x="69701" y="158657"/>
                  <a:pt x="68213" y="158440"/>
                </a:cubicBezTo>
                <a:cubicBezTo>
                  <a:pt x="51067" y="156704"/>
                  <a:pt x="35285" y="147898"/>
                  <a:pt x="24805" y="133945"/>
                </a:cubicBezTo>
                <a:lnTo>
                  <a:pt x="2480" y="104180"/>
                </a:lnTo>
                <a:cubicBezTo>
                  <a:pt x="-1643" y="98692"/>
                  <a:pt x="-527" y="90940"/>
                  <a:pt x="4961" y="86816"/>
                </a:cubicBezTo>
                <a:cubicBezTo>
                  <a:pt x="10449" y="82693"/>
                  <a:pt x="18200" y="83809"/>
                  <a:pt x="22324" y="89297"/>
                </a:cubicBezTo>
                <a:lnTo>
                  <a:pt x="39688" y="112458"/>
                </a:lnTo>
                <a:lnTo>
                  <a:pt x="39688" y="12402"/>
                </a:lnTo>
                <a:close/>
                <a:moveTo>
                  <a:pt x="74414" y="94258"/>
                </a:moveTo>
                <a:cubicBezTo>
                  <a:pt x="74414" y="91529"/>
                  <a:pt x="72182" y="89297"/>
                  <a:pt x="69453" y="89297"/>
                </a:cubicBezTo>
                <a:cubicBezTo>
                  <a:pt x="66725" y="89297"/>
                  <a:pt x="64492" y="91529"/>
                  <a:pt x="64492" y="94258"/>
                </a:cubicBezTo>
                <a:lnTo>
                  <a:pt x="64492" y="124023"/>
                </a:lnTo>
                <a:cubicBezTo>
                  <a:pt x="64492" y="126752"/>
                  <a:pt x="66725" y="128984"/>
                  <a:pt x="69453" y="128984"/>
                </a:cubicBezTo>
                <a:cubicBezTo>
                  <a:pt x="72182" y="128984"/>
                  <a:pt x="74414" y="126752"/>
                  <a:pt x="74414" y="124023"/>
                </a:cubicBezTo>
                <a:lnTo>
                  <a:pt x="74414" y="94258"/>
                </a:lnTo>
                <a:close/>
                <a:moveTo>
                  <a:pt x="89297" y="89297"/>
                </a:moveTo>
                <a:cubicBezTo>
                  <a:pt x="86568" y="89297"/>
                  <a:pt x="84336" y="91529"/>
                  <a:pt x="84336" y="94258"/>
                </a:cubicBezTo>
                <a:lnTo>
                  <a:pt x="84336" y="124023"/>
                </a:lnTo>
                <a:cubicBezTo>
                  <a:pt x="84336" y="126752"/>
                  <a:pt x="86568" y="128984"/>
                  <a:pt x="89297" y="128984"/>
                </a:cubicBezTo>
                <a:cubicBezTo>
                  <a:pt x="92025" y="128984"/>
                  <a:pt x="94258" y="126752"/>
                  <a:pt x="94258" y="124023"/>
                </a:cubicBezTo>
                <a:lnTo>
                  <a:pt x="94258" y="94258"/>
                </a:lnTo>
                <a:cubicBezTo>
                  <a:pt x="94258" y="91529"/>
                  <a:pt x="92025" y="89297"/>
                  <a:pt x="89297" y="89297"/>
                </a:cubicBezTo>
                <a:close/>
                <a:moveTo>
                  <a:pt x="114102" y="94258"/>
                </a:moveTo>
                <a:cubicBezTo>
                  <a:pt x="114102" y="91529"/>
                  <a:pt x="111869" y="89297"/>
                  <a:pt x="109141" y="89297"/>
                </a:cubicBezTo>
                <a:cubicBezTo>
                  <a:pt x="106412" y="89297"/>
                  <a:pt x="104180" y="91529"/>
                  <a:pt x="104180" y="94258"/>
                </a:cubicBezTo>
                <a:lnTo>
                  <a:pt x="104180" y="124023"/>
                </a:lnTo>
                <a:cubicBezTo>
                  <a:pt x="104180" y="126752"/>
                  <a:pt x="106412" y="128984"/>
                  <a:pt x="109141" y="128984"/>
                </a:cubicBezTo>
                <a:cubicBezTo>
                  <a:pt x="111869" y="128984"/>
                  <a:pt x="114102" y="126752"/>
                  <a:pt x="114102" y="124023"/>
                </a:cubicBezTo>
                <a:lnTo>
                  <a:pt x="114102" y="94258"/>
                </a:lnTo>
                <a:close/>
              </a:path>
            </a:pathLst>
          </a:custGeom>
          <a:solidFill>
            <a:srgbClr val="0071E3"/>
          </a:solidFill>
          <a:ln/>
        </p:spPr>
      </p:sp>
      <p:sp>
        <p:nvSpPr>
          <p:cNvPr id="37" name="Text 35"/>
          <p:cNvSpPr/>
          <p:nvPr/>
        </p:nvSpPr>
        <p:spPr>
          <a:xfrm>
            <a:off x="6586537" y="1212850"/>
            <a:ext cx="516731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User Response Logic</a:t>
            </a:r>
            <a:endParaRPr lang="en-US" sz="1600" dirty="0"/>
          </a:p>
        </p:txBody>
      </p:sp>
      <p:sp>
        <p:nvSpPr>
          <p:cNvPr id="38" name="Shape 36"/>
          <p:cNvSpPr/>
          <p:nvPr/>
        </p:nvSpPr>
        <p:spPr>
          <a:xfrm>
            <a:off x="6388100" y="1562100"/>
            <a:ext cx="5286375" cy="1349375"/>
          </a:xfrm>
          <a:custGeom>
            <a:avLst/>
            <a:gdLst/>
            <a:ahLst/>
            <a:cxnLst/>
            <a:rect l="l" t="t" r="r" b="b"/>
            <a:pathLst>
              <a:path w="5286375" h="1349375">
                <a:moveTo>
                  <a:pt x="95252" y="0"/>
                </a:moveTo>
                <a:lnTo>
                  <a:pt x="5191123" y="0"/>
                </a:lnTo>
                <a:cubicBezTo>
                  <a:pt x="5243729" y="0"/>
                  <a:pt x="5286375" y="42646"/>
                  <a:pt x="5286375" y="95252"/>
                </a:cubicBezTo>
                <a:lnTo>
                  <a:pt x="5286375" y="1254123"/>
                </a:lnTo>
                <a:cubicBezTo>
                  <a:pt x="5286375" y="1306729"/>
                  <a:pt x="5243729" y="1349375"/>
                  <a:pt x="5191123" y="1349375"/>
                </a:cubicBezTo>
                <a:lnTo>
                  <a:pt x="95252" y="1349375"/>
                </a:lnTo>
                <a:cubicBezTo>
                  <a:pt x="42646" y="1349375"/>
                  <a:pt x="0" y="1306729"/>
                  <a:pt x="0" y="1254123"/>
                </a:cubicBezTo>
                <a:lnTo>
                  <a:pt x="0" y="95252"/>
                </a:lnTo>
                <a:cubicBezTo>
                  <a:pt x="0" y="42681"/>
                  <a:pt x="42681" y="0"/>
                  <a:pt x="95252" y="0"/>
                </a:cubicBezTo>
                <a:close/>
              </a:path>
            </a:pathLst>
          </a:custGeom>
          <a:solidFill>
            <a:srgbClr val="FAFAFA"/>
          </a:solidFill>
          <a:ln/>
        </p:spPr>
      </p:sp>
      <p:sp>
        <p:nvSpPr>
          <p:cNvPr id="39" name="Shape 37"/>
          <p:cNvSpPr/>
          <p:nvPr/>
        </p:nvSpPr>
        <p:spPr>
          <a:xfrm>
            <a:off x="6546850" y="17208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3B30"/>
          </a:solidFill>
          <a:ln/>
        </p:spPr>
      </p:sp>
      <p:sp>
        <p:nvSpPr>
          <p:cNvPr id="40" name="Shape 38"/>
          <p:cNvSpPr/>
          <p:nvPr/>
        </p:nvSpPr>
        <p:spPr>
          <a:xfrm>
            <a:off x="6657975" y="1831975"/>
            <a:ext cx="158750" cy="158750"/>
          </a:xfrm>
          <a:custGeom>
            <a:avLst/>
            <a:gdLst/>
            <a:ahLst/>
            <a:cxnLst/>
            <a:rect l="l" t="t" r="r" b="b"/>
            <a:pathLst>
              <a:path w="158750" h="158750">
                <a:moveTo>
                  <a:pt x="9922" y="29766"/>
                </a:moveTo>
                <a:cubicBezTo>
                  <a:pt x="4434" y="29766"/>
                  <a:pt x="0" y="34199"/>
                  <a:pt x="0" y="39688"/>
                </a:cubicBezTo>
                <a:cubicBezTo>
                  <a:pt x="0" y="45176"/>
                  <a:pt x="4434" y="49609"/>
                  <a:pt x="9922" y="49609"/>
                </a:cubicBezTo>
                <a:lnTo>
                  <a:pt x="74414" y="49609"/>
                </a:lnTo>
                <a:lnTo>
                  <a:pt x="74414" y="29766"/>
                </a:lnTo>
                <a:lnTo>
                  <a:pt x="9922" y="29766"/>
                </a:lnTo>
                <a:close/>
                <a:moveTo>
                  <a:pt x="59531" y="89297"/>
                </a:moveTo>
                <a:cubicBezTo>
                  <a:pt x="54043" y="89297"/>
                  <a:pt x="49609" y="93731"/>
                  <a:pt x="49609" y="99219"/>
                </a:cubicBezTo>
                <a:cubicBezTo>
                  <a:pt x="49609" y="104707"/>
                  <a:pt x="54043" y="109141"/>
                  <a:pt x="59531" y="109141"/>
                </a:cubicBezTo>
                <a:lnTo>
                  <a:pt x="79375" y="109141"/>
                </a:lnTo>
                <a:cubicBezTo>
                  <a:pt x="84863" y="109141"/>
                  <a:pt x="89297" y="104707"/>
                  <a:pt x="89297" y="99219"/>
                </a:cubicBezTo>
                <a:cubicBezTo>
                  <a:pt x="89297" y="93731"/>
                  <a:pt x="84863" y="89297"/>
                  <a:pt x="79375" y="89297"/>
                </a:cubicBezTo>
                <a:lnTo>
                  <a:pt x="59531" y="89297"/>
                </a:lnTo>
                <a:close/>
                <a:moveTo>
                  <a:pt x="39688" y="69453"/>
                </a:moveTo>
                <a:cubicBezTo>
                  <a:pt x="39688" y="74941"/>
                  <a:pt x="44121" y="79375"/>
                  <a:pt x="49609" y="79375"/>
                </a:cubicBezTo>
                <a:lnTo>
                  <a:pt x="64492" y="79375"/>
                </a:lnTo>
                <a:cubicBezTo>
                  <a:pt x="69980" y="79375"/>
                  <a:pt x="74414" y="74941"/>
                  <a:pt x="74414" y="69453"/>
                </a:cubicBezTo>
                <a:cubicBezTo>
                  <a:pt x="74414" y="63965"/>
                  <a:pt x="69980" y="59531"/>
                  <a:pt x="64492" y="59531"/>
                </a:cubicBezTo>
                <a:lnTo>
                  <a:pt x="49609" y="59531"/>
                </a:lnTo>
                <a:cubicBezTo>
                  <a:pt x="44121" y="59531"/>
                  <a:pt x="39688" y="63965"/>
                  <a:pt x="39688" y="69453"/>
                </a:cubicBezTo>
                <a:close/>
                <a:moveTo>
                  <a:pt x="69453" y="119062"/>
                </a:moveTo>
                <a:cubicBezTo>
                  <a:pt x="63965" y="119062"/>
                  <a:pt x="59531" y="123496"/>
                  <a:pt x="59531" y="128984"/>
                </a:cubicBezTo>
                <a:cubicBezTo>
                  <a:pt x="59531" y="134472"/>
                  <a:pt x="63965" y="138906"/>
                  <a:pt x="69453" y="138906"/>
                </a:cubicBezTo>
                <a:lnTo>
                  <a:pt x="89297" y="138906"/>
                </a:lnTo>
                <a:cubicBezTo>
                  <a:pt x="94785" y="138906"/>
                  <a:pt x="99219" y="134472"/>
                  <a:pt x="99219" y="128984"/>
                </a:cubicBezTo>
                <a:cubicBezTo>
                  <a:pt x="99219" y="123496"/>
                  <a:pt x="94785" y="119062"/>
                  <a:pt x="89297" y="119062"/>
                </a:cubicBezTo>
                <a:lnTo>
                  <a:pt x="69453" y="119062"/>
                </a:lnTo>
                <a:close/>
                <a:moveTo>
                  <a:pt x="96738" y="89297"/>
                </a:moveTo>
                <a:lnTo>
                  <a:pt x="96552" y="89297"/>
                </a:lnTo>
                <a:cubicBezTo>
                  <a:pt x="98227" y="92211"/>
                  <a:pt x="99219" y="95591"/>
                  <a:pt x="99219" y="99219"/>
                </a:cubicBezTo>
                <a:cubicBezTo>
                  <a:pt x="99219" y="103312"/>
                  <a:pt x="97979" y="107094"/>
                  <a:pt x="95870" y="110257"/>
                </a:cubicBezTo>
                <a:cubicBezTo>
                  <a:pt x="103591" y="112954"/>
                  <a:pt x="109141" y="120334"/>
                  <a:pt x="109141" y="128984"/>
                </a:cubicBezTo>
                <a:cubicBezTo>
                  <a:pt x="109141" y="132612"/>
                  <a:pt x="108179" y="135992"/>
                  <a:pt x="106474" y="138906"/>
                </a:cubicBezTo>
                <a:lnTo>
                  <a:pt x="109141" y="138906"/>
                </a:lnTo>
                <a:cubicBezTo>
                  <a:pt x="136550" y="138906"/>
                  <a:pt x="158750" y="116706"/>
                  <a:pt x="158750" y="89297"/>
                </a:cubicBezTo>
                <a:lnTo>
                  <a:pt x="158750" y="70166"/>
                </a:lnTo>
                <a:cubicBezTo>
                  <a:pt x="158750" y="57020"/>
                  <a:pt x="153510" y="44400"/>
                  <a:pt x="144208" y="35099"/>
                </a:cubicBezTo>
                <a:lnTo>
                  <a:pt x="140612" y="31502"/>
                </a:lnTo>
                <a:cubicBezTo>
                  <a:pt x="133170" y="24030"/>
                  <a:pt x="123062" y="19844"/>
                  <a:pt x="112551" y="19844"/>
                </a:cubicBezTo>
                <a:lnTo>
                  <a:pt x="104180" y="19844"/>
                </a:lnTo>
                <a:cubicBezTo>
                  <a:pt x="93235" y="19844"/>
                  <a:pt x="84336" y="28742"/>
                  <a:pt x="84336" y="39688"/>
                </a:cubicBezTo>
                <a:lnTo>
                  <a:pt x="84336" y="66973"/>
                </a:lnTo>
                <a:cubicBezTo>
                  <a:pt x="84336" y="73825"/>
                  <a:pt x="89886" y="79375"/>
                  <a:pt x="96738" y="79375"/>
                </a:cubicBezTo>
                <a:cubicBezTo>
                  <a:pt x="103591" y="79375"/>
                  <a:pt x="109141" y="73825"/>
                  <a:pt x="109141" y="66973"/>
                </a:cubicBezTo>
                <a:lnTo>
                  <a:pt x="109141" y="49609"/>
                </a:lnTo>
                <a:cubicBezTo>
                  <a:pt x="109141" y="46881"/>
                  <a:pt x="111373" y="44648"/>
                  <a:pt x="114102" y="44648"/>
                </a:cubicBezTo>
                <a:cubicBezTo>
                  <a:pt x="116830" y="44648"/>
                  <a:pt x="119062" y="46881"/>
                  <a:pt x="119062" y="49609"/>
                </a:cubicBezTo>
                <a:lnTo>
                  <a:pt x="119062" y="66973"/>
                </a:lnTo>
                <a:cubicBezTo>
                  <a:pt x="119062" y="79313"/>
                  <a:pt x="109079" y="89297"/>
                  <a:pt x="96738" y="89297"/>
                </a:cubicBezTo>
                <a:close/>
              </a:path>
            </a:pathLst>
          </a:custGeom>
          <a:solidFill>
            <a:srgbClr val="FFFFFF"/>
          </a:solidFill>
          <a:ln/>
        </p:spPr>
      </p:sp>
      <p:sp>
        <p:nvSpPr>
          <p:cNvPr id="41" name="Text 39"/>
          <p:cNvSpPr/>
          <p:nvPr/>
        </p:nvSpPr>
        <p:spPr>
          <a:xfrm>
            <a:off x="7023100" y="1720850"/>
            <a:ext cx="1206500"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Liter" pitchFamily="34" charset="0"/>
                <a:ea typeface="Liter" pitchFamily="34" charset="-122"/>
                <a:cs typeface="Liter" pitchFamily="34" charset="-120"/>
              </a:rPr>
              <a:t>False Alarm</a:t>
            </a:r>
            <a:endParaRPr lang="en-US" sz="1600" dirty="0"/>
          </a:p>
        </p:txBody>
      </p:sp>
      <p:sp>
        <p:nvSpPr>
          <p:cNvPr id="42" name="Text 40"/>
          <p:cNvSpPr/>
          <p:nvPr/>
        </p:nvSpPr>
        <p:spPr>
          <a:xfrm>
            <a:off x="7023100" y="1943100"/>
            <a:ext cx="119062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Hold ONE touch sensor</a:t>
            </a:r>
            <a:endParaRPr lang="en-US" sz="1600" dirty="0"/>
          </a:p>
        </p:txBody>
      </p:sp>
      <p:sp>
        <p:nvSpPr>
          <p:cNvPr id="43" name="Shape 41"/>
          <p:cNvSpPr/>
          <p:nvPr/>
        </p:nvSpPr>
        <p:spPr>
          <a:xfrm>
            <a:off x="6550025" y="2200275"/>
            <a:ext cx="4967288" cy="546100"/>
          </a:xfrm>
          <a:custGeom>
            <a:avLst/>
            <a:gdLst/>
            <a:ahLst/>
            <a:cxnLst/>
            <a:rect l="l" t="t" r="r" b="b"/>
            <a:pathLst>
              <a:path w="4967288" h="546100">
                <a:moveTo>
                  <a:pt x="63501" y="0"/>
                </a:moveTo>
                <a:lnTo>
                  <a:pt x="4903787" y="0"/>
                </a:lnTo>
                <a:cubicBezTo>
                  <a:pt x="4938857" y="0"/>
                  <a:pt x="4967288" y="28430"/>
                  <a:pt x="4967288" y="63501"/>
                </a:cubicBezTo>
                <a:lnTo>
                  <a:pt x="4967288" y="482599"/>
                </a:lnTo>
                <a:cubicBezTo>
                  <a:pt x="4967288" y="517670"/>
                  <a:pt x="4938857" y="546100"/>
                  <a:pt x="4903787" y="546100"/>
                </a:cubicBezTo>
                <a:lnTo>
                  <a:pt x="63501" y="546100"/>
                </a:lnTo>
                <a:cubicBezTo>
                  <a:pt x="28430" y="546100"/>
                  <a:pt x="0" y="517670"/>
                  <a:pt x="0" y="482599"/>
                </a:cubicBezTo>
                <a:lnTo>
                  <a:pt x="0" y="63501"/>
                </a:lnTo>
                <a:cubicBezTo>
                  <a:pt x="0" y="28430"/>
                  <a:pt x="28430" y="0"/>
                  <a:pt x="63501" y="0"/>
                </a:cubicBezTo>
                <a:close/>
              </a:path>
            </a:pathLst>
          </a:custGeom>
          <a:solidFill>
            <a:srgbClr val="FFFFFF"/>
          </a:solidFill>
          <a:ln w="10160">
            <a:solidFill>
              <a:srgbClr val="E5E5E5"/>
            </a:solidFill>
            <a:prstDash val="solid"/>
          </a:ln>
        </p:spPr>
      </p:sp>
      <p:sp>
        <p:nvSpPr>
          <p:cNvPr id="44" name="Text 42"/>
          <p:cNvSpPr/>
          <p:nvPr/>
        </p:nvSpPr>
        <p:spPr>
          <a:xfrm>
            <a:off x="6648450" y="2298701"/>
            <a:ext cx="4826000"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tcpClient.print(</a:t>
            </a:r>
            <a:r>
              <a:rPr lang="en-US" sz="875" dirty="0">
                <a:solidFill>
                  <a:srgbClr val="34C759"/>
                </a:solidFill>
                <a:latin typeface="MiSans" pitchFamily="34" charset="0"/>
                <a:ea typeface="MiSans" pitchFamily="34" charset="-122"/>
                <a:cs typeface="MiSans" pitchFamily="34" charset="-120"/>
              </a:rPr>
              <a:t>"STOP\n"</a:t>
            </a:r>
            <a:r>
              <a:rPr lang="en-US" sz="875" dirty="0">
                <a:solidFill>
                  <a:srgbClr val="1D1D1D"/>
                </a:solidFill>
                <a:latin typeface="MiSans" pitchFamily="34" charset="0"/>
                <a:ea typeface="MiSans" pitchFamily="34" charset="-122"/>
                <a:cs typeface="MiSans" pitchFamily="34" charset="-120"/>
              </a:rPr>
              <a:t>)</a:t>
            </a:r>
            <a:endParaRPr lang="en-US" sz="1600" dirty="0"/>
          </a:p>
        </p:txBody>
      </p:sp>
      <p:sp>
        <p:nvSpPr>
          <p:cNvPr id="45" name="Text 43"/>
          <p:cNvSpPr/>
          <p:nvPr/>
        </p:nvSpPr>
        <p:spPr>
          <a:xfrm>
            <a:off x="6648450" y="2520951"/>
            <a:ext cx="4818063" cy="127000"/>
          </a:xfrm>
          <a:prstGeom prst="rect">
            <a:avLst/>
          </a:prstGeom>
          <a:noFill/>
          <a:ln/>
        </p:spPr>
        <p:txBody>
          <a:bodyPr wrap="square" lIns="0" tIns="0" rIns="0" bIns="0" rtlCol="0" anchor="ctr"/>
          <a:lstStyle/>
          <a:p>
            <a:pPr>
              <a:lnSpc>
                <a:spcPct val="110000"/>
              </a:lnSpc>
            </a:pPr>
            <a:r>
              <a:rPr lang="en-US" sz="750" dirty="0">
                <a:solidFill>
                  <a:srgbClr val="86868B"/>
                </a:solidFill>
                <a:latin typeface="Liter" pitchFamily="34" charset="0"/>
                <a:ea typeface="Liter" pitchFamily="34" charset="-122"/>
                <a:cs typeface="Liter" pitchFamily="34" charset="-120"/>
              </a:rPr>
              <a:t>Sends STOP command to cancel alert without triggering Blynk notification</a:t>
            </a:r>
            <a:endParaRPr lang="en-US" sz="1600" dirty="0"/>
          </a:p>
        </p:txBody>
      </p:sp>
      <p:sp>
        <p:nvSpPr>
          <p:cNvPr id="46" name="Shape 44"/>
          <p:cNvSpPr/>
          <p:nvPr/>
        </p:nvSpPr>
        <p:spPr>
          <a:xfrm>
            <a:off x="8269387" y="3146227"/>
            <a:ext cx="508000" cy="31750"/>
          </a:xfrm>
          <a:custGeom>
            <a:avLst/>
            <a:gdLst/>
            <a:ahLst/>
            <a:cxnLst/>
            <a:rect l="l" t="t" r="r" b="b"/>
            <a:pathLst>
              <a:path w="508000" h="31750">
                <a:moveTo>
                  <a:pt x="0" y="0"/>
                </a:moveTo>
                <a:lnTo>
                  <a:pt x="508000" y="0"/>
                </a:lnTo>
                <a:lnTo>
                  <a:pt x="508000" y="31750"/>
                </a:lnTo>
                <a:lnTo>
                  <a:pt x="0" y="31750"/>
                </a:lnTo>
                <a:lnTo>
                  <a:pt x="0" y="0"/>
                </a:lnTo>
                <a:close/>
              </a:path>
            </a:pathLst>
          </a:custGeom>
          <a:solidFill>
            <a:srgbClr val="E5E5E5"/>
          </a:solidFill>
          <a:ln/>
        </p:spPr>
      </p:sp>
      <p:sp>
        <p:nvSpPr>
          <p:cNvPr id="47" name="Text 45"/>
          <p:cNvSpPr/>
          <p:nvPr/>
        </p:nvSpPr>
        <p:spPr>
          <a:xfrm>
            <a:off x="8904387" y="3035202"/>
            <a:ext cx="349250" cy="254000"/>
          </a:xfrm>
          <a:prstGeom prst="rect">
            <a:avLst/>
          </a:prstGeom>
          <a:noFill/>
          <a:ln/>
        </p:spPr>
        <p:txBody>
          <a:bodyPr wrap="square" lIns="0" tIns="0" rIns="0" bIns="0" rtlCol="0" anchor="ctr"/>
          <a:lstStyle/>
          <a:p>
            <a:pPr>
              <a:lnSpc>
                <a:spcPct val="110000"/>
              </a:lnSpc>
            </a:pPr>
            <a:r>
              <a:rPr lang="en-US" sz="1500" b="1" dirty="0">
                <a:solidFill>
                  <a:srgbClr val="86868B"/>
                </a:solidFill>
                <a:latin typeface="Liter" pitchFamily="34" charset="0"/>
                <a:ea typeface="Liter" pitchFamily="34" charset="-122"/>
                <a:cs typeface="Liter" pitchFamily="34" charset="-120"/>
              </a:rPr>
              <a:t>OR</a:t>
            </a:r>
            <a:endParaRPr lang="en-US" sz="1600" dirty="0"/>
          </a:p>
        </p:txBody>
      </p:sp>
      <p:sp>
        <p:nvSpPr>
          <p:cNvPr id="48" name="Shape 46"/>
          <p:cNvSpPr/>
          <p:nvPr/>
        </p:nvSpPr>
        <p:spPr>
          <a:xfrm>
            <a:off x="9288264" y="3146227"/>
            <a:ext cx="508000" cy="31750"/>
          </a:xfrm>
          <a:custGeom>
            <a:avLst/>
            <a:gdLst/>
            <a:ahLst/>
            <a:cxnLst/>
            <a:rect l="l" t="t" r="r" b="b"/>
            <a:pathLst>
              <a:path w="508000" h="31750">
                <a:moveTo>
                  <a:pt x="0" y="0"/>
                </a:moveTo>
                <a:lnTo>
                  <a:pt x="508000" y="0"/>
                </a:lnTo>
                <a:lnTo>
                  <a:pt x="508000" y="31750"/>
                </a:lnTo>
                <a:lnTo>
                  <a:pt x="0" y="31750"/>
                </a:lnTo>
                <a:lnTo>
                  <a:pt x="0" y="0"/>
                </a:lnTo>
                <a:close/>
              </a:path>
            </a:pathLst>
          </a:custGeom>
          <a:solidFill>
            <a:srgbClr val="E5E5E5"/>
          </a:solidFill>
          <a:ln/>
        </p:spPr>
      </p:sp>
      <p:sp>
        <p:nvSpPr>
          <p:cNvPr id="49" name="Shape 47"/>
          <p:cNvSpPr/>
          <p:nvPr/>
        </p:nvSpPr>
        <p:spPr>
          <a:xfrm>
            <a:off x="6388100" y="3416102"/>
            <a:ext cx="5286375" cy="1349375"/>
          </a:xfrm>
          <a:custGeom>
            <a:avLst/>
            <a:gdLst/>
            <a:ahLst/>
            <a:cxnLst/>
            <a:rect l="l" t="t" r="r" b="b"/>
            <a:pathLst>
              <a:path w="5286375" h="1349375">
                <a:moveTo>
                  <a:pt x="95252" y="0"/>
                </a:moveTo>
                <a:lnTo>
                  <a:pt x="5191123" y="0"/>
                </a:lnTo>
                <a:cubicBezTo>
                  <a:pt x="5243729" y="0"/>
                  <a:pt x="5286375" y="42646"/>
                  <a:pt x="5286375" y="95252"/>
                </a:cubicBezTo>
                <a:lnTo>
                  <a:pt x="5286375" y="1254123"/>
                </a:lnTo>
                <a:cubicBezTo>
                  <a:pt x="5286375" y="1306729"/>
                  <a:pt x="5243729" y="1349375"/>
                  <a:pt x="5191123" y="1349375"/>
                </a:cubicBezTo>
                <a:lnTo>
                  <a:pt x="95252" y="1349375"/>
                </a:lnTo>
                <a:cubicBezTo>
                  <a:pt x="42646" y="1349375"/>
                  <a:pt x="0" y="1306729"/>
                  <a:pt x="0" y="1254123"/>
                </a:cubicBezTo>
                <a:lnTo>
                  <a:pt x="0" y="95252"/>
                </a:lnTo>
                <a:cubicBezTo>
                  <a:pt x="0" y="42681"/>
                  <a:pt x="42681" y="0"/>
                  <a:pt x="95252" y="0"/>
                </a:cubicBezTo>
                <a:close/>
              </a:path>
            </a:pathLst>
          </a:custGeom>
          <a:solidFill>
            <a:srgbClr val="FAFAFA"/>
          </a:solidFill>
          <a:ln/>
        </p:spPr>
      </p:sp>
      <p:sp>
        <p:nvSpPr>
          <p:cNvPr id="50" name="Shape 48"/>
          <p:cNvSpPr/>
          <p:nvPr/>
        </p:nvSpPr>
        <p:spPr>
          <a:xfrm>
            <a:off x="6546850" y="3574852"/>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34C759"/>
          </a:solidFill>
          <a:ln/>
        </p:spPr>
      </p:sp>
      <p:sp>
        <p:nvSpPr>
          <p:cNvPr id="51" name="Shape 49"/>
          <p:cNvSpPr/>
          <p:nvPr/>
        </p:nvSpPr>
        <p:spPr>
          <a:xfrm>
            <a:off x="6574631" y="3685977"/>
            <a:ext cx="119063" cy="158750"/>
          </a:xfrm>
          <a:custGeom>
            <a:avLst/>
            <a:gdLst/>
            <a:ahLst/>
            <a:cxnLst/>
            <a:rect l="l" t="t" r="r" b="b"/>
            <a:pathLst>
              <a:path w="119063" h="158750">
                <a:moveTo>
                  <a:pt x="9922" y="9922"/>
                </a:moveTo>
                <a:cubicBezTo>
                  <a:pt x="9922" y="4434"/>
                  <a:pt x="14356" y="0"/>
                  <a:pt x="19844" y="0"/>
                </a:cubicBezTo>
                <a:cubicBezTo>
                  <a:pt x="25332" y="0"/>
                  <a:pt x="29766" y="4434"/>
                  <a:pt x="29766" y="9922"/>
                </a:cubicBezTo>
                <a:lnTo>
                  <a:pt x="29766" y="74414"/>
                </a:lnTo>
                <a:lnTo>
                  <a:pt x="9922" y="74414"/>
                </a:lnTo>
                <a:lnTo>
                  <a:pt x="9922" y="9922"/>
                </a:lnTo>
                <a:close/>
                <a:moveTo>
                  <a:pt x="69453" y="59531"/>
                </a:moveTo>
                <a:cubicBezTo>
                  <a:pt x="69453" y="54043"/>
                  <a:pt x="73887" y="49609"/>
                  <a:pt x="79375" y="49609"/>
                </a:cubicBezTo>
                <a:cubicBezTo>
                  <a:pt x="84863" y="49609"/>
                  <a:pt x="89297" y="54043"/>
                  <a:pt x="89297" y="59531"/>
                </a:cubicBezTo>
                <a:lnTo>
                  <a:pt x="89297" y="79375"/>
                </a:lnTo>
                <a:cubicBezTo>
                  <a:pt x="89297" y="84863"/>
                  <a:pt x="84863" y="89297"/>
                  <a:pt x="79375" y="89297"/>
                </a:cubicBezTo>
                <a:cubicBezTo>
                  <a:pt x="73887" y="89297"/>
                  <a:pt x="69453" y="84863"/>
                  <a:pt x="69453" y="79375"/>
                </a:cubicBezTo>
                <a:lnTo>
                  <a:pt x="69453" y="59531"/>
                </a:lnTo>
                <a:close/>
                <a:moveTo>
                  <a:pt x="49609" y="39688"/>
                </a:moveTo>
                <a:cubicBezTo>
                  <a:pt x="55097" y="39688"/>
                  <a:pt x="59531" y="44121"/>
                  <a:pt x="59531" y="49609"/>
                </a:cubicBezTo>
                <a:lnTo>
                  <a:pt x="59531" y="64492"/>
                </a:lnTo>
                <a:cubicBezTo>
                  <a:pt x="59531" y="69980"/>
                  <a:pt x="55097" y="74414"/>
                  <a:pt x="49609" y="74414"/>
                </a:cubicBezTo>
                <a:cubicBezTo>
                  <a:pt x="44121" y="74414"/>
                  <a:pt x="39688" y="69980"/>
                  <a:pt x="39688" y="64492"/>
                </a:cubicBezTo>
                <a:lnTo>
                  <a:pt x="39688" y="49609"/>
                </a:lnTo>
                <a:cubicBezTo>
                  <a:pt x="39688" y="44121"/>
                  <a:pt x="44121" y="39688"/>
                  <a:pt x="49609" y="39688"/>
                </a:cubicBezTo>
                <a:close/>
                <a:moveTo>
                  <a:pt x="99219" y="69453"/>
                </a:moveTo>
                <a:cubicBezTo>
                  <a:pt x="99219" y="63965"/>
                  <a:pt x="103653" y="59531"/>
                  <a:pt x="109141" y="59531"/>
                </a:cubicBezTo>
                <a:cubicBezTo>
                  <a:pt x="114629" y="59531"/>
                  <a:pt x="119062" y="63965"/>
                  <a:pt x="119062" y="69453"/>
                </a:cubicBezTo>
                <a:lnTo>
                  <a:pt x="119062" y="89297"/>
                </a:lnTo>
                <a:cubicBezTo>
                  <a:pt x="119062" y="94785"/>
                  <a:pt x="114629" y="99219"/>
                  <a:pt x="109141" y="99219"/>
                </a:cubicBezTo>
                <a:cubicBezTo>
                  <a:pt x="103653" y="99219"/>
                  <a:pt x="99219" y="94785"/>
                  <a:pt x="99219" y="89297"/>
                </a:cubicBezTo>
                <a:lnTo>
                  <a:pt x="99219" y="69453"/>
                </a:lnTo>
                <a:close/>
                <a:moveTo>
                  <a:pt x="69453" y="96738"/>
                </a:moveTo>
                <a:lnTo>
                  <a:pt x="69453" y="96552"/>
                </a:lnTo>
                <a:cubicBezTo>
                  <a:pt x="72368" y="98227"/>
                  <a:pt x="75747" y="99219"/>
                  <a:pt x="79375" y="99219"/>
                </a:cubicBezTo>
                <a:cubicBezTo>
                  <a:pt x="83468" y="99219"/>
                  <a:pt x="87250" y="97979"/>
                  <a:pt x="90413" y="95870"/>
                </a:cubicBezTo>
                <a:cubicBezTo>
                  <a:pt x="93111" y="103591"/>
                  <a:pt x="100490" y="109141"/>
                  <a:pt x="109141" y="109141"/>
                </a:cubicBezTo>
                <a:cubicBezTo>
                  <a:pt x="112768" y="109141"/>
                  <a:pt x="116148" y="108179"/>
                  <a:pt x="119062" y="106474"/>
                </a:cubicBezTo>
                <a:lnTo>
                  <a:pt x="119062" y="109141"/>
                </a:lnTo>
                <a:cubicBezTo>
                  <a:pt x="119062" y="136550"/>
                  <a:pt x="96862" y="158750"/>
                  <a:pt x="69453" y="158750"/>
                </a:cubicBezTo>
                <a:lnTo>
                  <a:pt x="50323" y="158750"/>
                </a:lnTo>
                <a:cubicBezTo>
                  <a:pt x="37176" y="158750"/>
                  <a:pt x="24557" y="153510"/>
                  <a:pt x="15255" y="144208"/>
                </a:cubicBezTo>
                <a:lnTo>
                  <a:pt x="11627" y="140612"/>
                </a:lnTo>
                <a:cubicBezTo>
                  <a:pt x="4186" y="133170"/>
                  <a:pt x="0" y="123062"/>
                  <a:pt x="0" y="112551"/>
                </a:cubicBezTo>
                <a:lnTo>
                  <a:pt x="0" y="104180"/>
                </a:lnTo>
                <a:cubicBezTo>
                  <a:pt x="0" y="93235"/>
                  <a:pt x="8899" y="84336"/>
                  <a:pt x="19844" y="84336"/>
                </a:cubicBezTo>
                <a:lnTo>
                  <a:pt x="47129" y="84336"/>
                </a:lnTo>
                <a:cubicBezTo>
                  <a:pt x="53981" y="84336"/>
                  <a:pt x="59531" y="89886"/>
                  <a:pt x="59531" y="96738"/>
                </a:cubicBezTo>
                <a:cubicBezTo>
                  <a:pt x="59531" y="103591"/>
                  <a:pt x="53981" y="109141"/>
                  <a:pt x="47129" y="109141"/>
                </a:cubicBezTo>
                <a:lnTo>
                  <a:pt x="29766" y="109141"/>
                </a:lnTo>
                <a:cubicBezTo>
                  <a:pt x="27037" y="109141"/>
                  <a:pt x="24805" y="111373"/>
                  <a:pt x="24805" y="114102"/>
                </a:cubicBezTo>
                <a:cubicBezTo>
                  <a:pt x="24805" y="116830"/>
                  <a:pt x="27037" y="119062"/>
                  <a:pt x="29766" y="119062"/>
                </a:cubicBezTo>
                <a:lnTo>
                  <a:pt x="47129" y="119062"/>
                </a:lnTo>
                <a:cubicBezTo>
                  <a:pt x="59469" y="119062"/>
                  <a:pt x="69453" y="109079"/>
                  <a:pt x="69453" y="96738"/>
                </a:cubicBezTo>
                <a:close/>
              </a:path>
            </a:pathLst>
          </a:custGeom>
          <a:solidFill>
            <a:srgbClr val="FFFFFF"/>
          </a:solidFill>
          <a:ln/>
        </p:spPr>
      </p:sp>
      <p:sp>
        <p:nvSpPr>
          <p:cNvPr id="52" name="Shape 50"/>
          <p:cNvSpPr/>
          <p:nvPr/>
        </p:nvSpPr>
        <p:spPr>
          <a:xfrm>
            <a:off x="6781006" y="3685977"/>
            <a:ext cx="119063" cy="158750"/>
          </a:xfrm>
          <a:custGeom>
            <a:avLst/>
            <a:gdLst/>
            <a:ahLst/>
            <a:cxnLst/>
            <a:rect l="l" t="t" r="r" b="b"/>
            <a:pathLst>
              <a:path w="119063" h="158750">
                <a:moveTo>
                  <a:pt x="9922" y="9922"/>
                </a:moveTo>
                <a:cubicBezTo>
                  <a:pt x="9922" y="4434"/>
                  <a:pt x="14356" y="0"/>
                  <a:pt x="19844" y="0"/>
                </a:cubicBezTo>
                <a:cubicBezTo>
                  <a:pt x="25332" y="0"/>
                  <a:pt x="29766" y="4434"/>
                  <a:pt x="29766" y="9922"/>
                </a:cubicBezTo>
                <a:lnTo>
                  <a:pt x="29766" y="74414"/>
                </a:lnTo>
                <a:lnTo>
                  <a:pt x="9922" y="74414"/>
                </a:lnTo>
                <a:lnTo>
                  <a:pt x="9922" y="9922"/>
                </a:lnTo>
                <a:close/>
                <a:moveTo>
                  <a:pt x="69453" y="59531"/>
                </a:moveTo>
                <a:cubicBezTo>
                  <a:pt x="69453" y="54043"/>
                  <a:pt x="73887" y="49609"/>
                  <a:pt x="79375" y="49609"/>
                </a:cubicBezTo>
                <a:cubicBezTo>
                  <a:pt x="84863" y="49609"/>
                  <a:pt x="89297" y="54043"/>
                  <a:pt x="89297" y="59531"/>
                </a:cubicBezTo>
                <a:lnTo>
                  <a:pt x="89297" y="79375"/>
                </a:lnTo>
                <a:cubicBezTo>
                  <a:pt x="89297" y="84863"/>
                  <a:pt x="84863" y="89297"/>
                  <a:pt x="79375" y="89297"/>
                </a:cubicBezTo>
                <a:cubicBezTo>
                  <a:pt x="73887" y="89297"/>
                  <a:pt x="69453" y="84863"/>
                  <a:pt x="69453" y="79375"/>
                </a:cubicBezTo>
                <a:lnTo>
                  <a:pt x="69453" y="59531"/>
                </a:lnTo>
                <a:close/>
                <a:moveTo>
                  <a:pt x="49609" y="39688"/>
                </a:moveTo>
                <a:cubicBezTo>
                  <a:pt x="55097" y="39688"/>
                  <a:pt x="59531" y="44121"/>
                  <a:pt x="59531" y="49609"/>
                </a:cubicBezTo>
                <a:lnTo>
                  <a:pt x="59531" y="64492"/>
                </a:lnTo>
                <a:cubicBezTo>
                  <a:pt x="59531" y="69980"/>
                  <a:pt x="55097" y="74414"/>
                  <a:pt x="49609" y="74414"/>
                </a:cubicBezTo>
                <a:cubicBezTo>
                  <a:pt x="44121" y="74414"/>
                  <a:pt x="39688" y="69980"/>
                  <a:pt x="39688" y="64492"/>
                </a:cubicBezTo>
                <a:lnTo>
                  <a:pt x="39688" y="49609"/>
                </a:lnTo>
                <a:cubicBezTo>
                  <a:pt x="39688" y="44121"/>
                  <a:pt x="44121" y="39688"/>
                  <a:pt x="49609" y="39688"/>
                </a:cubicBezTo>
                <a:close/>
                <a:moveTo>
                  <a:pt x="99219" y="69453"/>
                </a:moveTo>
                <a:cubicBezTo>
                  <a:pt x="99219" y="63965"/>
                  <a:pt x="103653" y="59531"/>
                  <a:pt x="109141" y="59531"/>
                </a:cubicBezTo>
                <a:cubicBezTo>
                  <a:pt x="114629" y="59531"/>
                  <a:pt x="119062" y="63965"/>
                  <a:pt x="119062" y="69453"/>
                </a:cubicBezTo>
                <a:lnTo>
                  <a:pt x="119062" y="89297"/>
                </a:lnTo>
                <a:cubicBezTo>
                  <a:pt x="119062" y="94785"/>
                  <a:pt x="114629" y="99219"/>
                  <a:pt x="109141" y="99219"/>
                </a:cubicBezTo>
                <a:cubicBezTo>
                  <a:pt x="103653" y="99219"/>
                  <a:pt x="99219" y="94785"/>
                  <a:pt x="99219" y="89297"/>
                </a:cubicBezTo>
                <a:lnTo>
                  <a:pt x="99219" y="69453"/>
                </a:lnTo>
                <a:close/>
                <a:moveTo>
                  <a:pt x="69453" y="96738"/>
                </a:moveTo>
                <a:lnTo>
                  <a:pt x="69453" y="96552"/>
                </a:lnTo>
                <a:cubicBezTo>
                  <a:pt x="72368" y="98227"/>
                  <a:pt x="75747" y="99219"/>
                  <a:pt x="79375" y="99219"/>
                </a:cubicBezTo>
                <a:cubicBezTo>
                  <a:pt x="83468" y="99219"/>
                  <a:pt x="87250" y="97979"/>
                  <a:pt x="90413" y="95870"/>
                </a:cubicBezTo>
                <a:cubicBezTo>
                  <a:pt x="93111" y="103591"/>
                  <a:pt x="100490" y="109141"/>
                  <a:pt x="109141" y="109141"/>
                </a:cubicBezTo>
                <a:cubicBezTo>
                  <a:pt x="112768" y="109141"/>
                  <a:pt x="116148" y="108179"/>
                  <a:pt x="119062" y="106474"/>
                </a:cubicBezTo>
                <a:lnTo>
                  <a:pt x="119062" y="109141"/>
                </a:lnTo>
                <a:cubicBezTo>
                  <a:pt x="119062" y="136550"/>
                  <a:pt x="96862" y="158750"/>
                  <a:pt x="69453" y="158750"/>
                </a:cubicBezTo>
                <a:lnTo>
                  <a:pt x="50323" y="158750"/>
                </a:lnTo>
                <a:cubicBezTo>
                  <a:pt x="37176" y="158750"/>
                  <a:pt x="24557" y="153510"/>
                  <a:pt x="15255" y="144208"/>
                </a:cubicBezTo>
                <a:lnTo>
                  <a:pt x="11627" y="140612"/>
                </a:lnTo>
                <a:cubicBezTo>
                  <a:pt x="4186" y="133170"/>
                  <a:pt x="0" y="123062"/>
                  <a:pt x="0" y="112551"/>
                </a:cubicBezTo>
                <a:lnTo>
                  <a:pt x="0" y="104180"/>
                </a:lnTo>
                <a:cubicBezTo>
                  <a:pt x="0" y="93235"/>
                  <a:pt x="8899" y="84336"/>
                  <a:pt x="19844" y="84336"/>
                </a:cubicBezTo>
                <a:lnTo>
                  <a:pt x="47129" y="84336"/>
                </a:lnTo>
                <a:cubicBezTo>
                  <a:pt x="53981" y="84336"/>
                  <a:pt x="59531" y="89886"/>
                  <a:pt x="59531" y="96738"/>
                </a:cubicBezTo>
                <a:cubicBezTo>
                  <a:pt x="59531" y="103591"/>
                  <a:pt x="53981" y="109141"/>
                  <a:pt x="47129" y="109141"/>
                </a:cubicBezTo>
                <a:lnTo>
                  <a:pt x="29766" y="109141"/>
                </a:lnTo>
                <a:cubicBezTo>
                  <a:pt x="27037" y="109141"/>
                  <a:pt x="24805" y="111373"/>
                  <a:pt x="24805" y="114102"/>
                </a:cubicBezTo>
                <a:cubicBezTo>
                  <a:pt x="24805" y="116830"/>
                  <a:pt x="27037" y="119062"/>
                  <a:pt x="29766" y="119062"/>
                </a:cubicBezTo>
                <a:lnTo>
                  <a:pt x="47129" y="119062"/>
                </a:lnTo>
                <a:cubicBezTo>
                  <a:pt x="59469" y="119062"/>
                  <a:pt x="69453" y="109079"/>
                  <a:pt x="69453" y="96738"/>
                </a:cubicBezTo>
                <a:close/>
              </a:path>
            </a:pathLst>
          </a:custGeom>
          <a:solidFill>
            <a:srgbClr val="FFFFFF"/>
          </a:solidFill>
          <a:ln/>
        </p:spPr>
      </p:sp>
      <p:sp>
        <p:nvSpPr>
          <p:cNvPr id="53" name="Text 51"/>
          <p:cNvSpPr/>
          <p:nvPr/>
        </p:nvSpPr>
        <p:spPr>
          <a:xfrm>
            <a:off x="7023100" y="3574852"/>
            <a:ext cx="1333500"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Liter" pitchFamily="34" charset="0"/>
                <a:ea typeface="Liter" pitchFamily="34" charset="-122"/>
                <a:cs typeface="Liter" pitchFamily="34" charset="-120"/>
              </a:rPr>
              <a:t>Real Emergency</a:t>
            </a:r>
            <a:endParaRPr lang="en-US" sz="1600" dirty="0"/>
          </a:p>
        </p:txBody>
      </p:sp>
      <p:sp>
        <p:nvSpPr>
          <p:cNvPr id="54" name="Text 52"/>
          <p:cNvSpPr/>
          <p:nvPr/>
        </p:nvSpPr>
        <p:spPr>
          <a:xfrm>
            <a:off x="7023100" y="3797102"/>
            <a:ext cx="131762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Hold BOTH touch sensors</a:t>
            </a:r>
            <a:endParaRPr lang="en-US" sz="1600" dirty="0"/>
          </a:p>
        </p:txBody>
      </p:sp>
      <p:sp>
        <p:nvSpPr>
          <p:cNvPr id="55" name="Shape 53"/>
          <p:cNvSpPr/>
          <p:nvPr/>
        </p:nvSpPr>
        <p:spPr>
          <a:xfrm>
            <a:off x="6550025" y="4054277"/>
            <a:ext cx="4967288" cy="546100"/>
          </a:xfrm>
          <a:custGeom>
            <a:avLst/>
            <a:gdLst/>
            <a:ahLst/>
            <a:cxnLst/>
            <a:rect l="l" t="t" r="r" b="b"/>
            <a:pathLst>
              <a:path w="4967288" h="546100">
                <a:moveTo>
                  <a:pt x="63501" y="0"/>
                </a:moveTo>
                <a:lnTo>
                  <a:pt x="4903787" y="0"/>
                </a:lnTo>
                <a:cubicBezTo>
                  <a:pt x="4938857" y="0"/>
                  <a:pt x="4967288" y="28430"/>
                  <a:pt x="4967288" y="63501"/>
                </a:cubicBezTo>
                <a:lnTo>
                  <a:pt x="4967288" y="482599"/>
                </a:lnTo>
                <a:cubicBezTo>
                  <a:pt x="4967288" y="517670"/>
                  <a:pt x="4938857" y="546100"/>
                  <a:pt x="4903787" y="546100"/>
                </a:cubicBezTo>
                <a:lnTo>
                  <a:pt x="63501" y="546100"/>
                </a:lnTo>
                <a:cubicBezTo>
                  <a:pt x="28430" y="546100"/>
                  <a:pt x="0" y="517670"/>
                  <a:pt x="0" y="482599"/>
                </a:cubicBezTo>
                <a:lnTo>
                  <a:pt x="0" y="63501"/>
                </a:lnTo>
                <a:cubicBezTo>
                  <a:pt x="0" y="28430"/>
                  <a:pt x="28430" y="0"/>
                  <a:pt x="63501" y="0"/>
                </a:cubicBezTo>
                <a:close/>
              </a:path>
            </a:pathLst>
          </a:custGeom>
          <a:solidFill>
            <a:srgbClr val="FFFFFF"/>
          </a:solidFill>
          <a:ln w="10160">
            <a:solidFill>
              <a:srgbClr val="E5E5E5"/>
            </a:solidFill>
            <a:prstDash val="solid"/>
          </a:ln>
        </p:spPr>
      </p:sp>
      <p:sp>
        <p:nvSpPr>
          <p:cNvPr id="56" name="Text 54"/>
          <p:cNvSpPr/>
          <p:nvPr/>
        </p:nvSpPr>
        <p:spPr>
          <a:xfrm>
            <a:off x="6648450" y="4152702"/>
            <a:ext cx="4826000"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tcpClient.print(</a:t>
            </a:r>
            <a:r>
              <a:rPr lang="en-US" sz="875" dirty="0">
                <a:solidFill>
                  <a:srgbClr val="34C759"/>
                </a:solidFill>
                <a:latin typeface="MiSans" pitchFamily="34" charset="0"/>
                <a:ea typeface="MiSans" pitchFamily="34" charset="-122"/>
                <a:cs typeface="MiSans" pitchFamily="34" charset="-120"/>
              </a:rPr>
              <a:t>"ACK\n"</a:t>
            </a:r>
            <a:r>
              <a:rPr lang="en-US" sz="875" dirty="0">
                <a:solidFill>
                  <a:srgbClr val="1D1D1D"/>
                </a:solidFill>
                <a:latin typeface="MiSans" pitchFamily="34" charset="0"/>
                <a:ea typeface="MiSans" pitchFamily="34" charset="-122"/>
                <a:cs typeface="MiSans" pitchFamily="34" charset="-120"/>
              </a:rPr>
              <a:t>)</a:t>
            </a:r>
            <a:endParaRPr lang="en-US" sz="1600" dirty="0"/>
          </a:p>
        </p:txBody>
      </p:sp>
      <p:sp>
        <p:nvSpPr>
          <p:cNvPr id="57" name="Text 55"/>
          <p:cNvSpPr/>
          <p:nvPr/>
        </p:nvSpPr>
        <p:spPr>
          <a:xfrm>
            <a:off x="6648450" y="4374952"/>
            <a:ext cx="4818063" cy="127000"/>
          </a:xfrm>
          <a:prstGeom prst="rect">
            <a:avLst/>
          </a:prstGeom>
          <a:noFill/>
          <a:ln/>
        </p:spPr>
        <p:txBody>
          <a:bodyPr wrap="square" lIns="0" tIns="0" rIns="0" bIns="0" rtlCol="0" anchor="ctr"/>
          <a:lstStyle/>
          <a:p>
            <a:pPr>
              <a:lnSpc>
                <a:spcPct val="110000"/>
              </a:lnSpc>
            </a:pPr>
            <a:r>
              <a:rPr lang="en-US" sz="750" dirty="0">
                <a:solidFill>
                  <a:srgbClr val="86868B"/>
                </a:solidFill>
                <a:latin typeface="Liter" pitchFamily="34" charset="0"/>
                <a:ea typeface="Liter" pitchFamily="34" charset="-122"/>
                <a:cs typeface="Liter" pitchFamily="34" charset="-120"/>
              </a:rPr>
              <a:t>Sends ACK command confirming emergency, triggers Blynk notification</a:t>
            </a:r>
            <a:endParaRPr lang="en-US" sz="1600" dirty="0"/>
          </a:p>
        </p:txBody>
      </p:sp>
      <p:sp>
        <p:nvSpPr>
          <p:cNvPr id="58" name="Shape 56"/>
          <p:cNvSpPr/>
          <p:nvPr/>
        </p:nvSpPr>
        <p:spPr>
          <a:xfrm>
            <a:off x="6194425" y="5829970"/>
            <a:ext cx="5673725" cy="641350"/>
          </a:xfrm>
          <a:custGeom>
            <a:avLst/>
            <a:gdLst/>
            <a:ahLst/>
            <a:cxnLst/>
            <a:rect l="l" t="t" r="r" b="b"/>
            <a:pathLst>
              <a:path w="5673725" h="641350">
                <a:moveTo>
                  <a:pt x="95247" y="0"/>
                </a:moveTo>
                <a:lnTo>
                  <a:pt x="5578478" y="0"/>
                </a:lnTo>
                <a:cubicBezTo>
                  <a:pt x="5631082" y="0"/>
                  <a:pt x="5673725" y="42643"/>
                  <a:pt x="5673725" y="95247"/>
                </a:cubicBezTo>
                <a:lnTo>
                  <a:pt x="5673725" y="546103"/>
                </a:lnTo>
                <a:cubicBezTo>
                  <a:pt x="5673725" y="598707"/>
                  <a:pt x="5631082" y="641350"/>
                  <a:pt x="5578478" y="641350"/>
                </a:cubicBezTo>
                <a:lnTo>
                  <a:pt x="95247" y="641350"/>
                </a:lnTo>
                <a:cubicBezTo>
                  <a:pt x="42679" y="641350"/>
                  <a:pt x="0" y="598671"/>
                  <a:pt x="0" y="546103"/>
                </a:cubicBezTo>
                <a:lnTo>
                  <a:pt x="0" y="95247"/>
                </a:lnTo>
                <a:cubicBezTo>
                  <a:pt x="0" y="42679"/>
                  <a:pt x="42679" y="0"/>
                  <a:pt x="95247" y="0"/>
                </a:cubicBezTo>
                <a:close/>
              </a:path>
            </a:pathLst>
          </a:custGeom>
          <a:solidFill>
            <a:srgbClr val="0071E3">
              <a:alpha val="5098"/>
            </a:srgbClr>
          </a:solidFill>
          <a:ln w="10160">
            <a:solidFill>
              <a:srgbClr val="0071E3">
                <a:alpha val="20000"/>
              </a:srgbClr>
            </a:solidFill>
            <a:prstDash val="solid"/>
          </a:ln>
        </p:spPr>
      </p:sp>
      <p:sp>
        <p:nvSpPr>
          <p:cNvPr id="59" name="Shape 57"/>
          <p:cNvSpPr/>
          <p:nvPr/>
        </p:nvSpPr>
        <p:spPr>
          <a:xfrm>
            <a:off x="6348412" y="6055394"/>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0071E3"/>
          </a:solidFill>
          <a:ln/>
        </p:spPr>
      </p:sp>
      <p:sp>
        <p:nvSpPr>
          <p:cNvPr id="60" name="Text 58"/>
          <p:cNvSpPr/>
          <p:nvPr/>
        </p:nvSpPr>
        <p:spPr>
          <a:xfrm>
            <a:off x="6657975" y="5960144"/>
            <a:ext cx="4087812"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Liter" pitchFamily="34" charset="0"/>
                <a:ea typeface="Liter" pitchFamily="34" charset="-122"/>
                <a:cs typeface="Liter" pitchFamily="34" charset="-120"/>
              </a:rPr>
              <a:t>2-Second Validation</a:t>
            </a:r>
            <a:endParaRPr lang="en-US" sz="1600" dirty="0"/>
          </a:p>
        </p:txBody>
      </p:sp>
      <p:sp>
        <p:nvSpPr>
          <p:cNvPr id="61" name="Text 59"/>
          <p:cNvSpPr/>
          <p:nvPr/>
        </p:nvSpPr>
        <p:spPr>
          <a:xfrm>
            <a:off x="6657975" y="6182394"/>
            <a:ext cx="40798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Code Line 314: User must hold sensor(s) for 2000ms to prevent accidental triggers</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20574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Liter" pitchFamily="34" charset="0"/>
                <a:ea typeface="Liter" pitchFamily="34" charset="-122"/>
                <a:cs typeface="Liter" pitchFamily="34" charset="-120"/>
              </a:rPr>
              <a:t>APPLIANCE MODULE</a:t>
            </a:r>
            <a:endParaRPr lang="en-US" sz="1600" dirty="0"/>
          </a:p>
        </p:txBody>
      </p:sp>
      <p:sp>
        <p:nvSpPr>
          <p:cNvPr id="3" name="Text 1"/>
          <p:cNvSpPr/>
          <p:nvPr/>
        </p:nvSpPr>
        <p:spPr>
          <a:xfrm>
            <a:off x="317500" y="42799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Liter" pitchFamily="34" charset="0"/>
                <a:ea typeface="Liter" pitchFamily="34" charset="-122"/>
                <a:cs typeface="Liter" pitchFamily="34" charset="-120"/>
              </a:rPr>
              <a:t>The Control Hub (Server Side)</a:t>
            </a:r>
            <a:endParaRPr lang="en-US" sz="1600" dirty="0"/>
          </a:p>
        </p:txBody>
      </p:sp>
      <p:sp>
        <p:nvSpPr>
          <p:cNvPr id="4" name="Shape 2"/>
          <p:cNvSpPr/>
          <p:nvPr/>
        </p:nvSpPr>
        <p:spPr>
          <a:xfrm>
            <a:off x="436561" y="785335"/>
            <a:ext cx="6616702" cy="2945607"/>
          </a:xfrm>
          <a:custGeom>
            <a:avLst/>
            <a:gdLst/>
            <a:ahLst/>
            <a:cxnLst/>
            <a:rect l="l" t="t" r="r" b="b"/>
            <a:pathLst>
              <a:path w="6848475" h="3165475">
                <a:moveTo>
                  <a:pt x="95249" y="0"/>
                </a:moveTo>
                <a:lnTo>
                  <a:pt x="6753226" y="0"/>
                </a:lnTo>
                <a:cubicBezTo>
                  <a:pt x="6805831" y="0"/>
                  <a:pt x="6848475" y="42644"/>
                  <a:pt x="6848475" y="95249"/>
                </a:cubicBezTo>
                <a:lnTo>
                  <a:pt x="6848475" y="3070226"/>
                </a:lnTo>
                <a:cubicBezTo>
                  <a:pt x="6848475" y="3122831"/>
                  <a:pt x="6805831" y="3165475"/>
                  <a:pt x="6753226" y="3165475"/>
                </a:cubicBezTo>
                <a:lnTo>
                  <a:pt x="95249" y="3165475"/>
                </a:lnTo>
                <a:cubicBezTo>
                  <a:pt x="42644" y="3165475"/>
                  <a:pt x="0" y="3122831"/>
                  <a:pt x="0" y="3070226"/>
                </a:cubicBezTo>
                <a:lnTo>
                  <a:pt x="0" y="95249"/>
                </a:lnTo>
                <a:cubicBezTo>
                  <a:pt x="0" y="42680"/>
                  <a:pt x="42680" y="0"/>
                  <a:pt x="95249"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5" name="Shape 3"/>
          <p:cNvSpPr/>
          <p:nvPr/>
        </p:nvSpPr>
        <p:spPr>
          <a:xfrm>
            <a:off x="544116" y="934227"/>
            <a:ext cx="138906" cy="158750"/>
          </a:xfrm>
          <a:custGeom>
            <a:avLst/>
            <a:gdLst/>
            <a:ahLst/>
            <a:cxnLst/>
            <a:rect l="l" t="t" r="r" b="b"/>
            <a:pathLst>
              <a:path w="138906" h="158750">
                <a:moveTo>
                  <a:pt x="19844" y="9922"/>
                </a:moveTo>
                <a:cubicBezTo>
                  <a:pt x="8899" y="9922"/>
                  <a:pt x="0" y="18821"/>
                  <a:pt x="0" y="29766"/>
                </a:cubicBezTo>
                <a:lnTo>
                  <a:pt x="0" y="49609"/>
                </a:lnTo>
                <a:cubicBezTo>
                  <a:pt x="0" y="60554"/>
                  <a:pt x="8899" y="69453"/>
                  <a:pt x="19844" y="69453"/>
                </a:cubicBezTo>
                <a:lnTo>
                  <a:pt x="119062" y="69453"/>
                </a:lnTo>
                <a:cubicBezTo>
                  <a:pt x="130008" y="69453"/>
                  <a:pt x="138906" y="60554"/>
                  <a:pt x="138906" y="49609"/>
                </a:cubicBezTo>
                <a:lnTo>
                  <a:pt x="138906" y="29766"/>
                </a:lnTo>
                <a:cubicBezTo>
                  <a:pt x="138906" y="18821"/>
                  <a:pt x="130008" y="9922"/>
                  <a:pt x="119062" y="9922"/>
                </a:cubicBezTo>
                <a:lnTo>
                  <a:pt x="19844" y="9922"/>
                </a:lnTo>
                <a:close/>
                <a:moveTo>
                  <a:pt x="86816" y="32246"/>
                </a:moveTo>
                <a:cubicBezTo>
                  <a:pt x="90923" y="32246"/>
                  <a:pt x="94258" y="35580"/>
                  <a:pt x="94258" y="39688"/>
                </a:cubicBezTo>
                <a:cubicBezTo>
                  <a:pt x="94258" y="43795"/>
                  <a:pt x="90923" y="47129"/>
                  <a:pt x="86816" y="47129"/>
                </a:cubicBezTo>
                <a:cubicBezTo>
                  <a:pt x="82709" y="47129"/>
                  <a:pt x="79375" y="43795"/>
                  <a:pt x="79375" y="39688"/>
                </a:cubicBezTo>
                <a:cubicBezTo>
                  <a:pt x="79375" y="35580"/>
                  <a:pt x="82709" y="32246"/>
                  <a:pt x="86816" y="32246"/>
                </a:cubicBezTo>
                <a:close/>
                <a:moveTo>
                  <a:pt x="104180" y="39688"/>
                </a:moveTo>
                <a:cubicBezTo>
                  <a:pt x="104180" y="35580"/>
                  <a:pt x="107514" y="32246"/>
                  <a:pt x="111621" y="32246"/>
                </a:cubicBezTo>
                <a:cubicBezTo>
                  <a:pt x="115728" y="32246"/>
                  <a:pt x="119062" y="35580"/>
                  <a:pt x="119062" y="39688"/>
                </a:cubicBezTo>
                <a:cubicBezTo>
                  <a:pt x="119062" y="43795"/>
                  <a:pt x="115728" y="47129"/>
                  <a:pt x="111621" y="47129"/>
                </a:cubicBezTo>
                <a:cubicBezTo>
                  <a:pt x="107514" y="47129"/>
                  <a:pt x="104180" y="43795"/>
                  <a:pt x="104180" y="39688"/>
                </a:cubicBezTo>
                <a:close/>
                <a:moveTo>
                  <a:pt x="19844" y="89297"/>
                </a:moveTo>
                <a:cubicBezTo>
                  <a:pt x="8899" y="89297"/>
                  <a:pt x="0" y="98196"/>
                  <a:pt x="0" y="109141"/>
                </a:cubicBezTo>
                <a:lnTo>
                  <a:pt x="0" y="128984"/>
                </a:lnTo>
                <a:cubicBezTo>
                  <a:pt x="0" y="139929"/>
                  <a:pt x="8899" y="148828"/>
                  <a:pt x="19844" y="148828"/>
                </a:cubicBezTo>
                <a:lnTo>
                  <a:pt x="119062" y="148828"/>
                </a:lnTo>
                <a:cubicBezTo>
                  <a:pt x="130008" y="148828"/>
                  <a:pt x="138906" y="139929"/>
                  <a:pt x="138906" y="128984"/>
                </a:cubicBezTo>
                <a:lnTo>
                  <a:pt x="138906" y="109141"/>
                </a:lnTo>
                <a:cubicBezTo>
                  <a:pt x="138906" y="98196"/>
                  <a:pt x="130008" y="89297"/>
                  <a:pt x="119062" y="89297"/>
                </a:cubicBezTo>
                <a:lnTo>
                  <a:pt x="19844" y="89297"/>
                </a:lnTo>
                <a:close/>
                <a:moveTo>
                  <a:pt x="86816" y="111621"/>
                </a:moveTo>
                <a:cubicBezTo>
                  <a:pt x="90923" y="111621"/>
                  <a:pt x="94258" y="114955"/>
                  <a:pt x="94258" y="119062"/>
                </a:cubicBezTo>
                <a:cubicBezTo>
                  <a:pt x="94258" y="123170"/>
                  <a:pt x="90923" y="126504"/>
                  <a:pt x="86816" y="126504"/>
                </a:cubicBezTo>
                <a:cubicBezTo>
                  <a:pt x="82709" y="126504"/>
                  <a:pt x="79375" y="123170"/>
                  <a:pt x="79375" y="119062"/>
                </a:cubicBezTo>
                <a:cubicBezTo>
                  <a:pt x="79375" y="114955"/>
                  <a:pt x="82709" y="111621"/>
                  <a:pt x="86816" y="111621"/>
                </a:cubicBezTo>
                <a:close/>
                <a:moveTo>
                  <a:pt x="104180" y="119062"/>
                </a:moveTo>
                <a:cubicBezTo>
                  <a:pt x="104180" y="114955"/>
                  <a:pt x="107514" y="111621"/>
                  <a:pt x="111621" y="111621"/>
                </a:cubicBezTo>
                <a:cubicBezTo>
                  <a:pt x="115728" y="111621"/>
                  <a:pt x="119062" y="114955"/>
                  <a:pt x="119062" y="119062"/>
                </a:cubicBezTo>
                <a:cubicBezTo>
                  <a:pt x="119062" y="123170"/>
                  <a:pt x="115728" y="126504"/>
                  <a:pt x="111621" y="126504"/>
                </a:cubicBezTo>
                <a:cubicBezTo>
                  <a:pt x="107514" y="126504"/>
                  <a:pt x="104180" y="123170"/>
                  <a:pt x="104180" y="119062"/>
                </a:cubicBezTo>
                <a:close/>
              </a:path>
            </a:pathLst>
          </a:custGeom>
          <a:solidFill>
            <a:srgbClr val="0071E3"/>
          </a:solidFill>
          <a:ln/>
        </p:spPr>
      </p:sp>
      <p:sp>
        <p:nvSpPr>
          <p:cNvPr id="6" name="Text 4"/>
          <p:cNvSpPr/>
          <p:nvPr/>
        </p:nvSpPr>
        <p:spPr>
          <a:xfrm>
            <a:off x="712788" y="902477"/>
            <a:ext cx="634206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TCP Server Implementation</a:t>
            </a:r>
            <a:endParaRPr lang="en-US" sz="1600" dirty="0"/>
          </a:p>
        </p:txBody>
      </p:sp>
      <p:sp>
        <p:nvSpPr>
          <p:cNvPr id="7" name="Shape 5"/>
          <p:cNvSpPr/>
          <p:nvPr/>
        </p:nvSpPr>
        <p:spPr>
          <a:xfrm>
            <a:off x="514350" y="1251727"/>
            <a:ext cx="6461125" cy="2301875"/>
          </a:xfrm>
          <a:custGeom>
            <a:avLst/>
            <a:gdLst/>
            <a:ahLst/>
            <a:cxnLst/>
            <a:rect l="l" t="t" r="r" b="b"/>
            <a:pathLst>
              <a:path w="6461125" h="2301875">
                <a:moveTo>
                  <a:pt x="63509" y="0"/>
                </a:moveTo>
                <a:lnTo>
                  <a:pt x="6397616" y="0"/>
                </a:lnTo>
                <a:cubicBezTo>
                  <a:pt x="6432691" y="0"/>
                  <a:pt x="6461125" y="28434"/>
                  <a:pt x="6461125" y="63509"/>
                </a:cubicBezTo>
                <a:lnTo>
                  <a:pt x="6461125" y="2238366"/>
                </a:lnTo>
                <a:cubicBezTo>
                  <a:pt x="6461125" y="2273441"/>
                  <a:pt x="6432691" y="2301875"/>
                  <a:pt x="6397616" y="2301875"/>
                </a:cubicBezTo>
                <a:lnTo>
                  <a:pt x="63509" y="2301875"/>
                </a:lnTo>
                <a:cubicBezTo>
                  <a:pt x="28434" y="2301875"/>
                  <a:pt x="0" y="2273441"/>
                  <a:pt x="0" y="2238366"/>
                </a:cubicBezTo>
                <a:lnTo>
                  <a:pt x="0" y="63509"/>
                </a:lnTo>
                <a:cubicBezTo>
                  <a:pt x="0" y="28457"/>
                  <a:pt x="28457" y="0"/>
                  <a:pt x="63509" y="0"/>
                </a:cubicBezTo>
                <a:close/>
              </a:path>
            </a:pathLst>
          </a:custGeom>
          <a:solidFill>
            <a:srgbClr val="F5F5F7"/>
          </a:solidFill>
          <a:ln/>
        </p:spPr>
      </p:sp>
      <p:sp>
        <p:nvSpPr>
          <p:cNvPr id="8" name="Text 6"/>
          <p:cNvSpPr/>
          <p:nvPr/>
        </p:nvSpPr>
        <p:spPr>
          <a:xfrm>
            <a:off x="641350" y="1359678"/>
            <a:ext cx="2157016"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 278: Server initialization</a:t>
            </a:r>
            <a:endParaRPr lang="en-US" sz="1600" dirty="0"/>
          </a:p>
        </p:txBody>
      </p:sp>
      <p:sp>
        <p:nvSpPr>
          <p:cNvPr id="9" name="Text 7"/>
          <p:cNvSpPr/>
          <p:nvPr/>
        </p:nvSpPr>
        <p:spPr>
          <a:xfrm>
            <a:off x="641350" y="1501759"/>
            <a:ext cx="62587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WiFiServer</a:t>
            </a:r>
            <a:r>
              <a:rPr lang="en-US" sz="813" dirty="0">
                <a:solidFill>
                  <a:srgbClr val="1D1D1D"/>
                </a:solidFill>
                <a:latin typeface="MiSans" pitchFamily="34" charset="0"/>
                <a:ea typeface="MiSans" pitchFamily="34" charset="-122"/>
                <a:cs typeface="MiSans" pitchFamily="34" charset="-120"/>
              </a:rPr>
              <a:t> tcpServer(</a:t>
            </a:r>
            <a:r>
              <a:rPr lang="en-US" sz="813" dirty="0">
                <a:solidFill>
                  <a:srgbClr val="FF9500"/>
                </a:solidFill>
                <a:latin typeface="MiSans" pitchFamily="34" charset="0"/>
                <a:ea typeface="MiSans" pitchFamily="34" charset="-122"/>
                <a:cs typeface="MiSans" pitchFamily="34" charset="-120"/>
              </a:rPr>
              <a:t>7890</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10" name="Text 8"/>
          <p:cNvSpPr/>
          <p:nvPr/>
        </p:nvSpPr>
        <p:spPr>
          <a:xfrm>
            <a:off x="641350" y="1656540"/>
            <a:ext cx="62587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WiFiClient</a:t>
            </a:r>
            <a:r>
              <a:rPr lang="en-US" sz="813" dirty="0">
                <a:solidFill>
                  <a:srgbClr val="1D1D1D"/>
                </a:solidFill>
                <a:latin typeface="MiSans" pitchFamily="34" charset="0"/>
                <a:ea typeface="MiSans" pitchFamily="34" charset="-122"/>
                <a:cs typeface="MiSans" pitchFamily="34" charset="-120"/>
              </a:rPr>
              <a:t> activeClient;</a:t>
            </a:r>
            <a:endParaRPr lang="en-US" sz="1600" dirty="0"/>
          </a:p>
        </p:txBody>
      </p:sp>
      <p:sp>
        <p:nvSpPr>
          <p:cNvPr id="11" name="Text 9"/>
          <p:cNvSpPr/>
          <p:nvPr/>
        </p:nvSpPr>
        <p:spPr>
          <a:xfrm>
            <a:off x="641350" y="1919272"/>
            <a:ext cx="2776240"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Lines 445-454: Client connection handling</a:t>
            </a:r>
            <a:endParaRPr lang="en-US" sz="1600" dirty="0"/>
          </a:p>
        </p:txBody>
      </p:sp>
      <p:sp>
        <p:nvSpPr>
          <p:cNvPr id="12" name="Text 10"/>
          <p:cNvSpPr/>
          <p:nvPr/>
        </p:nvSpPr>
        <p:spPr>
          <a:xfrm>
            <a:off x="641350" y="2061352"/>
            <a:ext cx="62587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1D1D1D"/>
                </a:solidFill>
                <a:latin typeface="MiSans" pitchFamily="34" charset="0"/>
                <a:ea typeface="MiSans" pitchFamily="34" charset="-122"/>
                <a:cs typeface="MiSans" pitchFamily="34" charset="-120"/>
              </a:rPr>
              <a:t> (tcpServer.hasClient()) {</a:t>
            </a:r>
            <a:endParaRPr lang="en-US" sz="1600" dirty="0"/>
          </a:p>
        </p:txBody>
      </p:sp>
      <p:sp>
        <p:nvSpPr>
          <p:cNvPr id="13" name="Text 11"/>
          <p:cNvSpPr/>
          <p:nvPr/>
        </p:nvSpPr>
        <p:spPr>
          <a:xfrm>
            <a:off x="641350" y="2216134"/>
            <a:ext cx="62587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1D1D1D"/>
                </a:solidFill>
                <a:latin typeface="MiSans" pitchFamily="34" charset="0"/>
                <a:ea typeface="MiSans" pitchFamily="34" charset="-122"/>
                <a:cs typeface="MiSans" pitchFamily="34" charset="-120"/>
              </a:rPr>
              <a:t> (activeClient &amp;&amp; activeClient.connected()) {</a:t>
            </a:r>
            <a:endParaRPr lang="en-US" sz="1600" dirty="0"/>
          </a:p>
        </p:txBody>
      </p:sp>
      <p:sp>
        <p:nvSpPr>
          <p:cNvPr id="14" name="Text 12"/>
          <p:cNvSpPr/>
          <p:nvPr/>
        </p:nvSpPr>
        <p:spPr>
          <a:xfrm>
            <a:off x="889099" y="2383616"/>
            <a:ext cx="2404666"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Reject new connection if one active</a:t>
            </a:r>
            <a:endParaRPr lang="en-US" sz="1600" dirty="0"/>
          </a:p>
        </p:txBody>
      </p:sp>
      <p:sp>
        <p:nvSpPr>
          <p:cNvPr id="15" name="Text 13"/>
          <p:cNvSpPr/>
          <p:nvPr/>
        </p:nvSpPr>
        <p:spPr>
          <a:xfrm>
            <a:off x="641350" y="2525696"/>
            <a:ext cx="62587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WiFiClient newClient = tcpServer.available();</a:t>
            </a:r>
            <a:endParaRPr lang="en-US" sz="1600" dirty="0"/>
          </a:p>
        </p:txBody>
      </p:sp>
      <p:sp>
        <p:nvSpPr>
          <p:cNvPr id="16" name="Text 14"/>
          <p:cNvSpPr/>
          <p:nvPr/>
        </p:nvSpPr>
        <p:spPr>
          <a:xfrm>
            <a:off x="641350" y="2680477"/>
            <a:ext cx="62587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newClient.stop();</a:t>
            </a:r>
            <a:endParaRPr lang="en-US" sz="1600" dirty="0"/>
          </a:p>
        </p:txBody>
      </p:sp>
      <p:sp>
        <p:nvSpPr>
          <p:cNvPr id="17" name="Text 15"/>
          <p:cNvSpPr/>
          <p:nvPr/>
        </p:nvSpPr>
        <p:spPr>
          <a:xfrm>
            <a:off x="641350" y="2835259"/>
            <a:ext cx="62587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 </a:t>
            </a:r>
            <a:r>
              <a:rPr lang="en-US" sz="813" dirty="0">
                <a:solidFill>
                  <a:srgbClr val="0071E3"/>
                </a:solidFill>
                <a:latin typeface="MiSans" pitchFamily="34" charset="0"/>
                <a:ea typeface="MiSans" pitchFamily="34" charset="-122"/>
                <a:cs typeface="MiSans" pitchFamily="34" charset="-120"/>
              </a:rPr>
              <a:t>else</a:t>
            </a:r>
            <a:r>
              <a:rPr lang="en-US" sz="813" dirty="0">
                <a:solidFill>
                  <a:srgbClr val="1D1D1D"/>
                </a:solidFill>
                <a:latin typeface="MiSans" pitchFamily="34" charset="0"/>
                <a:ea typeface="MiSans" pitchFamily="34" charset="-122"/>
                <a:cs typeface="MiSans" pitchFamily="34" charset="-120"/>
              </a:rPr>
              <a:t> {</a:t>
            </a:r>
            <a:endParaRPr lang="en-US" sz="1600" dirty="0"/>
          </a:p>
        </p:txBody>
      </p:sp>
      <p:sp>
        <p:nvSpPr>
          <p:cNvPr id="18" name="Text 16"/>
          <p:cNvSpPr/>
          <p:nvPr/>
        </p:nvSpPr>
        <p:spPr>
          <a:xfrm>
            <a:off x="641350" y="2990040"/>
            <a:ext cx="62587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activeClient = tcpServer.available();</a:t>
            </a:r>
            <a:endParaRPr lang="en-US" sz="1600" dirty="0"/>
          </a:p>
        </p:txBody>
      </p:sp>
      <p:sp>
        <p:nvSpPr>
          <p:cNvPr id="19" name="Text 17"/>
          <p:cNvSpPr/>
          <p:nvPr/>
        </p:nvSpPr>
        <p:spPr>
          <a:xfrm>
            <a:off x="641350" y="3144821"/>
            <a:ext cx="62587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20" name="Text 18"/>
          <p:cNvSpPr/>
          <p:nvPr/>
        </p:nvSpPr>
        <p:spPr>
          <a:xfrm>
            <a:off x="641350" y="3299602"/>
            <a:ext cx="62587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21" name="Shape 19"/>
          <p:cNvSpPr/>
          <p:nvPr/>
        </p:nvSpPr>
        <p:spPr>
          <a:xfrm>
            <a:off x="320675" y="3786982"/>
            <a:ext cx="6848475" cy="2945607"/>
          </a:xfrm>
          <a:custGeom>
            <a:avLst/>
            <a:gdLst/>
            <a:ahLst/>
            <a:cxnLst/>
            <a:rect l="l" t="t" r="r" b="b"/>
            <a:pathLst>
              <a:path w="6848475" h="3094038">
                <a:moveTo>
                  <a:pt x="95265" y="0"/>
                </a:moveTo>
                <a:lnTo>
                  <a:pt x="6753210" y="0"/>
                </a:lnTo>
                <a:cubicBezTo>
                  <a:pt x="6805823" y="0"/>
                  <a:pt x="6848475" y="42652"/>
                  <a:pt x="6848475" y="95265"/>
                </a:cubicBezTo>
                <a:lnTo>
                  <a:pt x="6848475" y="2998772"/>
                </a:lnTo>
                <a:cubicBezTo>
                  <a:pt x="6848475" y="3051386"/>
                  <a:pt x="6805823" y="3094037"/>
                  <a:pt x="6753210" y="3094038"/>
                </a:cubicBezTo>
                <a:lnTo>
                  <a:pt x="95265" y="3094038"/>
                </a:lnTo>
                <a:cubicBezTo>
                  <a:pt x="42652" y="3094038"/>
                  <a:pt x="0" y="3051386"/>
                  <a:pt x="0" y="2998772"/>
                </a:cubicBezTo>
                <a:lnTo>
                  <a:pt x="0" y="95265"/>
                </a:lnTo>
                <a:cubicBezTo>
                  <a:pt x="0" y="42652"/>
                  <a:pt x="42652" y="0"/>
                  <a:pt x="95265"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22" name="Shape 20"/>
          <p:cNvSpPr/>
          <p:nvPr/>
        </p:nvSpPr>
        <p:spPr>
          <a:xfrm>
            <a:off x="534194" y="4012409"/>
            <a:ext cx="158750" cy="151134"/>
          </a:xfrm>
          <a:custGeom>
            <a:avLst/>
            <a:gdLst/>
            <a:ahLst/>
            <a:cxnLst/>
            <a:rect l="l" t="t" r="r" b="b"/>
            <a:pathLst>
              <a:path w="158750" h="158750">
                <a:moveTo>
                  <a:pt x="148859" y="59531"/>
                </a:moveTo>
                <a:lnTo>
                  <a:pt x="151309" y="59531"/>
                </a:lnTo>
                <a:cubicBezTo>
                  <a:pt x="155432" y="59531"/>
                  <a:pt x="158750" y="56214"/>
                  <a:pt x="158750" y="52090"/>
                </a:cubicBezTo>
                <a:lnTo>
                  <a:pt x="158750" y="7441"/>
                </a:lnTo>
                <a:cubicBezTo>
                  <a:pt x="158750" y="4434"/>
                  <a:pt x="156952" y="1705"/>
                  <a:pt x="154161" y="558"/>
                </a:cubicBezTo>
                <a:cubicBezTo>
                  <a:pt x="151371" y="-589"/>
                  <a:pt x="148177" y="62"/>
                  <a:pt x="146038" y="2170"/>
                </a:cubicBezTo>
                <a:lnTo>
                  <a:pt x="130008" y="18231"/>
                </a:lnTo>
                <a:cubicBezTo>
                  <a:pt x="116272" y="6852"/>
                  <a:pt x="98599" y="0"/>
                  <a:pt x="79375" y="0"/>
                </a:cubicBezTo>
                <a:cubicBezTo>
                  <a:pt x="39377" y="0"/>
                  <a:pt x="6294" y="29580"/>
                  <a:pt x="806" y="68058"/>
                </a:cubicBezTo>
                <a:cubicBezTo>
                  <a:pt x="31" y="73484"/>
                  <a:pt x="3783" y="78507"/>
                  <a:pt x="9209" y="79282"/>
                </a:cubicBezTo>
                <a:cubicBezTo>
                  <a:pt x="14635" y="80057"/>
                  <a:pt x="19658" y="76274"/>
                  <a:pt x="20433" y="70879"/>
                </a:cubicBezTo>
                <a:cubicBezTo>
                  <a:pt x="24557" y="42013"/>
                  <a:pt x="49392" y="19844"/>
                  <a:pt x="79375" y="19844"/>
                </a:cubicBezTo>
                <a:cubicBezTo>
                  <a:pt x="93142" y="19844"/>
                  <a:pt x="105792" y="24495"/>
                  <a:pt x="115869" y="32339"/>
                </a:cubicBezTo>
                <a:lnTo>
                  <a:pt x="101389" y="46819"/>
                </a:lnTo>
                <a:cubicBezTo>
                  <a:pt x="99250" y="48958"/>
                  <a:pt x="98630" y="52152"/>
                  <a:pt x="99777" y="54942"/>
                </a:cubicBezTo>
                <a:cubicBezTo>
                  <a:pt x="100924" y="57733"/>
                  <a:pt x="103653" y="59531"/>
                  <a:pt x="106660" y="59531"/>
                </a:cubicBezTo>
                <a:lnTo>
                  <a:pt x="148859" y="59531"/>
                </a:lnTo>
                <a:close/>
                <a:moveTo>
                  <a:pt x="157975" y="90692"/>
                </a:moveTo>
                <a:cubicBezTo>
                  <a:pt x="158750" y="85266"/>
                  <a:pt x="154967" y="80243"/>
                  <a:pt x="149572" y="79468"/>
                </a:cubicBezTo>
                <a:cubicBezTo>
                  <a:pt x="144177" y="78693"/>
                  <a:pt x="139123" y="82476"/>
                  <a:pt x="138348" y="87871"/>
                </a:cubicBezTo>
                <a:cubicBezTo>
                  <a:pt x="134224" y="116706"/>
                  <a:pt x="109389" y="138875"/>
                  <a:pt x="79406" y="138875"/>
                </a:cubicBezTo>
                <a:cubicBezTo>
                  <a:pt x="65639" y="138875"/>
                  <a:pt x="52989" y="134224"/>
                  <a:pt x="42912" y="126380"/>
                </a:cubicBezTo>
                <a:lnTo>
                  <a:pt x="57361" y="111931"/>
                </a:lnTo>
                <a:cubicBezTo>
                  <a:pt x="59500" y="109792"/>
                  <a:pt x="60120" y="106598"/>
                  <a:pt x="58973" y="103808"/>
                </a:cubicBezTo>
                <a:cubicBezTo>
                  <a:pt x="57826" y="101017"/>
                  <a:pt x="55097" y="99219"/>
                  <a:pt x="52090" y="99219"/>
                </a:cubicBezTo>
                <a:lnTo>
                  <a:pt x="7441" y="99219"/>
                </a:lnTo>
                <a:cubicBezTo>
                  <a:pt x="3318" y="99219"/>
                  <a:pt x="0" y="102536"/>
                  <a:pt x="0" y="106660"/>
                </a:cubicBezTo>
                <a:lnTo>
                  <a:pt x="0" y="151309"/>
                </a:lnTo>
                <a:cubicBezTo>
                  <a:pt x="0" y="154316"/>
                  <a:pt x="1798" y="157045"/>
                  <a:pt x="4589" y="158192"/>
                </a:cubicBezTo>
                <a:cubicBezTo>
                  <a:pt x="7379" y="159339"/>
                  <a:pt x="10573" y="158688"/>
                  <a:pt x="12712" y="156580"/>
                </a:cubicBezTo>
                <a:lnTo>
                  <a:pt x="28773" y="140519"/>
                </a:lnTo>
                <a:cubicBezTo>
                  <a:pt x="42478" y="151898"/>
                  <a:pt x="60151" y="158750"/>
                  <a:pt x="79375" y="158750"/>
                </a:cubicBezTo>
                <a:cubicBezTo>
                  <a:pt x="119373" y="158750"/>
                  <a:pt x="152456" y="129170"/>
                  <a:pt x="157944" y="90692"/>
                </a:cubicBezTo>
                <a:close/>
              </a:path>
            </a:pathLst>
          </a:custGeom>
          <a:solidFill>
            <a:srgbClr val="0071E3"/>
          </a:solidFill>
          <a:ln/>
        </p:spPr>
      </p:sp>
      <p:sp>
        <p:nvSpPr>
          <p:cNvPr id="23" name="Text 21"/>
          <p:cNvSpPr/>
          <p:nvPr/>
        </p:nvSpPr>
        <p:spPr>
          <a:xfrm>
            <a:off x="712788" y="3980659"/>
            <a:ext cx="6342063" cy="211588"/>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Command Parsing Loop</a:t>
            </a:r>
            <a:endParaRPr lang="en-US" sz="1600" dirty="0"/>
          </a:p>
        </p:txBody>
      </p:sp>
      <p:sp>
        <p:nvSpPr>
          <p:cNvPr id="24" name="Shape 22"/>
          <p:cNvSpPr/>
          <p:nvPr/>
        </p:nvSpPr>
        <p:spPr>
          <a:xfrm>
            <a:off x="514350" y="4329909"/>
            <a:ext cx="6461125" cy="2244344"/>
          </a:xfrm>
          <a:custGeom>
            <a:avLst/>
            <a:gdLst/>
            <a:ahLst/>
            <a:cxnLst/>
            <a:rect l="l" t="t" r="r" b="b"/>
            <a:pathLst>
              <a:path w="6461125" h="2357438">
                <a:moveTo>
                  <a:pt x="63509" y="0"/>
                </a:moveTo>
                <a:lnTo>
                  <a:pt x="6397616" y="0"/>
                </a:lnTo>
                <a:cubicBezTo>
                  <a:pt x="6432691" y="0"/>
                  <a:pt x="6461125" y="28434"/>
                  <a:pt x="6461125" y="63509"/>
                </a:cubicBezTo>
                <a:lnTo>
                  <a:pt x="6461125" y="2293928"/>
                </a:lnTo>
                <a:cubicBezTo>
                  <a:pt x="6461125" y="2329003"/>
                  <a:pt x="6432691" y="2357438"/>
                  <a:pt x="6397616" y="2357438"/>
                </a:cubicBezTo>
                <a:lnTo>
                  <a:pt x="63509" y="2357438"/>
                </a:lnTo>
                <a:cubicBezTo>
                  <a:pt x="28434" y="2357438"/>
                  <a:pt x="0" y="2329003"/>
                  <a:pt x="0" y="2293928"/>
                </a:cubicBezTo>
                <a:lnTo>
                  <a:pt x="0" y="63509"/>
                </a:lnTo>
                <a:cubicBezTo>
                  <a:pt x="0" y="28434"/>
                  <a:pt x="28434" y="0"/>
                  <a:pt x="63509" y="0"/>
                </a:cubicBezTo>
                <a:close/>
              </a:path>
            </a:pathLst>
          </a:custGeom>
          <a:solidFill>
            <a:srgbClr val="F5F5F7"/>
          </a:solidFill>
          <a:ln/>
        </p:spPr>
      </p:sp>
      <p:sp>
        <p:nvSpPr>
          <p:cNvPr id="25" name="Text 23"/>
          <p:cNvSpPr/>
          <p:nvPr/>
        </p:nvSpPr>
        <p:spPr>
          <a:xfrm>
            <a:off x="641350" y="4437856"/>
            <a:ext cx="2590502" cy="114862"/>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Lines 455-563: Main command processing</a:t>
            </a:r>
            <a:endParaRPr lang="en-US" sz="1600" dirty="0"/>
          </a:p>
        </p:txBody>
      </p:sp>
      <p:sp>
        <p:nvSpPr>
          <p:cNvPr id="26" name="Text 24"/>
          <p:cNvSpPr/>
          <p:nvPr/>
        </p:nvSpPr>
        <p:spPr>
          <a:xfrm>
            <a:off x="641350" y="4579941"/>
            <a:ext cx="6258719" cy="151134"/>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1D1D1D"/>
                </a:solidFill>
                <a:latin typeface="MiSans" pitchFamily="34" charset="0"/>
                <a:ea typeface="MiSans" pitchFamily="34" charset="-122"/>
                <a:cs typeface="MiSans" pitchFamily="34" charset="-120"/>
              </a:rPr>
              <a:t> (activeClient &amp;&amp; activeClient.connected()) {</a:t>
            </a:r>
            <a:endParaRPr lang="en-US" sz="1600" dirty="0"/>
          </a:p>
        </p:txBody>
      </p:sp>
      <p:sp>
        <p:nvSpPr>
          <p:cNvPr id="27" name="Text 25"/>
          <p:cNvSpPr/>
          <p:nvPr/>
        </p:nvSpPr>
        <p:spPr>
          <a:xfrm>
            <a:off x="641350" y="4734722"/>
            <a:ext cx="6258719" cy="151134"/>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while</a:t>
            </a:r>
            <a:r>
              <a:rPr lang="en-US" sz="813" dirty="0">
                <a:solidFill>
                  <a:srgbClr val="1D1D1D"/>
                </a:solidFill>
                <a:latin typeface="MiSans" pitchFamily="34" charset="0"/>
                <a:ea typeface="MiSans" pitchFamily="34" charset="-122"/>
                <a:cs typeface="MiSans" pitchFamily="34" charset="-120"/>
              </a:rPr>
              <a:t> (activeClient.available()) {</a:t>
            </a:r>
            <a:endParaRPr lang="en-US" sz="1600" dirty="0"/>
          </a:p>
        </p:txBody>
      </p:sp>
      <p:sp>
        <p:nvSpPr>
          <p:cNvPr id="28" name="Text 26"/>
          <p:cNvSpPr/>
          <p:nvPr/>
        </p:nvSpPr>
        <p:spPr>
          <a:xfrm>
            <a:off x="641350" y="4889503"/>
            <a:ext cx="6258719" cy="151134"/>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char</a:t>
            </a:r>
            <a:r>
              <a:rPr lang="en-US" sz="813" dirty="0">
                <a:solidFill>
                  <a:srgbClr val="1D1D1D"/>
                </a:solidFill>
                <a:latin typeface="MiSans" pitchFamily="34" charset="0"/>
                <a:ea typeface="MiSans" pitchFamily="34" charset="-122"/>
                <a:cs typeface="MiSans" pitchFamily="34" charset="-120"/>
              </a:rPr>
              <a:t> c = activeClient.read();</a:t>
            </a:r>
            <a:endParaRPr lang="en-US" sz="1600" dirty="0"/>
          </a:p>
        </p:txBody>
      </p:sp>
      <p:sp>
        <p:nvSpPr>
          <p:cNvPr id="29" name="Text 27"/>
          <p:cNvSpPr/>
          <p:nvPr/>
        </p:nvSpPr>
        <p:spPr>
          <a:xfrm>
            <a:off x="641350" y="5044284"/>
            <a:ext cx="6258719" cy="151134"/>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1D1D1D"/>
                </a:solidFill>
                <a:latin typeface="MiSans" pitchFamily="34" charset="0"/>
                <a:ea typeface="MiSans" pitchFamily="34" charset="-122"/>
                <a:cs typeface="MiSans" pitchFamily="34" charset="-120"/>
              </a:rPr>
              <a:t> (c == </a:t>
            </a:r>
            <a:r>
              <a:rPr lang="en-US" sz="813" dirty="0">
                <a:solidFill>
                  <a:srgbClr val="34C759"/>
                </a:solidFill>
                <a:latin typeface="MiSans" pitchFamily="34" charset="0"/>
                <a:ea typeface="MiSans" pitchFamily="34" charset="-122"/>
                <a:cs typeface="MiSans" pitchFamily="34" charset="-120"/>
              </a:rPr>
              <a:t>'\n'</a:t>
            </a:r>
            <a:r>
              <a:rPr lang="en-US" sz="813" dirty="0">
                <a:solidFill>
                  <a:srgbClr val="1D1D1D"/>
                </a:solidFill>
                <a:latin typeface="MiSans" pitchFamily="34" charset="0"/>
                <a:ea typeface="MiSans" pitchFamily="34" charset="-122"/>
                <a:cs typeface="MiSans" pitchFamily="34" charset="-120"/>
              </a:rPr>
              <a:t>) {</a:t>
            </a:r>
            <a:endParaRPr lang="en-US" sz="1600" dirty="0"/>
          </a:p>
        </p:txBody>
      </p:sp>
      <p:sp>
        <p:nvSpPr>
          <p:cNvPr id="30" name="Text 28"/>
          <p:cNvSpPr/>
          <p:nvPr/>
        </p:nvSpPr>
        <p:spPr>
          <a:xfrm>
            <a:off x="641350" y="5199066"/>
            <a:ext cx="6258719" cy="151134"/>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inputBuffer.trim();</a:t>
            </a:r>
            <a:endParaRPr lang="en-US" sz="1600" dirty="0"/>
          </a:p>
        </p:txBody>
      </p:sp>
      <p:sp>
        <p:nvSpPr>
          <p:cNvPr id="31" name="Text 29"/>
          <p:cNvSpPr/>
          <p:nvPr/>
        </p:nvSpPr>
        <p:spPr>
          <a:xfrm>
            <a:off x="641350" y="5353847"/>
            <a:ext cx="6258719" cy="151134"/>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lastCommand = inputBuffer;</a:t>
            </a:r>
            <a:endParaRPr lang="en-US" sz="1600" dirty="0"/>
          </a:p>
        </p:txBody>
      </p:sp>
      <p:sp>
        <p:nvSpPr>
          <p:cNvPr id="32" name="Text 30"/>
          <p:cNvSpPr/>
          <p:nvPr/>
        </p:nvSpPr>
        <p:spPr>
          <a:xfrm>
            <a:off x="1012924" y="5521325"/>
            <a:ext cx="1971278" cy="114862"/>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Parse and execute command...</a:t>
            </a:r>
            <a:endParaRPr lang="en-US" sz="1600" dirty="0"/>
          </a:p>
        </p:txBody>
      </p:sp>
      <p:sp>
        <p:nvSpPr>
          <p:cNvPr id="33" name="Text 31"/>
          <p:cNvSpPr/>
          <p:nvPr/>
        </p:nvSpPr>
        <p:spPr>
          <a:xfrm>
            <a:off x="641350" y="5663409"/>
            <a:ext cx="6258719" cy="151134"/>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activeClient.print(response);</a:t>
            </a:r>
            <a:endParaRPr lang="en-US" sz="1600" dirty="0"/>
          </a:p>
        </p:txBody>
      </p:sp>
      <p:sp>
        <p:nvSpPr>
          <p:cNvPr id="34" name="Text 32"/>
          <p:cNvSpPr/>
          <p:nvPr/>
        </p:nvSpPr>
        <p:spPr>
          <a:xfrm>
            <a:off x="641350" y="5818191"/>
            <a:ext cx="6258719" cy="151134"/>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 </a:t>
            </a:r>
            <a:r>
              <a:rPr lang="en-US" sz="813" dirty="0">
                <a:solidFill>
                  <a:srgbClr val="0071E3"/>
                </a:solidFill>
                <a:latin typeface="MiSans" pitchFamily="34" charset="0"/>
                <a:ea typeface="MiSans" pitchFamily="34" charset="-122"/>
                <a:cs typeface="MiSans" pitchFamily="34" charset="-120"/>
              </a:rPr>
              <a:t>else</a:t>
            </a:r>
            <a:r>
              <a:rPr lang="en-US" sz="813" dirty="0">
                <a:solidFill>
                  <a:srgbClr val="1D1D1D"/>
                </a:solidFill>
                <a:latin typeface="MiSans" pitchFamily="34" charset="0"/>
                <a:ea typeface="MiSans" pitchFamily="34" charset="-122"/>
                <a:cs typeface="MiSans" pitchFamily="34" charset="-120"/>
              </a:rPr>
              <a:t> {</a:t>
            </a:r>
            <a:endParaRPr lang="en-US" sz="1600" dirty="0"/>
          </a:p>
        </p:txBody>
      </p:sp>
      <p:sp>
        <p:nvSpPr>
          <p:cNvPr id="35" name="Text 33"/>
          <p:cNvSpPr/>
          <p:nvPr/>
        </p:nvSpPr>
        <p:spPr>
          <a:xfrm>
            <a:off x="641350" y="5972972"/>
            <a:ext cx="6258719" cy="151134"/>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inputBuffer += c;</a:t>
            </a:r>
            <a:endParaRPr lang="en-US" sz="1600" dirty="0"/>
          </a:p>
        </p:txBody>
      </p:sp>
      <p:sp>
        <p:nvSpPr>
          <p:cNvPr id="36" name="Text 34"/>
          <p:cNvSpPr/>
          <p:nvPr/>
        </p:nvSpPr>
        <p:spPr>
          <a:xfrm>
            <a:off x="641350" y="6127753"/>
            <a:ext cx="6258719" cy="151134"/>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37" name="Text 35"/>
          <p:cNvSpPr/>
          <p:nvPr/>
        </p:nvSpPr>
        <p:spPr>
          <a:xfrm>
            <a:off x="641350" y="6282534"/>
            <a:ext cx="6258719" cy="151134"/>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38" name="Text 36"/>
          <p:cNvSpPr/>
          <p:nvPr/>
        </p:nvSpPr>
        <p:spPr>
          <a:xfrm>
            <a:off x="641350" y="6437316"/>
            <a:ext cx="6258719" cy="151134"/>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39" name="Shape 37"/>
          <p:cNvSpPr/>
          <p:nvPr/>
        </p:nvSpPr>
        <p:spPr>
          <a:xfrm>
            <a:off x="7369175" y="927735"/>
            <a:ext cx="4498975" cy="3368677"/>
          </a:xfrm>
          <a:custGeom>
            <a:avLst/>
            <a:gdLst/>
            <a:ahLst/>
            <a:cxnLst/>
            <a:rect l="l" t="t" r="r" b="b"/>
            <a:pathLst>
              <a:path w="4498975" h="5046663">
                <a:moveTo>
                  <a:pt x="95243" y="0"/>
                </a:moveTo>
                <a:lnTo>
                  <a:pt x="4403732" y="0"/>
                </a:lnTo>
                <a:cubicBezTo>
                  <a:pt x="4456333" y="0"/>
                  <a:pt x="4498975" y="42642"/>
                  <a:pt x="4498975" y="95243"/>
                </a:cubicBezTo>
                <a:lnTo>
                  <a:pt x="4498975" y="4951419"/>
                </a:lnTo>
                <a:cubicBezTo>
                  <a:pt x="4498975" y="5004021"/>
                  <a:pt x="4456333" y="5046663"/>
                  <a:pt x="4403732" y="5046663"/>
                </a:cubicBezTo>
                <a:lnTo>
                  <a:pt x="95243" y="5046663"/>
                </a:lnTo>
                <a:cubicBezTo>
                  <a:pt x="42642" y="5046663"/>
                  <a:pt x="0" y="5004021"/>
                  <a:pt x="0" y="4951419"/>
                </a:cubicBezTo>
                <a:lnTo>
                  <a:pt x="0" y="95243"/>
                </a:lnTo>
                <a:cubicBezTo>
                  <a:pt x="0" y="42677"/>
                  <a:pt x="42677" y="0"/>
                  <a:pt x="95243"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40" name="Shape 38"/>
          <p:cNvSpPr/>
          <p:nvPr/>
        </p:nvSpPr>
        <p:spPr>
          <a:xfrm>
            <a:off x="7592616" y="1153162"/>
            <a:ext cx="138906" cy="158750"/>
          </a:xfrm>
          <a:custGeom>
            <a:avLst/>
            <a:gdLst/>
            <a:ahLst/>
            <a:cxnLst/>
            <a:rect l="l" t="t" r="r" b="b"/>
            <a:pathLst>
              <a:path w="138906" h="158750">
                <a:moveTo>
                  <a:pt x="138906" y="63810"/>
                </a:moveTo>
                <a:cubicBezTo>
                  <a:pt x="134317" y="66849"/>
                  <a:pt x="129046" y="69298"/>
                  <a:pt x="123558" y="71251"/>
                </a:cubicBezTo>
                <a:cubicBezTo>
                  <a:pt x="108986" y="76460"/>
                  <a:pt x="89855" y="79375"/>
                  <a:pt x="69453" y="79375"/>
                </a:cubicBezTo>
                <a:cubicBezTo>
                  <a:pt x="49051" y="79375"/>
                  <a:pt x="29890" y="76429"/>
                  <a:pt x="15348" y="71251"/>
                </a:cubicBezTo>
                <a:cubicBezTo>
                  <a:pt x="9891" y="69298"/>
                  <a:pt x="4589" y="66849"/>
                  <a:pt x="0" y="63810"/>
                </a:cubicBezTo>
                <a:lnTo>
                  <a:pt x="0" y="89297"/>
                </a:lnTo>
                <a:cubicBezTo>
                  <a:pt x="0" y="103001"/>
                  <a:pt x="31099" y="114102"/>
                  <a:pt x="69453" y="114102"/>
                </a:cubicBezTo>
                <a:cubicBezTo>
                  <a:pt x="107807" y="114102"/>
                  <a:pt x="138906" y="103001"/>
                  <a:pt x="138906" y="89297"/>
                </a:cubicBezTo>
                <a:lnTo>
                  <a:pt x="138906" y="63810"/>
                </a:lnTo>
                <a:close/>
                <a:moveTo>
                  <a:pt x="138906" y="39688"/>
                </a:moveTo>
                <a:lnTo>
                  <a:pt x="138906" y="24805"/>
                </a:lnTo>
                <a:cubicBezTo>
                  <a:pt x="138906" y="11100"/>
                  <a:pt x="107807" y="0"/>
                  <a:pt x="69453" y="0"/>
                </a:cubicBezTo>
                <a:cubicBezTo>
                  <a:pt x="31099" y="0"/>
                  <a:pt x="0" y="11100"/>
                  <a:pt x="0" y="24805"/>
                </a:cubicBezTo>
                <a:lnTo>
                  <a:pt x="0" y="39688"/>
                </a:lnTo>
                <a:cubicBezTo>
                  <a:pt x="0" y="53392"/>
                  <a:pt x="31099" y="64492"/>
                  <a:pt x="69453" y="64492"/>
                </a:cubicBezTo>
                <a:cubicBezTo>
                  <a:pt x="107807" y="64492"/>
                  <a:pt x="138906" y="53392"/>
                  <a:pt x="138906" y="39688"/>
                </a:cubicBezTo>
                <a:close/>
                <a:moveTo>
                  <a:pt x="123558" y="120861"/>
                </a:moveTo>
                <a:cubicBezTo>
                  <a:pt x="109017" y="126039"/>
                  <a:pt x="89886" y="128984"/>
                  <a:pt x="69453" y="128984"/>
                </a:cubicBezTo>
                <a:cubicBezTo>
                  <a:pt x="49020" y="128984"/>
                  <a:pt x="29890" y="126039"/>
                  <a:pt x="15348" y="120861"/>
                </a:cubicBezTo>
                <a:cubicBezTo>
                  <a:pt x="9891" y="118907"/>
                  <a:pt x="4589" y="116458"/>
                  <a:pt x="0" y="113419"/>
                </a:cubicBezTo>
                <a:lnTo>
                  <a:pt x="0" y="133945"/>
                </a:lnTo>
                <a:cubicBezTo>
                  <a:pt x="0" y="147650"/>
                  <a:pt x="31099" y="158750"/>
                  <a:pt x="69453" y="158750"/>
                </a:cubicBezTo>
                <a:cubicBezTo>
                  <a:pt x="107807" y="158750"/>
                  <a:pt x="138906" y="147650"/>
                  <a:pt x="138906" y="133945"/>
                </a:cubicBezTo>
                <a:lnTo>
                  <a:pt x="138906" y="113419"/>
                </a:lnTo>
                <a:cubicBezTo>
                  <a:pt x="134317" y="116458"/>
                  <a:pt x="129046" y="118907"/>
                  <a:pt x="123558" y="120861"/>
                </a:cubicBezTo>
                <a:close/>
              </a:path>
            </a:pathLst>
          </a:custGeom>
          <a:solidFill>
            <a:srgbClr val="0071E3"/>
          </a:solidFill>
          <a:ln/>
        </p:spPr>
      </p:sp>
      <p:sp>
        <p:nvSpPr>
          <p:cNvPr id="41" name="Text 39"/>
          <p:cNvSpPr/>
          <p:nvPr/>
        </p:nvSpPr>
        <p:spPr>
          <a:xfrm>
            <a:off x="7761287" y="1121412"/>
            <a:ext cx="399256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Global State Variables</a:t>
            </a:r>
            <a:endParaRPr lang="en-US" sz="1600" dirty="0"/>
          </a:p>
        </p:txBody>
      </p:sp>
      <p:sp>
        <p:nvSpPr>
          <p:cNvPr id="42" name="Shape 40"/>
          <p:cNvSpPr/>
          <p:nvPr/>
        </p:nvSpPr>
        <p:spPr>
          <a:xfrm>
            <a:off x="7562850" y="1470662"/>
            <a:ext cx="4111625" cy="635000"/>
          </a:xfrm>
          <a:custGeom>
            <a:avLst/>
            <a:gdLst/>
            <a:ahLst/>
            <a:cxnLst/>
            <a:rect l="l" t="t" r="r" b="b"/>
            <a:pathLst>
              <a:path w="4111625" h="635000">
                <a:moveTo>
                  <a:pt x="63500" y="0"/>
                </a:moveTo>
                <a:lnTo>
                  <a:pt x="4048125" y="0"/>
                </a:lnTo>
                <a:cubicBezTo>
                  <a:pt x="4083172" y="0"/>
                  <a:pt x="4111625" y="28453"/>
                  <a:pt x="4111625" y="63500"/>
                </a:cubicBezTo>
                <a:lnTo>
                  <a:pt x="4111625" y="571500"/>
                </a:lnTo>
                <a:cubicBezTo>
                  <a:pt x="4111625" y="606547"/>
                  <a:pt x="4083172" y="635000"/>
                  <a:pt x="4048125" y="635000"/>
                </a:cubicBezTo>
                <a:lnTo>
                  <a:pt x="63500" y="635000"/>
                </a:lnTo>
                <a:cubicBezTo>
                  <a:pt x="28453" y="635000"/>
                  <a:pt x="0" y="606547"/>
                  <a:pt x="0" y="571500"/>
                </a:cubicBezTo>
                <a:lnTo>
                  <a:pt x="0" y="63500"/>
                </a:lnTo>
                <a:cubicBezTo>
                  <a:pt x="0" y="28453"/>
                  <a:pt x="28453" y="0"/>
                  <a:pt x="63500" y="0"/>
                </a:cubicBezTo>
                <a:close/>
              </a:path>
            </a:pathLst>
          </a:custGeom>
          <a:solidFill>
            <a:srgbClr val="FAFAFA"/>
          </a:solidFill>
          <a:ln/>
        </p:spPr>
      </p:sp>
      <p:sp>
        <p:nvSpPr>
          <p:cNvPr id="43" name="Text 41"/>
          <p:cNvSpPr/>
          <p:nvPr/>
        </p:nvSpPr>
        <p:spPr>
          <a:xfrm>
            <a:off x="7689850" y="1597662"/>
            <a:ext cx="391318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bool l1State, l2State</a:t>
            </a:r>
            <a:endParaRPr lang="en-US" sz="1600" dirty="0"/>
          </a:p>
        </p:txBody>
      </p:sp>
      <p:sp>
        <p:nvSpPr>
          <p:cNvPr id="44" name="Text 42"/>
          <p:cNvSpPr/>
          <p:nvPr/>
        </p:nvSpPr>
        <p:spPr>
          <a:xfrm>
            <a:off x="7689850" y="1819912"/>
            <a:ext cx="3913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Light relay states (true=ON, false=OFF)</a:t>
            </a:r>
            <a:endParaRPr lang="en-US" sz="1600" dirty="0"/>
          </a:p>
        </p:txBody>
      </p:sp>
      <p:sp>
        <p:nvSpPr>
          <p:cNvPr id="45" name="Shape 43"/>
          <p:cNvSpPr/>
          <p:nvPr/>
        </p:nvSpPr>
        <p:spPr>
          <a:xfrm>
            <a:off x="7562850" y="2200912"/>
            <a:ext cx="4111625" cy="635000"/>
          </a:xfrm>
          <a:custGeom>
            <a:avLst/>
            <a:gdLst/>
            <a:ahLst/>
            <a:cxnLst/>
            <a:rect l="l" t="t" r="r" b="b"/>
            <a:pathLst>
              <a:path w="4111625" h="635000">
                <a:moveTo>
                  <a:pt x="63500" y="0"/>
                </a:moveTo>
                <a:lnTo>
                  <a:pt x="4048125" y="0"/>
                </a:lnTo>
                <a:cubicBezTo>
                  <a:pt x="4083172" y="0"/>
                  <a:pt x="4111625" y="28453"/>
                  <a:pt x="4111625" y="63500"/>
                </a:cubicBezTo>
                <a:lnTo>
                  <a:pt x="4111625" y="571500"/>
                </a:lnTo>
                <a:cubicBezTo>
                  <a:pt x="4111625" y="606547"/>
                  <a:pt x="4083172" y="635000"/>
                  <a:pt x="4048125" y="635000"/>
                </a:cubicBezTo>
                <a:lnTo>
                  <a:pt x="63500" y="635000"/>
                </a:lnTo>
                <a:cubicBezTo>
                  <a:pt x="28453" y="635000"/>
                  <a:pt x="0" y="606547"/>
                  <a:pt x="0" y="571500"/>
                </a:cubicBezTo>
                <a:lnTo>
                  <a:pt x="0" y="63500"/>
                </a:lnTo>
                <a:cubicBezTo>
                  <a:pt x="0" y="28453"/>
                  <a:pt x="28453" y="0"/>
                  <a:pt x="63500" y="0"/>
                </a:cubicBezTo>
                <a:close/>
              </a:path>
            </a:pathLst>
          </a:custGeom>
          <a:solidFill>
            <a:srgbClr val="FAFAFA"/>
          </a:solidFill>
          <a:ln/>
        </p:spPr>
      </p:sp>
      <p:sp>
        <p:nvSpPr>
          <p:cNvPr id="46" name="Text 44"/>
          <p:cNvSpPr/>
          <p:nvPr/>
        </p:nvSpPr>
        <p:spPr>
          <a:xfrm>
            <a:off x="7689850" y="2327912"/>
            <a:ext cx="391318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int fan1State, fan2State</a:t>
            </a:r>
            <a:endParaRPr lang="en-US" sz="1600" dirty="0"/>
          </a:p>
        </p:txBody>
      </p:sp>
      <p:sp>
        <p:nvSpPr>
          <p:cNvPr id="47" name="Text 45"/>
          <p:cNvSpPr/>
          <p:nvPr/>
        </p:nvSpPr>
        <p:spPr>
          <a:xfrm>
            <a:off x="7689850" y="2550162"/>
            <a:ext cx="3913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Fan speed levels (0-4, where 0=OFF)</a:t>
            </a:r>
            <a:endParaRPr lang="en-US" sz="1600" dirty="0"/>
          </a:p>
        </p:txBody>
      </p:sp>
      <p:sp>
        <p:nvSpPr>
          <p:cNvPr id="48" name="Shape 46"/>
          <p:cNvSpPr/>
          <p:nvPr/>
        </p:nvSpPr>
        <p:spPr>
          <a:xfrm>
            <a:off x="7562850" y="2931162"/>
            <a:ext cx="4111625" cy="635000"/>
          </a:xfrm>
          <a:custGeom>
            <a:avLst/>
            <a:gdLst/>
            <a:ahLst/>
            <a:cxnLst/>
            <a:rect l="l" t="t" r="r" b="b"/>
            <a:pathLst>
              <a:path w="4111625" h="635000">
                <a:moveTo>
                  <a:pt x="63500" y="0"/>
                </a:moveTo>
                <a:lnTo>
                  <a:pt x="4048125" y="0"/>
                </a:lnTo>
                <a:cubicBezTo>
                  <a:pt x="4083172" y="0"/>
                  <a:pt x="4111625" y="28453"/>
                  <a:pt x="4111625" y="63500"/>
                </a:cubicBezTo>
                <a:lnTo>
                  <a:pt x="4111625" y="571500"/>
                </a:lnTo>
                <a:cubicBezTo>
                  <a:pt x="4111625" y="606547"/>
                  <a:pt x="4083172" y="635000"/>
                  <a:pt x="4048125" y="635000"/>
                </a:cubicBezTo>
                <a:lnTo>
                  <a:pt x="63500" y="635000"/>
                </a:lnTo>
                <a:cubicBezTo>
                  <a:pt x="28453" y="635000"/>
                  <a:pt x="0" y="606547"/>
                  <a:pt x="0" y="571500"/>
                </a:cubicBezTo>
                <a:lnTo>
                  <a:pt x="0" y="63500"/>
                </a:lnTo>
                <a:cubicBezTo>
                  <a:pt x="0" y="28453"/>
                  <a:pt x="28453" y="0"/>
                  <a:pt x="63500" y="0"/>
                </a:cubicBezTo>
                <a:close/>
              </a:path>
            </a:pathLst>
          </a:custGeom>
          <a:solidFill>
            <a:srgbClr val="FAFAFA"/>
          </a:solidFill>
          <a:ln/>
        </p:spPr>
      </p:sp>
      <p:sp>
        <p:nvSpPr>
          <p:cNvPr id="49" name="Text 47"/>
          <p:cNvSpPr/>
          <p:nvPr/>
        </p:nvSpPr>
        <p:spPr>
          <a:xfrm>
            <a:off x="7689850" y="3058162"/>
            <a:ext cx="391318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String lastCommand</a:t>
            </a:r>
            <a:endParaRPr lang="en-US" sz="1600" dirty="0"/>
          </a:p>
        </p:txBody>
      </p:sp>
      <p:sp>
        <p:nvSpPr>
          <p:cNvPr id="50" name="Text 48"/>
          <p:cNvSpPr/>
          <p:nvPr/>
        </p:nvSpPr>
        <p:spPr>
          <a:xfrm>
            <a:off x="7689850" y="3280412"/>
            <a:ext cx="3913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Most recently executed command</a:t>
            </a:r>
            <a:endParaRPr lang="en-US" sz="1600" dirty="0"/>
          </a:p>
        </p:txBody>
      </p:sp>
      <p:sp>
        <p:nvSpPr>
          <p:cNvPr id="51" name="Shape 49"/>
          <p:cNvSpPr/>
          <p:nvPr/>
        </p:nvSpPr>
        <p:spPr>
          <a:xfrm>
            <a:off x="7562850" y="3661412"/>
            <a:ext cx="4111625" cy="635000"/>
          </a:xfrm>
          <a:custGeom>
            <a:avLst/>
            <a:gdLst/>
            <a:ahLst/>
            <a:cxnLst/>
            <a:rect l="l" t="t" r="r" b="b"/>
            <a:pathLst>
              <a:path w="4111625" h="635000">
                <a:moveTo>
                  <a:pt x="63500" y="0"/>
                </a:moveTo>
                <a:lnTo>
                  <a:pt x="4048125" y="0"/>
                </a:lnTo>
                <a:cubicBezTo>
                  <a:pt x="4083172" y="0"/>
                  <a:pt x="4111625" y="28453"/>
                  <a:pt x="4111625" y="63500"/>
                </a:cubicBezTo>
                <a:lnTo>
                  <a:pt x="4111625" y="571500"/>
                </a:lnTo>
                <a:cubicBezTo>
                  <a:pt x="4111625" y="606547"/>
                  <a:pt x="4083172" y="635000"/>
                  <a:pt x="4048125" y="635000"/>
                </a:cubicBezTo>
                <a:lnTo>
                  <a:pt x="63500" y="635000"/>
                </a:lnTo>
                <a:cubicBezTo>
                  <a:pt x="28453" y="635000"/>
                  <a:pt x="0" y="606547"/>
                  <a:pt x="0" y="571500"/>
                </a:cubicBezTo>
                <a:lnTo>
                  <a:pt x="0" y="63500"/>
                </a:lnTo>
                <a:cubicBezTo>
                  <a:pt x="0" y="28453"/>
                  <a:pt x="28453" y="0"/>
                  <a:pt x="63500" y="0"/>
                </a:cubicBezTo>
                <a:close/>
              </a:path>
            </a:pathLst>
          </a:custGeom>
          <a:solidFill>
            <a:srgbClr val="FAFAFA"/>
          </a:solidFill>
          <a:ln/>
        </p:spPr>
      </p:sp>
      <p:sp>
        <p:nvSpPr>
          <p:cNvPr id="52" name="Text 50"/>
          <p:cNvSpPr/>
          <p:nvPr/>
        </p:nvSpPr>
        <p:spPr>
          <a:xfrm>
            <a:off x="7689850" y="3788412"/>
            <a:ext cx="391318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bool fireActive</a:t>
            </a:r>
            <a:endParaRPr lang="en-US" sz="1600" dirty="0"/>
          </a:p>
        </p:txBody>
      </p:sp>
      <p:sp>
        <p:nvSpPr>
          <p:cNvPr id="53" name="Text 51"/>
          <p:cNvSpPr/>
          <p:nvPr/>
        </p:nvSpPr>
        <p:spPr>
          <a:xfrm>
            <a:off x="7689850" y="4010662"/>
            <a:ext cx="3913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Emergency state flag</a:t>
            </a:r>
            <a:endParaRPr lang="en-US" sz="1600" dirty="0"/>
          </a:p>
        </p:txBody>
      </p:sp>
      <p:sp>
        <p:nvSpPr>
          <p:cNvPr id="54" name="Shape 52"/>
          <p:cNvSpPr/>
          <p:nvPr/>
        </p:nvSpPr>
        <p:spPr>
          <a:xfrm>
            <a:off x="7369175" y="4885850"/>
            <a:ext cx="4498975" cy="1212850"/>
          </a:xfrm>
          <a:custGeom>
            <a:avLst/>
            <a:gdLst/>
            <a:ahLst/>
            <a:cxnLst/>
            <a:rect l="l" t="t" r="r" b="b"/>
            <a:pathLst>
              <a:path w="4498975" h="1212850">
                <a:moveTo>
                  <a:pt x="95245" y="0"/>
                </a:moveTo>
                <a:lnTo>
                  <a:pt x="4403730" y="0"/>
                </a:lnTo>
                <a:cubicBezTo>
                  <a:pt x="4456332" y="0"/>
                  <a:pt x="4498975" y="42643"/>
                  <a:pt x="4498975" y="95245"/>
                </a:cubicBezTo>
                <a:lnTo>
                  <a:pt x="4498975" y="1117605"/>
                </a:lnTo>
                <a:cubicBezTo>
                  <a:pt x="4498975" y="1170207"/>
                  <a:pt x="4456332" y="1212850"/>
                  <a:pt x="4403730" y="1212850"/>
                </a:cubicBezTo>
                <a:lnTo>
                  <a:pt x="95245" y="1212850"/>
                </a:lnTo>
                <a:cubicBezTo>
                  <a:pt x="42643" y="1212850"/>
                  <a:pt x="0" y="1170207"/>
                  <a:pt x="0" y="1117605"/>
                </a:cubicBezTo>
                <a:lnTo>
                  <a:pt x="0" y="95245"/>
                </a:lnTo>
                <a:cubicBezTo>
                  <a:pt x="0" y="42643"/>
                  <a:pt x="42643" y="0"/>
                  <a:pt x="95245" y="0"/>
                </a:cubicBezTo>
                <a:close/>
              </a:path>
            </a:pathLst>
          </a:custGeom>
          <a:solidFill>
            <a:srgbClr val="0071E3">
              <a:alpha val="5098"/>
            </a:srgbClr>
          </a:solidFill>
          <a:ln w="10160">
            <a:solidFill>
              <a:srgbClr val="0071E3">
                <a:alpha val="20000"/>
              </a:srgbClr>
            </a:solidFill>
            <a:prstDash val="solid"/>
          </a:ln>
        </p:spPr>
      </p:sp>
      <p:sp>
        <p:nvSpPr>
          <p:cNvPr id="55" name="Text 53"/>
          <p:cNvSpPr/>
          <p:nvPr/>
        </p:nvSpPr>
        <p:spPr>
          <a:xfrm>
            <a:off x="7531100" y="5047777"/>
            <a:ext cx="4246563"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Liter" pitchFamily="34" charset="0"/>
                <a:ea typeface="Liter" pitchFamily="34" charset="-122"/>
                <a:cs typeface="Liter" pitchFamily="34" charset="-120"/>
              </a:rPr>
              <a:t>Response Codes</a:t>
            </a:r>
            <a:endParaRPr lang="en-US" sz="1600" dirty="0"/>
          </a:p>
        </p:txBody>
      </p:sp>
      <p:sp>
        <p:nvSpPr>
          <p:cNvPr id="56" name="Shape 54"/>
          <p:cNvSpPr/>
          <p:nvPr/>
        </p:nvSpPr>
        <p:spPr>
          <a:xfrm>
            <a:off x="7531100" y="5365277"/>
            <a:ext cx="254000" cy="254000"/>
          </a:xfrm>
          <a:custGeom>
            <a:avLst/>
            <a:gdLst/>
            <a:ahLst/>
            <a:cxnLst/>
            <a:rect l="l" t="t" r="r" b="b"/>
            <a:pathLst>
              <a:path w="254000" h="254000">
                <a:moveTo>
                  <a:pt x="31750" y="0"/>
                </a:moveTo>
                <a:lnTo>
                  <a:pt x="222250" y="0"/>
                </a:lnTo>
                <a:cubicBezTo>
                  <a:pt x="239773" y="0"/>
                  <a:pt x="254000" y="14227"/>
                  <a:pt x="254000" y="31750"/>
                </a:cubicBezTo>
                <a:lnTo>
                  <a:pt x="254000" y="222250"/>
                </a:lnTo>
                <a:cubicBezTo>
                  <a:pt x="254000" y="239773"/>
                  <a:pt x="239773" y="254000"/>
                  <a:pt x="222250" y="254000"/>
                </a:cubicBezTo>
                <a:lnTo>
                  <a:pt x="31750" y="254000"/>
                </a:lnTo>
                <a:cubicBezTo>
                  <a:pt x="14227" y="254000"/>
                  <a:pt x="0" y="239773"/>
                  <a:pt x="0" y="222250"/>
                </a:cubicBezTo>
                <a:lnTo>
                  <a:pt x="0" y="31750"/>
                </a:lnTo>
                <a:cubicBezTo>
                  <a:pt x="0" y="14227"/>
                  <a:pt x="14227" y="0"/>
                  <a:pt x="31750" y="0"/>
                </a:cubicBezTo>
                <a:close/>
              </a:path>
            </a:pathLst>
          </a:custGeom>
          <a:solidFill>
            <a:srgbClr val="34C759"/>
          </a:solidFill>
          <a:ln/>
        </p:spPr>
      </p:sp>
      <p:sp>
        <p:nvSpPr>
          <p:cNvPr id="57" name="Text 55"/>
          <p:cNvSpPr/>
          <p:nvPr/>
        </p:nvSpPr>
        <p:spPr>
          <a:xfrm>
            <a:off x="7503319" y="5365277"/>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S</a:t>
            </a:r>
            <a:endParaRPr lang="en-US" sz="1600" dirty="0"/>
          </a:p>
        </p:txBody>
      </p:sp>
      <p:sp>
        <p:nvSpPr>
          <p:cNvPr id="58" name="Text 56"/>
          <p:cNvSpPr/>
          <p:nvPr/>
        </p:nvSpPr>
        <p:spPr>
          <a:xfrm>
            <a:off x="7880350" y="5412902"/>
            <a:ext cx="167481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Command executed successfully</a:t>
            </a:r>
            <a:endParaRPr lang="en-US" sz="1600" dirty="0"/>
          </a:p>
        </p:txBody>
      </p:sp>
      <p:sp>
        <p:nvSpPr>
          <p:cNvPr id="59" name="Shape 57"/>
          <p:cNvSpPr/>
          <p:nvPr/>
        </p:nvSpPr>
        <p:spPr>
          <a:xfrm>
            <a:off x="7531100" y="5682777"/>
            <a:ext cx="254000" cy="254000"/>
          </a:xfrm>
          <a:custGeom>
            <a:avLst/>
            <a:gdLst/>
            <a:ahLst/>
            <a:cxnLst/>
            <a:rect l="l" t="t" r="r" b="b"/>
            <a:pathLst>
              <a:path w="254000" h="254000">
                <a:moveTo>
                  <a:pt x="31750" y="0"/>
                </a:moveTo>
                <a:lnTo>
                  <a:pt x="222250" y="0"/>
                </a:lnTo>
                <a:cubicBezTo>
                  <a:pt x="239773" y="0"/>
                  <a:pt x="254000" y="14227"/>
                  <a:pt x="254000" y="31750"/>
                </a:cubicBezTo>
                <a:lnTo>
                  <a:pt x="254000" y="222250"/>
                </a:lnTo>
                <a:cubicBezTo>
                  <a:pt x="254000" y="239773"/>
                  <a:pt x="239773" y="254000"/>
                  <a:pt x="222250" y="254000"/>
                </a:cubicBezTo>
                <a:lnTo>
                  <a:pt x="31750" y="254000"/>
                </a:lnTo>
                <a:cubicBezTo>
                  <a:pt x="14227" y="254000"/>
                  <a:pt x="0" y="239773"/>
                  <a:pt x="0" y="222250"/>
                </a:cubicBezTo>
                <a:lnTo>
                  <a:pt x="0" y="31750"/>
                </a:lnTo>
                <a:cubicBezTo>
                  <a:pt x="0" y="14227"/>
                  <a:pt x="14227" y="0"/>
                  <a:pt x="31750" y="0"/>
                </a:cubicBezTo>
                <a:close/>
              </a:path>
            </a:pathLst>
          </a:custGeom>
          <a:solidFill>
            <a:srgbClr val="FF3B30"/>
          </a:solidFill>
          <a:ln/>
        </p:spPr>
      </p:sp>
      <p:sp>
        <p:nvSpPr>
          <p:cNvPr id="60" name="Text 58"/>
          <p:cNvSpPr/>
          <p:nvPr/>
        </p:nvSpPr>
        <p:spPr>
          <a:xfrm>
            <a:off x="7503319" y="5682777"/>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E</a:t>
            </a:r>
            <a:endParaRPr lang="en-US" sz="1600" dirty="0"/>
          </a:p>
        </p:txBody>
      </p:sp>
      <p:sp>
        <p:nvSpPr>
          <p:cNvPr id="61" name="Text 59"/>
          <p:cNvSpPr/>
          <p:nvPr/>
        </p:nvSpPr>
        <p:spPr>
          <a:xfrm>
            <a:off x="7880350" y="5730402"/>
            <a:ext cx="12700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Invalid command or error</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Liter" pitchFamily="34" charset="0"/>
                <a:ea typeface="Liter" pitchFamily="34" charset="-122"/>
                <a:cs typeface="Liter" pitchFamily="34" charset="-120"/>
              </a:rPr>
              <a:t>COMMUNICATION PROTOCOL</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Liter" pitchFamily="34" charset="0"/>
                <a:ea typeface="Liter" pitchFamily="34" charset="-122"/>
                <a:cs typeface="Liter" pitchFamily="34" charset="-120"/>
              </a:rPr>
              <a:t>Text-to-Action Command Mapping</a:t>
            </a:r>
            <a:endParaRPr lang="en-US" sz="1600" dirty="0"/>
          </a:p>
        </p:txBody>
      </p:sp>
      <p:sp>
        <p:nvSpPr>
          <p:cNvPr id="4" name="Shape 2"/>
          <p:cNvSpPr/>
          <p:nvPr/>
        </p:nvSpPr>
        <p:spPr>
          <a:xfrm>
            <a:off x="320675" y="1019175"/>
            <a:ext cx="5673725" cy="3733802"/>
          </a:xfrm>
          <a:custGeom>
            <a:avLst/>
            <a:gdLst/>
            <a:ahLst/>
            <a:cxnLst/>
            <a:rect l="l" t="t" r="r" b="b"/>
            <a:pathLst>
              <a:path w="5673725" h="4586288">
                <a:moveTo>
                  <a:pt x="95257" y="0"/>
                </a:moveTo>
                <a:lnTo>
                  <a:pt x="5578468" y="0"/>
                </a:lnTo>
                <a:cubicBezTo>
                  <a:pt x="5631077" y="0"/>
                  <a:pt x="5673725" y="42648"/>
                  <a:pt x="5673725" y="95257"/>
                </a:cubicBezTo>
                <a:lnTo>
                  <a:pt x="5673725" y="4491030"/>
                </a:lnTo>
                <a:cubicBezTo>
                  <a:pt x="5673725" y="4543639"/>
                  <a:pt x="5631077" y="4586288"/>
                  <a:pt x="5578468" y="4586288"/>
                </a:cubicBezTo>
                <a:lnTo>
                  <a:pt x="95257" y="4586288"/>
                </a:lnTo>
                <a:cubicBezTo>
                  <a:pt x="42648" y="4586288"/>
                  <a:pt x="0" y="4543639"/>
                  <a:pt x="0" y="4491030"/>
                </a:cubicBezTo>
                <a:lnTo>
                  <a:pt x="0" y="95257"/>
                </a:lnTo>
                <a:cubicBezTo>
                  <a:pt x="0" y="42648"/>
                  <a:pt x="42648" y="0"/>
                  <a:pt x="95257"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5" name="Shape 3"/>
          <p:cNvSpPr/>
          <p:nvPr/>
        </p:nvSpPr>
        <p:spPr>
          <a:xfrm>
            <a:off x="534194" y="1244602"/>
            <a:ext cx="158750" cy="158750"/>
          </a:xfrm>
          <a:custGeom>
            <a:avLst/>
            <a:gdLst/>
            <a:ahLst/>
            <a:cxnLst/>
            <a:rect l="l" t="t" r="r" b="b"/>
            <a:pathLst>
              <a:path w="158750" h="158750">
                <a:moveTo>
                  <a:pt x="2915" y="36773"/>
                </a:moveTo>
                <a:cubicBezTo>
                  <a:pt x="-961" y="32897"/>
                  <a:pt x="-961" y="26603"/>
                  <a:pt x="2915" y="22727"/>
                </a:cubicBezTo>
                <a:cubicBezTo>
                  <a:pt x="6790" y="18852"/>
                  <a:pt x="13084" y="18852"/>
                  <a:pt x="16960" y="22727"/>
                </a:cubicBezTo>
                <a:lnTo>
                  <a:pt x="66570" y="72337"/>
                </a:lnTo>
                <a:cubicBezTo>
                  <a:pt x="70445" y="76212"/>
                  <a:pt x="70445" y="82507"/>
                  <a:pt x="66570" y="86382"/>
                </a:cubicBezTo>
                <a:lnTo>
                  <a:pt x="16960" y="135992"/>
                </a:lnTo>
                <a:cubicBezTo>
                  <a:pt x="13084" y="139867"/>
                  <a:pt x="6790" y="139867"/>
                  <a:pt x="2915" y="135992"/>
                </a:cubicBezTo>
                <a:cubicBezTo>
                  <a:pt x="-961" y="132116"/>
                  <a:pt x="-961" y="125822"/>
                  <a:pt x="2915" y="121946"/>
                </a:cubicBezTo>
                <a:lnTo>
                  <a:pt x="45486" y="79375"/>
                </a:lnTo>
                <a:lnTo>
                  <a:pt x="2915" y="36773"/>
                </a:lnTo>
                <a:close/>
                <a:moveTo>
                  <a:pt x="69453" y="119062"/>
                </a:moveTo>
                <a:lnTo>
                  <a:pt x="148828" y="119062"/>
                </a:lnTo>
                <a:cubicBezTo>
                  <a:pt x="154316" y="119062"/>
                  <a:pt x="158750" y="123496"/>
                  <a:pt x="158750" y="128984"/>
                </a:cubicBezTo>
                <a:cubicBezTo>
                  <a:pt x="158750" y="134472"/>
                  <a:pt x="154316" y="138906"/>
                  <a:pt x="148828" y="138906"/>
                </a:cubicBezTo>
                <a:lnTo>
                  <a:pt x="69453" y="138906"/>
                </a:lnTo>
                <a:cubicBezTo>
                  <a:pt x="63965" y="138906"/>
                  <a:pt x="59531" y="134472"/>
                  <a:pt x="59531" y="128984"/>
                </a:cubicBezTo>
                <a:cubicBezTo>
                  <a:pt x="59531" y="123496"/>
                  <a:pt x="63965" y="119062"/>
                  <a:pt x="69453" y="119062"/>
                </a:cubicBezTo>
                <a:close/>
              </a:path>
            </a:pathLst>
          </a:custGeom>
          <a:solidFill>
            <a:srgbClr val="0071E3"/>
          </a:solidFill>
          <a:ln/>
        </p:spPr>
      </p:sp>
      <p:sp>
        <p:nvSpPr>
          <p:cNvPr id="6" name="Text 4"/>
          <p:cNvSpPr/>
          <p:nvPr/>
        </p:nvSpPr>
        <p:spPr>
          <a:xfrm>
            <a:off x="712788" y="1212852"/>
            <a:ext cx="516731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Command Structure</a:t>
            </a:r>
            <a:endParaRPr lang="en-US" sz="1600" dirty="0"/>
          </a:p>
        </p:txBody>
      </p:sp>
      <p:sp>
        <p:nvSpPr>
          <p:cNvPr id="7" name="Shape 5"/>
          <p:cNvSpPr/>
          <p:nvPr/>
        </p:nvSpPr>
        <p:spPr>
          <a:xfrm>
            <a:off x="530225" y="1562102"/>
            <a:ext cx="5270500" cy="1420813"/>
          </a:xfrm>
          <a:custGeom>
            <a:avLst/>
            <a:gdLst/>
            <a:ahLst/>
            <a:cxnLst/>
            <a:rect l="l" t="t" r="r" b="b"/>
            <a:pathLst>
              <a:path w="5270500" h="1420813">
                <a:moveTo>
                  <a:pt x="31750" y="0"/>
                </a:moveTo>
                <a:lnTo>
                  <a:pt x="5207004" y="0"/>
                </a:lnTo>
                <a:cubicBezTo>
                  <a:pt x="5242072" y="0"/>
                  <a:pt x="5270500" y="28428"/>
                  <a:pt x="5270500" y="63496"/>
                </a:cubicBezTo>
                <a:lnTo>
                  <a:pt x="5270500" y="1357316"/>
                </a:lnTo>
                <a:cubicBezTo>
                  <a:pt x="5270500" y="1392384"/>
                  <a:pt x="5242072" y="1420813"/>
                  <a:pt x="5207004" y="1420813"/>
                </a:cubicBezTo>
                <a:lnTo>
                  <a:pt x="31750" y="1420813"/>
                </a:lnTo>
                <a:cubicBezTo>
                  <a:pt x="14227" y="1420813"/>
                  <a:pt x="0" y="1406586"/>
                  <a:pt x="0" y="1389063"/>
                </a:cubicBezTo>
                <a:lnTo>
                  <a:pt x="0" y="31750"/>
                </a:lnTo>
                <a:cubicBezTo>
                  <a:pt x="0" y="14227"/>
                  <a:pt x="14227" y="0"/>
                  <a:pt x="31750" y="0"/>
                </a:cubicBezTo>
                <a:close/>
              </a:path>
            </a:pathLst>
          </a:custGeom>
          <a:solidFill>
            <a:srgbClr val="0071E3">
              <a:alpha val="5098"/>
            </a:srgbClr>
          </a:solidFill>
          <a:ln/>
        </p:spPr>
      </p:sp>
      <p:sp>
        <p:nvSpPr>
          <p:cNvPr id="8" name="Shape 6"/>
          <p:cNvSpPr/>
          <p:nvPr/>
        </p:nvSpPr>
        <p:spPr>
          <a:xfrm>
            <a:off x="530225" y="1562102"/>
            <a:ext cx="31750" cy="1420813"/>
          </a:xfrm>
          <a:custGeom>
            <a:avLst/>
            <a:gdLst/>
            <a:ahLst/>
            <a:cxnLst/>
            <a:rect l="l" t="t" r="r" b="b"/>
            <a:pathLst>
              <a:path w="31750" h="1420813">
                <a:moveTo>
                  <a:pt x="31750" y="0"/>
                </a:moveTo>
                <a:lnTo>
                  <a:pt x="31750" y="0"/>
                </a:lnTo>
                <a:lnTo>
                  <a:pt x="31750" y="1420813"/>
                </a:lnTo>
                <a:lnTo>
                  <a:pt x="31750" y="1420813"/>
                </a:lnTo>
                <a:cubicBezTo>
                  <a:pt x="14227" y="1420813"/>
                  <a:pt x="0" y="1406586"/>
                  <a:pt x="0" y="1389063"/>
                </a:cubicBezTo>
                <a:lnTo>
                  <a:pt x="0" y="31750"/>
                </a:lnTo>
                <a:cubicBezTo>
                  <a:pt x="0" y="14227"/>
                  <a:pt x="14227" y="0"/>
                  <a:pt x="31750" y="0"/>
                </a:cubicBezTo>
                <a:close/>
              </a:path>
            </a:pathLst>
          </a:custGeom>
          <a:solidFill>
            <a:srgbClr val="0071E3"/>
          </a:solidFill>
          <a:ln/>
        </p:spPr>
      </p:sp>
      <p:sp>
        <p:nvSpPr>
          <p:cNvPr id="9" name="Text 7"/>
          <p:cNvSpPr/>
          <p:nvPr/>
        </p:nvSpPr>
        <p:spPr>
          <a:xfrm>
            <a:off x="673100" y="1689102"/>
            <a:ext cx="539750" cy="222250"/>
          </a:xfrm>
          <a:prstGeom prst="rect">
            <a:avLst/>
          </a:prstGeom>
          <a:noFill/>
          <a:ln/>
        </p:spPr>
        <p:txBody>
          <a:bodyPr wrap="square" lIns="0" tIns="0" rIns="0" bIns="0" rtlCol="0" anchor="ctr"/>
          <a:lstStyle/>
          <a:p>
            <a:pPr>
              <a:lnSpc>
                <a:spcPct val="130000"/>
              </a:lnSpc>
            </a:pPr>
            <a:r>
              <a:rPr lang="en-US" sz="1125" b="1" dirty="0">
                <a:solidFill>
                  <a:srgbClr val="0071E3"/>
                </a:solidFill>
                <a:latin typeface="MiSans" pitchFamily="34" charset="0"/>
                <a:ea typeface="MiSans" pitchFamily="34" charset="-122"/>
                <a:cs typeface="MiSans" pitchFamily="34" charset="-120"/>
              </a:rPr>
              <a:t>L1, L2</a:t>
            </a:r>
            <a:endParaRPr lang="en-US" sz="1600" dirty="0"/>
          </a:p>
        </p:txBody>
      </p:sp>
      <p:sp>
        <p:nvSpPr>
          <p:cNvPr id="10" name="Shape 8"/>
          <p:cNvSpPr/>
          <p:nvPr/>
        </p:nvSpPr>
        <p:spPr>
          <a:xfrm>
            <a:off x="4940498" y="1704977"/>
            <a:ext cx="738188" cy="190500"/>
          </a:xfrm>
          <a:custGeom>
            <a:avLst/>
            <a:gdLst/>
            <a:ahLst/>
            <a:cxnLst/>
            <a:rect l="l" t="t" r="r" b="b"/>
            <a:pathLst>
              <a:path w="738188" h="190500">
                <a:moveTo>
                  <a:pt x="95250" y="0"/>
                </a:moveTo>
                <a:lnTo>
                  <a:pt x="642938" y="0"/>
                </a:lnTo>
                <a:cubicBezTo>
                  <a:pt x="695507" y="0"/>
                  <a:pt x="738188" y="42680"/>
                  <a:pt x="738188" y="95250"/>
                </a:cubicBezTo>
                <a:lnTo>
                  <a:pt x="738188" y="95250"/>
                </a:lnTo>
                <a:cubicBezTo>
                  <a:pt x="738188" y="147820"/>
                  <a:pt x="695507" y="190500"/>
                  <a:pt x="642938" y="190500"/>
                </a:cubicBezTo>
                <a:lnTo>
                  <a:pt x="95250" y="190500"/>
                </a:lnTo>
                <a:cubicBezTo>
                  <a:pt x="42680" y="190500"/>
                  <a:pt x="0" y="147820"/>
                  <a:pt x="0" y="95250"/>
                </a:cubicBezTo>
                <a:lnTo>
                  <a:pt x="0" y="95250"/>
                </a:lnTo>
                <a:cubicBezTo>
                  <a:pt x="0" y="42680"/>
                  <a:pt x="42680" y="0"/>
                  <a:pt x="95250" y="0"/>
                </a:cubicBezTo>
                <a:close/>
              </a:path>
            </a:pathLst>
          </a:custGeom>
          <a:solidFill>
            <a:srgbClr val="0071E3"/>
          </a:solidFill>
          <a:ln/>
        </p:spPr>
      </p:sp>
      <p:sp>
        <p:nvSpPr>
          <p:cNvPr id="11" name="Text 9"/>
          <p:cNvSpPr/>
          <p:nvPr/>
        </p:nvSpPr>
        <p:spPr>
          <a:xfrm>
            <a:off x="4940498" y="1704977"/>
            <a:ext cx="785813" cy="190500"/>
          </a:xfrm>
          <a:prstGeom prst="rect">
            <a:avLst/>
          </a:prstGeom>
          <a:noFill/>
          <a:ln/>
        </p:spPr>
        <p:txBody>
          <a:bodyPr wrap="square" lIns="95250" tIns="31750" rIns="95250" bIns="31750" rtlCol="0" anchor="ctr"/>
          <a:lstStyle/>
          <a:p>
            <a:pPr>
              <a:lnSpc>
                <a:spcPct val="110000"/>
              </a:lnSpc>
            </a:pPr>
            <a:r>
              <a:rPr lang="en-US" sz="750" dirty="0">
                <a:solidFill>
                  <a:srgbClr val="FFFFFF"/>
                </a:solidFill>
                <a:latin typeface="Liter" pitchFamily="34" charset="0"/>
                <a:ea typeface="Liter" pitchFamily="34" charset="-122"/>
                <a:cs typeface="Liter" pitchFamily="34" charset="-120"/>
              </a:rPr>
              <a:t>Light Control</a:t>
            </a:r>
            <a:endParaRPr lang="en-US" sz="1600" dirty="0"/>
          </a:p>
        </p:txBody>
      </p:sp>
      <p:sp>
        <p:nvSpPr>
          <p:cNvPr id="12" name="Text 10"/>
          <p:cNvSpPr/>
          <p:nvPr/>
        </p:nvSpPr>
        <p:spPr>
          <a:xfrm>
            <a:off x="673100" y="1974852"/>
            <a:ext cx="5056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Toggle light relays on Pins 13 (L1) and 12 (L2)</a:t>
            </a:r>
            <a:endParaRPr lang="en-US" sz="1600" dirty="0"/>
          </a:p>
        </p:txBody>
      </p:sp>
      <p:sp>
        <p:nvSpPr>
          <p:cNvPr id="13" name="Shape 11"/>
          <p:cNvSpPr/>
          <p:nvPr/>
        </p:nvSpPr>
        <p:spPr>
          <a:xfrm>
            <a:off x="673100" y="2197102"/>
            <a:ext cx="5000625" cy="658813"/>
          </a:xfrm>
          <a:custGeom>
            <a:avLst/>
            <a:gdLst/>
            <a:ahLst/>
            <a:cxnLst/>
            <a:rect l="l" t="t" r="r" b="b"/>
            <a:pathLst>
              <a:path w="5000625" h="658813">
                <a:moveTo>
                  <a:pt x="63503" y="0"/>
                </a:moveTo>
                <a:lnTo>
                  <a:pt x="4937122" y="0"/>
                </a:lnTo>
                <a:cubicBezTo>
                  <a:pt x="4972194" y="0"/>
                  <a:pt x="5000625" y="28431"/>
                  <a:pt x="5000625" y="63503"/>
                </a:cubicBezTo>
                <a:lnTo>
                  <a:pt x="5000625" y="595310"/>
                </a:lnTo>
                <a:cubicBezTo>
                  <a:pt x="5000625" y="630381"/>
                  <a:pt x="4972194" y="658813"/>
                  <a:pt x="4937122" y="658813"/>
                </a:cubicBezTo>
                <a:lnTo>
                  <a:pt x="63503" y="658813"/>
                </a:lnTo>
                <a:cubicBezTo>
                  <a:pt x="28431" y="658813"/>
                  <a:pt x="0" y="630381"/>
                  <a:pt x="0" y="595310"/>
                </a:cubicBezTo>
                <a:lnTo>
                  <a:pt x="0" y="63503"/>
                </a:lnTo>
                <a:cubicBezTo>
                  <a:pt x="0" y="28455"/>
                  <a:pt x="28455" y="0"/>
                  <a:pt x="63503" y="0"/>
                </a:cubicBezTo>
                <a:close/>
              </a:path>
            </a:pathLst>
          </a:custGeom>
          <a:solidFill>
            <a:srgbClr val="F5F5F7"/>
          </a:solidFill>
          <a:ln/>
        </p:spPr>
      </p:sp>
      <p:sp>
        <p:nvSpPr>
          <p:cNvPr id="14" name="Text 12"/>
          <p:cNvSpPr/>
          <p:nvPr/>
        </p:nvSpPr>
        <p:spPr>
          <a:xfrm>
            <a:off x="800100" y="2292352"/>
            <a:ext cx="47982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l1State = !l1State;</a:t>
            </a:r>
            <a:endParaRPr lang="en-US" sz="1600" dirty="0"/>
          </a:p>
        </p:txBody>
      </p:sp>
      <p:sp>
        <p:nvSpPr>
          <p:cNvPr id="15" name="Text 13"/>
          <p:cNvSpPr/>
          <p:nvPr/>
        </p:nvSpPr>
        <p:spPr>
          <a:xfrm>
            <a:off x="800100" y="2447134"/>
            <a:ext cx="47982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digitalWrite(RELAY_L1, l1State ? RELAY_ON : RELAY_OFF);</a:t>
            </a:r>
            <a:endParaRPr lang="en-US" sz="1600" dirty="0"/>
          </a:p>
        </p:txBody>
      </p:sp>
      <p:sp>
        <p:nvSpPr>
          <p:cNvPr id="16" name="Text 14"/>
          <p:cNvSpPr/>
          <p:nvPr/>
        </p:nvSpPr>
        <p:spPr>
          <a:xfrm>
            <a:off x="800100" y="2601915"/>
            <a:ext cx="47982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preferences.putBool(</a:t>
            </a:r>
            <a:r>
              <a:rPr lang="en-US" sz="813" dirty="0">
                <a:solidFill>
                  <a:srgbClr val="34C759"/>
                </a:solidFill>
                <a:latin typeface="MiSans" pitchFamily="34" charset="0"/>
                <a:ea typeface="MiSans" pitchFamily="34" charset="-122"/>
                <a:cs typeface="MiSans" pitchFamily="34" charset="-120"/>
              </a:rPr>
              <a:t>"l1"</a:t>
            </a:r>
            <a:r>
              <a:rPr lang="en-US" sz="813" dirty="0">
                <a:solidFill>
                  <a:srgbClr val="1D1D1D"/>
                </a:solidFill>
                <a:latin typeface="MiSans" pitchFamily="34" charset="0"/>
                <a:ea typeface="MiSans" pitchFamily="34" charset="-122"/>
                <a:cs typeface="MiSans" pitchFamily="34" charset="-120"/>
              </a:rPr>
              <a:t>, l1State);</a:t>
            </a:r>
            <a:endParaRPr lang="en-US" sz="1600" dirty="0"/>
          </a:p>
        </p:txBody>
      </p:sp>
      <p:sp>
        <p:nvSpPr>
          <p:cNvPr id="17" name="Shape 15"/>
          <p:cNvSpPr/>
          <p:nvPr/>
        </p:nvSpPr>
        <p:spPr>
          <a:xfrm>
            <a:off x="530225" y="3105946"/>
            <a:ext cx="5270500" cy="1420813"/>
          </a:xfrm>
          <a:custGeom>
            <a:avLst/>
            <a:gdLst/>
            <a:ahLst/>
            <a:cxnLst/>
            <a:rect l="l" t="t" r="r" b="b"/>
            <a:pathLst>
              <a:path w="5270500" h="1420813">
                <a:moveTo>
                  <a:pt x="31750" y="0"/>
                </a:moveTo>
                <a:lnTo>
                  <a:pt x="5207004" y="0"/>
                </a:lnTo>
                <a:cubicBezTo>
                  <a:pt x="5242072" y="0"/>
                  <a:pt x="5270500" y="28428"/>
                  <a:pt x="5270500" y="63496"/>
                </a:cubicBezTo>
                <a:lnTo>
                  <a:pt x="5270500" y="1357316"/>
                </a:lnTo>
                <a:cubicBezTo>
                  <a:pt x="5270500" y="1392384"/>
                  <a:pt x="5242072" y="1420813"/>
                  <a:pt x="5207004" y="1420813"/>
                </a:cubicBezTo>
                <a:lnTo>
                  <a:pt x="31750" y="1420813"/>
                </a:lnTo>
                <a:cubicBezTo>
                  <a:pt x="14227" y="1420813"/>
                  <a:pt x="0" y="1406586"/>
                  <a:pt x="0" y="1389063"/>
                </a:cubicBezTo>
                <a:lnTo>
                  <a:pt x="0" y="31750"/>
                </a:lnTo>
                <a:cubicBezTo>
                  <a:pt x="0" y="14227"/>
                  <a:pt x="14227" y="0"/>
                  <a:pt x="31750" y="0"/>
                </a:cubicBezTo>
                <a:close/>
              </a:path>
            </a:pathLst>
          </a:custGeom>
          <a:solidFill>
            <a:srgbClr val="34C759">
              <a:alpha val="5098"/>
            </a:srgbClr>
          </a:solidFill>
          <a:ln/>
        </p:spPr>
      </p:sp>
      <p:sp>
        <p:nvSpPr>
          <p:cNvPr id="18" name="Shape 16"/>
          <p:cNvSpPr/>
          <p:nvPr/>
        </p:nvSpPr>
        <p:spPr>
          <a:xfrm>
            <a:off x="530225" y="3105946"/>
            <a:ext cx="31750" cy="1420813"/>
          </a:xfrm>
          <a:custGeom>
            <a:avLst/>
            <a:gdLst/>
            <a:ahLst/>
            <a:cxnLst/>
            <a:rect l="l" t="t" r="r" b="b"/>
            <a:pathLst>
              <a:path w="31750" h="1420813">
                <a:moveTo>
                  <a:pt x="31750" y="0"/>
                </a:moveTo>
                <a:lnTo>
                  <a:pt x="31750" y="0"/>
                </a:lnTo>
                <a:lnTo>
                  <a:pt x="31750" y="1420813"/>
                </a:lnTo>
                <a:lnTo>
                  <a:pt x="31750" y="1420813"/>
                </a:lnTo>
                <a:cubicBezTo>
                  <a:pt x="14227" y="1420813"/>
                  <a:pt x="0" y="1406586"/>
                  <a:pt x="0" y="1389063"/>
                </a:cubicBezTo>
                <a:lnTo>
                  <a:pt x="0" y="31750"/>
                </a:lnTo>
                <a:cubicBezTo>
                  <a:pt x="0" y="14227"/>
                  <a:pt x="14227" y="0"/>
                  <a:pt x="31750" y="0"/>
                </a:cubicBezTo>
                <a:close/>
              </a:path>
            </a:pathLst>
          </a:custGeom>
          <a:solidFill>
            <a:srgbClr val="34C759"/>
          </a:solidFill>
          <a:ln/>
        </p:spPr>
      </p:sp>
      <p:sp>
        <p:nvSpPr>
          <p:cNvPr id="19" name="Text 17"/>
          <p:cNvSpPr/>
          <p:nvPr/>
        </p:nvSpPr>
        <p:spPr>
          <a:xfrm>
            <a:off x="673100" y="3232946"/>
            <a:ext cx="309563" cy="222250"/>
          </a:xfrm>
          <a:prstGeom prst="rect">
            <a:avLst/>
          </a:prstGeom>
          <a:noFill/>
          <a:ln/>
        </p:spPr>
        <p:txBody>
          <a:bodyPr wrap="square" lIns="0" tIns="0" rIns="0" bIns="0" rtlCol="0" anchor="ctr"/>
          <a:lstStyle/>
          <a:p>
            <a:pPr>
              <a:lnSpc>
                <a:spcPct val="130000"/>
              </a:lnSpc>
            </a:pPr>
            <a:r>
              <a:rPr lang="en-US" sz="1125" b="1" dirty="0">
                <a:solidFill>
                  <a:srgbClr val="34C759"/>
                </a:solidFill>
                <a:latin typeface="MiSans" pitchFamily="34" charset="0"/>
                <a:ea typeface="MiSans" pitchFamily="34" charset="-122"/>
                <a:cs typeface="MiSans" pitchFamily="34" charset="-120"/>
              </a:rPr>
              <a:t>Fxy</a:t>
            </a:r>
            <a:endParaRPr lang="en-US" sz="1600" dirty="0"/>
          </a:p>
        </p:txBody>
      </p:sp>
      <p:sp>
        <p:nvSpPr>
          <p:cNvPr id="20" name="Shape 18"/>
          <p:cNvSpPr/>
          <p:nvPr/>
        </p:nvSpPr>
        <p:spPr>
          <a:xfrm>
            <a:off x="5000625" y="3248821"/>
            <a:ext cx="674688" cy="190500"/>
          </a:xfrm>
          <a:custGeom>
            <a:avLst/>
            <a:gdLst/>
            <a:ahLst/>
            <a:cxnLst/>
            <a:rect l="l" t="t" r="r" b="b"/>
            <a:pathLst>
              <a:path w="674688" h="190500">
                <a:moveTo>
                  <a:pt x="95250" y="0"/>
                </a:moveTo>
                <a:lnTo>
                  <a:pt x="579438" y="0"/>
                </a:lnTo>
                <a:cubicBezTo>
                  <a:pt x="632007" y="0"/>
                  <a:pt x="674688" y="42680"/>
                  <a:pt x="674688" y="95250"/>
                </a:cubicBezTo>
                <a:lnTo>
                  <a:pt x="674688" y="95250"/>
                </a:lnTo>
                <a:cubicBezTo>
                  <a:pt x="674688" y="147820"/>
                  <a:pt x="632007" y="190500"/>
                  <a:pt x="579438" y="190500"/>
                </a:cubicBezTo>
                <a:lnTo>
                  <a:pt x="95250" y="190500"/>
                </a:lnTo>
                <a:cubicBezTo>
                  <a:pt x="42680" y="190500"/>
                  <a:pt x="0" y="147820"/>
                  <a:pt x="0" y="95250"/>
                </a:cubicBezTo>
                <a:lnTo>
                  <a:pt x="0" y="95250"/>
                </a:lnTo>
                <a:cubicBezTo>
                  <a:pt x="0" y="42680"/>
                  <a:pt x="42680" y="0"/>
                  <a:pt x="95250" y="0"/>
                </a:cubicBezTo>
                <a:close/>
              </a:path>
            </a:pathLst>
          </a:custGeom>
          <a:solidFill>
            <a:srgbClr val="34C759"/>
          </a:solidFill>
          <a:ln/>
        </p:spPr>
      </p:sp>
      <p:sp>
        <p:nvSpPr>
          <p:cNvPr id="21" name="Text 19"/>
          <p:cNvSpPr/>
          <p:nvPr/>
        </p:nvSpPr>
        <p:spPr>
          <a:xfrm>
            <a:off x="5000625" y="3248821"/>
            <a:ext cx="722313" cy="190500"/>
          </a:xfrm>
          <a:prstGeom prst="rect">
            <a:avLst/>
          </a:prstGeom>
          <a:noFill/>
          <a:ln/>
        </p:spPr>
        <p:txBody>
          <a:bodyPr wrap="square" lIns="95250" tIns="31750" rIns="95250" bIns="31750" rtlCol="0" anchor="ctr"/>
          <a:lstStyle/>
          <a:p>
            <a:pPr>
              <a:lnSpc>
                <a:spcPct val="110000"/>
              </a:lnSpc>
            </a:pPr>
            <a:r>
              <a:rPr lang="en-US" sz="750" dirty="0">
                <a:solidFill>
                  <a:srgbClr val="FFFFFF"/>
                </a:solidFill>
                <a:latin typeface="Liter" pitchFamily="34" charset="0"/>
                <a:ea typeface="Liter" pitchFamily="34" charset="-122"/>
                <a:cs typeface="Liter" pitchFamily="34" charset="-120"/>
              </a:rPr>
              <a:t>Fan Control</a:t>
            </a:r>
            <a:endParaRPr lang="en-US" sz="1600" dirty="0"/>
          </a:p>
        </p:txBody>
      </p:sp>
      <p:sp>
        <p:nvSpPr>
          <p:cNvPr id="22" name="Text 20"/>
          <p:cNvSpPr/>
          <p:nvPr/>
        </p:nvSpPr>
        <p:spPr>
          <a:xfrm>
            <a:off x="673100" y="3518696"/>
            <a:ext cx="5056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x = Room (1,2), y = Speed (0-4)</a:t>
            </a:r>
            <a:endParaRPr lang="en-US" sz="1600" dirty="0"/>
          </a:p>
        </p:txBody>
      </p:sp>
      <p:sp>
        <p:nvSpPr>
          <p:cNvPr id="23" name="Shape 21"/>
          <p:cNvSpPr/>
          <p:nvPr/>
        </p:nvSpPr>
        <p:spPr>
          <a:xfrm>
            <a:off x="673100" y="3740946"/>
            <a:ext cx="5000625" cy="658813"/>
          </a:xfrm>
          <a:custGeom>
            <a:avLst/>
            <a:gdLst/>
            <a:ahLst/>
            <a:cxnLst/>
            <a:rect l="l" t="t" r="r" b="b"/>
            <a:pathLst>
              <a:path w="5000625" h="658813">
                <a:moveTo>
                  <a:pt x="63503" y="0"/>
                </a:moveTo>
                <a:lnTo>
                  <a:pt x="4937122" y="0"/>
                </a:lnTo>
                <a:cubicBezTo>
                  <a:pt x="4972194" y="0"/>
                  <a:pt x="5000625" y="28431"/>
                  <a:pt x="5000625" y="63503"/>
                </a:cubicBezTo>
                <a:lnTo>
                  <a:pt x="5000625" y="595310"/>
                </a:lnTo>
                <a:cubicBezTo>
                  <a:pt x="5000625" y="630381"/>
                  <a:pt x="4972194" y="658813"/>
                  <a:pt x="4937122" y="658813"/>
                </a:cubicBezTo>
                <a:lnTo>
                  <a:pt x="63503" y="658813"/>
                </a:lnTo>
                <a:cubicBezTo>
                  <a:pt x="28431" y="658813"/>
                  <a:pt x="0" y="630381"/>
                  <a:pt x="0" y="595310"/>
                </a:cubicBezTo>
                <a:lnTo>
                  <a:pt x="0" y="63503"/>
                </a:lnTo>
                <a:cubicBezTo>
                  <a:pt x="0" y="28455"/>
                  <a:pt x="28455" y="0"/>
                  <a:pt x="63503" y="0"/>
                </a:cubicBezTo>
                <a:close/>
              </a:path>
            </a:pathLst>
          </a:custGeom>
          <a:solidFill>
            <a:srgbClr val="F5F5F7"/>
          </a:solidFill>
          <a:ln/>
        </p:spPr>
      </p:sp>
      <p:sp>
        <p:nvSpPr>
          <p:cNvPr id="24" name="Text 22"/>
          <p:cNvSpPr/>
          <p:nvPr/>
        </p:nvSpPr>
        <p:spPr>
          <a:xfrm>
            <a:off x="800100" y="3836196"/>
            <a:ext cx="47982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int</a:t>
            </a:r>
            <a:r>
              <a:rPr lang="en-US" sz="813" dirty="0">
                <a:solidFill>
                  <a:srgbClr val="1D1D1D"/>
                </a:solidFill>
                <a:latin typeface="MiSans" pitchFamily="34" charset="0"/>
                <a:ea typeface="MiSans" pitchFamily="34" charset="-122"/>
                <a:cs typeface="MiSans" pitchFamily="34" charset="-120"/>
              </a:rPr>
              <a:t> r = inputBuffer.charAt(</a:t>
            </a:r>
            <a:r>
              <a:rPr lang="en-US" sz="813" dirty="0">
                <a:solidFill>
                  <a:srgbClr val="FF9500"/>
                </a:solidFill>
                <a:latin typeface="MiSans" pitchFamily="34" charset="0"/>
                <a:ea typeface="MiSans" pitchFamily="34" charset="-122"/>
                <a:cs typeface="MiSans" pitchFamily="34" charset="-120"/>
              </a:rPr>
              <a:t>1</a:t>
            </a:r>
            <a:r>
              <a:rPr lang="en-US" sz="813" dirty="0">
                <a:solidFill>
                  <a:srgbClr val="1D1D1D"/>
                </a:solidFill>
                <a:latin typeface="MiSans" pitchFamily="34" charset="0"/>
                <a:ea typeface="MiSans" pitchFamily="34" charset="-122"/>
                <a:cs typeface="MiSans" pitchFamily="34" charset="-120"/>
              </a:rPr>
              <a:t>) - </a:t>
            </a:r>
            <a:r>
              <a:rPr lang="en-US" sz="813" dirty="0">
                <a:solidFill>
                  <a:srgbClr val="34C759"/>
                </a:solidFill>
                <a:latin typeface="MiSans" pitchFamily="34" charset="0"/>
                <a:ea typeface="MiSans" pitchFamily="34" charset="-122"/>
                <a:cs typeface="MiSans" pitchFamily="34" charset="-120"/>
              </a:rPr>
              <a:t>'0'</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25" name="Text 23"/>
          <p:cNvSpPr/>
          <p:nvPr/>
        </p:nvSpPr>
        <p:spPr>
          <a:xfrm>
            <a:off x="800100" y="3990977"/>
            <a:ext cx="47982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int</a:t>
            </a:r>
            <a:r>
              <a:rPr lang="en-US" sz="813" dirty="0">
                <a:solidFill>
                  <a:srgbClr val="1D1D1D"/>
                </a:solidFill>
                <a:latin typeface="MiSans" pitchFamily="34" charset="0"/>
                <a:ea typeface="MiSans" pitchFamily="34" charset="-122"/>
                <a:cs typeface="MiSans" pitchFamily="34" charset="-120"/>
              </a:rPr>
              <a:t> s = inputBuffer.charAt(</a:t>
            </a:r>
            <a:r>
              <a:rPr lang="en-US" sz="813" dirty="0">
                <a:solidFill>
                  <a:srgbClr val="FF9500"/>
                </a:solidFill>
                <a:latin typeface="MiSans" pitchFamily="34" charset="0"/>
                <a:ea typeface="MiSans" pitchFamily="34" charset="-122"/>
                <a:cs typeface="MiSans" pitchFamily="34" charset="-120"/>
              </a:rPr>
              <a:t>2</a:t>
            </a:r>
            <a:r>
              <a:rPr lang="en-US" sz="813" dirty="0">
                <a:solidFill>
                  <a:srgbClr val="1D1D1D"/>
                </a:solidFill>
                <a:latin typeface="MiSans" pitchFamily="34" charset="0"/>
                <a:ea typeface="MiSans" pitchFamily="34" charset="-122"/>
                <a:cs typeface="MiSans" pitchFamily="34" charset="-120"/>
              </a:rPr>
              <a:t>) - </a:t>
            </a:r>
            <a:r>
              <a:rPr lang="en-US" sz="813" dirty="0">
                <a:solidFill>
                  <a:srgbClr val="34C759"/>
                </a:solidFill>
                <a:latin typeface="MiSans" pitchFamily="34" charset="0"/>
                <a:ea typeface="MiSans" pitchFamily="34" charset="-122"/>
                <a:cs typeface="MiSans" pitchFamily="34" charset="-120"/>
              </a:rPr>
              <a:t>'0'</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26" name="Text 24"/>
          <p:cNvSpPr/>
          <p:nvPr/>
        </p:nvSpPr>
        <p:spPr>
          <a:xfrm>
            <a:off x="800100" y="4145759"/>
            <a:ext cx="47982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1D1D1D"/>
                </a:solidFill>
                <a:latin typeface="MiSans" pitchFamily="34" charset="0"/>
                <a:ea typeface="MiSans" pitchFamily="34" charset="-122"/>
                <a:cs typeface="MiSans" pitchFamily="34" charset="-120"/>
              </a:rPr>
              <a:t> (r==</a:t>
            </a:r>
            <a:r>
              <a:rPr lang="en-US" sz="813" dirty="0">
                <a:solidFill>
                  <a:srgbClr val="FF9500"/>
                </a:solidFill>
                <a:latin typeface="MiSans" pitchFamily="34" charset="0"/>
                <a:ea typeface="MiSans" pitchFamily="34" charset="-122"/>
                <a:cs typeface="MiSans" pitchFamily="34" charset="-120"/>
              </a:rPr>
              <a:t>1</a:t>
            </a:r>
            <a:r>
              <a:rPr lang="en-US" sz="813" dirty="0">
                <a:solidFill>
                  <a:srgbClr val="1D1D1D"/>
                </a:solidFill>
                <a:latin typeface="MiSans" pitchFamily="34" charset="0"/>
                <a:ea typeface="MiSans" pitchFamily="34" charset="-122"/>
                <a:cs typeface="MiSans" pitchFamily="34" charset="-120"/>
              </a:rPr>
              <a:t>) { fan1State=s; setFan1Speed(s); }</a:t>
            </a:r>
            <a:endParaRPr lang="en-US" sz="1600" dirty="0"/>
          </a:p>
        </p:txBody>
      </p:sp>
      <p:sp>
        <p:nvSpPr>
          <p:cNvPr id="35" name="Shape 33"/>
          <p:cNvSpPr/>
          <p:nvPr/>
        </p:nvSpPr>
        <p:spPr>
          <a:xfrm>
            <a:off x="6194425" y="826135"/>
            <a:ext cx="5673725" cy="4229100"/>
          </a:xfrm>
          <a:custGeom>
            <a:avLst/>
            <a:gdLst/>
            <a:ahLst/>
            <a:cxnLst/>
            <a:rect l="l" t="t" r="r" b="b"/>
            <a:pathLst>
              <a:path w="5673725" h="4229100">
                <a:moveTo>
                  <a:pt x="95239" y="0"/>
                </a:moveTo>
                <a:lnTo>
                  <a:pt x="5578486" y="0"/>
                </a:lnTo>
                <a:cubicBezTo>
                  <a:pt x="5631085" y="0"/>
                  <a:pt x="5673725" y="42640"/>
                  <a:pt x="5673725" y="95239"/>
                </a:cubicBezTo>
                <a:lnTo>
                  <a:pt x="5673725" y="4133861"/>
                </a:lnTo>
                <a:cubicBezTo>
                  <a:pt x="5673725" y="4186460"/>
                  <a:pt x="5631085" y="4229100"/>
                  <a:pt x="5578486" y="4229100"/>
                </a:cubicBezTo>
                <a:lnTo>
                  <a:pt x="95239" y="4229100"/>
                </a:lnTo>
                <a:cubicBezTo>
                  <a:pt x="42640" y="4229100"/>
                  <a:pt x="0" y="4186460"/>
                  <a:pt x="0" y="4133861"/>
                </a:cubicBezTo>
                <a:lnTo>
                  <a:pt x="0" y="95239"/>
                </a:lnTo>
                <a:cubicBezTo>
                  <a:pt x="0" y="42675"/>
                  <a:pt x="42675" y="0"/>
                  <a:pt x="95239"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36" name="Shape 34"/>
          <p:cNvSpPr/>
          <p:nvPr/>
        </p:nvSpPr>
        <p:spPr>
          <a:xfrm>
            <a:off x="6417866" y="1051562"/>
            <a:ext cx="138906" cy="158750"/>
          </a:xfrm>
          <a:custGeom>
            <a:avLst/>
            <a:gdLst/>
            <a:ahLst/>
            <a:cxnLst/>
            <a:rect l="l" t="t" r="r" b="b"/>
            <a:pathLst>
              <a:path w="138906" h="158750">
                <a:moveTo>
                  <a:pt x="79375" y="49609"/>
                </a:moveTo>
                <a:lnTo>
                  <a:pt x="79375" y="79375"/>
                </a:lnTo>
                <a:lnTo>
                  <a:pt x="119062" y="79375"/>
                </a:lnTo>
                <a:lnTo>
                  <a:pt x="119062" y="49609"/>
                </a:lnTo>
                <a:lnTo>
                  <a:pt x="79375" y="49609"/>
                </a:lnTo>
                <a:close/>
                <a:moveTo>
                  <a:pt x="59531" y="49609"/>
                </a:moveTo>
                <a:lnTo>
                  <a:pt x="19844" y="49609"/>
                </a:lnTo>
                <a:lnTo>
                  <a:pt x="19844" y="79375"/>
                </a:lnTo>
                <a:lnTo>
                  <a:pt x="59531" y="79375"/>
                </a:lnTo>
                <a:lnTo>
                  <a:pt x="59531" y="49609"/>
                </a:lnTo>
                <a:close/>
                <a:moveTo>
                  <a:pt x="0" y="99219"/>
                </a:moveTo>
                <a:lnTo>
                  <a:pt x="0" y="29766"/>
                </a:lnTo>
                <a:cubicBezTo>
                  <a:pt x="0" y="18821"/>
                  <a:pt x="8899" y="9922"/>
                  <a:pt x="19844" y="9922"/>
                </a:cubicBezTo>
                <a:lnTo>
                  <a:pt x="119062" y="9922"/>
                </a:lnTo>
                <a:cubicBezTo>
                  <a:pt x="130008" y="9922"/>
                  <a:pt x="138906" y="18821"/>
                  <a:pt x="138906" y="29766"/>
                </a:cubicBezTo>
                <a:lnTo>
                  <a:pt x="138906" y="128984"/>
                </a:lnTo>
                <a:cubicBezTo>
                  <a:pt x="138906" y="139929"/>
                  <a:pt x="130008" y="148828"/>
                  <a:pt x="119062" y="148828"/>
                </a:cubicBezTo>
                <a:lnTo>
                  <a:pt x="19844" y="148828"/>
                </a:lnTo>
                <a:cubicBezTo>
                  <a:pt x="8899" y="148828"/>
                  <a:pt x="0" y="139929"/>
                  <a:pt x="0" y="128984"/>
                </a:cubicBezTo>
                <a:lnTo>
                  <a:pt x="0" y="99219"/>
                </a:lnTo>
                <a:close/>
                <a:moveTo>
                  <a:pt x="119062" y="99219"/>
                </a:moveTo>
                <a:lnTo>
                  <a:pt x="79375" y="99219"/>
                </a:lnTo>
                <a:lnTo>
                  <a:pt x="79375" y="128984"/>
                </a:lnTo>
                <a:lnTo>
                  <a:pt x="119062" y="128984"/>
                </a:lnTo>
                <a:lnTo>
                  <a:pt x="119062" y="99219"/>
                </a:lnTo>
                <a:close/>
                <a:moveTo>
                  <a:pt x="59531" y="128984"/>
                </a:moveTo>
                <a:lnTo>
                  <a:pt x="59531" y="99219"/>
                </a:lnTo>
                <a:lnTo>
                  <a:pt x="19844" y="99219"/>
                </a:lnTo>
                <a:lnTo>
                  <a:pt x="19844" y="128984"/>
                </a:lnTo>
                <a:lnTo>
                  <a:pt x="59531" y="128984"/>
                </a:lnTo>
                <a:close/>
              </a:path>
            </a:pathLst>
          </a:custGeom>
          <a:solidFill>
            <a:srgbClr val="0071E3"/>
          </a:solidFill>
          <a:ln/>
        </p:spPr>
      </p:sp>
      <p:sp>
        <p:nvSpPr>
          <p:cNvPr id="37" name="Text 35"/>
          <p:cNvSpPr/>
          <p:nvPr/>
        </p:nvSpPr>
        <p:spPr>
          <a:xfrm>
            <a:off x="6586537" y="1019812"/>
            <a:ext cx="516731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Complete Command Reference</a:t>
            </a:r>
            <a:endParaRPr lang="en-US" sz="1600" dirty="0"/>
          </a:p>
        </p:txBody>
      </p:sp>
      <p:sp>
        <p:nvSpPr>
          <p:cNvPr id="38" name="Shape 36"/>
          <p:cNvSpPr/>
          <p:nvPr/>
        </p:nvSpPr>
        <p:spPr>
          <a:xfrm>
            <a:off x="6388100" y="1369062"/>
            <a:ext cx="5286375" cy="444500"/>
          </a:xfrm>
          <a:custGeom>
            <a:avLst/>
            <a:gdLst/>
            <a:ahLst/>
            <a:cxnLst/>
            <a:rect l="l" t="t" r="r" b="b"/>
            <a:pathLst>
              <a:path w="5286375" h="444500">
                <a:moveTo>
                  <a:pt x="63501" y="0"/>
                </a:moveTo>
                <a:lnTo>
                  <a:pt x="5222874" y="0"/>
                </a:lnTo>
                <a:cubicBezTo>
                  <a:pt x="5257945" y="0"/>
                  <a:pt x="5286375" y="28430"/>
                  <a:pt x="5286375" y="63501"/>
                </a:cubicBezTo>
                <a:lnTo>
                  <a:pt x="5286375" y="380999"/>
                </a:lnTo>
                <a:cubicBezTo>
                  <a:pt x="5286375" y="416070"/>
                  <a:pt x="5257945" y="444500"/>
                  <a:pt x="5222874" y="444500"/>
                </a:cubicBezTo>
                <a:lnTo>
                  <a:pt x="63501" y="444500"/>
                </a:lnTo>
                <a:cubicBezTo>
                  <a:pt x="28454" y="444500"/>
                  <a:pt x="0" y="416046"/>
                  <a:pt x="0" y="380999"/>
                </a:cubicBezTo>
                <a:lnTo>
                  <a:pt x="0" y="63501"/>
                </a:lnTo>
                <a:cubicBezTo>
                  <a:pt x="0" y="28454"/>
                  <a:pt x="28454" y="0"/>
                  <a:pt x="63501" y="0"/>
                </a:cubicBezTo>
                <a:close/>
              </a:path>
            </a:pathLst>
          </a:custGeom>
          <a:solidFill>
            <a:srgbClr val="FAFAFA"/>
          </a:solidFill>
          <a:ln/>
        </p:spPr>
      </p:sp>
      <p:sp>
        <p:nvSpPr>
          <p:cNvPr id="39" name="Shape 37"/>
          <p:cNvSpPr/>
          <p:nvPr/>
        </p:nvSpPr>
        <p:spPr>
          <a:xfrm>
            <a:off x="6483350" y="1464312"/>
            <a:ext cx="635000" cy="254000"/>
          </a:xfrm>
          <a:custGeom>
            <a:avLst/>
            <a:gdLst/>
            <a:ahLst/>
            <a:cxnLst/>
            <a:rect l="l" t="t" r="r" b="b"/>
            <a:pathLst>
              <a:path w="635000" h="254000">
                <a:moveTo>
                  <a:pt x="31750" y="0"/>
                </a:moveTo>
                <a:lnTo>
                  <a:pt x="603250" y="0"/>
                </a:lnTo>
                <a:cubicBezTo>
                  <a:pt x="620773" y="0"/>
                  <a:pt x="635000" y="14227"/>
                  <a:pt x="635000" y="31750"/>
                </a:cubicBezTo>
                <a:lnTo>
                  <a:pt x="635000" y="222250"/>
                </a:lnTo>
                <a:cubicBezTo>
                  <a:pt x="635000" y="239773"/>
                  <a:pt x="620773" y="254000"/>
                  <a:pt x="603250" y="254000"/>
                </a:cubicBezTo>
                <a:lnTo>
                  <a:pt x="31750" y="254000"/>
                </a:lnTo>
                <a:cubicBezTo>
                  <a:pt x="14227" y="254000"/>
                  <a:pt x="0" y="239773"/>
                  <a:pt x="0" y="222250"/>
                </a:cubicBezTo>
                <a:lnTo>
                  <a:pt x="0" y="31750"/>
                </a:lnTo>
                <a:cubicBezTo>
                  <a:pt x="0" y="14227"/>
                  <a:pt x="14227" y="0"/>
                  <a:pt x="31750" y="0"/>
                </a:cubicBezTo>
                <a:close/>
              </a:path>
            </a:pathLst>
          </a:custGeom>
          <a:solidFill>
            <a:srgbClr val="0071E3"/>
          </a:solidFill>
          <a:ln/>
        </p:spPr>
      </p:sp>
      <p:sp>
        <p:nvSpPr>
          <p:cNvPr id="40" name="Text 38"/>
          <p:cNvSpPr/>
          <p:nvPr/>
        </p:nvSpPr>
        <p:spPr>
          <a:xfrm>
            <a:off x="6451600" y="1464312"/>
            <a:ext cx="698500" cy="254000"/>
          </a:xfrm>
          <a:prstGeom prst="rect">
            <a:avLst/>
          </a:prstGeom>
          <a:noFill/>
          <a:ln/>
        </p:spPr>
        <p:txBody>
          <a:bodyPr wrap="square" lIns="95250" tIns="31750" rIns="95250" bIns="3175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L1</a:t>
            </a:r>
            <a:endParaRPr lang="en-US" sz="1600" dirty="0"/>
          </a:p>
        </p:txBody>
      </p:sp>
      <p:sp>
        <p:nvSpPr>
          <p:cNvPr id="41" name="Text 39"/>
          <p:cNvSpPr/>
          <p:nvPr/>
        </p:nvSpPr>
        <p:spPr>
          <a:xfrm>
            <a:off x="7213600" y="1511937"/>
            <a:ext cx="442118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Liter" pitchFamily="34" charset="0"/>
                <a:ea typeface="Liter" pitchFamily="34" charset="-122"/>
                <a:cs typeface="Liter" pitchFamily="34" charset="-120"/>
              </a:rPr>
              <a:t>Toggle Light 1 (Pin 13)</a:t>
            </a:r>
            <a:endParaRPr lang="en-US" sz="1600" dirty="0"/>
          </a:p>
        </p:txBody>
      </p:sp>
      <p:sp>
        <p:nvSpPr>
          <p:cNvPr id="42" name="Shape 40"/>
          <p:cNvSpPr/>
          <p:nvPr/>
        </p:nvSpPr>
        <p:spPr>
          <a:xfrm>
            <a:off x="6388100" y="1877062"/>
            <a:ext cx="5286375" cy="444500"/>
          </a:xfrm>
          <a:custGeom>
            <a:avLst/>
            <a:gdLst/>
            <a:ahLst/>
            <a:cxnLst/>
            <a:rect l="l" t="t" r="r" b="b"/>
            <a:pathLst>
              <a:path w="5286375" h="444500">
                <a:moveTo>
                  <a:pt x="63501" y="0"/>
                </a:moveTo>
                <a:lnTo>
                  <a:pt x="5222874" y="0"/>
                </a:lnTo>
                <a:cubicBezTo>
                  <a:pt x="5257945" y="0"/>
                  <a:pt x="5286375" y="28430"/>
                  <a:pt x="5286375" y="63501"/>
                </a:cubicBezTo>
                <a:lnTo>
                  <a:pt x="5286375" y="380999"/>
                </a:lnTo>
                <a:cubicBezTo>
                  <a:pt x="5286375" y="416070"/>
                  <a:pt x="5257945" y="444500"/>
                  <a:pt x="5222874" y="444500"/>
                </a:cubicBezTo>
                <a:lnTo>
                  <a:pt x="63501" y="444500"/>
                </a:lnTo>
                <a:cubicBezTo>
                  <a:pt x="28454" y="444500"/>
                  <a:pt x="0" y="416046"/>
                  <a:pt x="0" y="380999"/>
                </a:cubicBezTo>
                <a:lnTo>
                  <a:pt x="0" y="63501"/>
                </a:lnTo>
                <a:cubicBezTo>
                  <a:pt x="0" y="28454"/>
                  <a:pt x="28454" y="0"/>
                  <a:pt x="63501" y="0"/>
                </a:cubicBezTo>
                <a:close/>
              </a:path>
            </a:pathLst>
          </a:custGeom>
          <a:solidFill>
            <a:srgbClr val="FAFAFA"/>
          </a:solidFill>
          <a:ln/>
        </p:spPr>
      </p:sp>
      <p:sp>
        <p:nvSpPr>
          <p:cNvPr id="43" name="Shape 41"/>
          <p:cNvSpPr/>
          <p:nvPr/>
        </p:nvSpPr>
        <p:spPr>
          <a:xfrm>
            <a:off x="6483350" y="1972312"/>
            <a:ext cx="635000" cy="254000"/>
          </a:xfrm>
          <a:custGeom>
            <a:avLst/>
            <a:gdLst/>
            <a:ahLst/>
            <a:cxnLst/>
            <a:rect l="l" t="t" r="r" b="b"/>
            <a:pathLst>
              <a:path w="635000" h="254000">
                <a:moveTo>
                  <a:pt x="31750" y="0"/>
                </a:moveTo>
                <a:lnTo>
                  <a:pt x="603250" y="0"/>
                </a:lnTo>
                <a:cubicBezTo>
                  <a:pt x="620773" y="0"/>
                  <a:pt x="635000" y="14227"/>
                  <a:pt x="635000" y="31750"/>
                </a:cubicBezTo>
                <a:lnTo>
                  <a:pt x="635000" y="222250"/>
                </a:lnTo>
                <a:cubicBezTo>
                  <a:pt x="635000" y="239773"/>
                  <a:pt x="620773" y="254000"/>
                  <a:pt x="603250" y="254000"/>
                </a:cubicBezTo>
                <a:lnTo>
                  <a:pt x="31750" y="254000"/>
                </a:lnTo>
                <a:cubicBezTo>
                  <a:pt x="14227" y="254000"/>
                  <a:pt x="0" y="239773"/>
                  <a:pt x="0" y="222250"/>
                </a:cubicBezTo>
                <a:lnTo>
                  <a:pt x="0" y="31750"/>
                </a:lnTo>
                <a:cubicBezTo>
                  <a:pt x="0" y="14227"/>
                  <a:pt x="14227" y="0"/>
                  <a:pt x="31750" y="0"/>
                </a:cubicBezTo>
                <a:close/>
              </a:path>
            </a:pathLst>
          </a:custGeom>
          <a:solidFill>
            <a:srgbClr val="0071E3"/>
          </a:solidFill>
          <a:ln/>
        </p:spPr>
      </p:sp>
      <p:sp>
        <p:nvSpPr>
          <p:cNvPr id="44" name="Text 42"/>
          <p:cNvSpPr/>
          <p:nvPr/>
        </p:nvSpPr>
        <p:spPr>
          <a:xfrm>
            <a:off x="6451600" y="1972312"/>
            <a:ext cx="698500" cy="254000"/>
          </a:xfrm>
          <a:prstGeom prst="rect">
            <a:avLst/>
          </a:prstGeom>
          <a:noFill/>
          <a:ln/>
        </p:spPr>
        <p:txBody>
          <a:bodyPr wrap="square" lIns="95250" tIns="31750" rIns="95250" bIns="3175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L2</a:t>
            </a:r>
            <a:endParaRPr lang="en-US" sz="1600" dirty="0"/>
          </a:p>
        </p:txBody>
      </p:sp>
      <p:sp>
        <p:nvSpPr>
          <p:cNvPr id="45" name="Text 43"/>
          <p:cNvSpPr/>
          <p:nvPr/>
        </p:nvSpPr>
        <p:spPr>
          <a:xfrm>
            <a:off x="7213600" y="2019937"/>
            <a:ext cx="442118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Liter" pitchFamily="34" charset="0"/>
                <a:ea typeface="Liter" pitchFamily="34" charset="-122"/>
                <a:cs typeface="Liter" pitchFamily="34" charset="-120"/>
              </a:rPr>
              <a:t>Toggle Light 2 (Pin 12)</a:t>
            </a:r>
            <a:endParaRPr lang="en-US" sz="1600" dirty="0"/>
          </a:p>
        </p:txBody>
      </p:sp>
      <p:sp>
        <p:nvSpPr>
          <p:cNvPr id="46" name="Shape 44"/>
          <p:cNvSpPr/>
          <p:nvPr/>
        </p:nvSpPr>
        <p:spPr>
          <a:xfrm>
            <a:off x="6388100" y="2385062"/>
            <a:ext cx="5286375" cy="444500"/>
          </a:xfrm>
          <a:custGeom>
            <a:avLst/>
            <a:gdLst/>
            <a:ahLst/>
            <a:cxnLst/>
            <a:rect l="l" t="t" r="r" b="b"/>
            <a:pathLst>
              <a:path w="5286375" h="444500">
                <a:moveTo>
                  <a:pt x="63501" y="0"/>
                </a:moveTo>
                <a:lnTo>
                  <a:pt x="5222874" y="0"/>
                </a:lnTo>
                <a:cubicBezTo>
                  <a:pt x="5257945" y="0"/>
                  <a:pt x="5286375" y="28430"/>
                  <a:pt x="5286375" y="63501"/>
                </a:cubicBezTo>
                <a:lnTo>
                  <a:pt x="5286375" y="380999"/>
                </a:lnTo>
                <a:cubicBezTo>
                  <a:pt x="5286375" y="416070"/>
                  <a:pt x="5257945" y="444500"/>
                  <a:pt x="5222874" y="444500"/>
                </a:cubicBezTo>
                <a:lnTo>
                  <a:pt x="63501" y="444500"/>
                </a:lnTo>
                <a:cubicBezTo>
                  <a:pt x="28454" y="444500"/>
                  <a:pt x="0" y="416046"/>
                  <a:pt x="0" y="380999"/>
                </a:cubicBezTo>
                <a:lnTo>
                  <a:pt x="0" y="63501"/>
                </a:lnTo>
                <a:cubicBezTo>
                  <a:pt x="0" y="28454"/>
                  <a:pt x="28454" y="0"/>
                  <a:pt x="63501" y="0"/>
                </a:cubicBezTo>
                <a:close/>
              </a:path>
            </a:pathLst>
          </a:custGeom>
          <a:solidFill>
            <a:srgbClr val="FAFAFA"/>
          </a:solidFill>
          <a:ln/>
        </p:spPr>
      </p:sp>
      <p:sp>
        <p:nvSpPr>
          <p:cNvPr id="47" name="Shape 45"/>
          <p:cNvSpPr/>
          <p:nvPr/>
        </p:nvSpPr>
        <p:spPr>
          <a:xfrm>
            <a:off x="6483350" y="2480312"/>
            <a:ext cx="635000" cy="254000"/>
          </a:xfrm>
          <a:custGeom>
            <a:avLst/>
            <a:gdLst/>
            <a:ahLst/>
            <a:cxnLst/>
            <a:rect l="l" t="t" r="r" b="b"/>
            <a:pathLst>
              <a:path w="635000" h="254000">
                <a:moveTo>
                  <a:pt x="31750" y="0"/>
                </a:moveTo>
                <a:lnTo>
                  <a:pt x="603250" y="0"/>
                </a:lnTo>
                <a:cubicBezTo>
                  <a:pt x="620773" y="0"/>
                  <a:pt x="635000" y="14227"/>
                  <a:pt x="635000" y="31750"/>
                </a:cubicBezTo>
                <a:lnTo>
                  <a:pt x="635000" y="222250"/>
                </a:lnTo>
                <a:cubicBezTo>
                  <a:pt x="635000" y="239773"/>
                  <a:pt x="620773" y="254000"/>
                  <a:pt x="603250" y="254000"/>
                </a:cubicBezTo>
                <a:lnTo>
                  <a:pt x="31750" y="254000"/>
                </a:lnTo>
                <a:cubicBezTo>
                  <a:pt x="14227" y="254000"/>
                  <a:pt x="0" y="239773"/>
                  <a:pt x="0" y="222250"/>
                </a:cubicBezTo>
                <a:lnTo>
                  <a:pt x="0" y="31750"/>
                </a:lnTo>
                <a:cubicBezTo>
                  <a:pt x="0" y="14227"/>
                  <a:pt x="14227" y="0"/>
                  <a:pt x="31750" y="0"/>
                </a:cubicBezTo>
                <a:close/>
              </a:path>
            </a:pathLst>
          </a:custGeom>
          <a:solidFill>
            <a:srgbClr val="34C759"/>
          </a:solidFill>
          <a:ln/>
        </p:spPr>
      </p:sp>
      <p:sp>
        <p:nvSpPr>
          <p:cNvPr id="48" name="Text 46"/>
          <p:cNvSpPr/>
          <p:nvPr/>
        </p:nvSpPr>
        <p:spPr>
          <a:xfrm>
            <a:off x="6451600" y="2480312"/>
            <a:ext cx="698500" cy="254000"/>
          </a:xfrm>
          <a:prstGeom prst="rect">
            <a:avLst/>
          </a:prstGeom>
          <a:noFill/>
          <a:ln/>
        </p:spPr>
        <p:txBody>
          <a:bodyPr wrap="square" lIns="95250" tIns="31750" rIns="95250" bIns="3175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F11</a:t>
            </a:r>
            <a:endParaRPr lang="en-US" sz="1600" dirty="0"/>
          </a:p>
        </p:txBody>
      </p:sp>
      <p:sp>
        <p:nvSpPr>
          <p:cNvPr id="49" name="Text 47"/>
          <p:cNvSpPr/>
          <p:nvPr/>
        </p:nvSpPr>
        <p:spPr>
          <a:xfrm>
            <a:off x="7213600" y="2527937"/>
            <a:ext cx="442118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Liter" pitchFamily="34" charset="0"/>
                <a:ea typeface="Liter" pitchFamily="34" charset="-122"/>
                <a:cs typeface="Liter" pitchFamily="34" charset="-120"/>
              </a:rPr>
              <a:t>Fan 1, Speed 1 (Low)</a:t>
            </a:r>
            <a:endParaRPr lang="en-US" sz="1600" dirty="0"/>
          </a:p>
        </p:txBody>
      </p:sp>
      <p:sp>
        <p:nvSpPr>
          <p:cNvPr id="50" name="Shape 48"/>
          <p:cNvSpPr/>
          <p:nvPr/>
        </p:nvSpPr>
        <p:spPr>
          <a:xfrm>
            <a:off x="6388100" y="2893062"/>
            <a:ext cx="5286375" cy="444500"/>
          </a:xfrm>
          <a:custGeom>
            <a:avLst/>
            <a:gdLst/>
            <a:ahLst/>
            <a:cxnLst/>
            <a:rect l="l" t="t" r="r" b="b"/>
            <a:pathLst>
              <a:path w="5286375" h="444500">
                <a:moveTo>
                  <a:pt x="63501" y="0"/>
                </a:moveTo>
                <a:lnTo>
                  <a:pt x="5222874" y="0"/>
                </a:lnTo>
                <a:cubicBezTo>
                  <a:pt x="5257945" y="0"/>
                  <a:pt x="5286375" y="28430"/>
                  <a:pt x="5286375" y="63501"/>
                </a:cubicBezTo>
                <a:lnTo>
                  <a:pt x="5286375" y="380999"/>
                </a:lnTo>
                <a:cubicBezTo>
                  <a:pt x="5286375" y="416070"/>
                  <a:pt x="5257945" y="444500"/>
                  <a:pt x="5222874" y="444500"/>
                </a:cubicBezTo>
                <a:lnTo>
                  <a:pt x="63501" y="444500"/>
                </a:lnTo>
                <a:cubicBezTo>
                  <a:pt x="28454" y="444500"/>
                  <a:pt x="0" y="416046"/>
                  <a:pt x="0" y="380999"/>
                </a:cubicBezTo>
                <a:lnTo>
                  <a:pt x="0" y="63501"/>
                </a:lnTo>
                <a:cubicBezTo>
                  <a:pt x="0" y="28454"/>
                  <a:pt x="28454" y="0"/>
                  <a:pt x="63501" y="0"/>
                </a:cubicBezTo>
                <a:close/>
              </a:path>
            </a:pathLst>
          </a:custGeom>
          <a:solidFill>
            <a:srgbClr val="FAFAFA"/>
          </a:solidFill>
          <a:ln/>
        </p:spPr>
      </p:sp>
      <p:sp>
        <p:nvSpPr>
          <p:cNvPr id="51" name="Shape 49"/>
          <p:cNvSpPr/>
          <p:nvPr/>
        </p:nvSpPr>
        <p:spPr>
          <a:xfrm>
            <a:off x="6483350" y="2988312"/>
            <a:ext cx="635000" cy="254000"/>
          </a:xfrm>
          <a:custGeom>
            <a:avLst/>
            <a:gdLst/>
            <a:ahLst/>
            <a:cxnLst/>
            <a:rect l="l" t="t" r="r" b="b"/>
            <a:pathLst>
              <a:path w="635000" h="254000">
                <a:moveTo>
                  <a:pt x="31750" y="0"/>
                </a:moveTo>
                <a:lnTo>
                  <a:pt x="603250" y="0"/>
                </a:lnTo>
                <a:cubicBezTo>
                  <a:pt x="620773" y="0"/>
                  <a:pt x="635000" y="14227"/>
                  <a:pt x="635000" y="31750"/>
                </a:cubicBezTo>
                <a:lnTo>
                  <a:pt x="635000" y="222250"/>
                </a:lnTo>
                <a:cubicBezTo>
                  <a:pt x="635000" y="239773"/>
                  <a:pt x="620773" y="254000"/>
                  <a:pt x="603250" y="254000"/>
                </a:cubicBezTo>
                <a:lnTo>
                  <a:pt x="31750" y="254000"/>
                </a:lnTo>
                <a:cubicBezTo>
                  <a:pt x="14227" y="254000"/>
                  <a:pt x="0" y="239773"/>
                  <a:pt x="0" y="222250"/>
                </a:cubicBezTo>
                <a:lnTo>
                  <a:pt x="0" y="31750"/>
                </a:lnTo>
                <a:cubicBezTo>
                  <a:pt x="0" y="14227"/>
                  <a:pt x="14227" y="0"/>
                  <a:pt x="31750" y="0"/>
                </a:cubicBezTo>
                <a:close/>
              </a:path>
            </a:pathLst>
          </a:custGeom>
          <a:solidFill>
            <a:srgbClr val="34C759"/>
          </a:solidFill>
          <a:ln/>
        </p:spPr>
      </p:sp>
      <p:sp>
        <p:nvSpPr>
          <p:cNvPr id="52" name="Text 50"/>
          <p:cNvSpPr/>
          <p:nvPr/>
        </p:nvSpPr>
        <p:spPr>
          <a:xfrm>
            <a:off x="6451600" y="2988312"/>
            <a:ext cx="698500" cy="254000"/>
          </a:xfrm>
          <a:prstGeom prst="rect">
            <a:avLst/>
          </a:prstGeom>
          <a:noFill/>
          <a:ln/>
        </p:spPr>
        <p:txBody>
          <a:bodyPr wrap="square" lIns="95250" tIns="31750" rIns="95250" bIns="3175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F24</a:t>
            </a:r>
            <a:endParaRPr lang="en-US" sz="1600" dirty="0"/>
          </a:p>
        </p:txBody>
      </p:sp>
      <p:sp>
        <p:nvSpPr>
          <p:cNvPr id="53" name="Text 51"/>
          <p:cNvSpPr/>
          <p:nvPr/>
        </p:nvSpPr>
        <p:spPr>
          <a:xfrm>
            <a:off x="7213600" y="3035937"/>
            <a:ext cx="442118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Liter" pitchFamily="34" charset="0"/>
                <a:ea typeface="Liter" pitchFamily="34" charset="-122"/>
                <a:cs typeface="Liter" pitchFamily="34" charset="-120"/>
              </a:rPr>
              <a:t>Fan 2, Speed 4 (Max)</a:t>
            </a:r>
            <a:endParaRPr lang="en-US" sz="1600" dirty="0"/>
          </a:p>
        </p:txBody>
      </p:sp>
      <p:sp>
        <p:nvSpPr>
          <p:cNvPr id="54" name="Shape 52"/>
          <p:cNvSpPr/>
          <p:nvPr/>
        </p:nvSpPr>
        <p:spPr>
          <a:xfrm>
            <a:off x="6388100" y="3401062"/>
            <a:ext cx="5286375" cy="444500"/>
          </a:xfrm>
          <a:custGeom>
            <a:avLst/>
            <a:gdLst/>
            <a:ahLst/>
            <a:cxnLst/>
            <a:rect l="l" t="t" r="r" b="b"/>
            <a:pathLst>
              <a:path w="5286375" h="444500">
                <a:moveTo>
                  <a:pt x="63501" y="0"/>
                </a:moveTo>
                <a:lnTo>
                  <a:pt x="5222874" y="0"/>
                </a:lnTo>
                <a:cubicBezTo>
                  <a:pt x="5257945" y="0"/>
                  <a:pt x="5286375" y="28430"/>
                  <a:pt x="5286375" y="63501"/>
                </a:cubicBezTo>
                <a:lnTo>
                  <a:pt x="5286375" y="380999"/>
                </a:lnTo>
                <a:cubicBezTo>
                  <a:pt x="5286375" y="416070"/>
                  <a:pt x="5257945" y="444500"/>
                  <a:pt x="5222874" y="444500"/>
                </a:cubicBezTo>
                <a:lnTo>
                  <a:pt x="63501" y="444500"/>
                </a:lnTo>
                <a:cubicBezTo>
                  <a:pt x="28454" y="444500"/>
                  <a:pt x="0" y="416046"/>
                  <a:pt x="0" y="380999"/>
                </a:cubicBezTo>
                <a:lnTo>
                  <a:pt x="0" y="63501"/>
                </a:lnTo>
                <a:cubicBezTo>
                  <a:pt x="0" y="28454"/>
                  <a:pt x="28454" y="0"/>
                  <a:pt x="63501" y="0"/>
                </a:cubicBezTo>
                <a:close/>
              </a:path>
            </a:pathLst>
          </a:custGeom>
          <a:solidFill>
            <a:srgbClr val="FAFAFA"/>
          </a:solidFill>
          <a:ln/>
        </p:spPr>
      </p:sp>
      <p:sp>
        <p:nvSpPr>
          <p:cNvPr id="55" name="Shape 53"/>
          <p:cNvSpPr/>
          <p:nvPr/>
        </p:nvSpPr>
        <p:spPr>
          <a:xfrm>
            <a:off x="6483350" y="3496312"/>
            <a:ext cx="635000" cy="254000"/>
          </a:xfrm>
          <a:custGeom>
            <a:avLst/>
            <a:gdLst/>
            <a:ahLst/>
            <a:cxnLst/>
            <a:rect l="l" t="t" r="r" b="b"/>
            <a:pathLst>
              <a:path w="635000" h="254000">
                <a:moveTo>
                  <a:pt x="31750" y="0"/>
                </a:moveTo>
                <a:lnTo>
                  <a:pt x="603250" y="0"/>
                </a:lnTo>
                <a:cubicBezTo>
                  <a:pt x="620773" y="0"/>
                  <a:pt x="635000" y="14227"/>
                  <a:pt x="635000" y="31750"/>
                </a:cubicBezTo>
                <a:lnTo>
                  <a:pt x="635000" y="222250"/>
                </a:lnTo>
                <a:cubicBezTo>
                  <a:pt x="635000" y="239773"/>
                  <a:pt x="620773" y="254000"/>
                  <a:pt x="603250" y="254000"/>
                </a:cubicBezTo>
                <a:lnTo>
                  <a:pt x="31750" y="254000"/>
                </a:lnTo>
                <a:cubicBezTo>
                  <a:pt x="14227" y="254000"/>
                  <a:pt x="0" y="239773"/>
                  <a:pt x="0" y="222250"/>
                </a:cubicBezTo>
                <a:lnTo>
                  <a:pt x="0" y="31750"/>
                </a:lnTo>
                <a:cubicBezTo>
                  <a:pt x="0" y="14227"/>
                  <a:pt x="14227" y="0"/>
                  <a:pt x="31750" y="0"/>
                </a:cubicBezTo>
                <a:close/>
              </a:path>
            </a:pathLst>
          </a:custGeom>
          <a:solidFill>
            <a:srgbClr val="FF9500"/>
          </a:solidFill>
          <a:ln/>
        </p:spPr>
      </p:sp>
      <p:sp>
        <p:nvSpPr>
          <p:cNvPr id="56" name="Text 54"/>
          <p:cNvSpPr/>
          <p:nvPr/>
        </p:nvSpPr>
        <p:spPr>
          <a:xfrm>
            <a:off x="6451600" y="3496312"/>
            <a:ext cx="698500" cy="254000"/>
          </a:xfrm>
          <a:prstGeom prst="rect">
            <a:avLst/>
          </a:prstGeom>
          <a:noFill/>
          <a:ln/>
        </p:spPr>
        <p:txBody>
          <a:bodyPr wrap="square" lIns="95250" tIns="31750" rIns="95250" bIns="3175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ALL1</a:t>
            </a:r>
            <a:endParaRPr lang="en-US" sz="1600" dirty="0"/>
          </a:p>
        </p:txBody>
      </p:sp>
      <p:sp>
        <p:nvSpPr>
          <p:cNvPr id="57" name="Text 55"/>
          <p:cNvSpPr/>
          <p:nvPr/>
        </p:nvSpPr>
        <p:spPr>
          <a:xfrm>
            <a:off x="7213600" y="3543937"/>
            <a:ext cx="442118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Liter" pitchFamily="34" charset="0"/>
                <a:ea typeface="Liter" pitchFamily="34" charset="-122"/>
                <a:cs typeface="Liter" pitchFamily="34" charset="-120"/>
              </a:rPr>
              <a:t>Master ON (All devices)</a:t>
            </a:r>
            <a:endParaRPr lang="en-US" sz="1600" dirty="0"/>
          </a:p>
        </p:txBody>
      </p:sp>
      <p:sp>
        <p:nvSpPr>
          <p:cNvPr id="58" name="Shape 56"/>
          <p:cNvSpPr/>
          <p:nvPr/>
        </p:nvSpPr>
        <p:spPr>
          <a:xfrm>
            <a:off x="6388100" y="3909062"/>
            <a:ext cx="5286375" cy="444500"/>
          </a:xfrm>
          <a:custGeom>
            <a:avLst/>
            <a:gdLst/>
            <a:ahLst/>
            <a:cxnLst/>
            <a:rect l="l" t="t" r="r" b="b"/>
            <a:pathLst>
              <a:path w="5286375" h="444500">
                <a:moveTo>
                  <a:pt x="63501" y="0"/>
                </a:moveTo>
                <a:lnTo>
                  <a:pt x="5222874" y="0"/>
                </a:lnTo>
                <a:cubicBezTo>
                  <a:pt x="5257945" y="0"/>
                  <a:pt x="5286375" y="28430"/>
                  <a:pt x="5286375" y="63501"/>
                </a:cubicBezTo>
                <a:lnTo>
                  <a:pt x="5286375" y="380999"/>
                </a:lnTo>
                <a:cubicBezTo>
                  <a:pt x="5286375" y="416070"/>
                  <a:pt x="5257945" y="444500"/>
                  <a:pt x="5222874" y="444500"/>
                </a:cubicBezTo>
                <a:lnTo>
                  <a:pt x="63501" y="444500"/>
                </a:lnTo>
                <a:cubicBezTo>
                  <a:pt x="28454" y="444500"/>
                  <a:pt x="0" y="416046"/>
                  <a:pt x="0" y="380999"/>
                </a:cubicBezTo>
                <a:lnTo>
                  <a:pt x="0" y="63501"/>
                </a:lnTo>
                <a:cubicBezTo>
                  <a:pt x="0" y="28454"/>
                  <a:pt x="28454" y="0"/>
                  <a:pt x="63501" y="0"/>
                </a:cubicBezTo>
                <a:close/>
              </a:path>
            </a:pathLst>
          </a:custGeom>
          <a:solidFill>
            <a:srgbClr val="FAFAFA"/>
          </a:solidFill>
          <a:ln/>
        </p:spPr>
      </p:sp>
      <p:sp>
        <p:nvSpPr>
          <p:cNvPr id="59" name="Shape 57"/>
          <p:cNvSpPr/>
          <p:nvPr/>
        </p:nvSpPr>
        <p:spPr>
          <a:xfrm>
            <a:off x="6483350" y="4004312"/>
            <a:ext cx="635000" cy="254000"/>
          </a:xfrm>
          <a:custGeom>
            <a:avLst/>
            <a:gdLst/>
            <a:ahLst/>
            <a:cxnLst/>
            <a:rect l="l" t="t" r="r" b="b"/>
            <a:pathLst>
              <a:path w="635000" h="254000">
                <a:moveTo>
                  <a:pt x="31750" y="0"/>
                </a:moveTo>
                <a:lnTo>
                  <a:pt x="603250" y="0"/>
                </a:lnTo>
                <a:cubicBezTo>
                  <a:pt x="620773" y="0"/>
                  <a:pt x="635000" y="14227"/>
                  <a:pt x="635000" y="31750"/>
                </a:cubicBezTo>
                <a:lnTo>
                  <a:pt x="635000" y="222250"/>
                </a:lnTo>
                <a:cubicBezTo>
                  <a:pt x="635000" y="239773"/>
                  <a:pt x="620773" y="254000"/>
                  <a:pt x="603250" y="254000"/>
                </a:cubicBezTo>
                <a:lnTo>
                  <a:pt x="31750" y="254000"/>
                </a:lnTo>
                <a:cubicBezTo>
                  <a:pt x="14227" y="254000"/>
                  <a:pt x="0" y="239773"/>
                  <a:pt x="0" y="222250"/>
                </a:cubicBezTo>
                <a:lnTo>
                  <a:pt x="0" y="31750"/>
                </a:lnTo>
                <a:cubicBezTo>
                  <a:pt x="0" y="14227"/>
                  <a:pt x="14227" y="0"/>
                  <a:pt x="31750" y="0"/>
                </a:cubicBezTo>
                <a:close/>
              </a:path>
            </a:pathLst>
          </a:custGeom>
          <a:solidFill>
            <a:srgbClr val="FF9500"/>
          </a:solidFill>
          <a:ln/>
        </p:spPr>
      </p:sp>
      <p:sp>
        <p:nvSpPr>
          <p:cNvPr id="60" name="Text 58"/>
          <p:cNvSpPr/>
          <p:nvPr/>
        </p:nvSpPr>
        <p:spPr>
          <a:xfrm>
            <a:off x="6451600" y="4004312"/>
            <a:ext cx="698500" cy="254000"/>
          </a:xfrm>
          <a:prstGeom prst="rect">
            <a:avLst/>
          </a:prstGeom>
          <a:noFill/>
          <a:ln/>
        </p:spPr>
        <p:txBody>
          <a:bodyPr wrap="square" lIns="95250" tIns="31750" rIns="95250" bIns="3175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ALL0</a:t>
            </a:r>
            <a:endParaRPr lang="en-US" sz="1600" dirty="0"/>
          </a:p>
        </p:txBody>
      </p:sp>
      <p:sp>
        <p:nvSpPr>
          <p:cNvPr id="61" name="Text 59"/>
          <p:cNvSpPr/>
          <p:nvPr/>
        </p:nvSpPr>
        <p:spPr>
          <a:xfrm>
            <a:off x="7213600" y="4051937"/>
            <a:ext cx="442118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Liter" pitchFamily="34" charset="0"/>
                <a:ea typeface="Liter" pitchFamily="34" charset="-122"/>
                <a:cs typeface="Liter" pitchFamily="34" charset="-120"/>
              </a:rPr>
              <a:t>Master OFF (All devices)</a:t>
            </a:r>
            <a:endParaRPr lang="en-US" sz="1600" dirty="0"/>
          </a:p>
        </p:txBody>
      </p:sp>
      <p:sp>
        <p:nvSpPr>
          <p:cNvPr id="62" name="Shape 60"/>
          <p:cNvSpPr/>
          <p:nvPr/>
        </p:nvSpPr>
        <p:spPr>
          <a:xfrm>
            <a:off x="6388100" y="4417062"/>
            <a:ext cx="5286375" cy="444500"/>
          </a:xfrm>
          <a:custGeom>
            <a:avLst/>
            <a:gdLst/>
            <a:ahLst/>
            <a:cxnLst/>
            <a:rect l="l" t="t" r="r" b="b"/>
            <a:pathLst>
              <a:path w="5286375" h="444500">
                <a:moveTo>
                  <a:pt x="63501" y="0"/>
                </a:moveTo>
                <a:lnTo>
                  <a:pt x="5222874" y="0"/>
                </a:lnTo>
                <a:cubicBezTo>
                  <a:pt x="5257945" y="0"/>
                  <a:pt x="5286375" y="28430"/>
                  <a:pt x="5286375" y="63501"/>
                </a:cubicBezTo>
                <a:lnTo>
                  <a:pt x="5286375" y="380999"/>
                </a:lnTo>
                <a:cubicBezTo>
                  <a:pt x="5286375" y="416070"/>
                  <a:pt x="5257945" y="444500"/>
                  <a:pt x="5222874" y="444500"/>
                </a:cubicBezTo>
                <a:lnTo>
                  <a:pt x="63501" y="444500"/>
                </a:lnTo>
                <a:cubicBezTo>
                  <a:pt x="28454" y="444500"/>
                  <a:pt x="0" y="416046"/>
                  <a:pt x="0" y="380999"/>
                </a:cubicBezTo>
                <a:lnTo>
                  <a:pt x="0" y="63501"/>
                </a:lnTo>
                <a:cubicBezTo>
                  <a:pt x="0" y="28454"/>
                  <a:pt x="28454" y="0"/>
                  <a:pt x="63501" y="0"/>
                </a:cubicBezTo>
                <a:close/>
              </a:path>
            </a:pathLst>
          </a:custGeom>
          <a:solidFill>
            <a:srgbClr val="FAFAFA"/>
          </a:solidFill>
          <a:ln/>
        </p:spPr>
      </p:sp>
      <p:sp>
        <p:nvSpPr>
          <p:cNvPr id="63" name="Shape 61"/>
          <p:cNvSpPr/>
          <p:nvPr/>
        </p:nvSpPr>
        <p:spPr>
          <a:xfrm>
            <a:off x="6483350" y="4512312"/>
            <a:ext cx="635000" cy="254000"/>
          </a:xfrm>
          <a:custGeom>
            <a:avLst/>
            <a:gdLst/>
            <a:ahLst/>
            <a:cxnLst/>
            <a:rect l="l" t="t" r="r" b="b"/>
            <a:pathLst>
              <a:path w="635000" h="254000">
                <a:moveTo>
                  <a:pt x="31750" y="0"/>
                </a:moveTo>
                <a:lnTo>
                  <a:pt x="603250" y="0"/>
                </a:lnTo>
                <a:cubicBezTo>
                  <a:pt x="620773" y="0"/>
                  <a:pt x="635000" y="14227"/>
                  <a:pt x="635000" y="31750"/>
                </a:cubicBezTo>
                <a:lnTo>
                  <a:pt x="635000" y="222250"/>
                </a:lnTo>
                <a:cubicBezTo>
                  <a:pt x="635000" y="239773"/>
                  <a:pt x="620773" y="254000"/>
                  <a:pt x="603250" y="254000"/>
                </a:cubicBezTo>
                <a:lnTo>
                  <a:pt x="31750" y="254000"/>
                </a:lnTo>
                <a:cubicBezTo>
                  <a:pt x="14227" y="254000"/>
                  <a:pt x="0" y="239773"/>
                  <a:pt x="0" y="222250"/>
                </a:cubicBezTo>
                <a:lnTo>
                  <a:pt x="0" y="31750"/>
                </a:lnTo>
                <a:cubicBezTo>
                  <a:pt x="0" y="14227"/>
                  <a:pt x="14227" y="0"/>
                  <a:pt x="31750" y="0"/>
                </a:cubicBezTo>
                <a:close/>
              </a:path>
            </a:pathLst>
          </a:custGeom>
          <a:solidFill>
            <a:srgbClr val="AF52DE"/>
          </a:solidFill>
          <a:ln/>
        </p:spPr>
      </p:sp>
      <p:sp>
        <p:nvSpPr>
          <p:cNvPr id="64" name="Text 62"/>
          <p:cNvSpPr/>
          <p:nvPr/>
        </p:nvSpPr>
        <p:spPr>
          <a:xfrm>
            <a:off x="6451600" y="4512312"/>
            <a:ext cx="698500" cy="254000"/>
          </a:xfrm>
          <a:prstGeom prst="rect">
            <a:avLst/>
          </a:prstGeom>
          <a:noFill/>
          <a:ln/>
        </p:spPr>
        <p:txBody>
          <a:bodyPr wrap="square" lIns="95250" tIns="31750" rIns="95250" bIns="3175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OPN</a:t>
            </a:r>
            <a:endParaRPr lang="en-US" sz="1600" dirty="0"/>
          </a:p>
        </p:txBody>
      </p:sp>
      <p:sp>
        <p:nvSpPr>
          <p:cNvPr id="65" name="Text 63"/>
          <p:cNvSpPr/>
          <p:nvPr/>
        </p:nvSpPr>
        <p:spPr>
          <a:xfrm>
            <a:off x="7213600" y="4559937"/>
            <a:ext cx="442118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Liter" pitchFamily="34" charset="0"/>
                <a:ea typeface="Liter" pitchFamily="34" charset="-122"/>
                <a:cs typeface="Liter" pitchFamily="34" charset="-120"/>
              </a:rPr>
              <a:t>Open Door (Servo 90°)</a:t>
            </a:r>
            <a:endParaRPr lang="en-US" sz="1600" dirty="0"/>
          </a:p>
        </p:txBody>
      </p:sp>
      <p:sp>
        <p:nvSpPr>
          <p:cNvPr id="66" name="Shape 64"/>
          <p:cNvSpPr/>
          <p:nvPr/>
        </p:nvSpPr>
        <p:spPr>
          <a:xfrm>
            <a:off x="342265" y="4844416"/>
            <a:ext cx="5673725" cy="1951037"/>
          </a:xfrm>
          <a:custGeom>
            <a:avLst/>
            <a:gdLst/>
            <a:ahLst/>
            <a:cxnLst/>
            <a:rect l="l" t="t" r="r" b="b"/>
            <a:pathLst>
              <a:path w="5673725" h="1951037">
                <a:moveTo>
                  <a:pt x="95250" y="0"/>
                </a:moveTo>
                <a:lnTo>
                  <a:pt x="5578475" y="0"/>
                </a:lnTo>
                <a:cubicBezTo>
                  <a:pt x="5631080" y="0"/>
                  <a:pt x="5673725" y="42645"/>
                  <a:pt x="5673725" y="95250"/>
                </a:cubicBezTo>
                <a:lnTo>
                  <a:pt x="5673725" y="1855788"/>
                </a:lnTo>
                <a:cubicBezTo>
                  <a:pt x="5673725" y="1908393"/>
                  <a:pt x="5631080" y="1951037"/>
                  <a:pt x="5578475" y="1951037"/>
                </a:cubicBezTo>
                <a:lnTo>
                  <a:pt x="95250" y="1951037"/>
                </a:lnTo>
                <a:cubicBezTo>
                  <a:pt x="42645" y="1951037"/>
                  <a:pt x="0" y="1908393"/>
                  <a:pt x="0" y="1855788"/>
                </a:cubicBezTo>
                <a:lnTo>
                  <a:pt x="0" y="95250"/>
                </a:lnTo>
                <a:cubicBezTo>
                  <a:pt x="0" y="42680"/>
                  <a:pt x="42680" y="0"/>
                  <a:pt x="95250"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67" name="Text 65"/>
          <p:cNvSpPr/>
          <p:nvPr/>
        </p:nvSpPr>
        <p:spPr>
          <a:xfrm>
            <a:off x="504190" y="5006339"/>
            <a:ext cx="5421313"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Liter" pitchFamily="34" charset="0"/>
                <a:ea typeface="Liter" pitchFamily="34" charset="-122"/>
                <a:cs typeface="Liter" pitchFamily="34" charset="-120"/>
              </a:rPr>
              <a:t>Door Control (Line 688)</a:t>
            </a:r>
            <a:endParaRPr lang="en-US" sz="1600" dirty="0"/>
          </a:p>
        </p:txBody>
      </p:sp>
      <p:sp>
        <p:nvSpPr>
          <p:cNvPr id="68" name="Shape 66"/>
          <p:cNvSpPr/>
          <p:nvPr/>
        </p:nvSpPr>
        <p:spPr>
          <a:xfrm>
            <a:off x="504190" y="5323839"/>
            <a:ext cx="5349875" cy="1119188"/>
          </a:xfrm>
          <a:custGeom>
            <a:avLst/>
            <a:gdLst/>
            <a:ahLst/>
            <a:cxnLst/>
            <a:rect l="l" t="t" r="r" b="b"/>
            <a:pathLst>
              <a:path w="5349875" h="1119188">
                <a:moveTo>
                  <a:pt x="63503" y="0"/>
                </a:moveTo>
                <a:lnTo>
                  <a:pt x="5286372" y="0"/>
                </a:lnTo>
                <a:cubicBezTo>
                  <a:pt x="5321444" y="0"/>
                  <a:pt x="5349875" y="28431"/>
                  <a:pt x="5349875" y="63503"/>
                </a:cubicBezTo>
                <a:lnTo>
                  <a:pt x="5349875" y="1055685"/>
                </a:lnTo>
                <a:cubicBezTo>
                  <a:pt x="5349875" y="1090756"/>
                  <a:pt x="5321444" y="1119187"/>
                  <a:pt x="5286372" y="1119188"/>
                </a:cubicBezTo>
                <a:lnTo>
                  <a:pt x="63503" y="1119188"/>
                </a:lnTo>
                <a:cubicBezTo>
                  <a:pt x="28431" y="1119188"/>
                  <a:pt x="0" y="1090756"/>
                  <a:pt x="0" y="1055685"/>
                </a:cubicBezTo>
                <a:lnTo>
                  <a:pt x="0" y="63503"/>
                </a:lnTo>
                <a:cubicBezTo>
                  <a:pt x="0" y="28431"/>
                  <a:pt x="28431" y="0"/>
                  <a:pt x="63503" y="0"/>
                </a:cubicBezTo>
                <a:close/>
              </a:path>
            </a:pathLst>
          </a:custGeom>
          <a:solidFill>
            <a:srgbClr val="F5F5F7"/>
          </a:solidFill>
          <a:ln/>
        </p:spPr>
      </p:sp>
      <p:sp>
        <p:nvSpPr>
          <p:cNvPr id="69" name="Text 67"/>
          <p:cNvSpPr/>
          <p:nvPr/>
        </p:nvSpPr>
        <p:spPr>
          <a:xfrm>
            <a:off x="631190" y="5419089"/>
            <a:ext cx="514746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else if</a:t>
            </a:r>
            <a:r>
              <a:rPr lang="en-US" sz="813" dirty="0">
                <a:solidFill>
                  <a:srgbClr val="1D1D1D"/>
                </a:solidFill>
                <a:latin typeface="MiSans" pitchFamily="34" charset="0"/>
                <a:ea typeface="MiSans" pitchFamily="34" charset="-122"/>
                <a:cs typeface="MiSans" pitchFamily="34" charset="-120"/>
              </a:rPr>
              <a:t> (inputBuffer == </a:t>
            </a:r>
            <a:r>
              <a:rPr lang="en-US" sz="813" dirty="0">
                <a:solidFill>
                  <a:srgbClr val="34C759"/>
                </a:solidFill>
                <a:latin typeface="MiSans" pitchFamily="34" charset="0"/>
                <a:ea typeface="MiSans" pitchFamily="34" charset="-122"/>
                <a:cs typeface="MiSans" pitchFamily="34" charset="-120"/>
              </a:rPr>
              <a:t>"OPN"</a:t>
            </a:r>
            <a:r>
              <a:rPr lang="en-US" sz="813" dirty="0">
                <a:solidFill>
                  <a:srgbClr val="1D1D1D"/>
                </a:solidFill>
                <a:latin typeface="MiSans" pitchFamily="34" charset="0"/>
                <a:ea typeface="MiSans" pitchFamily="34" charset="-122"/>
                <a:cs typeface="MiSans" pitchFamily="34" charset="-120"/>
              </a:rPr>
              <a:t>) {</a:t>
            </a:r>
            <a:endParaRPr lang="en-US" sz="1600" dirty="0"/>
          </a:p>
        </p:txBody>
      </p:sp>
      <p:sp>
        <p:nvSpPr>
          <p:cNvPr id="70" name="Text 68"/>
          <p:cNvSpPr/>
          <p:nvPr/>
        </p:nvSpPr>
        <p:spPr>
          <a:xfrm>
            <a:off x="631190" y="5573870"/>
            <a:ext cx="514746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doorServo.write(</a:t>
            </a:r>
            <a:r>
              <a:rPr lang="en-US" sz="813" dirty="0">
                <a:solidFill>
                  <a:srgbClr val="FF9500"/>
                </a:solidFill>
                <a:latin typeface="MiSans" pitchFamily="34" charset="0"/>
                <a:ea typeface="MiSans" pitchFamily="34" charset="-122"/>
                <a:cs typeface="MiSans" pitchFamily="34" charset="-120"/>
              </a:rPr>
              <a:t>90</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71" name="Text 69"/>
          <p:cNvSpPr/>
          <p:nvPr/>
        </p:nvSpPr>
        <p:spPr>
          <a:xfrm>
            <a:off x="631190" y="5728652"/>
            <a:ext cx="514746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doorOpenTime = millis();</a:t>
            </a:r>
            <a:endParaRPr lang="en-US" sz="1600" dirty="0"/>
          </a:p>
        </p:txBody>
      </p:sp>
      <p:sp>
        <p:nvSpPr>
          <p:cNvPr id="72" name="Text 70"/>
          <p:cNvSpPr/>
          <p:nvPr/>
        </p:nvSpPr>
        <p:spPr>
          <a:xfrm>
            <a:off x="631190" y="5883433"/>
            <a:ext cx="514746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doorAutoClose = </a:t>
            </a:r>
            <a:r>
              <a:rPr lang="en-US" sz="813" dirty="0">
                <a:solidFill>
                  <a:srgbClr val="0071E3"/>
                </a:solidFill>
                <a:latin typeface="MiSans" pitchFamily="34" charset="0"/>
                <a:ea typeface="MiSans" pitchFamily="34" charset="-122"/>
                <a:cs typeface="MiSans" pitchFamily="34" charset="-120"/>
              </a:rPr>
              <a:t>true</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73" name="Text 71"/>
          <p:cNvSpPr/>
          <p:nvPr/>
        </p:nvSpPr>
        <p:spPr>
          <a:xfrm>
            <a:off x="631190" y="6038214"/>
            <a:ext cx="514746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response = </a:t>
            </a:r>
            <a:r>
              <a:rPr lang="en-US" sz="813" dirty="0">
                <a:solidFill>
                  <a:srgbClr val="34C759"/>
                </a:solidFill>
                <a:latin typeface="MiSans" pitchFamily="34" charset="0"/>
                <a:ea typeface="MiSans" pitchFamily="34" charset="-122"/>
                <a:cs typeface="MiSans" pitchFamily="34" charset="-120"/>
              </a:rPr>
              <a:t>'S'</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74" name="Text 72"/>
          <p:cNvSpPr/>
          <p:nvPr/>
        </p:nvSpPr>
        <p:spPr>
          <a:xfrm>
            <a:off x="631190" y="6192995"/>
            <a:ext cx="514746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75" name="Text 73"/>
          <p:cNvSpPr/>
          <p:nvPr/>
        </p:nvSpPr>
        <p:spPr>
          <a:xfrm>
            <a:off x="504190" y="6506527"/>
            <a:ext cx="5397500" cy="127000"/>
          </a:xfrm>
          <a:prstGeom prst="rect">
            <a:avLst/>
          </a:prstGeom>
          <a:noFill/>
          <a:ln/>
        </p:spPr>
        <p:txBody>
          <a:bodyPr wrap="square" lIns="0" tIns="0" rIns="0" bIns="0" rtlCol="0" anchor="ctr"/>
          <a:lstStyle/>
          <a:p>
            <a:pPr>
              <a:lnSpc>
                <a:spcPct val="110000"/>
              </a:lnSpc>
            </a:pPr>
            <a:r>
              <a:rPr lang="en-US" sz="750" dirty="0">
                <a:solidFill>
                  <a:srgbClr val="86868B"/>
                </a:solidFill>
                <a:latin typeface="Liter" pitchFamily="34" charset="0"/>
                <a:ea typeface="Liter" pitchFamily="34" charset="-122"/>
                <a:cs typeface="Liter" pitchFamily="34" charset="-120"/>
              </a:rPr>
              <a:t>Auto-closes after 5 seconds (Line 437-443)</a:t>
            </a:r>
            <a:endParaRPr lang="en-US" sz="1600" dirty="0"/>
          </a:p>
        </p:txBody>
      </p:sp>
      <p:sp>
        <p:nvSpPr>
          <p:cNvPr id="76" name="Shape 25"/>
          <p:cNvSpPr/>
          <p:nvPr/>
        </p:nvSpPr>
        <p:spPr>
          <a:xfrm>
            <a:off x="6210300" y="5148322"/>
            <a:ext cx="5683250" cy="1603375"/>
          </a:xfrm>
          <a:custGeom>
            <a:avLst/>
            <a:gdLst/>
            <a:ahLst/>
            <a:cxnLst/>
            <a:rect l="l" t="t" r="r" b="b"/>
            <a:pathLst>
              <a:path w="5683250" h="1603375">
                <a:moveTo>
                  <a:pt x="95257" y="0"/>
                </a:moveTo>
                <a:lnTo>
                  <a:pt x="5587993" y="0"/>
                </a:lnTo>
                <a:cubicBezTo>
                  <a:pt x="5640602" y="0"/>
                  <a:pt x="5683250" y="42648"/>
                  <a:pt x="5683250" y="95257"/>
                </a:cubicBezTo>
                <a:lnTo>
                  <a:pt x="5683250" y="1508118"/>
                </a:lnTo>
                <a:cubicBezTo>
                  <a:pt x="5683250" y="1560727"/>
                  <a:pt x="5640602" y="1603375"/>
                  <a:pt x="5587993" y="1603375"/>
                </a:cubicBezTo>
                <a:lnTo>
                  <a:pt x="95257" y="1603375"/>
                </a:lnTo>
                <a:cubicBezTo>
                  <a:pt x="42683" y="1603375"/>
                  <a:pt x="0" y="1560692"/>
                  <a:pt x="0" y="1508118"/>
                </a:cubicBezTo>
                <a:lnTo>
                  <a:pt x="0" y="95257"/>
                </a:lnTo>
                <a:cubicBezTo>
                  <a:pt x="0" y="42648"/>
                  <a:pt x="42648" y="0"/>
                  <a:pt x="95257" y="0"/>
                </a:cubicBezTo>
                <a:close/>
              </a:path>
            </a:pathLst>
          </a:custGeom>
          <a:solidFill>
            <a:srgbClr val="1D1D1D"/>
          </a:solidFill>
          <a:ln/>
        </p:spPr>
      </p:sp>
      <p:sp>
        <p:nvSpPr>
          <p:cNvPr id="77" name="Text 26"/>
          <p:cNvSpPr/>
          <p:nvPr/>
        </p:nvSpPr>
        <p:spPr>
          <a:xfrm>
            <a:off x="6369050" y="5307072"/>
            <a:ext cx="5437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Blynk Synchronization</a:t>
            </a:r>
            <a:endParaRPr lang="en-US" sz="1600" dirty="0"/>
          </a:p>
        </p:txBody>
      </p:sp>
      <p:sp>
        <p:nvSpPr>
          <p:cNvPr id="78" name="Shape 27"/>
          <p:cNvSpPr/>
          <p:nvPr/>
        </p:nvSpPr>
        <p:spPr>
          <a:xfrm>
            <a:off x="6369050" y="5624572"/>
            <a:ext cx="5365750" cy="968375"/>
          </a:xfrm>
          <a:custGeom>
            <a:avLst/>
            <a:gdLst/>
            <a:ahLst/>
            <a:cxnLst/>
            <a:rect l="l" t="t" r="r" b="b"/>
            <a:pathLst>
              <a:path w="5365750" h="968375">
                <a:moveTo>
                  <a:pt x="63496" y="0"/>
                </a:moveTo>
                <a:lnTo>
                  <a:pt x="5302254" y="0"/>
                </a:lnTo>
                <a:cubicBezTo>
                  <a:pt x="5337322" y="0"/>
                  <a:pt x="5365750" y="28428"/>
                  <a:pt x="5365750" y="63496"/>
                </a:cubicBezTo>
                <a:lnTo>
                  <a:pt x="5365750" y="904879"/>
                </a:lnTo>
                <a:cubicBezTo>
                  <a:pt x="5365750" y="939947"/>
                  <a:pt x="5337322" y="968375"/>
                  <a:pt x="5302254" y="968375"/>
                </a:cubicBezTo>
                <a:lnTo>
                  <a:pt x="63496" y="968375"/>
                </a:lnTo>
                <a:cubicBezTo>
                  <a:pt x="28428" y="968375"/>
                  <a:pt x="0" y="939947"/>
                  <a:pt x="0" y="904879"/>
                </a:cubicBezTo>
                <a:lnTo>
                  <a:pt x="0" y="63496"/>
                </a:lnTo>
                <a:cubicBezTo>
                  <a:pt x="0" y="28452"/>
                  <a:pt x="28452" y="0"/>
                  <a:pt x="63496" y="0"/>
                </a:cubicBezTo>
                <a:close/>
              </a:path>
            </a:pathLst>
          </a:custGeom>
          <a:solidFill>
            <a:srgbClr val="2D2D2D"/>
          </a:solidFill>
          <a:ln/>
        </p:spPr>
      </p:sp>
      <p:sp>
        <p:nvSpPr>
          <p:cNvPr id="79" name="Text 28"/>
          <p:cNvSpPr/>
          <p:nvPr/>
        </p:nvSpPr>
        <p:spPr>
          <a:xfrm>
            <a:off x="6496050" y="5732523"/>
            <a:ext cx="2776240"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Lines 469, 477: Update Blynk virtual pins</a:t>
            </a:r>
            <a:endParaRPr lang="en-US" sz="1600" dirty="0"/>
          </a:p>
        </p:txBody>
      </p:sp>
      <p:sp>
        <p:nvSpPr>
          <p:cNvPr id="80" name="Text 29"/>
          <p:cNvSpPr/>
          <p:nvPr/>
        </p:nvSpPr>
        <p:spPr>
          <a:xfrm>
            <a:off x="6496050" y="5874603"/>
            <a:ext cx="5163344"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FFFFFF"/>
                </a:solidFill>
                <a:latin typeface="MiSans" pitchFamily="34" charset="0"/>
                <a:ea typeface="MiSans" pitchFamily="34" charset="-122"/>
                <a:cs typeface="MiSans" pitchFamily="34" charset="-120"/>
              </a:rPr>
              <a:t>(Blynk.connected())</a:t>
            </a:r>
            <a:endParaRPr lang="en-US" sz="1600" dirty="0"/>
          </a:p>
        </p:txBody>
      </p:sp>
      <p:sp>
        <p:nvSpPr>
          <p:cNvPr id="81" name="Text 30"/>
          <p:cNvSpPr/>
          <p:nvPr/>
        </p:nvSpPr>
        <p:spPr>
          <a:xfrm>
            <a:off x="6496050" y="6029385"/>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Blynk.virtualWrite(V1, l1State);</a:t>
            </a:r>
            <a:endParaRPr lang="en-US" sz="1600" dirty="0"/>
          </a:p>
        </p:txBody>
      </p:sp>
      <p:sp>
        <p:nvSpPr>
          <p:cNvPr id="82" name="Text 31"/>
          <p:cNvSpPr/>
          <p:nvPr/>
        </p:nvSpPr>
        <p:spPr>
          <a:xfrm>
            <a:off x="6496050" y="6184166"/>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Blynk.virtualWrite(V2, l2State);</a:t>
            </a:r>
            <a:endParaRPr lang="en-US" sz="1600" dirty="0"/>
          </a:p>
        </p:txBody>
      </p:sp>
      <p:sp>
        <p:nvSpPr>
          <p:cNvPr id="83" name="Text 32"/>
          <p:cNvSpPr/>
          <p:nvPr/>
        </p:nvSpPr>
        <p:spPr>
          <a:xfrm>
            <a:off x="6496050" y="6338947"/>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Blynk.virtualWrite(V3, fan1State);</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51354" y="351354"/>
            <a:ext cx="11550778" cy="175677"/>
          </a:xfrm>
          <a:prstGeom prst="rect">
            <a:avLst/>
          </a:prstGeom>
          <a:noFill/>
          <a:ln/>
        </p:spPr>
        <p:txBody>
          <a:bodyPr wrap="square" lIns="0" tIns="0" rIns="0" bIns="0" rtlCol="0" anchor="ctr"/>
          <a:lstStyle/>
          <a:p>
            <a:pPr>
              <a:lnSpc>
                <a:spcPct val="120000"/>
              </a:lnSpc>
            </a:pPr>
            <a:r>
              <a:rPr lang="en-US" sz="968" b="1" kern="0" spc="48" dirty="0">
                <a:solidFill>
                  <a:srgbClr val="0071E3"/>
                </a:solidFill>
                <a:latin typeface="Liter" pitchFamily="34" charset="0"/>
                <a:ea typeface="Liter" pitchFamily="34" charset="-122"/>
                <a:cs typeface="Liter" pitchFamily="34" charset="-120"/>
              </a:rPr>
              <a:t>CAPACITOR BANK CONTROL</a:t>
            </a:r>
            <a:endParaRPr lang="en-US" sz="1600" dirty="0"/>
          </a:p>
        </p:txBody>
      </p:sp>
      <p:sp>
        <p:nvSpPr>
          <p:cNvPr id="3" name="Text 1"/>
          <p:cNvSpPr/>
          <p:nvPr/>
        </p:nvSpPr>
        <p:spPr>
          <a:xfrm>
            <a:off x="351354" y="597303"/>
            <a:ext cx="11647401" cy="351354"/>
          </a:xfrm>
          <a:prstGeom prst="rect">
            <a:avLst/>
          </a:prstGeom>
          <a:noFill/>
          <a:ln/>
        </p:spPr>
        <p:txBody>
          <a:bodyPr wrap="square" lIns="0" tIns="0" rIns="0" bIns="0" rtlCol="0" anchor="ctr"/>
          <a:lstStyle/>
          <a:p>
            <a:pPr>
              <a:lnSpc>
                <a:spcPct val="90000"/>
              </a:lnSpc>
            </a:pPr>
            <a:r>
              <a:rPr lang="en-US" sz="2490" b="1" dirty="0">
                <a:solidFill>
                  <a:srgbClr val="1D1D1D"/>
                </a:solidFill>
                <a:latin typeface="Liter" pitchFamily="34" charset="0"/>
                <a:ea typeface="Liter" pitchFamily="34" charset="-122"/>
                <a:cs typeface="Liter" pitchFamily="34" charset="-120"/>
              </a:rPr>
              <a:t>Fan Speed Logic</a:t>
            </a:r>
            <a:endParaRPr lang="en-US" sz="1600" dirty="0"/>
          </a:p>
        </p:txBody>
      </p:sp>
      <p:sp>
        <p:nvSpPr>
          <p:cNvPr id="4" name="Shape 2"/>
          <p:cNvSpPr/>
          <p:nvPr/>
        </p:nvSpPr>
        <p:spPr>
          <a:xfrm>
            <a:off x="354868" y="975448"/>
            <a:ext cx="6805736" cy="2413805"/>
          </a:xfrm>
          <a:custGeom>
            <a:avLst/>
            <a:gdLst/>
            <a:ahLst/>
            <a:cxnLst/>
            <a:rect l="l" t="t" r="r" b="b"/>
            <a:pathLst>
              <a:path w="6805736" h="2413805">
                <a:moveTo>
                  <a:pt x="105411" y="0"/>
                </a:moveTo>
                <a:lnTo>
                  <a:pt x="6700325" y="0"/>
                </a:lnTo>
                <a:cubicBezTo>
                  <a:pt x="6758542" y="0"/>
                  <a:pt x="6805736" y="47194"/>
                  <a:pt x="6805736" y="105411"/>
                </a:cubicBezTo>
                <a:lnTo>
                  <a:pt x="6805736" y="2308394"/>
                </a:lnTo>
                <a:cubicBezTo>
                  <a:pt x="6805736" y="2366611"/>
                  <a:pt x="6758542" y="2413805"/>
                  <a:pt x="6700325" y="2413805"/>
                </a:cubicBezTo>
                <a:lnTo>
                  <a:pt x="105411" y="2413805"/>
                </a:lnTo>
                <a:cubicBezTo>
                  <a:pt x="47194" y="2413805"/>
                  <a:pt x="0" y="2366611"/>
                  <a:pt x="0" y="2308394"/>
                </a:cubicBezTo>
                <a:lnTo>
                  <a:pt x="0" y="105411"/>
                </a:lnTo>
                <a:cubicBezTo>
                  <a:pt x="0" y="47194"/>
                  <a:pt x="47194" y="0"/>
                  <a:pt x="105411" y="0"/>
                </a:cubicBezTo>
                <a:close/>
              </a:path>
            </a:pathLst>
          </a:custGeom>
          <a:solidFill>
            <a:srgbClr val="FFFFFF"/>
          </a:solidFill>
          <a:ln w="10160">
            <a:solidFill>
              <a:srgbClr val="E5E5E5"/>
            </a:solidFill>
            <a:prstDash val="solid"/>
          </a:ln>
          <a:effectLst>
            <a:outerShdw blurRad="26352" dist="8784" dir="5400000" algn="bl" rotWithShape="0">
              <a:srgbClr val="000000">
                <a:alpha val="10196"/>
              </a:srgbClr>
            </a:outerShdw>
          </a:effectLst>
        </p:spPr>
      </p:sp>
      <p:sp>
        <p:nvSpPr>
          <p:cNvPr id="5" name="Shape 3"/>
          <p:cNvSpPr/>
          <p:nvPr/>
        </p:nvSpPr>
        <p:spPr>
          <a:xfrm>
            <a:off x="591154" y="1224908"/>
            <a:ext cx="175677" cy="175677"/>
          </a:xfrm>
          <a:custGeom>
            <a:avLst/>
            <a:gdLst/>
            <a:ahLst/>
            <a:cxnLst/>
            <a:rect l="l" t="t" r="r" b="b"/>
            <a:pathLst>
              <a:path w="175677" h="175677">
                <a:moveTo>
                  <a:pt x="54899" y="49409"/>
                </a:moveTo>
                <a:cubicBezTo>
                  <a:pt x="54899" y="22131"/>
                  <a:pt x="77030" y="0"/>
                  <a:pt x="104308" y="0"/>
                </a:cubicBezTo>
                <a:cubicBezTo>
                  <a:pt x="107328" y="0"/>
                  <a:pt x="109798" y="2470"/>
                  <a:pt x="109798" y="5490"/>
                </a:cubicBezTo>
                <a:lnTo>
                  <a:pt x="109798" y="57713"/>
                </a:lnTo>
                <a:cubicBezTo>
                  <a:pt x="114945" y="55894"/>
                  <a:pt x="120504" y="54899"/>
                  <a:pt x="126268" y="54899"/>
                </a:cubicBezTo>
                <a:cubicBezTo>
                  <a:pt x="153546" y="54899"/>
                  <a:pt x="175677" y="77030"/>
                  <a:pt x="175677" y="104308"/>
                </a:cubicBezTo>
                <a:cubicBezTo>
                  <a:pt x="175677" y="107328"/>
                  <a:pt x="173207" y="109798"/>
                  <a:pt x="170187" y="109798"/>
                </a:cubicBezTo>
                <a:lnTo>
                  <a:pt x="117965" y="109798"/>
                </a:lnTo>
                <a:cubicBezTo>
                  <a:pt x="119783" y="114945"/>
                  <a:pt x="120778" y="120504"/>
                  <a:pt x="120778" y="126268"/>
                </a:cubicBezTo>
                <a:cubicBezTo>
                  <a:pt x="120778" y="153546"/>
                  <a:pt x="98647" y="175677"/>
                  <a:pt x="71369" y="175677"/>
                </a:cubicBezTo>
                <a:cubicBezTo>
                  <a:pt x="68349" y="175677"/>
                  <a:pt x="65879" y="173207"/>
                  <a:pt x="65879" y="170187"/>
                </a:cubicBezTo>
                <a:lnTo>
                  <a:pt x="65879" y="117965"/>
                </a:lnTo>
                <a:cubicBezTo>
                  <a:pt x="60732" y="119783"/>
                  <a:pt x="55174" y="120778"/>
                  <a:pt x="49409" y="120778"/>
                </a:cubicBezTo>
                <a:cubicBezTo>
                  <a:pt x="22131" y="120778"/>
                  <a:pt x="0" y="98647"/>
                  <a:pt x="0" y="71369"/>
                </a:cubicBezTo>
                <a:cubicBezTo>
                  <a:pt x="0" y="68349"/>
                  <a:pt x="2470" y="65879"/>
                  <a:pt x="5490" y="65879"/>
                </a:cubicBezTo>
                <a:lnTo>
                  <a:pt x="57713" y="65879"/>
                </a:lnTo>
                <a:cubicBezTo>
                  <a:pt x="55894" y="60732"/>
                  <a:pt x="54899" y="55174"/>
                  <a:pt x="54899" y="49409"/>
                </a:cubicBezTo>
                <a:close/>
                <a:moveTo>
                  <a:pt x="87839" y="98818"/>
                </a:moveTo>
                <a:cubicBezTo>
                  <a:pt x="93899" y="98818"/>
                  <a:pt x="98818" y="93899"/>
                  <a:pt x="98818" y="87839"/>
                </a:cubicBezTo>
                <a:cubicBezTo>
                  <a:pt x="98818" y="81779"/>
                  <a:pt x="93899" y="76859"/>
                  <a:pt x="87839" y="76859"/>
                </a:cubicBezTo>
                <a:cubicBezTo>
                  <a:pt x="81779" y="76859"/>
                  <a:pt x="76859" y="81779"/>
                  <a:pt x="76859" y="87839"/>
                </a:cubicBezTo>
                <a:cubicBezTo>
                  <a:pt x="76859" y="93899"/>
                  <a:pt x="81779" y="98818"/>
                  <a:pt x="87839" y="98818"/>
                </a:cubicBezTo>
                <a:close/>
              </a:path>
            </a:pathLst>
          </a:custGeom>
          <a:solidFill>
            <a:srgbClr val="0071E3"/>
          </a:solidFill>
          <a:ln/>
        </p:spPr>
      </p:sp>
      <p:sp>
        <p:nvSpPr>
          <p:cNvPr id="6" name="Text 4"/>
          <p:cNvSpPr/>
          <p:nvPr/>
        </p:nvSpPr>
        <p:spPr>
          <a:xfrm>
            <a:off x="788791" y="1189772"/>
            <a:ext cx="6245326" cy="245948"/>
          </a:xfrm>
          <a:prstGeom prst="rect">
            <a:avLst/>
          </a:prstGeom>
          <a:noFill/>
          <a:ln/>
        </p:spPr>
        <p:txBody>
          <a:bodyPr wrap="square" lIns="0" tIns="0" rIns="0" bIns="0" rtlCol="0" anchor="ctr"/>
          <a:lstStyle/>
          <a:p>
            <a:pPr>
              <a:lnSpc>
                <a:spcPct val="120000"/>
              </a:lnSpc>
            </a:pPr>
            <a:r>
              <a:rPr lang="en-US" sz="1383" b="1" dirty="0">
                <a:solidFill>
                  <a:srgbClr val="1D1D1D"/>
                </a:solidFill>
                <a:latin typeface="Liter" pitchFamily="34" charset="0"/>
                <a:ea typeface="Liter" pitchFamily="34" charset="-122"/>
                <a:cs typeface="Liter" pitchFamily="34" charset="-120"/>
              </a:rPr>
              <a:t>Hardware Implementation</a:t>
            </a:r>
            <a:endParaRPr lang="en-US" sz="1600" dirty="0"/>
          </a:p>
        </p:txBody>
      </p:sp>
      <p:sp>
        <p:nvSpPr>
          <p:cNvPr id="7" name="Text 5"/>
          <p:cNvSpPr/>
          <p:nvPr/>
        </p:nvSpPr>
        <p:spPr>
          <a:xfrm>
            <a:off x="569194" y="1576262"/>
            <a:ext cx="6447354" cy="456761"/>
          </a:xfrm>
          <a:prstGeom prst="rect">
            <a:avLst/>
          </a:prstGeom>
          <a:noFill/>
          <a:ln/>
        </p:spPr>
        <p:txBody>
          <a:bodyPr wrap="square" lIns="0" tIns="0" rIns="0" bIns="0" rtlCol="0" anchor="ctr"/>
          <a:lstStyle/>
          <a:p>
            <a:pPr>
              <a:lnSpc>
                <a:spcPct val="140000"/>
              </a:lnSpc>
            </a:pPr>
            <a:r>
              <a:rPr lang="en-US" sz="1107" dirty="0">
                <a:solidFill>
                  <a:srgbClr val="86868B"/>
                </a:solidFill>
                <a:latin typeface="Liter" pitchFamily="34" charset="0"/>
                <a:ea typeface="Liter" pitchFamily="34" charset="-122"/>
                <a:cs typeface="Liter" pitchFamily="34" charset="-120"/>
              </a:rPr>
              <a:t>Uses </a:t>
            </a:r>
            <a:r>
              <a:rPr lang="en-US" sz="1107" b="1" dirty="0">
                <a:solidFill>
                  <a:srgbClr val="86868B"/>
                </a:solidFill>
                <a:latin typeface="Liter" pitchFamily="34" charset="0"/>
                <a:ea typeface="Liter" pitchFamily="34" charset="-122"/>
                <a:cs typeface="Liter" pitchFamily="34" charset="-120"/>
              </a:rPr>
              <a:t>3 relays per fan</a:t>
            </a:r>
            <a:r>
              <a:rPr lang="en-US" sz="1107" dirty="0">
                <a:solidFill>
                  <a:srgbClr val="86868B"/>
                </a:solidFill>
                <a:latin typeface="Liter" pitchFamily="34" charset="0"/>
                <a:ea typeface="Liter" pitchFamily="34" charset="-122"/>
                <a:cs typeface="Liter" pitchFamily="34" charset="-120"/>
              </a:rPr>
              <a:t> for speed regulation via capacitor switching (not PWM). This method provides smoother speed control for AC induction motors.</a:t>
            </a:r>
            <a:endParaRPr lang="en-US" sz="1600" dirty="0"/>
          </a:p>
        </p:txBody>
      </p:sp>
      <p:sp>
        <p:nvSpPr>
          <p:cNvPr id="8" name="Shape 6"/>
          <p:cNvSpPr/>
          <p:nvPr/>
        </p:nvSpPr>
        <p:spPr>
          <a:xfrm>
            <a:off x="569194" y="2173565"/>
            <a:ext cx="2055424" cy="1001360"/>
          </a:xfrm>
          <a:custGeom>
            <a:avLst/>
            <a:gdLst/>
            <a:ahLst/>
            <a:cxnLst/>
            <a:rect l="l" t="t" r="r" b="b"/>
            <a:pathLst>
              <a:path w="2055424" h="1001360">
                <a:moveTo>
                  <a:pt x="70275" y="0"/>
                </a:moveTo>
                <a:lnTo>
                  <a:pt x="1985148" y="0"/>
                </a:lnTo>
                <a:cubicBezTo>
                  <a:pt x="2023960" y="0"/>
                  <a:pt x="2055424" y="31463"/>
                  <a:pt x="2055424" y="70275"/>
                </a:cubicBezTo>
                <a:lnTo>
                  <a:pt x="2055424" y="931085"/>
                </a:lnTo>
                <a:cubicBezTo>
                  <a:pt x="2055424" y="969897"/>
                  <a:pt x="2023960" y="1001360"/>
                  <a:pt x="1985148" y="1001360"/>
                </a:cubicBezTo>
                <a:lnTo>
                  <a:pt x="70275" y="1001360"/>
                </a:lnTo>
                <a:cubicBezTo>
                  <a:pt x="31463" y="1001360"/>
                  <a:pt x="0" y="969897"/>
                  <a:pt x="0" y="931085"/>
                </a:cubicBezTo>
                <a:lnTo>
                  <a:pt x="0" y="70275"/>
                </a:lnTo>
                <a:cubicBezTo>
                  <a:pt x="0" y="31489"/>
                  <a:pt x="31489" y="0"/>
                  <a:pt x="70275" y="0"/>
                </a:cubicBezTo>
                <a:close/>
              </a:path>
            </a:pathLst>
          </a:custGeom>
          <a:solidFill>
            <a:srgbClr val="0071E3">
              <a:alpha val="5098"/>
            </a:srgbClr>
          </a:solidFill>
          <a:ln/>
        </p:spPr>
      </p:sp>
      <p:sp>
        <p:nvSpPr>
          <p:cNvPr id="9" name="Shape 7"/>
          <p:cNvSpPr/>
          <p:nvPr/>
        </p:nvSpPr>
        <p:spPr>
          <a:xfrm>
            <a:off x="1483594" y="2314107"/>
            <a:ext cx="230576" cy="263516"/>
          </a:xfrm>
          <a:custGeom>
            <a:avLst/>
            <a:gdLst/>
            <a:ahLst/>
            <a:cxnLst/>
            <a:rect l="l" t="t" r="r" b="b"/>
            <a:pathLst>
              <a:path w="230576" h="263516">
                <a:moveTo>
                  <a:pt x="174373" y="-5095"/>
                </a:moveTo>
                <a:cubicBezTo>
                  <a:pt x="180498" y="-669"/>
                  <a:pt x="182763" y="7360"/>
                  <a:pt x="179983" y="14360"/>
                </a:cubicBezTo>
                <a:lnTo>
                  <a:pt x="139633" y="115288"/>
                </a:lnTo>
                <a:lnTo>
                  <a:pt x="214107" y="115288"/>
                </a:lnTo>
                <a:cubicBezTo>
                  <a:pt x="221055" y="115288"/>
                  <a:pt x="227231" y="119611"/>
                  <a:pt x="229598" y="126148"/>
                </a:cubicBezTo>
                <a:cubicBezTo>
                  <a:pt x="231966" y="132684"/>
                  <a:pt x="229959" y="139993"/>
                  <a:pt x="224658" y="144419"/>
                </a:cubicBezTo>
                <a:lnTo>
                  <a:pt x="76430" y="267942"/>
                </a:lnTo>
                <a:cubicBezTo>
                  <a:pt x="70614" y="272780"/>
                  <a:pt x="62328" y="273037"/>
                  <a:pt x="56203" y="268611"/>
                </a:cubicBezTo>
                <a:cubicBezTo>
                  <a:pt x="50078" y="264185"/>
                  <a:pt x="47814" y="256156"/>
                  <a:pt x="50593" y="249156"/>
                </a:cubicBezTo>
                <a:lnTo>
                  <a:pt x="90944" y="148228"/>
                </a:lnTo>
                <a:lnTo>
                  <a:pt x="16470" y="148228"/>
                </a:lnTo>
                <a:cubicBezTo>
                  <a:pt x="9522" y="148228"/>
                  <a:pt x="3345" y="143904"/>
                  <a:pt x="978" y="137368"/>
                </a:cubicBezTo>
                <a:cubicBezTo>
                  <a:pt x="-1390" y="130832"/>
                  <a:pt x="618" y="123523"/>
                  <a:pt x="5919" y="119097"/>
                </a:cubicBezTo>
                <a:lnTo>
                  <a:pt x="154146" y="-4426"/>
                </a:lnTo>
                <a:cubicBezTo>
                  <a:pt x="159962" y="-9264"/>
                  <a:pt x="168249" y="-9522"/>
                  <a:pt x="174373" y="-5095"/>
                </a:cubicBezTo>
                <a:close/>
              </a:path>
            </a:pathLst>
          </a:custGeom>
          <a:solidFill>
            <a:srgbClr val="0071E3"/>
          </a:solidFill>
          <a:ln/>
        </p:spPr>
      </p:sp>
      <p:sp>
        <p:nvSpPr>
          <p:cNvPr id="10" name="Text 8"/>
          <p:cNvSpPr/>
          <p:nvPr/>
        </p:nvSpPr>
        <p:spPr>
          <a:xfrm>
            <a:off x="674601" y="2647893"/>
            <a:ext cx="1844611" cy="210813"/>
          </a:xfrm>
          <a:prstGeom prst="rect">
            <a:avLst/>
          </a:prstGeom>
          <a:noFill/>
          <a:ln/>
        </p:spPr>
        <p:txBody>
          <a:bodyPr wrap="square" lIns="0" tIns="0" rIns="0" bIns="0" rtlCol="0" anchor="ctr"/>
          <a:lstStyle/>
          <a:p>
            <a:pPr algn="ctr">
              <a:lnSpc>
                <a:spcPct val="130000"/>
              </a:lnSpc>
            </a:pPr>
            <a:r>
              <a:rPr lang="en-US" sz="1107" b="1" dirty="0">
                <a:solidFill>
                  <a:srgbClr val="1D1D1D"/>
                </a:solidFill>
                <a:latin typeface="Liter" pitchFamily="34" charset="0"/>
                <a:ea typeface="Liter" pitchFamily="34" charset="-122"/>
                <a:cs typeface="Liter" pitchFamily="34" charset="-120"/>
              </a:rPr>
              <a:t>Relay 1</a:t>
            </a:r>
            <a:endParaRPr lang="en-US" sz="1600" dirty="0"/>
          </a:p>
        </p:txBody>
      </p:sp>
      <p:sp>
        <p:nvSpPr>
          <p:cNvPr id="11" name="Text 9"/>
          <p:cNvSpPr/>
          <p:nvPr/>
        </p:nvSpPr>
        <p:spPr>
          <a:xfrm>
            <a:off x="678993" y="2858706"/>
            <a:ext cx="1835827" cy="175677"/>
          </a:xfrm>
          <a:prstGeom prst="rect">
            <a:avLst/>
          </a:prstGeom>
          <a:noFill/>
          <a:ln/>
        </p:spPr>
        <p:txBody>
          <a:bodyPr wrap="square" lIns="0" tIns="0" rIns="0" bIns="0" rtlCol="0" anchor="ctr"/>
          <a:lstStyle/>
          <a:p>
            <a:pPr algn="ctr">
              <a:lnSpc>
                <a:spcPct val="120000"/>
              </a:lnSpc>
            </a:pPr>
            <a:r>
              <a:rPr lang="en-US" sz="968" dirty="0">
                <a:solidFill>
                  <a:srgbClr val="86868B"/>
                </a:solidFill>
                <a:latin typeface="Liter" pitchFamily="34" charset="0"/>
                <a:ea typeface="Liter" pitchFamily="34" charset="-122"/>
                <a:cs typeface="Liter" pitchFamily="34" charset="-120"/>
              </a:rPr>
              <a:t>1.0µF Cap</a:t>
            </a:r>
            <a:endParaRPr lang="en-US" sz="1600" dirty="0"/>
          </a:p>
        </p:txBody>
      </p:sp>
      <p:sp>
        <p:nvSpPr>
          <p:cNvPr id="12" name="Shape 10"/>
          <p:cNvSpPr/>
          <p:nvPr/>
        </p:nvSpPr>
        <p:spPr>
          <a:xfrm>
            <a:off x="2729585" y="2173565"/>
            <a:ext cx="2055424" cy="1001360"/>
          </a:xfrm>
          <a:custGeom>
            <a:avLst/>
            <a:gdLst/>
            <a:ahLst/>
            <a:cxnLst/>
            <a:rect l="l" t="t" r="r" b="b"/>
            <a:pathLst>
              <a:path w="2055424" h="1001360">
                <a:moveTo>
                  <a:pt x="70275" y="0"/>
                </a:moveTo>
                <a:lnTo>
                  <a:pt x="1985148" y="0"/>
                </a:lnTo>
                <a:cubicBezTo>
                  <a:pt x="2023960" y="0"/>
                  <a:pt x="2055424" y="31463"/>
                  <a:pt x="2055424" y="70275"/>
                </a:cubicBezTo>
                <a:lnTo>
                  <a:pt x="2055424" y="931085"/>
                </a:lnTo>
                <a:cubicBezTo>
                  <a:pt x="2055424" y="969897"/>
                  <a:pt x="2023960" y="1001360"/>
                  <a:pt x="1985148" y="1001360"/>
                </a:cubicBezTo>
                <a:lnTo>
                  <a:pt x="70275" y="1001360"/>
                </a:lnTo>
                <a:cubicBezTo>
                  <a:pt x="31463" y="1001360"/>
                  <a:pt x="0" y="969897"/>
                  <a:pt x="0" y="931085"/>
                </a:cubicBezTo>
                <a:lnTo>
                  <a:pt x="0" y="70275"/>
                </a:lnTo>
                <a:cubicBezTo>
                  <a:pt x="0" y="31489"/>
                  <a:pt x="31489" y="0"/>
                  <a:pt x="70275" y="0"/>
                </a:cubicBezTo>
                <a:close/>
              </a:path>
            </a:pathLst>
          </a:custGeom>
          <a:solidFill>
            <a:srgbClr val="34C759">
              <a:alpha val="5098"/>
            </a:srgbClr>
          </a:solidFill>
          <a:ln/>
        </p:spPr>
      </p:sp>
      <p:sp>
        <p:nvSpPr>
          <p:cNvPr id="13" name="Shape 11"/>
          <p:cNvSpPr/>
          <p:nvPr/>
        </p:nvSpPr>
        <p:spPr>
          <a:xfrm>
            <a:off x="3643985" y="2314107"/>
            <a:ext cx="230576" cy="263516"/>
          </a:xfrm>
          <a:custGeom>
            <a:avLst/>
            <a:gdLst/>
            <a:ahLst/>
            <a:cxnLst/>
            <a:rect l="l" t="t" r="r" b="b"/>
            <a:pathLst>
              <a:path w="230576" h="263516">
                <a:moveTo>
                  <a:pt x="174373" y="-5095"/>
                </a:moveTo>
                <a:cubicBezTo>
                  <a:pt x="180498" y="-669"/>
                  <a:pt x="182763" y="7360"/>
                  <a:pt x="179983" y="14360"/>
                </a:cubicBezTo>
                <a:lnTo>
                  <a:pt x="139633" y="115288"/>
                </a:lnTo>
                <a:lnTo>
                  <a:pt x="214107" y="115288"/>
                </a:lnTo>
                <a:cubicBezTo>
                  <a:pt x="221055" y="115288"/>
                  <a:pt x="227231" y="119611"/>
                  <a:pt x="229598" y="126148"/>
                </a:cubicBezTo>
                <a:cubicBezTo>
                  <a:pt x="231966" y="132684"/>
                  <a:pt x="229959" y="139993"/>
                  <a:pt x="224658" y="144419"/>
                </a:cubicBezTo>
                <a:lnTo>
                  <a:pt x="76430" y="267942"/>
                </a:lnTo>
                <a:cubicBezTo>
                  <a:pt x="70614" y="272780"/>
                  <a:pt x="62328" y="273037"/>
                  <a:pt x="56203" y="268611"/>
                </a:cubicBezTo>
                <a:cubicBezTo>
                  <a:pt x="50078" y="264185"/>
                  <a:pt x="47814" y="256156"/>
                  <a:pt x="50593" y="249156"/>
                </a:cubicBezTo>
                <a:lnTo>
                  <a:pt x="90944" y="148228"/>
                </a:lnTo>
                <a:lnTo>
                  <a:pt x="16470" y="148228"/>
                </a:lnTo>
                <a:cubicBezTo>
                  <a:pt x="9522" y="148228"/>
                  <a:pt x="3345" y="143904"/>
                  <a:pt x="978" y="137368"/>
                </a:cubicBezTo>
                <a:cubicBezTo>
                  <a:pt x="-1390" y="130832"/>
                  <a:pt x="618" y="123523"/>
                  <a:pt x="5919" y="119097"/>
                </a:cubicBezTo>
                <a:lnTo>
                  <a:pt x="154146" y="-4426"/>
                </a:lnTo>
                <a:cubicBezTo>
                  <a:pt x="159962" y="-9264"/>
                  <a:pt x="168249" y="-9522"/>
                  <a:pt x="174373" y="-5095"/>
                </a:cubicBezTo>
                <a:close/>
              </a:path>
            </a:pathLst>
          </a:custGeom>
          <a:solidFill>
            <a:srgbClr val="34C759"/>
          </a:solidFill>
          <a:ln/>
        </p:spPr>
      </p:sp>
      <p:sp>
        <p:nvSpPr>
          <p:cNvPr id="14" name="Text 12"/>
          <p:cNvSpPr/>
          <p:nvPr/>
        </p:nvSpPr>
        <p:spPr>
          <a:xfrm>
            <a:off x="2834991" y="2647893"/>
            <a:ext cx="1844611" cy="210813"/>
          </a:xfrm>
          <a:prstGeom prst="rect">
            <a:avLst/>
          </a:prstGeom>
          <a:noFill/>
          <a:ln/>
        </p:spPr>
        <p:txBody>
          <a:bodyPr wrap="square" lIns="0" tIns="0" rIns="0" bIns="0" rtlCol="0" anchor="ctr"/>
          <a:lstStyle/>
          <a:p>
            <a:pPr algn="ctr">
              <a:lnSpc>
                <a:spcPct val="130000"/>
              </a:lnSpc>
            </a:pPr>
            <a:r>
              <a:rPr lang="en-US" sz="1107" b="1" dirty="0">
                <a:solidFill>
                  <a:srgbClr val="1D1D1D"/>
                </a:solidFill>
                <a:latin typeface="Liter" pitchFamily="34" charset="0"/>
                <a:ea typeface="Liter" pitchFamily="34" charset="-122"/>
                <a:cs typeface="Liter" pitchFamily="34" charset="-120"/>
              </a:rPr>
              <a:t>Relay 2</a:t>
            </a:r>
            <a:endParaRPr lang="en-US" sz="1600" dirty="0"/>
          </a:p>
        </p:txBody>
      </p:sp>
      <p:sp>
        <p:nvSpPr>
          <p:cNvPr id="15" name="Text 13"/>
          <p:cNvSpPr/>
          <p:nvPr/>
        </p:nvSpPr>
        <p:spPr>
          <a:xfrm>
            <a:off x="2839383" y="2858706"/>
            <a:ext cx="1835827" cy="175677"/>
          </a:xfrm>
          <a:prstGeom prst="rect">
            <a:avLst/>
          </a:prstGeom>
          <a:noFill/>
          <a:ln/>
        </p:spPr>
        <p:txBody>
          <a:bodyPr wrap="square" lIns="0" tIns="0" rIns="0" bIns="0" rtlCol="0" anchor="ctr"/>
          <a:lstStyle/>
          <a:p>
            <a:pPr algn="ctr">
              <a:lnSpc>
                <a:spcPct val="120000"/>
              </a:lnSpc>
            </a:pPr>
            <a:r>
              <a:rPr lang="en-US" sz="968" dirty="0">
                <a:solidFill>
                  <a:srgbClr val="86868B"/>
                </a:solidFill>
                <a:latin typeface="Liter" pitchFamily="34" charset="0"/>
                <a:ea typeface="Liter" pitchFamily="34" charset="-122"/>
                <a:cs typeface="Liter" pitchFamily="34" charset="-120"/>
              </a:rPr>
              <a:t>2.2µF Cap</a:t>
            </a:r>
            <a:endParaRPr lang="en-US" sz="1600" dirty="0"/>
          </a:p>
        </p:txBody>
      </p:sp>
      <p:sp>
        <p:nvSpPr>
          <p:cNvPr id="16" name="Shape 14"/>
          <p:cNvSpPr/>
          <p:nvPr/>
        </p:nvSpPr>
        <p:spPr>
          <a:xfrm>
            <a:off x="4889976" y="2173565"/>
            <a:ext cx="2055424" cy="1001360"/>
          </a:xfrm>
          <a:custGeom>
            <a:avLst/>
            <a:gdLst/>
            <a:ahLst/>
            <a:cxnLst/>
            <a:rect l="l" t="t" r="r" b="b"/>
            <a:pathLst>
              <a:path w="2055424" h="1001360">
                <a:moveTo>
                  <a:pt x="70275" y="0"/>
                </a:moveTo>
                <a:lnTo>
                  <a:pt x="1985148" y="0"/>
                </a:lnTo>
                <a:cubicBezTo>
                  <a:pt x="2023960" y="0"/>
                  <a:pt x="2055424" y="31463"/>
                  <a:pt x="2055424" y="70275"/>
                </a:cubicBezTo>
                <a:lnTo>
                  <a:pt x="2055424" y="931085"/>
                </a:lnTo>
                <a:cubicBezTo>
                  <a:pt x="2055424" y="969897"/>
                  <a:pt x="2023960" y="1001360"/>
                  <a:pt x="1985148" y="1001360"/>
                </a:cubicBezTo>
                <a:lnTo>
                  <a:pt x="70275" y="1001360"/>
                </a:lnTo>
                <a:cubicBezTo>
                  <a:pt x="31463" y="1001360"/>
                  <a:pt x="0" y="969897"/>
                  <a:pt x="0" y="931085"/>
                </a:cubicBezTo>
                <a:lnTo>
                  <a:pt x="0" y="70275"/>
                </a:lnTo>
                <a:cubicBezTo>
                  <a:pt x="0" y="31489"/>
                  <a:pt x="31489" y="0"/>
                  <a:pt x="70275" y="0"/>
                </a:cubicBezTo>
                <a:close/>
              </a:path>
            </a:pathLst>
          </a:custGeom>
          <a:solidFill>
            <a:srgbClr val="FF9500">
              <a:alpha val="5098"/>
            </a:srgbClr>
          </a:solidFill>
          <a:ln/>
        </p:spPr>
      </p:sp>
      <p:sp>
        <p:nvSpPr>
          <p:cNvPr id="17" name="Shape 15"/>
          <p:cNvSpPr/>
          <p:nvPr/>
        </p:nvSpPr>
        <p:spPr>
          <a:xfrm>
            <a:off x="5804376" y="2314107"/>
            <a:ext cx="230576" cy="263516"/>
          </a:xfrm>
          <a:custGeom>
            <a:avLst/>
            <a:gdLst/>
            <a:ahLst/>
            <a:cxnLst/>
            <a:rect l="l" t="t" r="r" b="b"/>
            <a:pathLst>
              <a:path w="230576" h="263516">
                <a:moveTo>
                  <a:pt x="174373" y="-5095"/>
                </a:moveTo>
                <a:cubicBezTo>
                  <a:pt x="180498" y="-669"/>
                  <a:pt x="182763" y="7360"/>
                  <a:pt x="179983" y="14360"/>
                </a:cubicBezTo>
                <a:lnTo>
                  <a:pt x="139633" y="115288"/>
                </a:lnTo>
                <a:lnTo>
                  <a:pt x="214107" y="115288"/>
                </a:lnTo>
                <a:cubicBezTo>
                  <a:pt x="221055" y="115288"/>
                  <a:pt x="227231" y="119611"/>
                  <a:pt x="229598" y="126148"/>
                </a:cubicBezTo>
                <a:cubicBezTo>
                  <a:pt x="231966" y="132684"/>
                  <a:pt x="229959" y="139993"/>
                  <a:pt x="224658" y="144419"/>
                </a:cubicBezTo>
                <a:lnTo>
                  <a:pt x="76430" y="267942"/>
                </a:lnTo>
                <a:cubicBezTo>
                  <a:pt x="70614" y="272780"/>
                  <a:pt x="62328" y="273037"/>
                  <a:pt x="56203" y="268611"/>
                </a:cubicBezTo>
                <a:cubicBezTo>
                  <a:pt x="50078" y="264185"/>
                  <a:pt x="47814" y="256156"/>
                  <a:pt x="50593" y="249156"/>
                </a:cubicBezTo>
                <a:lnTo>
                  <a:pt x="90944" y="148228"/>
                </a:lnTo>
                <a:lnTo>
                  <a:pt x="16470" y="148228"/>
                </a:lnTo>
                <a:cubicBezTo>
                  <a:pt x="9522" y="148228"/>
                  <a:pt x="3345" y="143904"/>
                  <a:pt x="978" y="137368"/>
                </a:cubicBezTo>
                <a:cubicBezTo>
                  <a:pt x="-1390" y="130832"/>
                  <a:pt x="618" y="123523"/>
                  <a:pt x="5919" y="119097"/>
                </a:cubicBezTo>
                <a:lnTo>
                  <a:pt x="154146" y="-4426"/>
                </a:lnTo>
                <a:cubicBezTo>
                  <a:pt x="159962" y="-9264"/>
                  <a:pt x="168249" y="-9522"/>
                  <a:pt x="174373" y="-5095"/>
                </a:cubicBezTo>
                <a:close/>
              </a:path>
            </a:pathLst>
          </a:custGeom>
          <a:solidFill>
            <a:srgbClr val="FF9500"/>
          </a:solidFill>
          <a:ln/>
        </p:spPr>
      </p:sp>
      <p:sp>
        <p:nvSpPr>
          <p:cNvPr id="18" name="Text 16"/>
          <p:cNvSpPr/>
          <p:nvPr/>
        </p:nvSpPr>
        <p:spPr>
          <a:xfrm>
            <a:off x="4995382" y="2647893"/>
            <a:ext cx="1844611" cy="210813"/>
          </a:xfrm>
          <a:prstGeom prst="rect">
            <a:avLst/>
          </a:prstGeom>
          <a:noFill/>
          <a:ln/>
        </p:spPr>
        <p:txBody>
          <a:bodyPr wrap="square" lIns="0" tIns="0" rIns="0" bIns="0" rtlCol="0" anchor="ctr"/>
          <a:lstStyle/>
          <a:p>
            <a:pPr algn="ctr">
              <a:lnSpc>
                <a:spcPct val="130000"/>
              </a:lnSpc>
            </a:pPr>
            <a:r>
              <a:rPr lang="en-US" sz="1107" b="1" dirty="0">
                <a:solidFill>
                  <a:srgbClr val="1D1D1D"/>
                </a:solidFill>
                <a:latin typeface="Liter" pitchFamily="34" charset="0"/>
                <a:ea typeface="Liter" pitchFamily="34" charset="-122"/>
                <a:cs typeface="Liter" pitchFamily="34" charset="-120"/>
              </a:rPr>
              <a:t>Relay 3</a:t>
            </a:r>
            <a:endParaRPr lang="en-US" sz="1600" dirty="0"/>
          </a:p>
        </p:txBody>
      </p:sp>
      <p:sp>
        <p:nvSpPr>
          <p:cNvPr id="19" name="Text 17"/>
          <p:cNvSpPr/>
          <p:nvPr/>
        </p:nvSpPr>
        <p:spPr>
          <a:xfrm>
            <a:off x="4999774" y="2858706"/>
            <a:ext cx="1835827" cy="175677"/>
          </a:xfrm>
          <a:prstGeom prst="rect">
            <a:avLst/>
          </a:prstGeom>
          <a:noFill/>
          <a:ln/>
        </p:spPr>
        <p:txBody>
          <a:bodyPr wrap="square" lIns="0" tIns="0" rIns="0" bIns="0" rtlCol="0" anchor="ctr"/>
          <a:lstStyle/>
          <a:p>
            <a:pPr algn="ctr">
              <a:lnSpc>
                <a:spcPct val="120000"/>
              </a:lnSpc>
            </a:pPr>
            <a:r>
              <a:rPr lang="en-US" sz="968" dirty="0">
                <a:solidFill>
                  <a:srgbClr val="86868B"/>
                </a:solidFill>
                <a:latin typeface="Liter" pitchFamily="34" charset="0"/>
                <a:ea typeface="Liter" pitchFamily="34" charset="-122"/>
                <a:cs typeface="Liter" pitchFamily="34" charset="-120"/>
              </a:rPr>
              <a:t>Direct</a:t>
            </a:r>
            <a:endParaRPr lang="en-US" sz="1600" dirty="0"/>
          </a:p>
        </p:txBody>
      </p:sp>
      <p:sp>
        <p:nvSpPr>
          <p:cNvPr id="20" name="Shape 18"/>
          <p:cNvSpPr/>
          <p:nvPr/>
        </p:nvSpPr>
        <p:spPr>
          <a:xfrm>
            <a:off x="351354" y="3578605"/>
            <a:ext cx="6807493" cy="3144622"/>
          </a:xfrm>
          <a:custGeom>
            <a:avLst/>
            <a:gdLst/>
            <a:ahLst/>
            <a:cxnLst/>
            <a:rect l="l" t="t" r="r" b="b"/>
            <a:pathLst>
              <a:path w="6807493" h="3144622">
                <a:moveTo>
                  <a:pt x="105408" y="0"/>
                </a:moveTo>
                <a:lnTo>
                  <a:pt x="6702085" y="0"/>
                </a:lnTo>
                <a:cubicBezTo>
                  <a:pt x="6760300" y="0"/>
                  <a:pt x="6807493" y="47193"/>
                  <a:pt x="6807493" y="105408"/>
                </a:cubicBezTo>
                <a:lnTo>
                  <a:pt x="6807493" y="3039215"/>
                </a:lnTo>
                <a:cubicBezTo>
                  <a:pt x="6807493" y="3097430"/>
                  <a:pt x="6760300" y="3144622"/>
                  <a:pt x="6702085" y="3144622"/>
                </a:cubicBezTo>
                <a:lnTo>
                  <a:pt x="105408" y="3144622"/>
                </a:lnTo>
                <a:cubicBezTo>
                  <a:pt x="47193" y="3144622"/>
                  <a:pt x="0" y="3097430"/>
                  <a:pt x="0" y="3039215"/>
                </a:cubicBezTo>
                <a:lnTo>
                  <a:pt x="0" y="105408"/>
                </a:lnTo>
                <a:cubicBezTo>
                  <a:pt x="0" y="47193"/>
                  <a:pt x="47193" y="0"/>
                  <a:pt x="105408" y="0"/>
                </a:cubicBezTo>
                <a:close/>
              </a:path>
            </a:pathLst>
          </a:custGeom>
          <a:solidFill>
            <a:srgbClr val="1D1D1D"/>
          </a:solidFill>
          <a:ln/>
        </p:spPr>
      </p:sp>
      <p:sp>
        <p:nvSpPr>
          <p:cNvPr id="21" name="Shape 19"/>
          <p:cNvSpPr/>
          <p:nvPr/>
        </p:nvSpPr>
        <p:spPr>
          <a:xfrm>
            <a:off x="539110" y="3798201"/>
            <a:ext cx="177873" cy="158110"/>
          </a:xfrm>
          <a:custGeom>
            <a:avLst/>
            <a:gdLst/>
            <a:ahLst/>
            <a:cxnLst/>
            <a:rect l="l" t="t" r="r" b="b"/>
            <a:pathLst>
              <a:path w="177873" h="158110">
                <a:moveTo>
                  <a:pt x="111418" y="371"/>
                </a:moveTo>
                <a:cubicBezTo>
                  <a:pt x="106168" y="-1143"/>
                  <a:pt x="100702" y="1915"/>
                  <a:pt x="99189" y="7164"/>
                </a:cubicBezTo>
                <a:lnTo>
                  <a:pt x="59662" y="145510"/>
                </a:lnTo>
                <a:cubicBezTo>
                  <a:pt x="58148" y="150760"/>
                  <a:pt x="61206" y="156226"/>
                  <a:pt x="66455" y="157739"/>
                </a:cubicBezTo>
                <a:cubicBezTo>
                  <a:pt x="71705" y="159252"/>
                  <a:pt x="77171" y="156195"/>
                  <a:pt x="78684" y="150945"/>
                </a:cubicBezTo>
                <a:lnTo>
                  <a:pt x="118212" y="12599"/>
                </a:lnTo>
                <a:cubicBezTo>
                  <a:pt x="119725" y="7350"/>
                  <a:pt x="116668" y="1884"/>
                  <a:pt x="111418" y="371"/>
                </a:cubicBezTo>
                <a:close/>
                <a:moveTo>
                  <a:pt x="131367" y="42399"/>
                </a:moveTo>
                <a:cubicBezTo>
                  <a:pt x="127507" y="46259"/>
                  <a:pt x="127507" y="52528"/>
                  <a:pt x="131367" y="56388"/>
                </a:cubicBezTo>
                <a:lnTo>
                  <a:pt x="154033" y="79055"/>
                </a:lnTo>
                <a:lnTo>
                  <a:pt x="131367" y="101721"/>
                </a:lnTo>
                <a:cubicBezTo>
                  <a:pt x="127507" y="105581"/>
                  <a:pt x="127507" y="111850"/>
                  <a:pt x="131367" y="115710"/>
                </a:cubicBezTo>
                <a:cubicBezTo>
                  <a:pt x="135227" y="119570"/>
                  <a:pt x="141496" y="119570"/>
                  <a:pt x="145356" y="115710"/>
                </a:cubicBezTo>
                <a:lnTo>
                  <a:pt x="175001" y="86065"/>
                </a:lnTo>
                <a:cubicBezTo>
                  <a:pt x="178861" y="82205"/>
                  <a:pt x="178861" y="75936"/>
                  <a:pt x="175001" y="72076"/>
                </a:cubicBezTo>
                <a:lnTo>
                  <a:pt x="145356" y="42430"/>
                </a:lnTo>
                <a:cubicBezTo>
                  <a:pt x="141496" y="38570"/>
                  <a:pt x="135227" y="38570"/>
                  <a:pt x="131367" y="42430"/>
                </a:cubicBezTo>
                <a:close/>
                <a:moveTo>
                  <a:pt x="46537" y="42399"/>
                </a:moveTo>
                <a:cubicBezTo>
                  <a:pt x="42677" y="38539"/>
                  <a:pt x="36408" y="38539"/>
                  <a:pt x="32548" y="42399"/>
                </a:cubicBezTo>
                <a:lnTo>
                  <a:pt x="2903" y="72045"/>
                </a:lnTo>
                <a:cubicBezTo>
                  <a:pt x="-957" y="75905"/>
                  <a:pt x="-957" y="82174"/>
                  <a:pt x="2903" y="86034"/>
                </a:cubicBezTo>
                <a:lnTo>
                  <a:pt x="32548" y="115679"/>
                </a:lnTo>
                <a:cubicBezTo>
                  <a:pt x="36408" y="119539"/>
                  <a:pt x="42677" y="119539"/>
                  <a:pt x="46537" y="115679"/>
                </a:cubicBezTo>
                <a:cubicBezTo>
                  <a:pt x="50397" y="111819"/>
                  <a:pt x="50397" y="105550"/>
                  <a:pt x="46537" y="101690"/>
                </a:cubicBezTo>
                <a:lnTo>
                  <a:pt x="23871" y="79055"/>
                </a:lnTo>
                <a:lnTo>
                  <a:pt x="46506" y="56388"/>
                </a:lnTo>
                <a:cubicBezTo>
                  <a:pt x="50367" y="52528"/>
                  <a:pt x="50367" y="46259"/>
                  <a:pt x="46506" y="42399"/>
                </a:cubicBezTo>
                <a:close/>
              </a:path>
            </a:pathLst>
          </a:custGeom>
          <a:solidFill>
            <a:srgbClr val="0071E3"/>
          </a:solidFill>
          <a:ln/>
        </p:spPr>
      </p:sp>
      <p:sp>
        <p:nvSpPr>
          <p:cNvPr id="22" name="Text 20"/>
          <p:cNvSpPr/>
          <p:nvPr/>
        </p:nvSpPr>
        <p:spPr>
          <a:xfrm>
            <a:off x="729061" y="3754282"/>
            <a:ext cx="6333164" cy="245948"/>
          </a:xfrm>
          <a:prstGeom prst="rect">
            <a:avLst/>
          </a:prstGeom>
          <a:noFill/>
          <a:ln/>
        </p:spPr>
        <p:txBody>
          <a:bodyPr wrap="square" lIns="0" tIns="0" rIns="0" bIns="0" rtlCol="0" anchor="ctr"/>
          <a:lstStyle/>
          <a:p>
            <a:pPr>
              <a:lnSpc>
                <a:spcPct val="130000"/>
              </a:lnSpc>
            </a:pPr>
            <a:r>
              <a:rPr lang="en-US" sz="1245" b="1" dirty="0">
                <a:solidFill>
                  <a:srgbClr val="FFFFFF"/>
                </a:solidFill>
                <a:latin typeface="Liter" pitchFamily="34" charset="0"/>
                <a:ea typeface="Liter" pitchFamily="34" charset="-122"/>
                <a:cs typeface="Liter" pitchFamily="34" charset="-120"/>
              </a:rPr>
              <a:t>setFan1Speed Function (Lines 351-362)</a:t>
            </a:r>
            <a:endParaRPr lang="en-US" sz="1600" dirty="0"/>
          </a:p>
        </p:txBody>
      </p:sp>
      <p:sp>
        <p:nvSpPr>
          <p:cNvPr id="23" name="Shape 21"/>
          <p:cNvSpPr/>
          <p:nvPr/>
        </p:nvSpPr>
        <p:spPr>
          <a:xfrm>
            <a:off x="527032" y="4105636"/>
            <a:ext cx="6456138" cy="2441914"/>
          </a:xfrm>
          <a:custGeom>
            <a:avLst/>
            <a:gdLst/>
            <a:ahLst/>
            <a:cxnLst/>
            <a:rect l="l" t="t" r="r" b="b"/>
            <a:pathLst>
              <a:path w="6456138" h="2441914">
                <a:moveTo>
                  <a:pt x="70278" y="0"/>
                </a:moveTo>
                <a:lnTo>
                  <a:pt x="6385860" y="0"/>
                </a:lnTo>
                <a:cubicBezTo>
                  <a:pt x="6424648" y="0"/>
                  <a:pt x="6456138" y="31491"/>
                  <a:pt x="6456138" y="70278"/>
                </a:cubicBezTo>
                <a:lnTo>
                  <a:pt x="6456138" y="2371635"/>
                </a:lnTo>
                <a:cubicBezTo>
                  <a:pt x="6456138" y="2410423"/>
                  <a:pt x="6424648" y="2441914"/>
                  <a:pt x="6385860" y="2441914"/>
                </a:cubicBezTo>
                <a:lnTo>
                  <a:pt x="70278" y="2441914"/>
                </a:lnTo>
                <a:cubicBezTo>
                  <a:pt x="31491" y="2441914"/>
                  <a:pt x="0" y="2410423"/>
                  <a:pt x="0" y="2371635"/>
                </a:cubicBezTo>
                <a:lnTo>
                  <a:pt x="0" y="70278"/>
                </a:lnTo>
                <a:cubicBezTo>
                  <a:pt x="0" y="31465"/>
                  <a:pt x="31465" y="0"/>
                  <a:pt x="70278" y="0"/>
                </a:cubicBezTo>
                <a:close/>
              </a:path>
            </a:pathLst>
          </a:custGeom>
          <a:solidFill>
            <a:srgbClr val="2D2D2D"/>
          </a:solidFill>
          <a:ln/>
        </p:spPr>
      </p:sp>
      <p:sp>
        <p:nvSpPr>
          <p:cNvPr id="24" name="Text 22"/>
          <p:cNvSpPr/>
          <p:nvPr/>
        </p:nvSpPr>
        <p:spPr>
          <a:xfrm>
            <a:off x="667573" y="4211043"/>
            <a:ext cx="6232150" cy="175677"/>
          </a:xfrm>
          <a:prstGeom prst="rect">
            <a:avLst/>
          </a:prstGeom>
          <a:noFill/>
          <a:ln/>
        </p:spPr>
        <p:txBody>
          <a:bodyPr wrap="square" lIns="0" tIns="0" rIns="0" bIns="0" rtlCol="0" anchor="ctr"/>
          <a:lstStyle/>
          <a:p>
            <a:pPr>
              <a:lnSpc>
                <a:spcPct val="130000"/>
              </a:lnSpc>
            </a:pPr>
            <a:r>
              <a:rPr lang="en-US" sz="899" dirty="0">
                <a:solidFill>
                  <a:srgbClr val="0071E3"/>
                </a:solidFill>
                <a:latin typeface="MiSans" pitchFamily="34" charset="0"/>
                <a:ea typeface="MiSans" pitchFamily="34" charset="-122"/>
                <a:cs typeface="MiSans" pitchFamily="34" charset="-120"/>
              </a:rPr>
              <a:t>voidsetFan1Speed</a:t>
            </a:r>
            <a:r>
              <a:rPr lang="en-US" sz="899" dirty="0">
                <a:solidFill>
                  <a:srgbClr val="FFFFFF"/>
                </a:solidFill>
                <a:latin typeface="MiSans" pitchFamily="34" charset="0"/>
                <a:ea typeface="MiSans" pitchFamily="34" charset="-122"/>
                <a:cs typeface="MiSans" pitchFamily="34" charset="-120"/>
              </a:rPr>
              <a:t>(</a:t>
            </a:r>
            <a:r>
              <a:rPr lang="en-US" sz="899" dirty="0">
                <a:solidFill>
                  <a:srgbClr val="0071E3"/>
                </a:solidFill>
                <a:latin typeface="MiSans" pitchFamily="34" charset="0"/>
                <a:ea typeface="MiSans" pitchFamily="34" charset="-122"/>
                <a:cs typeface="MiSans" pitchFamily="34" charset="-120"/>
              </a:rPr>
              <a:t>int</a:t>
            </a:r>
            <a:r>
              <a:rPr lang="en-US" sz="899" dirty="0">
                <a:solidFill>
                  <a:srgbClr val="FFFFFF"/>
                </a:solidFill>
                <a:latin typeface="MiSans" pitchFamily="34" charset="0"/>
                <a:ea typeface="MiSans" pitchFamily="34" charset="-122"/>
                <a:cs typeface="MiSans" pitchFamily="34" charset="-120"/>
              </a:rPr>
              <a:t> speed) {</a:t>
            </a:r>
            <a:endParaRPr lang="en-US" sz="1600" dirty="0"/>
          </a:p>
        </p:txBody>
      </p:sp>
      <p:sp>
        <p:nvSpPr>
          <p:cNvPr id="25" name="Text 23"/>
          <p:cNvSpPr/>
          <p:nvPr/>
        </p:nvSpPr>
        <p:spPr>
          <a:xfrm>
            <a:off x="667573" y="4382328"/>
            <a:ext cx="6232150" cy="175677"/>
          </a:xfrm>
          <a:prstGeom prst="rect">
            <a:avLst/>
          </a:prstGeom>
          <a:noFill/>
          <a:ln/>
        </p:spPr>
        <p:txBody>
          <a:bodyPr wrap="square" lIns="0" tIns="0" rIns="0" bIns="0" rtlCol="0" anchor="ctr"/>
          <a:lstStyle/>
          <a:p>
            <a:pPr>
              <a:lnSpc>
                <a:spcPct val="130000"/>
              </a:lnSpc>
            </a:pPr>
            <a:r>
              <a:rPr lang="en-US" sz="899" dirty="0">
                <a:solidFill>
                  <a:srgbClr val="0071E3"/>
                </a:solidFill>
                <a:latin typeface="MiSans" pitchFamily="34" charset="0"/>
                <a:ea typeface="MiSans" pitchFamily="34" charset="-122"/>
                <a:cs typeface="MiSans" pitchFamily="34" charset="-120"/>
              </a:rPr>
              <a:t>if</a:t>
            </a:r>
            <a:r>
              <a:rPr lang="en-US" sz="899" dirty="0">
                <a:solidFill>
                  <a:srgbClr val="FFFFFF"/>
                </a:solidFill>
                <a:latin typeface="MiSans" pitchFamily="34" charset="0"/>
                <a:ea typeface="MiSans" pitchFamily="34" charset="-122"/>
                <a:cs typeface="MiSans" pitchFamily="34" charset="-120"/>
              </a:rPr>
              <a:t> (speed == </a:t>
            </a:r>
            <a:r>
              <a:rPr lang="en-US" sz="899" dirty="0">
                <a:solidFill>
                  <a:srgbClr val="FF9500"/>
                </a:solidFill>
                <a:latin typeface="MiSans" pitchFamily="34" charset="0"/>
                <a:ea typeface="MiSans" pitchFamily="34" charset="-122"/>
                <a:cs typeface="MiSans" pitchFamily="34" charset="-120"/>
              </a:rPr>
              <a:t>0</a:t>
            </a:r>
            <a:r>
              <a:rPr lang="en-US" sz="899" dirty="0">
                <a:solidFill>
                  <a:srgbClr val="FFFFFF"/>
                </a:solidFill>
                <a:latin typeface="MiSans" pitchFamily="34" charset="0"/>
                <a:ea typeface="MiSans" pitchFamily="34" charset="-122"/>
                <a:cs typeface="MiSans" pitchFamily="34" charset="-120"/>
              </a:rPr>
              <a:t>) {</a:t>
            </a:r>
            <a:endParaRPr lang="en-US" sz="1600" dirty="0"/>
          </a:p>
        </p:txBody>
      </p:sp>
      <p:sp>
        <p:nvSpPr>
          <p:cNvPr id="26" name="Text 24"/>
          <p:cNvSpPr/>
          <p:nvPr/>
        </p:nvSpPr>
        <p:spPr>
          <a:xfrm>
            <a:off x="941740" y="4567668"/>
            <a:ext cx="1222055" cy="133515"/>
          </a:xfrm>
          <a:prstGeom prst="rect">
            <a:avLst/>
          </a:prstGeom>
          <a:noFill/>
          <a:ln/>
        </p:spPr>
        <p:txBody>
          <a:bodyPr wrap="square" lIns="0" tIns="0" rIns="0" bIns="0" rtlCol="0" anchor="ctr"/>
          <a:lstStyle/>
          <a:p>
            <a:pPr>
              <a:lnSpc>
                <a:spcPct val="130000"/>
              </a:lnSpc>
            </a:pPr>
            <a:r>
              <a:rPr lang="en-US" sz="899" dirty="0">
                <a:solidFill>
                  <a:srgbClr val="86868B"/>
                </a:solidFill>
                <a:latin typeface="MiSans" pitchFamily="34" charset="0"/>
                <a:ea typeface="MiSans" pitchFamily="34" charset="-122"/>
                <a:cs typeface="MiSans" pitchFamily="34" charset="-120"/>
              </a:rPr>
              <a:t>// All relays OFF</a:t>
            </a:r>
            <a:endParaRPr lang="en-US" sz="1600" dirty="0"/>
          </a:p>
        </p:txBody>
      </p:sp>
      <p:sp>
        <p:nvSpPr>
          <p:cNvPr id="27" name="Text 25"/>
          <p:cNvSpPr/>
          <p:nvPr/>
        </p:nvSpPr>
        <p:spPr>
          <a:xfrm>
            <a:off x="667573" y="4724899"/>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digitalWrite(RELAY_F1_1, RELAY_OFF);</a:t>
            </a:r>
            <a:endParaRPr lang="en-US" sz="1600" dirty="0"/>
          </a:p>
        </p:txBody>
      </p:sp>
      <p:sp>
        <p:nvSpPr>
          <p:cNvPr id="28" name="Text 26"/>
          <p:cNvSpPr/>
          <p:nvPr/>
        </p:nvSpPr>
        <p:spPr>
          <a:xfrm>
            <a:off x="667573" y="4896184"/>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digitalWrite(RELAY_F1_2, RELAY_OFF);</a:t>
            </a:r>
            <a:endParaRPr lang="en-US" sz="1600" dirty="0"/>
          </a:p>
        </p:txBody>
      </p:sp>
      <p:sp>
        <p:nvSpPr>
          <p:cNvPr id="29" name="Text 27"/>
          <p:cNvSpPr/>
          <p:nvPr/>
        </p:nvSpPr>
        <p:spPr>
          <a:xfrm>
            <a:off x="667573" y="5067469"/>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digitalWrite(RELAY_F1_3, RELAY_OFF);</a:t>
            </a:r>
            <a:endParaRPr lang="en-US" sz="1600" dirty="0"/>
          </a:p>
        </p:txBody>
      </p:sp>
      <p:sp>
        <p:nvSpPr>
          <p:cNvPr id="30" name="Text 28"/>
          <p:cNvSpPr/>
          <p:nvPr/>
        </p:nvSpPr>
        <p:spPr>
          <a:xfrm>
            <a:off x="667573" y="5238755"/>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 </a:t>
            </a:r>
            <a:r>
              <a:rPr lang="en-US" sz="899" dirty="0">
                <a:solidFill>
                  <a:srgbClr val="0071E3"/>
                </a:solidFill>
                <a:latin typeface="MiSans" pitchFamily="34" charset="0"/>
                <a:ea typeface="MiSans" pitchFamily="34" charset="-122"/>
                <a:cs typeface="MiSans" pitchFamily="34" charset="-120"/>
              </a:rPr>
              <a:t>else</a:t>
            </a:r>
            <a:r>
              <a:rPr lang="en-US" sz="899" dirty="0">
                <a:solidFill>
                  <a:srgbClr val="FFFFFF"/>
                </a:solidFill>
                <a:latin typeface="MiSans" pitchFamily="34" charset="0"/>
                <a:ea typeface="MiSans" pitchFamily="34" charset="-122"/>
                <a:cs typeface="MiSans" pitchFamily="34" charset="-120"/>
              </a:rPr>
              <a:t> {</a:t>
            </a:r>
            <a:endParaRPr lang="en-US" sz="1600" dirty="0"/>
          </a:p>
        </p:txBody>
      </p:sp>
      <p:sp>
        <p:nvSpPr>
          <p:cNvPr id="31" name="Text 29"/>
          <p:cNvSpPr/>
          <p:nvPr/>
        </p:nvSpPr>
        <p:spPr>
          <a:xfrm>
            <a:off x="941740" y="5424095"/>
            <a:ext cx="1290569" cy="133515"/>
          </a:xfrm>
          <a:prstGeom prst="rect">
            <a:avLst/>
          </a:prstGeom>
          <a:noFill/>
          <a:ln/>
        </p:spPr>
        <p:txBody>
          <a:bodyPr wrap="square" lIns="0" tIns="0" rIns="0" bIns="0" rtlCol="0" anchor="ctr"/>
          <a:lstStyle/>
          <a:p>
            <a:pPr>
              <a:lnSpc>
                <a:spcPct val="130000"/>
              </a:lnSpc>
            </a:pPr>
            <a:r>
              <a:rPr lang="en-US" sz="899" dirty="0">
                <a:solidFill>
                  <a:srgbClr val="86868B"/>
                </a:solidFill>
                <a:latin typeface="MiSans" pitchFamily="34" charset="0"/>
                <a:ea typeface="MiSans" pitchFamily="34" charset="-122"/>
                <a:cs typeface="MiSans" pitchFamily="34" charset="-120"/>
              </a:rPr>
              <a:t>// Speed 1-4 logic</a:t>
            </a:r>
            <a:endParaRPr lang="en-US" sz="1600" dirty="0"/>
          </a:p>
        </p:txBody>
      </p:sp>
      <p:sp>
        <p:nvSpPr>
          <p:cNvPr id="32" name="Text 30"/>
          <p:cNvSpPr/>
          <p:nvPr/>
        </p:nvSpPr>
        <p:spPr>
          <a:xfrm>
            <a:off x="667573" y="5581325"/>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digitalWrite(RELAY_F1_1, (speed==</a:t>
            </a:r>
            <a:r>
              <a:rPr lang="en-US" sz="899" dirty="0">
                <a:solidFill>
                  <a:srgbClr val="FF9500"/>
                </a:solidFill>
                <a:latin typeface="MiSans" pitchFamily="34" charset="0"/>
                <a:ea typeface="MiSans" pitchFamily="34" charset="-122"/>
                <a:cs typeface="MiSans" pitchFamily="34" charset="-120"/>
              </a:rPr>
              <a:t>1</a:t>
            </a:r>
            <a:r>
              <a:rPr lang="en-US" sz="899" dirty="0">
                <a:solidFill>
                  <a:srgbClr val="FFFFFF"/>
                </a:solidFill>
                <a:latin typeface="MiSans" pitchFamily="34" charset="0"/>
                <a:ea typeface="MiSans" pitchFamily="34" charset="-122"/>
                <a:cs typeface="MiSans" pitchFamily="34" charset="-120"/>
              </a:rPr>
              <a:t> || speed==</a:t>
            </a:r>
            <a:r>
              <a:rPr lang="en-US" sz="899" dirty="0">
                <a:solidFill>
                  <a:srgbClr val="FF9500"/>
                </a:solidFill>
                <a:latin typeface="MiSans" pitchFamily="34" charset="0"/>
                <a:ea typeface="MiSans" pitchFamily="34" charset="-122"/>
                <a:cs typeface="MiSans" pitchFamily="34" charset="-120"/>
              </a:rPr>
              <a:t>3</a:t>
            </a:r>
            <a:r>
              <a:rPr lang="en-US" sz="899" dirty="0">
                <a:solidFill>
                  <a:srgbClr val="FFFFFF"/>
                </a:solidFill>
                <a:latin typeface="MiSans" pitchFamily="34" charset="0"/>
                <a:ea typeface="MiSans" pitchFamily="34" charset="-122"/>
                <a:cs typeface="MiSans" pitchFamily="34" charset="-120"/>
              </a:rPr>
              <a:t>) ? RELAY_ON : RELAY_OFF);</a:t>
            </a:r>
            <a:endParaRPr lang="en-US" sz="1600" dirty="0"/>
          </a:p>
        </p:txBody>
      </p:sp>
      <p:sp>
        <p:nvSpPr>
          <p:cNvPr id="33" name="Text 31"/>
          <p:cNvSpPr/>
          <p:nvPr/>
        </p:nvSpPr>
        <p:spPr>
          <a:xfrm>
            <a:off x="667573" y="5752610"/>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digitalWrite(RELAY_F1_2, (speed==</a:t>
            </a:r>
            <a:r>
              <a:rPr lang="en-US" sz="899" dirty="0">
                <a:solidFill>
                  <a:srgbClr val="FF9500"/>
                </a:solidFill>
                <a:latin typeface="MiSans" pitchFamily="34" charset="0"/>
                <a:ea typeface="MiSans" pitchFamily="34" charset="-122"/>
                <a:cs typeface="MiSans" pitchFamily="34" charset="-120"/>
              </a:rPr>
              <a:t>2</a:t>
            </a:r>
            <a:r>
              <a:rPr lang="en-US" sz="899" dirty="0">
                <a:solidFill>
                  <a:srgbClr val="FFFFFF"/>
                </a:solidFill>
                <a:latin typeface="MiSans" pitchFamily="34" charset="0"/>
                <a:ea typeface="MiSans" pitchFamily="34" charset="-122"/>
                <a:cs typeface="MiSans" pitchFamily="34" charset="-120"/>
              </a:rPr>
              <a:t> || speed==</a:t>
            </a:r>
            <a:r>
              <a:rPr lang="en-US" sz="899" dirty="0">
                <a:solidFill>
                  <a:srgbClr val="FF9500"/>
                </a:solidFill>
                <a:latin typeface="MiSans" pitchFamily="34" charset="0"/>
                <a:ea typeface="MiSans" pitchFamily="34" charset="-122"/>
                <a:cs typeface="MiSans" pitchFamily="34" charset="-120"/>
              </a:rPr>
              <a:t>3</a:t>
            </a:r>
            <a:r>
              <a:rPr lang="en-US" sz="899" dirty="0">
                <a:solidFill>
                  <a:srgbClr val="FFFFFF"/>
                </a:solidFill>
                <a:latin typeface="MiSans" pitchFamily="34" charset="0"/>
                <a:ea typeface="MiSans" pitchFamily="34" charset="-122"/>
                <a:cs typeface="MiSans" pitchFamily="34" charset="-120"/>
              </a:rPr>
              <a:t>) ? RELAY_ON : RELAY_OFF);</a:t>
            </a:r>
            <a:endParaRPr lang="en-US" sz="1600" dirty="0"/>
          </a:p>
        </p:txBody>
      </p:sp>
      <p:sp>
        <p:nvSpPr>
          <p:cNvPr id="34" name="Text 32"/>
          <p:cNvSpPr/>
          <p:nvPr/>
        </p:nvSpPr>
        <p:spPr>
          <a:xfrm>
            <a:off x="667573" y="5923896"/>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digitalWrite(RELAY_F1_3, (speed==</a:t>
            </a:r>
            <a:r>
              <a:rPr lang="en-US" sz="899" dirty="0">
                <a:solidFill>
                  <a:srgbClr val="FF9500"/>
                </a:solidFill>
                <a:latin typeface="MiSans" pitchFamily="34" charset="0"/>
                <a:ea typeface="MiSans" pitchFamily="34" charset="-122"/>
                <a:cs typeface="MiSans" pitchFamily="34" charset="-120"/>
              </a:rPr>
              <a:t>4</a:t>
            </a:r>
            <a:r>
              <a:rPr lang="en-US" sz="899" dirty="0">
                <a:solidFill>
                  <a:srgbClr val="FFFFFF"/>
                </a:solidFill>
                <a:latin typeface="MiSans" pitchFamily="34" charset="0"/>
                <a:ea typeface="MiSans" pitchFamily="34" charset="-122"/>
                <a:cs typeface="MiSans" pitchFamily="34" charset="-120"/>
              </a:rPr>
              <a:t>) ? RELAY_ON : RELAY_OFF);</a:t>
            </a:r>
            <a:endParaRPr lang="en-US" sz="1600" dirty="0"/>
          </a:p>
        </p:txBody>
      </p:sp>
      <p:sp>
        <p:nvSpPr>
          <p:cNvPr id="35" name="Text 33"/>
          <p:cNvSpPr/>
          <p:nvPr/>
        </p:nvSpPr>
        <p:spPr>
          <a:xfrm>
            <a:off x="667573" y="6095181"/>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a:t>
            </a:r>
            <a:endParaRPr lang="en-US" sz="1600" dirty="0"/>
          </a:p>
        </p:txBody>
      </p:sp>
      <p:sp>
        <p:nvSpPr>
          <p:cNvPr id="36" name="Text 34"/>
          <p:cNvSpPr/>
          <p:nvPr/>
        </p:nvSpPr>
        <p:spPr>
          <a:xfrm>
            <a:off x="667573" y="6266466"/>
            <a:ext cx="6232150" cy="175677"/>
          </a:xfrm>
          <a:prstGeom prst="rect">
            <a:avLst/>
          </a:prstGeom>
          <a:noFill/>
          <a:ln/>
        </p:spPr>
        <p:txBody>
          <a:bodyPr wrap="square" lIns="0" tIns="0" rIns="0" bIns="0" rtlCol="0" anchor="ctr"/>
          <a:lstStyle/>
          <a:p>
            <a:pPr>
              <a:lnSpc>
                <a:spcPct val="130000"/>
              </a:lnSpc>
            </a:pPr>
            <a:r>
              <a:rPr lang="en-US" sz="899" dirty="0">
                <a:solidFill>
                  <a:srgbClr val="FFFFFF"/>
                </a:solidFill>
                <a:latin typeface="MiSans" pitchFamily="34" charset="0"/>
                <a:ea typeface="MiSans" pitchFamily="34" charset="-122"/>
                <a:cs typeface="MiSans" pitchFamily="34" charset="-120"/>
              </a:rPr>
              <a:t>}</a:t>
            </a:r>
            <a:endParaRPr lang="en-US" sz="1600" dirty="0"/>
          </a:p>
        </p:txBody>
      </p:sp>
      <p:sp>
        <p:nvSpPr>
          <p:cNvPr id="37" name="Shape 35"/>
          <p:cNvSpPr/>
          <p:nvPr/>
        </p:nvSpPr>
        <p:spPr>
          <a:xfrm>
            <a:off x="7373173" y="973311"/>
            <a:ext cx="4460445" cy="5561942"/>
          </a:xfrm>
          <a:custGeom>
            <a:avLst/>
            <a:gdLst/>
            <a:ahLst/>
            <a:cxnLst/>
            <a:rect l="l" t="t" r="r" b="b"/>
            <a:pathLst>
              <a:path w="4460445" h="5734105">
                <a:moveTo>
                  <a:pt x="105400" y="0"/>
                </a:moveTo>
                <a:lnTo>
                  <a:pt x="4355045" y="0"/>
                </a:lnTo>
                <a:cubicBezTo>
                  <a:pt x="4413256" y="0"/>
                  <a:pt x="4460445" y="47189"/>
                  <a:pt x="4460445" y="105400"/>
                </a:cubicBezTo>
                <a:lnTo>
                  <a:pt x="4460445" y="5628705"/>
                </a:lnTo>
                <a:cubicBezTo>
                  <a:pt x="4460445" y="5686916"/>
                  <a:pt x="4413256" y="5734105"/>
                  <a:pt x="4355045" y="5734105"/>
                </a:cubicBezTo>
                <a:lnTo>
                  <a:pt x="105400" y="5734105"/>
                </a:lnTo>
                <a:cubicBezTo>
                  <a:pt x="47189" y="5734105"/>
                  <a:pt x="0" y="5686916"/>
                  <a:pt x="0" y="5628705"/>
                </a:cubicBezTo>
                <a:lnTo>
                  <a:pt x="0" y="105400"/>
                </a:lnTo>
                <a:cubicBezTo>
                  <a:pt x="0" y="47228"/>
                  <a:pt x="47228" y="0"/>
                  <a:pt x="105400" y="0"/>
                </a:cubicBezTo>
                <a:close/>
              </a:path>
            </a:pathLst>
          </a:custGeom>
          <a:solidFill>
            <a:srgbClr val="FFFFFF"/>
          </a:solidFill>
          <a:ln w="10160">
            <a:solidFill>
              <a:srgbClr val="E5E5E5"/>
            </a:solidFill>
            <a:prstDash val="solid"/>
          </a:ln>
          <a:effectLst>
            <a:outerShdw blurRad="26352" dist="8784" dir="5400000" algn="bl" rotWithShape="0">
              <a:srgbClr val="000000">
                <a:alpha val="10196"/>
              </a:srgbClr>
            </a:outerShdw>
          </a:effectLst>
        </p:spPr>
        <p:txBody>
          <a:bodyPr/>
          <a:lstStyle/>
          <a:p>
            <a:endParaRPr lang="en-IN" dirty="0"/>
          </a:p>
        </p:txBody>
      </p:sp>
      <p:sp>
        <p:nvSpPr>
          <p:cNvPr id="38" name="Shape 36"/>
          <p:cNvSpPr/>
          <p:nvPr/>
        </p:nvSpPr>
        <p:spPr>
          <a:xfrm>
            <a:off x="7611876" y="1210174"/>
            <a:ext cx="153718" cy="175677"/>
          </a:xfrm>
          <a:custGeom>
            <a:avLst/>
            <a:gdLst/>
            <a:ahLst/>
            <a:cxnLst/>
            <a:rect l="l" t="t" r="r" b="b"/>
            <a:pathLst>
              <a:path w="153718" h="175677">
                <a:moveTo>
                  <a:pt x="87839" y="54899"/>
                </a:moveTo>
                <a:lnTo>
                  <a:pt x="87839" y="87839"/>
                </a:lnTo>
                <a:lnTo>
                  <a:pt x="131758" y="87839"/>
                </a:lnTo>
                <a:lnTo>
                  <a:pt x="131758" y="54899"/>
                </a:lnTo>
                <a:lnTo>
                  <a:pt x="87839" y="54899"/>
                </a:lnTo>
                <a:close/>
                <a:moveTo>
                  <a:pt x="65879" y="54899"/>
                </a:moveTo>
                <a:lnTo>
                  <a:pt x="21960" y="54899"/>
                </a:lnTo>
                <a:lnTo>
                  <a:pt x="21960" y="87839"/>
                </a:lnTo>
                <a:lnTo>
                  <a:pt x="65879" y="87839"/>
                </a:lnTo>
                <a:lnTo>
                  <a:pt x="65879" y="54899"/>
                </a:lnTo>
                <a:close/>
                <a:moveTo>
                  <a:pt x="0" y="109798"/>
                </a:moveTo>
                <a:lnTo>
                  <a:pt x="0" y="32939"/>
                </a:lnTo>
                <a:cubicBezTo>
                  <a:pt x="0" y="20827"/>
                  <a:pt x="9848" y="10980"/>
                  <a:pt x="21960" y="10980"/>
                </a:cubicBezTo>
                <a:lnTo>
                  <a:pt x="131758" y="10980"/>
                </a:lnTo>
                <a:cubicBezTo>
                  <a:pt x="143870" y="10980"/>
                  <a:pt x="153718" y="20827"/>
                  <a:pt x="153718" y="32939"/>
                </a:cubicBezTo>
                <a:lnTo>
                  <a:pt x="153718" y="142738"/>
                </a:lnTo>
                <a:cubicBezTo>
                  <a:pt x="153718" y="154850"/>
                  <a:pt x="143870" y="164697"/>
                  <a:pt x="131758" y="164697"/>
                </a:cubicBezTo>
                <a:lnTo>
                  <a:pt x="21960" y="164697"/>
                </a:lnTo>
                <a:cubicBezTo>
                  <a:pt x="9848" y="164697"/>
                  <a:pt x="0" y="154850"/>
                  <a:pt x="0" y="142738"/>
                </a:cubicBezTo>
                <a:lnTo>
                  <a:pt x="0" y="109798"/>
                </a:lnTo>
                <a:close/>
                <a:moveTo>
                  <a:pt x="131758" y="109798"/>
                </a:moveTo>
                <a:lnTo>
                  <a:pt x="87839" y="109798"/>
                </a:lnTo>
                <a:lnTo>
                  <a:pt x="87839" y="142738"/>
                </a:lnTo>
                <a:lnTo>
                  <a:pt x="131758" y="142738"/>
                </a:lnTo>
                <a:lnTo>
                  <a:pt x="131758" y="109798"/>
                </a:lnTo>
                <a:close/>
                <a:moveTo>
                  <a:pt x="65879" y="142738"/>
                </a:moveTo>
                <a:lnTo>
                  <a:pt x="65879" y="109798"/>
                </a:lnTo>
                <a:lnTo>
                  <a:pt x="21960" y="109798"/>
                </a:lnTo>
                <a:lnTo>
                  <a:pt x="21960" y="142738"/>
                </a:lnTo>
                <a:lnTo>
                  <a:pt x="65879" y="142738"/>
                </a:lnTo>
                <a:close/>
              </a:path>
            </a:pathLst>
          </a:custGeom>
          <a:solidFill>
            <a:srgbClr val="0071E3"/>
          </a:solidFill>
          <a:ln/>
        </p:spPr>
      </p:sp>
      <p:sp>
        <p:nvSpPr>
          <p:cNvPr id="39" name="Text 37"/>
          <p:cNvSpPr/>
          <p:nvPr/>
        </p:nvSpPr>
        <p:spPr>
          <a:xfrm>
            <a:off x="7811159" y="1095985"/>
            <a:ext cx="3900035" cy="404057"/>
          </a:xfrm>
          <a:prstGeom prst="rect">
            <a:avLst/>
          </a:prstGeom>
          <a:noFill/>
          <a:ln/>
        </p:spPr>
        <p:txBody>
          <a:bodyPr wrap="square" lIns="0" tIns="0" rIns="0" bIns="0" rtlCol="0" anchor="ctr"/>
          <a:lstStyle/>
          <a:p>
            <a:pPr>
              <a:lnSpc>
                <a:spcPct val="120000"/>
              </a:lnSpc>
            </a:pPr>
            <a:r>
              <a:rPr lang="en-US" sz="1383" b="1" dirty="0">
                <a:solidFill>
                  <a:srgbClr val="1D1D1D"/>
                </a:solidFill>
                <a:latin typeface="Liter" pitchFamily="34" charset="0"/>
                <a:ea typeface="Liter" pitchFamily="34" charset="-122"/>
                <a:cs typeface="Liter" pitchFamily="34" charset="-120"/>
              </a:rPr>
              <a:t>Speed Level Matrix </a:t>
            </a:r>
          </a:p>
        </p:txBody>
      </p:sp>
      <p:graphicFrame>
        <p:nvGraphicFramePr>
          <p:cNvPr id="40" name="Table 0"/>
          <p:cNvGraphicFramePr>
            <a:graphicFrameLocks noGrp="1"/>
          </p:cNvGraphicFramePr>
          <p:nvPr>
            <p:extLst>
              <p:ext uri="{D42A27DB-BD31-4B8C-83A1-F6EECF244321}">
                <p14:modId xmlns:p14="http://schemas.microsoft.com/office/powerpoint/2010/main" val="159227359"/>
              </p:ext>
            </p:extLst>
          </p:nvPr>
        </p:nvGraphicFramePr>
        <p:xfrm>
          <a:off x="7811159" y="1524291"/>
          <a:ext cx="3658699" cy="2362860"/>
        </p:xfrm>
        <a:graphic>
          <a:graphicData uri="http://schemas.openxmlformats.org/drawingml/2006/table">
            <a:tbl>
              <a:tblPr/>
              <a:tblGrid>
                <a:gridCol w="1609828">
                  <a:extLst>
                    <a:ext uri="{9D8B030D-6E8A-4147-A177-3AD203B41FA5}">
                      <a16:colId xmlns:a16="http://schemas.microsoft.com/office/drawing/2014/main" val="20000"/>
                    </a:ext>
                  </a:extLst>
                </a:gridCol>
                <a:gridCol w="530511">
                  <a:extLst>
                    <a:ext uri="{9D8B030D-6E8A-4147-A177-3AD203B41FA5}">
                      <a16:colId xmlns:a16="http://schemas.microsoft.com/office/drawing/2014/main" val="20001"/>
                    </a:ext>
                  </a:extLst>
                </a:gridCol>
                <a:gridCol w="918980">
                  <a:extLst>
                    <a:ext uri="{9D8B030D-6E8A-4147-A177-3AD203B41FA5}">
                      <a16:colId xmlns:a16="http://schemas.microsoft.com/office/drawing/2014/main" val="20002"/>
                    </a:ext>
                  </a:extLst>
                </a:gridCol>
                <a:gridCol w="599380">
                  <a:extLst>
                    <a:ext uri="{9D8B030D-6E8A-4147-A177-3AD203B41FA5}">
                      <a16:colId xmlns:a16="http://schemas.microsoft.com/office/drawing/2014/main" val="20004"/>
                    </a:ext>
                  </a:extLst>
                </a:gridCol>
              </a:tblGrid>
              <a:tr h="393810">
                <a:tc>
                  <a:txBody>
                    <a:bodyPr/>
                    <a:lstStyle/>
                    <a:p>
                      <a:pPr algn="l"/>
                      <a:r>
                        <a:rPr lang="en-US" sz="900" b="1" u="none" dirty="0">
                          <a:solidFill>
                            <a:srgbClr val="1D1D1D"/>
                          </a:solidFill>
                          <a:latin typeface="微软雅黑" pitchFamily="34" charset="0"/>
                          <a:ea typeface="微软雅黑" pitchFamily="34" charset="-122"/>
                          <a:cs typeface="微软雅黑" pitchFamily="34" charset="-120"/>
                        </a:rPr>
                        <a:t>Speed</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0" cap="flat" cmpd="sng" algn="ctr">
                      <a:noFill/>
                    </a:lnT>
                    <a:lnB w="20320" cap="flat" cmpd="sng" algn="ctr">
                      <a:solidFill>
                        <a:srgbClr val="1D1D1D"/>
                      </a:solidFill>
                      <a:prstDash val="solid"/>
                      <a:round/>
                      <a:headEnd type="none" w="med" len="med"/>
                      <a:tailEnd type="none" w="med" len="med"/>
                    </a:lnB>
                    <a:solidFill>
                      <a:srgbClr val="FFFFFF">
                        <a:alpha val="0"/>
                      </a:srgbClr>
                    </a:solidFill>
                  </a:tcPr>
                </a:tc>
                <a:tc>
                  <a:txBody>
                    <a:bodyPr/>
                    <a:lstStyle/>
                    <a:p>
                      <a:pPr algn="ctr"/>
                      <a:r>
                        <a:rPr lang="en-US" sz="900" b="1" u="none" dirty="0">
                          <a:solidFill>
                            <a:srgbClr val="1D1D1D"/>
                          </a:solidFill>
                          <a:latin typeface="微软雅黑" pitchFamily="34" charset="0"/>
                          <a:ea typeface="微软雅黑" pitchFamily="34" charset="-122"/>
                          <a:cs typeface="微软雅黑" pitchFamily="34" charset="-120"/>
                        </a:rPr>
                        <a:t>C1</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0" cap="flat" cmpd="sng" algn="ctr">
                      <a:noFill/>
                    </a:lnT>
                    <a:lnB w="20320" cap="flat" cmpd="sng" algn="ctr">
                      <a:solidFill>
                        <a:srgbClr val="1D1D1D"/>
                      </a:solidFill>
                      <a:prstDash val="solid"/>
                      <a:round/>
                      <a:headEnd type="none" w="med" len="med"/>
                      <a:tailEnd type="none" w="med" len="med"/>
                    </a:lnB>
                    <a:solidFill>
                      <a:srgbClr val="FFFFFF">
                        <a:alpha val="0"/>
                      </a:srgbClr>
                    </a:solidFill>
                  </a:tcPr>
                </a:tc>
                <a:tc>
                  <a:txBody>
                    <a:bodyPr/>
                    <a:lstStyle/>
                    <a:p>
                      <a:pPr algn="ctr"/>
                      <a:r>
                        <a:rPr lang="en-US" sz="900" b="1" u="none" dirty="0">
                          <a:solidFill>
                            <a:srgbClr val="1D1D1D"/>
                          </a:solidFill>
                          <a:latin typeface="微软雅黑" pitchFamily="34" charset="0"/>
                          <a:ea typeface="微软雅黑" pitchFamily="34" charset="-122"/>
                          <a:cs typeface="微软雅黑" pitchFamily="34" charset="-120"/>
                        </a:rPr>
                        <a:t>C2</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0" cap="flat" cmpd="sng" algn="ctr">
                      <a:noFill/>
                    </a:lnT>
                    <a:lnB w="20320" cap="flat" cmpd="sng" algn="ctr">
                      <a:solidFill>
                        <a:srgbClr val="1D1D1D"/>
                      </a:solidFill>
                      <a:prstDash val="solid"/>
                      <a:round/>
                      <a:headEnd type="none" w="med" len="med"/>
                      <a:tailEnd type="none" w="med" len="med"/>
                    </a:lnB>
                    <a:solidFill>
                      <a:srgbClr val="FFFFFF">
                        <a:alpha val="0"/>
                      </a:srgbClr>
                    </a:solidFill>
                  </a:tcPr>
                </a:tc>
                <a:tc>
                  <a:txBody>
                    <a:bodyPr/>
                    <a:lstStyle/>
                    <a:p>
                      <a:pPr algn="r"/>
                      <a:r>
                        <a:rPr lang="en-US" sz="900" b="1" u="none" dirty="0">
                          <a:solidFill>
                            <a:srgbClr val="1D1D1D"/>
                          </a:solidFill>
                          <a:latin typeface="微软雅黑" pitchFamily="34" charset="0"/>
                          <a:ea typeface="微软雅黑" pitchFamily="34" charset="-122"/>
                          <a:cs typeface="微软雅黑" pitchFamily="34" charset="-120"/>
                        </a:rPr>
                        <a:t>C_eff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0" cap="flat" cmpd="sng" algn="ctr">
                      <a:noFill/>
                    </a:lnT>
                    <a:lnB w="20320" cap="flat" cmpd="sng" algn="ctr">
                      <a:solidFill>
                        <a:srgbClr val="1D1D1D"/>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393810">
                <a:tc>
                  <a:txBody>
                    <a:bodyPr/>
                    <a:lstStyle/>
                    <a:p>
                      <a:r>
                        <a:rPr lang="en-US" sz="900" b="1" u="none" dirty="0">
                          <a:solidFill>
                            <a:srgbClr val="FF3B30"/>
                          </a:solidFill>
                          <a:latin typeface="微软雅黑" pitchFamily="34" charset="0"/>
                          <a:ea typeface="微软雅黑" pitchFamily="34" charset="-122"/>
                          <a:cs typeface="微软雅黑" pitchFamily="34" charset="-120"/>
                        </a:rPr>
                        <a:t>0 (OFF)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20320" cap="flat" cmpd="sng" algn="ctr">
                      <a:solidFill>
                        <a:srgbClr val="1D1D1D"/>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FFFF">
                        <a:alpha val="0"/>
                      </a:srgbClr>
                    </a:solidFill>
                  </a:tcPr>
                </a:tc>
                <a:tc>
                  <a:txBody>
                    <a:bodyPr/>
                    <a:lstStyle/>
                    <a:p>
                      <a:pPr algn="ctr"/>
                      <a:r>
                        <a:rPr lang="en-US" sz="900" dirty="0">
                          <a:latin typeface="微软雅黑" charset="0"/>
                          <a:ea typeface="微软雅黑" charset="0"/>
                          <a:cs typeface="微软雅黑" charset="0"/>
                        </a:rPr>
                        <a:t>1.0</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20320" cap="flat" cmpd="sng" algn="ctr">
                      <a:solidFill>
                        <a:srgbClr val="1D1D1D"/>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D1D1D"/>
                          </a:solidFill>
                          <a:latin typeface="微软雅黑" charset="0"/>
                          <a:ea typeface="微软雅黑" charset="0"/>
                          <a:cs typeface="微软雅黑" pitchFamily="34" charset="-120"/>
                        </a:rPr>
                        <a:t>2.2</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20320" cap="flat" cmpd="sng" algn="ctr">
                      <a:solidFill>
                        <a:srgbClr val="1D1D1D"/>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FFFF">
                        <a:alpha val="0"/>
                      </a:srgbClr>
                    </a:solidFill>
                  </a:tcPr>
                </a:tc>
                <a:tc>
                  <a:txBody>
                    <a:bodyPr/>
                    <a:lstStyle/>
                    <a:p>
                      <a:pPr algn="r"/>
                      <a:r>
                        <a:rPr lang="en-US" sz="900" u="none" dirty="0">
                          <a:solidFill>
                            <a:srgbClr val="1D1D1D"/>
                          </a:solidFill>
                          <a:latin typeface="微软雅黑" pitchFamily="34" charset="0"/>
                          <a:ea typeface="微软雅黑" pitchFamily="34" charset="-122"/>
                          <a:cs typeface="微软雅黑" pitchFamily="34" charset="-120"/>
                        </a:rPr>
                        <a:t>0µF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20320" cap="flat" cmpd="sng" algn="ctr">
                      <a:solidFill>
                        <a:srgbClr val="1D1D1D"/>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393810">
                <a:tc>
                  <a:txBody>
                    <a:bodyPr/>
                    <a:lstStyle/>
                    <a:p>
                      <a:r>
                        <a:rPr lang="en-US" sz="900" b="1" u="none" dirty="0">
                          <a:solidFill>
                            <a:srgbClr val="0071E3"/>
                          </a:solidFill>
                          <a:latin typeface="微软雅黑" pitchFamily="34" charset="0"/>
                          <a:ea typeface="微软雅黑" pitchFamily="34" charset="-122"/>
                          <a:cs typeface="微软雅黑" pitchFamily="34" charset="-120"/>
                        </a:rPr>
                        <a:t>1 (Low)</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0071E3">
                        <a:alpha val="5000"/>
                      </a:srgbClr>
                    </a:solidFill>
                  </a:tcPr>
                </a:tc>
                <a:tc>
                  <a:txBody>
                    <a:bodyPr/>
                    <a:lstStyle/>
                    <a:p>
                      <a:pPr algn="ctr"/>
                      <a:r>
                        <a:rPr lang="en-US" sz="900" dirty="0">
                          <a:latin typeface="微软雅黑" charset="0"/>
                          <a:ea typeface="微软雅黑" charset="0"/>
                          <a:cs typeface="微软雅黑" charset="0"/>
                        </a:rPr>
                        <a:t>1.0</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0071E3">
                        <a:alpha val="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u="none" dirty="0">
                          <a:solidFill>
                            <a:srgbClr val="1D1D1D"/>
                          </a:solidFill>
                          <a:latin typeface="微软雅黑" charset="0"/>
                          <a:ea typeface="微软雅黑" charset="0"/>
                          <a:cs typeface="微软雅黑" pitchFamily="34" charset="-120"/>
                        </a:rPr>
                        <a:t>2.2</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0071E3">
                        <a:alpha val="5000"/>
                      </a:srgbClr>
                    </a:solidFill>
                  </a:tcPr>
                </a:tc>
                <a:tc>
                  <a:txBody>
                    <a:bodyPr/>
                    <a:lstStyle/>
                    <a:p>
                      <a:pPr algn="r"/>
                      <a:r>
                        <a:rPr lang="en-US" sz="900" u="none" dirty="0">
                          <a:solidFill>
                            <a:srgbClr val="1D1D1D"/>
                          </a:solidFill>
                          <a:latin typeface="微软雅黑" pitchFamily="34" charset="0"/>
                          <a:ea typeface="微软雅黑" pitchFamily="34" charset="-122"/>
                          <a:cs typeface="微软雅黑" pitchFamily="34" charset="-120"/>
                        </a:rPr>
                        <a:t>1.0µF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0071E3">
                        <a:alpha val="5000"/>
                      </a:srgbClr>
                    </a:solidFill>
                  </a:tcPr>
                </a:tc>
                <a:extLst>
                  <a:ext uri="{0D108BD9-81ED-4DB2-BD59-A6C34878D82A}">
                    <a16:rowId xmlns:a16="http://schemas.microsoft.com/office/drawing/2014/main" val="10002"/>
                  </a:ext>
                </a:extLst>
              </a:tr>
              <a:tr h="393810">
                <a:tc>
                  <a:txBody>
                    <a:bodyPr/>
                    <a:lstStyle/>
                    <a:p>
                      <a:r>
                        <a:rPr lang="en-US" sz="900" b="1" u="none" dirty="0">
                          <a:solidFill>
                            <a:srgbClr val="34C759"/>
                          </a:solidFill>
                          <a:latin typeface="微软雅黑" pitchFamily="34" charset="0"/>
                          <a:ea typeface="微软雅黑" pitchFamily="34" charset="-122"/>
                          <a:cs typeface="微软雅黑" pitchFamily="34" charset="-120"/>
                        </a:rPr>
                        <a:t>2 (Med-Low)</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FFFF">
                        <a:alpha val="0"/>
                      </a:srgbClr>
                    </a:solidFill>
                  </a:tcPr>
                </a:tc>
                <a:tc>
                  <a:txBody>
                    <a:bodyPr/>
                    <a:lstStyle/>
                    <a:p>
                      <a:pPr algn="ctr"/>
                      <a:r>
                        <a:rPr lang="en-US" sz="900" dirty="0">
                          <a:latin typeface="微软雅黑" charset="0"/>
                          <a:ea typeface="微软雅黑" charset="0"/>
                          <a:cs typeface="微软雅黑" charset="0"/>
                        </a:rPr>
                        <a:t>1.0</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FFFF">
                        <a:alpha val="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u="none" dirty="0">
                          <a:solidFill>
                            <a:srgbClr val="1D1D1D"/>
                          </a:solidFill>
                          <a:latin typeface="微软雅黑" charset="0"/>
                          <a:ea typeface="微软雅黑" charset="0"/>
                          <a:cs typeface="微软雅黑" pitchFamily="34" charset="-120"/>
                        </a:rPr>
                        <a:t>2.2</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FFFF">
                        <a:alpha val="0"/>
                      </a:srgbClr>
                    </a:solidFill>
                  </a:tcPr>
                </a:tc>
                <a:tc>
                  <a:txBody>
                    <a:bodyPr/>
                    <a:lstStyle/>
                    <a:p>
                      <a:pPr algn="r"/>
                      <a:r>
                        <a:rPr lang="en-US" sz="900" u="none" dirty="0">
                          <a:solidFill>
                            <a:srgbClr val="1D1D1D"/>
                          </a:solidFill>
                          <a:latin typeface="微软雅黑" pitchFamily="34" charset="0"/>
                          <a:ea typeface="微软雅黑" pitchFamily="34" charset="-122"/>
                          <a:cs typeface="微软雅黑" pitchFamily="34" charset="-120"/>
                        </a:rPr>
                        <a:t>2.2µF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393810">
                <a:tc>
                  <a:txBody>
                    <a:bodyPr/>
                    <a:lstStyle/>
                    <a:p>
                      <a:r>
                        <a:rPr lang="en-US" sz="900" b="1" u="none" dirty="0">
                          <a:solidFill>
                            <a:srgbClr val="FF9500"/>
                          </a:solidFill>
                          <a:latin typeface="微软雅黑" pitchFamily="34" charset="0"/>
                          <a:ea typeface="微软雅黑" pitchFamily="34" charset="-122"/>
                          <a:cs typeface="微软雅黑" pitchFamily="34" charset="-120"/>
                        </a:rPr>
                        <a:t>3 (Med-High)</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9500">
                        <a:alpha val="5000"/>
                      </a:srgbClr>
                    </a:solidFill>
                  </a:tcPr>
                </a:tc>
                <a:tc>
                  <a:txBody>
                    <a:bodyPr/>
                    <a:lstStyle/>
                    <a:p>
                      <a:pPr algn="ctr"/>
                      <a:r>
                        <a:rPr lang="en-US" sz="900" dirty="0">
                          <a:latin typeface="微软雅黑" charset="0"/>
                          <a:ea typeface="微软雅黑" charset="0"/>
                          <a:cs typeface="微软雅黑" charset="0"/>
                        </a:rPr>
                        <a:t>1.0</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9500">
                        <a:alpha val="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u="none" dirty="0">
                          <a:solidFill>
                            <a:srgbClr val="1D1D1D"/>
                          </a:solidFill>
                          <a:latin typeface="微软雅黑" charset="0"/>
                          <a:ea typeface="微软雅黑" charset="0"/>
                          <a:cs typeface="微软雅黑" pitchFamily="34" charset="-120"/>
                        </a:rPr>
                        <a:t>2.2</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9500">
                        <a:alpha val="5000"/>
                      </a:srgbClr>
                    </a:solidFill>
                  </a:tcPr>
                </a:tc>
                <a:tc>
                  <a:txBody>
                    <a:bodyPr/>
                    <a:lstStyle/>
                    <a:p>
                      <a:pPr algn="r"/>
                      <a:r>
                        <a:rPr lang="en-US" sz="900" u="none" dirty="0">
                          <a:solidFill>
                            <a:srgbClr val="1D1D1D"/>
                          </a:solidFill>
                          <a:latin typeface="微软雅黑" pitchFamily="34" charset="0"/>
                          <a:ea typeface="微软雅黑" pitchFamily="34" charset="-122"/>
                          <a:cs typeface="微软雅黑" pitchFamily="34" charset="-120"/>
                        </a:rPr>
                        <a:t>3.2µF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10160" cap="flat" cmpd="sng" algn="ctr">
                      <a:solidFill>
                        <a:srgbClr val="E5E5E5"/>
                      </a:solidFill>
                      <a:prstDash val="solid"/>
                      <a:round/>
                      <a:headEnd type="none" w="med" len="med"/>
                      <a:tailEnd type="none" w="med" len="med"/>
                    </a:lnB>
                    <a:solidFill>
                      <a:srgbClr val="FF9500">
                        <a:alpha val="5000"/>
                      </a:srgbClr>
                    </a:solidFill>
                  </a:tcPr>
                </a:tc>
                <a:extLst>
                  <a:ext uri="{0D108BD9-81ED-4DB2-BD59-A6C34878D82A}">
                    <a16:rowId xmlns:a16="http://schemas.microsoft.com/office/drawing/2014/main" val="10004"/>
                  </a:ext>
                </a:extLst>
              </a:tr>
              <a:tr h="393810">
                <a:tc>
                  <a:txBody>
                    <a:bodyPr/>
                    <a:lstStyle/>
                    <a:p>
                      <a:r>
                        <a:rPr lang="en-US" sz="900" b="1" u="none" dirty="0">
                          <a:solidFill>
                            <a:srgbClr val="AF52DE"/>
                          </a:solidFill>
                          <a:latin typeface="微软雅黑" pitchFamily="34" charset="0"/>
                          <a:ea typeface="微软雅黑" pitchFamily="34" charset="-122"/>
                          <a:cs typeface="微软雅黑" pitchFamily="34" charset="-120"/>
                        </a:rPr>
                        <a:t>4 (Max)</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0" cap="flat" cmpd="sng" algn="ctr">
                      <a:noFill/>
                    </a:lnB>
                    <a:solidFill>
                      <a:srgbClr val="AF52DE">
                        <a:alpha val="5000"/>
                      </a:srgbClr>
                    </a:solidFill>
                  </a:tcPr>
                </a:tc>
                <a:tc>
                  <a:txBody>
                    <a:bodyPr/>
                    <a:lstStyle/>
                    <a:p>
                      <a:pPr algn="ctr"/>
                      <a:r>
                        <a:rPr lang="en-US" sz="900" dirty="0">
                          <a:latin typeface="微软雅黑" charset="0"/>
                          <a:ea typeface="微软雅黑" charset="0"/>
                          <a:cs typeface="微软雅黑" charset="0"/>
                        </a:rPr>
                        <a:t>1.0</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0" cap="flat" cmpd="sng" algn="ctr">
                      <a:noFill/>
                    </a:lnB>
                    <a:solidFill>
                      <a:srgbClr val="AF52DE">
                        <a:alpha val="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u="none" dirty="0">
                          <a:solidFill>
                            <a:srgbClr val="1D1D1D"/>
                          </a:solidFill>
                          <a:latin typeface="微软雅黑" charset="0"/>
                          <a:ea typeface="微软雅黑" charset="0"/>
                          <a:cs typeface="微软雅黑" pitchFamily="34" charset="-120"/>
                        </a:rPr>
                        <a:t>2.2</a:t>
                      </a:r>
                      <a:r>
                        <a:rPr lang="en-US" sz="900" u="none" dirty="0">
                          <a:solidFill>
                            <a:srgbClr val="1D1D1D"/>
                          </a:solidFill>
                          <a:latin typeface="微软雅黑" pitchFamily="34" charset="0"/>
                          <a:ea typeface="微软雅黑" pitchFamily="34" charset="-122"/>
                          <a:cs typeface="微软雅黑" pitchFamily="34" charset="-120"/>
                        </a:rPr>
                        <a:t>µF</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0" cap="flat" cmpd="sng" algn="ctr">
                      <a:noFill/>
                    </a:lnB>
                    <a:solidFill>
                      <a:srgbClr val="AF52DE">
                        <a:alpha val="5000"/>
                      </a:srgbClr>
                    </a:solidFill>
                  </a:tcPr>
                </a:tc>
                <a:tc>
                  <a:txBody>
                    <a:bodyPr/>
                    <a:lstStyle/>
                    <a:p>
                      <a:pPr algn="r"/>
                      <a:r>
                        <a:rPr lang="en-US" sz="900" u="none" dirty="0">
                          <a:solidFill>
                            <a:srgbClr val="1D1D1D"/>
                          </a:solidFill>
                          <a:latin typeface="微软雅黑" pitchFamily="34" charset="0"/>
                          <a:ea typeface="微软雅黑" pitchFamily="34" charset="-122"/>
                          <a:cs typeface="微软雅黑" pitchFamily="34" charset="-120"/>
                        </a:rPr>
                        <a:t>Bypass</a:t>
                      </a:r>
                      <a:endParaRPr lang="en-US" sz="900" dirty="0">
                        <a:latin typeface="微软雅黑" charset="0"/>
                        <a:ea typeface="微软雅黑" charset="0"/>
                        <a:cs typeface="微软雅黑" charset="0"/>
                      </a:endParaRPr>
                    </a:p>
                  </a:txBody>
                  <a:tcPr marL="70271" marR="70271" marT="105406" marB="105406" anchor="ctr">
                    <a:lnL w="0" cap="flat" cmpd="sng" algn="ctr">
                      <a:noFill/>
                    </a:lnL>
                    <a:lnR w="0" cap="flat" cmpd="sng" algn="ctr">
                      <a:noFill/>
                    </a:lnR>
                    <a:lnT w="10160" cap="flat" cmpd="sng" algn="ctr">
                      <a:solidFill>
                        <a:srgbClr val="E5E5E5"/>
                      </a:solidFill>
                      <a:prstDash val="solid"/>
                      <a:round/>
                      <a:headEnd type="none" w="med" len="med"/>
                      <a:tailEnd type="none" w="med" len="med"/>
                    </a:lnT>
                    <a:lnB w="0" cap="flat" cmpd="sng" algn="ctr">
                      <a:noFill/>
                    </a:lnB>
                    <a:solidFill>
                      <a:srgbClr val="AF52DE">
                        <a:alpha val="5000"/>
                      </a:srgbClr>
                    </a:solidFill>
                  </a:tcPr>
                </a:tc>
                <a:extLst>
                  <a:ext uri="{0D108BD9-81ED-4DB2-BD59-A6C34878D82A}">
                    <a16:rowId xmlns:a16="http://schemas.microsoft.com/office/drawing/2014/main" val="10005"/>
                  </a:ext>
                </a:extLst>
              </a:tr>
            </a:tbl>
          </a:graphicData>
        </a:graphic>
      </p:graphicFrame>
      <p:pic>
        <p:nvPicPr>
          <p:cNvPr id="1028" name="Picture 4" descr="Blue Background Electrical Circuit Stock Illustrations – 21,969 Blue  Background Electrical Circuit Stock Illustrations, Vectors &amp; Clipart -  Dreamstime">
            <a:extLst>
              <a:ext uri="{FF2B5EF4-FFF2-40B4-BE49-F238E27FC236}">
                <a16:creationId xmlns:a16="http://schemas.microsoft.com/office/drawing/2014/main" id="{7638DF3F-372D-1792-A99A-36314F6E1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2744" y="3825504"/>
            <a:ext cx="511981" cy="511981"/>
          </a:xfrm>
          <a:prstGeom prst="rect">
            <a:avLst/>
          </a:prstGeom>
          <a:noFill/>
          <a:extLst>
            <a:ext uri="{909E8E84-426E-40DD-AFC4-6F175D3DCCD1}">
              <a14:hiddenFill xmlns:a14="http://schemas.microsoft.com/office/drawing/2010/main">
                <a:solidFill>
                  <a:srgbClr val="FFFFFF"/>
                </a:solidFill>
              </a14:hiddenFill>
            </a:ext>
          </a:extLst>
        </p:spPr>
      </p:pic>
      <p:sp>
        <p:nvSpPr>
          <p:cNvPr id="44" name="Text 37">
            <a:extLst>
              <a:ext uri="{FF2B5EF4-FFF2-40B4-BE49-F238E27FC236}">
                <a16:creationId xmlns:a16="http://schemas.microsoft.com/office/drawing/2014/main" id="{B76DC493-0A37-5AA7-65D0-B4F4E505C89F}"/>
              </a:ext>
            </a:extLst>
          </p:cNvPr>
          <p:cNvSpPr/>
          <p:nvPr/>
        </p:nvSpPr>
        <p:spPr>
          <a:xfrm>
            <a:off x="7944725" y="3852346"/>
            <a:ext cx="3900035" cy="404057"/>
          </a:xfrm>
          <a:prstGeom prst="rect">
            <a:avLst/>
          </a:prstGeom>
          <a:noFill/>
          <a:ln/>
        </p:spPr>
        <p:txBody>
          <a:bodyPr wrap="square" lIns="0" tIns="0" rIns="0" bIns="0" rtlCol="0" anchor="ctr"/>
          <a:lstStyle/>
          <a:p>
            <a:r>
              <a:rPr lang="en-US" b="1" dirty="0"/>
              <a:t>Circuit diagram of RC fan regulator</a:t>
            </a:r>
            <a:endParaRPr lang="en-IN" sz="1400" dirty="0">
              <a:effectLst/>
            </a:endParaRPr>
          </a:p>
        </p:txBody>
      </p:sp>
      <p:pic>
        <p:nvPicPr>
          <p:cNvPr id="47" name="Picture 46">
            <a:extLst>
              <a:ext uri="{FF2B5EF4-FFF2-40B4-BE49-F238E27FC236}">
                <a16:creationId xmlns:a16="http://schemas.microsoft.com/office/drawing/2014/main" id="{3DC3AB32-D6BF-5D5C-7BC7-DDC506F783BB}"/>
              </a:ext>
            </a:extLst>
          </p:cNvPr>
          <p:cNvPicPr>
            <a:picLocks noChangeAspect="1"/>
          </p:cNvPicPr>
          <p:nvPr/>
        </p:nvPicPr>
        <p:blipFill>
          <a:blip r:embed="rId4"/>
          <a:srcRect l="3284" t="7450" r="6224" b="6783"/>
          <a:stretch>
            <a:fillRect/>
          </a:stretch>
        </p:blipFill>
        <p:spPr>
          <a:xfrm>
            <a:off x="7573555" y="4211043"/>
            <a:ext cx="4035515" cy="1854477"/>
          </a:xfrm>
          <a:prstGeom prst="rect">
            <a:avLst/>
          </a:prstGeom>
        </p:spPr>
      </p:pic>
      <p:sp>
        <p:nvSpPr>
          <p:cNvPr id="48" name="TextBox 47">
            <a:extLst>
              <a:ext uri="{FF2B5EF4-FFF2-40B4-BE49-F238E27FC236}">
                <a16:creationId xmlns:a16="http://schemas.microsoft.com/office/drawing/2014/main" id="{5159DEEC-8128-CE58-4B8A-608E28031E1A}"/>
              </a:ext>
            </a:extLst>
          </p:cNvPr>
          <p:cNvSpPr txBox="1"/>
          <p:nvPr/>
        </p:nvSpPr>
        <p:spPr>
          <a:xfrm>
            <a:off x="7765594" y="5234261"/>
            <a:ext cx="367408" cy="215444"/>
          </a:xfrm>
          <a:prstGeom prst="rect">
            <a:avLst/>
          </a:prstGeom>
          <a:noFill/>
        </p:spPr>
        <p:txBody>
          <a:bodyPr wrap="none" rtlCol="0">
            <a:spAutoFit/>
          </a:bodyPr>
          <a:lstStyle/>
          <a:p>
            <a:r>
              <a:rPr lang="en-IN" sz="800" dirty="0">
                <a:solidFill>
                  <a:srgbClr val="6C6C6C"/>
                </a:solidFill>
              </a:rPr>
              <a:t>load</a:t>
            </a:r>
          </a:p>
        </p:txBody>
      </p:sp>
      <p:sp>
        <p:nvSpPr>
          <p:cNvPr id="49" name="TextBox 48">
            <a:extLst>
              <a:ext uri="{FF2B5EF4-FFF2-40B4-BE49-F238E27FC236}">
                <a16:creationId xmlns:a16="http://schemas.microsoft.com/office/drawing/2014/main" id="{65E91DBE-CDA4-4D69-A449-D26B9270B63C}"/>
              </a:ext>
            </a:extLst>
          </p:cNvPr>
          <p:cNvSpPr txBox="1"/>
          <p:nvPr/>
        </p:nvSpPr>
        <p:spPr>
          <a:xfrm>
            <a:off x="8991600" y="4840213"/>
            <a:ext cx="486030" cy="215444"/>
          </a:xfrm>
          <a:prstGeom prst="rect">
            <a:avLst/>
          </a:prstGeom>
          <a:noFill/>
        </p:spPr>
        <p:txBody>
          <a:bodyPr wrap="none" rtlCol="0">
            <a:spAutoFit/>
          </a:bodyPr>
          <a:lstStyle/>
          <a:p>
            <a:r>
              <a:rPr lang="en-IN" sz="800" dirty="0">
                <a:solidFill>
                  <a:srgbClr val="6C6C6C"/>
                </a:solidFill>
              </a:rPr>
              <a:t>Relay 3</a:t>
            </a:r>
          </a:p>
        </p:txBody>
      </p:sp>
      <p:sp>
        <p:nvSpPr>
          <p:cNvPr id="50" name="TextBox 49">
            <a:extLst>
              <a:ext uri="{FF2B5EF4-FFF2-40B4-BE49-F238E27FC236}">
                <a16:creationId xmlns:a16="http://schemas.microsoft.com/office/drawing/2014/main" id="{AACDC58A-0CF6-8C29-35B8-B3AB0B3A07F1}"/>
              </a:ext>
            </a:extLst>
          </p:cNvPr>
          <p:cNvSpPr txBox="1"/>
          <p:nvPr/>
        </p:nvSpPr>
        <p:spPr>
          <a:xfrm>
            <a:off x="9814560" y="4295055"/>
            <a:ext cx="486030" cy="215444"/>
          </a:xfrm>
          <a:prstGeom prst="rect">
            <a:avLst/>
          </a:prstGeom>
          <a:noFill/>
        </p:spPr>
        <p:txBody>
          <a:bodyPr wrap="none" rtlCol="0">
            <a:spAutoFit/>
          </a:bodyPr>
          <a:lstStyle/>
          <a:p>
            <a:r>
              <a:rPr lang="en-IN" sz="800" dirty="0">
                <a:solidFill>
                  <a:srgbClr val="6C6C6C"/>
                </a:solidFill>
              </a:rPr>
              <a:t>Relay 1</a:t>
            </a:r>
          </a:p>
        </p:txBody>
      </p:sp>
      <p:sp>
        <p:nvSpPr>
          <p:cNvPr id="51" name="TextBox 50">
            <a:extLst>
              <a:ext uri="{FF2B5EF4-FFF2-40B4-BE49-F238E27FC236}">
                <a16:creationId xmlns:a16="http://schemas.microsoft.com/office/drawing/2014/main" id="{4FFDA9B1-476D-D0FD-494E-A7DAE83780FF}"/>
              </a:ext>
            </a:extLst>
          </p:cNvPr>
          <p:cNvSpPr txBox="1"/>
          <p:nvPr/>
        </p:nvSpPr>
        <p:spPr>
          <a:xfrm>
            <a:off x="10878732" y="4295055"/>
            <a:ext cx="486030" cy="215444"/>
          </a:xfrm>
          <a:prstGeom prst="rect">
            <a:avLst/>
          </a:prstGeom>
          <a:noFill/>
        </p:spPr>
        <p:txBody>
          <a:bodyPr wrap="none" rtlCol="0">
            <a:spAutoFit/>
          </a:bodyPr>
          <a:lstStyle/>
          <a:p>
            <a:r>
              <a:rPr lang="en-IN" sz="800" dirty="0">
                <a:solidFill>
                  <a:srgbClr val="6C6C6C"/>
                </a:solidFill>
              </a:rPr>
              <a:t>Relay 2</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8329" y="318329"/>
            <a:ext cx="11611050" cy="159164"/>
          </a:xfrm>
          <a:prstGeom prst="rect">
            <a:avLst/>
          </a:prstGeom>
          <a:noFill/>
          <a:ln/>
        </p:spPr>
        <p:txBody>
          <a:bodyPr wrap="square" lIns="0" tIns="0" rIns="0" bIns="0" rtlCol="0" anchor="ctr"/>
          <a:lstStyle/>
          <a:p>
            <a:pPr>
              <a:lnSpc>
                <a:spcPct val="120000"/>
              </a:lnSpc>
            </a:pPr>
            <a:r>
              <a:rPr lang="en-US" sz="877" b="1" kern="0" spc="44" dirty="0">
                <a:solidFill>
                  <a:srgbClr val="0071E3"/>
                </a:solidFill>
                <a:latin typeface="Liter" pitchFamily="34" charset="0"/>
                <a:ea typeface="Liter" pitchFamily="34" charset="-122"/>
                <a:cs typeface="Liter" pitchFamily="34" charset="-120"/>
              </a:rPr>
              <a:t>SAFETY SYSTEM</a:t>
            </a:r>
            <a:endParaRPr lang="en-US" sz="1600" dirty="0"/>
          </a:p>
        </p:txBody>
      </p:sp>
      <p:sp>
        <p:nvSpPr>
          <p:cNvPr id="3" name="Text 1"/>
          <p:cNvSpPr/>
          <p:nvPr/>
        </p:nvSpPr>
        <p:spPr>
          <a:xfrm>
            <a:off x="318329" y="509326"/>
            <a:ext cx="11698590" cy="318329"/>
          </a:xfrm>
          <a:prstGeom prst="rect">
            <a:avLst/>
          </a:prstGeom>
          <a:noFill/>
          <a:ln/>
        </p:spPr>
        <p:txBody>
          <a:bodyPr wrap="square" lIns="0" tIns="0" rIns="0" bIns="0" rtlCol="0" anchor="ctr"/>
          <a:lstStyle/>
          <a:p>
            <a:pPr>
              <a:lnSpc>
                <a:spcPct val="90000"/>
              </a:lnSpc>
            </a:pPr>
            <a:r>
              <a:rPr lang="en-US" sz="2256" b="1" dirty="0">
                <a:solidFill>
                  <a:srgbClr val="1D1D1D"/>
                </a:solidFill>
                <a:latin typeface="Liter" pitchFamily="34" charset="0"/>
                <a:ea typeface="Liter" pitchFamily="34" charset="-122"/>
                <a:cs typeface="Liter" pitchFamily="34" charset="-120"/>
              </a:rPr>
              <a:t>Fire Safety State Machine</a:t>
            </a:r>
            <a:endParaRPr lang="en-US" sz="1600" dirty="0"/>
          </a:p>
        </p:txBody>
      </p:sp>
      <p:sp>
        <p:nvSpPr>
          <p:cNvPr id="4" name="Shape 2"/>
          <p:cNvSpPr/>
          <p:nvPr/>
        </p:nvSpPr>
        <p:spPr>
          <a:xfrm>
            <a:off x="321512" y="958170"/>
            <a:ext cx="5696497" cy="3125991"/>
          </a:xfrm>
          <a:custGeom>
            <a:avLst/>
            <a:gdLst/>
            <a:ahLst/>
            <a:cxnLst/>
            <a:rect l="l" t="t" r="r" b="b"/>
            <a:pathLst>
              <a:path w="5696497" h="3125991">
                <a:moveTo>
                  <a:pt x="95499" y="0"/>
                </a:moveTo>
                <a:lnTo>
                  <a:pt x="5600998" y="0"/>
                </a:lnTo>
                <a:cubicBezTo>
                  <a:pt x="5653741" y="0"/>
                  <a:pt x="5696497" y="42756"/>
                  <a:pt x="5696497" y="95499"/>
                </a:cubicBezTo>
                <a:lnTo>
                  <a:pt x="5696497" y="3030492"/>
                </a:lnTo>
                <a:cubicBezTo>
                  <a:pt x="5696497" y="3083234"/>
                  <a:pt x="5653741" y="3125991"/>
                  <a:pt x="5600998" y="3125991"/>
                </a:cubicBezTo>
                <a:lnTo>
                  <a:pt x="95499" y="3125991"/>
                </a:lnTo>
                <a:cubicBezTo>
                  <a:pt x="42756" y="3125991"/>
                  <a:pt x="0" y="3083234"/>
                  <a:pt x="0" y="3030492"/>
                </a:cubicBezTo>
                <a:lnTo>
                  <a:pt x="0" y="95499"/>
                </a:lnTo>
                <a:cubicBezTo>
                  <a:pt x="0" y="42756"/>
                  <a:pt x="42756" y="0"/>
                  <a:pt x="95499" y="0"/>
                </a:cubicBezTo>
                <a:close/>
              </a:path>
            </a:pathLst>
          </a:custGeom>
          <a:solidFill>
            <a:srgbClr val="FFFFFF"/>
          </a:solidFill>
          <a:ln w="10160">
            <a:solidFill>
              <a:srgbClr val="E5E5E5"/>
            </a:solidFill>
            <a:prstDash val="solid"/>
          </a:ln>
          <a:effectLst>
            <a:outerShdw blurRad="23875" dist="7958" dir="5400000" algn="bl" rotWithShape="0">
              <a:srgbClr val="000000">
                <a:alpha val="10196"/>
              </a:srgbClr>
            </a:outerShdw>
          </a:effectLst>
        </p:spPr>
      </p:sp>
      <p:sp>
        <p:nvSpPr>
          <p:cNvPr id="5" name="Shape 3"/>
          <p:cNvSpPr/>
          <p:nvPr/>
        </p:nvSpPr>
        <p:spPr>
          <a:xfrm>
            <a:off x="481870" y="1120516"/>
            <a:ext cx="139269" cy="159164"/>
          </a:xfrm>
          <a:custGeom>
            <a:avLst/>
            <a:gdLst/>
            <a:ahLst/>
            <a:cxnLst/>
            <a:rect l="l" t="t" r="r" b="b"/>
            <a:pathLst>
              <a:path w="139269" h="159164">
                <a:moveTo>
                  <a:pt x="49894" y="-8207"/>
                </a:moveTo>
                <a:cubicBezTo>
                  <a:pt x="52785" y="-10632"/>
                  <a:pt x="57044" y="-10538"/>
                  <a:pt x="59811" y="-7927"/>
                </a:cubicBezTo>
                <a:cubicBezTo>
                  <a:pt x="63635" y="-4321"/>
                  <a:pt x="67054" y="-342"/>
                  <a:pt x="70349" y="3699"/>
                </a:cubicBezTo>
                <a:cubicBezTo>
                  <a:pt x="74546" y="8829"/>
                  <a:pt x="79582" y="15606"/>
                  <a:pt x="84432" y="23657"/>
                </a:cubicBezTo>
                <a:cubicBezTo>
                  <a:pt x="86048" y="21543"/>
                  <a:pt x="87540" y="19678"/>
                  <a:pt x="88846" y="18093"/>
                </a:cubicBezTo>
                <a:cubicBezTo>
                  <a:pt x="89188" y="17688"/>
                  <a:pt x="89530" y="17253"/>
                  <a:pt x="89872" y="16818"/>
                </a:cubicBezTo>
                <a:cubicBezTo>
                  <a:pt x="92328" y="13771"/>
                  <a:pt x="95374" y="9948"/>
                  <a:pt x="99447" y="9948"/>
                </a:cubicBezTo>
                <a:cubicBezTo>
                  <a:pt x="103612" y="9948"/>
                  <a:pt x="106535" y="13647"/>
                  <a:pt x="109021" y="16818"/>
                </a:cubicBezTo>
                <a:cubicBezTo>
                  <a:pt x="109426" y="17346"/>
                  <a:pt x="109830" y="17844"/>
                  <a:pt x="110234" y="18310"/>
                </a:cubicBezTo>
                <a:cubicBezTo>
                  <a:pt x="113436" y="22165"/>
                  <a:pt x="117695" y="27729"/>
                  <a:pt x="121954" y="34600"/>
                </a:cubicBezTo>
                <a:cubicBezTo>
                  <a:pt x="130409" y="48247"/>
                  <a:pt x="139238" y="67676"/>
                  <a:pt x="139238" y="89499"/>
                </a:cubicBezTo>
                <a:cubicBezTo>
                  <a:pt x="139238" y="127953"/>
                  <a:pt x="108058" y="159133"/>
                  <a:pt x="69603" y="159133"/>
                </a:cubicBezTo>
                <a:cubicBezTo>
                  <a:pt x="31149" y="159133"/>
                  <a:pt x="0" y="127984"/>
                  <a:pt x="0" y="89530"/>
                </a:cubicBezTo>
                <a:cubicBezTo>
                  <a:pt x="0" y="61210"/>
                  <a:pt x="12777" y="36682"/>
                  <a:pt x="25025" y="19585"/>
                </a:cubicBezTo>
                <a:cubicBezTo>
                  <a:pt x="31211" y="10974"/>
                  <a:pt x="37366" y="4072"/>
                  <a:pt x="41998" y="-653"/>
                </a:cubicBezTo>
                <a:cubicBezTo>
                  <a:pt x="44547" y="-3264"/>
                  <a:pt x="47128" y="-5844"/>
                  <a:pt x="49925" y="-8176"/>
                </a:cubicBezTo>
                <a:close/>
                <a:moveTo>
                  <a:pt x="70163" y="129321"/>
                </a:moveTo>
                <a:cubicBezTo>
                  <a:pt x="78028" y="129321"/>
                  <a:pt x="84991" y="127145"/>
                  <a:pt x="91551" y="122793"/>
                </a:cubicBezTo>
                <a:cubicBezTo>
                  <a:pt x="104638" y="113653"/>
                  <a:pt x="108151" y="95374"/>
                  <a:pt x="100286" y="81012"/>
                </a:cubicBezTo>
                <a:cubicBezTo>
                  <a:pt x="98887" y="78214"/>
                  <a:pt x="95312" y="78028"/>
                  <a:pt x="93292" y="80391"/>
                </a:cubicBezTo>
                <a:lnTo>
                  <a:pt x="85458" y="89499"/>
                </a:lnTo>
                <a:cubicBezTo>
                  <a:pt x="83406" y="91862"/>
                  <a:pt x="79707" y="91799"/>
                  <a:pt x="77779" y="89344"/>
                </a:cubicBezTo>
                <a:cubicBezTo>
                  <a:pt x="72401" y="82473"/>
                  <a:pt x="62516" y="69945"/>
                  <a:pt x="57480" y="63541"/>
                </a:cubicBezTo>
                <a:cubicBezTo>
                  <a:pt x="55801" y="61396"/>
                  <a:pt x="52754" y="61055"/>
                  <a:pt x="50796" y="62951"/>
                </a:cubicBezTo>
                <a:cubicBezTo>
                  <a:pt x="45107" y="68484"/>
                  <a:pt x="34786" y="80608"/>
                  <a:pt x="34786" y="95374"/>
                </a:cubicBezTo>
                <a:cubicBezTo>
                  <a:pt x="34786" y="116700"/>
                  <a:pt x="50516" y="129321"/>
                  <a:pt x="70132" y="129321"/>
                </a:cubicBezTo>
                <a:close/>
              </a:path>
            </a:pathLst>
          </a:custGeom>
          <a:solidFill>
            <a:srgbClr val="FF3B30"/>
          </a:solidFill>
          <a:ln/>
        </p:spPr>
      </p:sp>
      <p:sp>
        <p:nvSpPr>
          <p:cNvPr id="6" name="Text 4"/>
          <p:cNvSpPr/>
          <p:nvPr/>
        </p:nvSpPr>
        <p:spPr>
          <a:xfrm>
            <a:off x="650983" y="1088684"/>
            <a:ext cx="5316094" cy="222830"/>
          </a:xfrm>
          <a:prstGeom prst="rect">
            <a:avLst/>
          </a:prstGeom>
          <a:noFill/>
          <a:ln/>
        </p:spPr>
        <p:txBody>
          <a:bodyPr wrap="square" lIns="0" tIns="0" rIns="0" bIns="0" rtlCol="0" anchor="ctr"/>
          <a:lstStyle/>
          <a:p>
            <a:pPr>
              <a:lnSpc>
                <a:spcPct val="120000"/>
              </a:lnSpc>
            </a:pPr>
            <a:r>
              <a:rPr lang="en-US" sz="1253" b="1" dirty="0">
                <a:solidFill>
                  <a:srgbClr val="1D1D1D"/>
                </a:solidFill>
                <a:latin typeface="Liter" pitchFamily="34" charset="0"/>
                <a:ea typeface="Liter" pitchFamily="34" charset="-122"/>
                <a:cs typeface="Liter" pitchFamily="34" charset="-120"/>
              </a:rPr>
              <a:t>Three-State Safety System</a:t>
            </a:r>
            <a:endParaRPr lang="en-US" sz="1600" dirty="0"/>
          </a:p>
        </p:txBody>
      </p:sp>
      <p:sp>
        <p:nvSpPr>
          <p:cNvPr id="7" name="Shape 5"/>
          <p:cNvSpPr/>
          <p:nvPr/>
        </p:nvSpPr>
        <p:spPr>
          <a:xfrm>
            <a:off x="467944" y="1407013"/>
            <a:ext cx="5419551" cy="787864"/>
          </a:xfrm>
          <a:custGeom>
            <a:avLst/>
            <a:gdLst/>
            <a:ahLst/>
            <a:cxnLst/>
            <a:rect l="l" t="t" r="r" b="b"/>
            <a:pathLst>
              <a:path w="5419551" h="787864">
                <a:moveTo>
                  <a:pt x="31833" y="0"/>
                </a:moveTo>
                <a:lnTo>
                  <a:pt x="5355884" y="0"/>
                </a:lnTo>
                <a:cubicBezTo>
                  <a:pt x="5391046" y="0"/>
                  <a:pt x="5419551" y="28505"/>
                  <a:pt x="5419551" y="63667"/>
                </a:cubicBezTo>
                <a:lnTo>
                  <a:pt x="5419551" y="724197"/>
                </a:lnTo>
                <a:cubicBezTo>
                  <a:pt x="5419551" y="759359"/>
                  <a:pt x="5391046" y="787864"/>
                  <a:pt x="5355884" y="787864"/>
                </a:cubicBezTo>
                <a:lnTo>
                  <a:pt x="31833" y="787864"/>
                </a:lnTo>
                <a:cubicBezTo>
                  <a:pt x="14252" y="787864"/>
                  <a:pt x="0" y="773612"/>
                  <a:pt x="0" y="756031"/>
                </a:cubicBezTo>
                <a:lnTo>
                  <a:pt x="0" y="31833"/>
                </a:lnTo>
                <a:cubicBezTo>
                  <a:pt x="0" y="14252"/>
                  <a:pt x="14252" y="0"/>
                  <a:pt x="31833" y="0"/>
                </a:cubicBezTo>
                <a:close/>
              </a:path>
            </a:pathLst>
          </a:custGeom>
          <a:solidFill>
            <a:srgbClr val="FF3B30">
              <a:alpha val="5098"/>
            </a:srgbClr>
          </a:solidFill>
          <a:ln/>
        </p:spPr>
      </p:sp>
      <p:sp>
        <p:nvSpPr>
          <p:cNvPr id="8" name="Shape 6"/>
          <p:cNvSpPr/>
          <p:nvPr/>
        </p:nvSpPr>
        <p:spPr>
          <a:xfrm>
            <a:off x="467944" y="1407013"/>
            <a:ext cx="31833" cy="787864"/>
          </a:xfrm>
          <a:custGeom>
            <a:avLst/>
            <a:gdLst/>
            <a:ahLst/>
            <a:cxnLst/>
            <a:rect l="l" t="t" r="r" b="b"/>
            <a:pathLst>
              <a:path w="31833" h="787864">
                <a:moveTo>
                  <a:pt x="31833" y="0"/>
                </a:moveTo>
                <a:lnTo>
                  <a:pt x="31833" y="0"/>
                </a:lnTo>
                <a:lnTo>
                  <a:pt x="31833" y="787864"/>
                </a:lnTo>
                <a:lnTo>
                  <a:pt x="31833" y="787864"/>
                </a:lnTo>
                <a:cubicBezTo>
                  <a:pt x="14252" y="787864"/>
                  <a:pt x="0" y="773612"/>
                  <a:pt x="0" y="756031"/>
                </a:cubicBezTo>
                <a:lnTo>
                  <a:pt x="0" y="31833"/>
                </a:lnTo>
                <a:cubicBezTo>
                  <a:pt x="0" y="14252"/>
                  <a:pt x="14252" y="0"/>
                  <a:pt x="31833" y="0"/>
                </a:cubicBezTo>
                <a:close/>
              </a:path>
            </a:pathLst>
          </a:custGeom>
          <a:solidFill>
            <a:srgbClr val="FF3B30"/>
          </a:solidFill>
          <a:ln/>
        </p:spPr>
      </p:sp>
      <p:sp>
        <p:nvSpPr>
          <p:cNvPr id="9" name="Shape 7"/>
          <p:cNvSpPr/>
          <p:nvPr/>
        </p:nvSpPr>
        <p:spPr>
          <a:xfrm>
            <a:off x="579359" y="1518428"/>
            <a:ext cx="318329" cy="318329"/>
          </a:xfrm>
          <a:custGeom>
            <a:avLst/>
            <a:gdLst/>
            <a:ahLst/>
            <a:cxnLst/>
            <a:rect l="l" t="t" r="r" b="b"/>
            <a:pathLst>
              <a:path w="318329" h="318329">
                <a:moveTo>
                  <a:pt x="159164" y="0"/>
                </a:moveTo>
                <a:lnTo>
                  <a:pt x="159164" y="0"/>
                </a:lnTo>
                <a:cubicBezTo>
                  <a:pt x="247010" y="0"/>
                  <a:pt x="318329" y="71319"/>
                  <a:pt x="318329" y="159164"/>
                </a:cubicBezTo>
                <a:lnTo>
                  <a:pt x="318329" y="159164"/>
                </a:lnTo>
                <a:cubicBezTo>
                  <a:pt x="318329" y="247010"/>
                  <a:pt x="247010" y="318329"/>
                  <a:pt x="159164" y="318329"/>
                </a:cubicBezTo>
                <a:lnTo>
                  <a:pt x="159164" y="318329"/>
                </a:lnTo>
                <a:cubicBezTo>
                  <a:pt x="71319" y="318329"/>
                  <a:pt x="0" y="247010"/>
                  <a:pt x="0" y="159164"/>
                </a:cubicBezTo>
                <a:lnTo>
                  <a:pt x="0" y="159164"/>
                </a:lnTo>
                <a:cubicBezTo>
                  <a:pt x="0" y="71319"/>
                  <a:pt x="71319" y="0"/>
                  <a:pt x="159164" y="0"/>
                </a:cubicBezTo>
                <a:close/>
              </a:path>
            </a:pathLst>
          </a:custGeom>
          <a:solidFill>
            <a:srgbClr val="FF3B30"/>
          </a:solidFill>
          <a:ln/>
        </p:spPr>
      </p:sp>
      <p:sp>
        <p:nvSpPr>
          <p:cNvPr id="10" name="Text 8"/>
          <p:cNvSpPr/>
          <p:nvPr/>
        </p:nvSpPr>
        <p:spPr>
          <a:xfrm>
            <a:off x="543547" y="1518428"/>
            <a:ext cx="389953" cy="318329"/>
          </a:xfrm>
          <a:prstGeom prst="rect">
            <a:avLst/>
          </a:prstGeom>
          <a:noFill/>
          <a:ln/>
        </p:spPr>
        <p:txBody>
          <a:bodyPr wrap="square" lIns="0" tIns="0" rIns="0" bIns="0" rtlCol="0" anchor="ctr"/>
          <a:lstStyle/>
          <a:p>
            <a:pPr algn="ctr">
              <a:lnSpc>
                <a:spcPct val="130000"/>
              </a:lnSpc>
            </a:pPr>
            <a:r>
              <a:rPr lang="en-US" sz="1128" b="1" dirty="0">
                <a:solidFill>
                  <a:srgbClr val="FFFFFF"/>
                </a:solidFill>
                <a:latin typeface="Liter" pitchFamily="34" charset="0"/>
                <a:ea typeface="Liter" pitchFamily="34" charset="-122"/>
                <a:cs typeface="Liter" pitchFamily="34" charset="-120"/>
              </a:rPr>
              <a:t>1</a:t>
            </a:r>
            <a:endParaRPr lang="en-US" sz="1600" dirty="0"/>
          </a:p>
        </p:txBody>
      </p:sp>
      <p:sp>
        <p:nvSpPr>
          <p:cNvPr id="11" name="Text 9"/>
          <p:cNvSpPr/>
          <p:nvPr/>
        </p:nvSpPr>
        <p:spPr>
          <a:xfrm>
            <a:off x="993186" y="1502511"/>
            <a:ext cx="1201692" cy="190997"/>
          </a:xfrm>
          <a:prstGeom prst="rect">
            <a:avLst/>
          </a:prstGeom>
          <a:noFill/>
          <a:ln/>
        </p:spPr>
        <p:txBody>
          <a:bodyPr wrap="square" lIns="0" tIns="0" rIns="0" bIns="0" rtlCol="0" anchor="ctr"/>
          <a:lstStyle/>
          <a:p>
            <a:pPr>
              <a:lnSpc>
                <a:spcPct val="130000"/>
              </a:lnSpc>
            </a:pPr>
            <a:r>
              <a:rPr lang="en-US" sz="1003" b="1" dirty="0">
                <a:solidFill>
                  <a:srgbClr val="1D1D1D"/>
                </a:solidFill>
                <a:latin typeface="Liter" pitchFamily="34" charset="0"/>
                <a:ea typeface="Liter" pitchFamily="34" charset="-122"/>
                <a:cs typeface="Liter" pitchFamily="34" charset="-120"/>
              </a:rPr>
              <a:t>Detection</a:t>
            </a:r>
            <a:endParaRPr lang="en-US" sz="1600" dirty="0"/>
          </a:p>
        </p:txBody>
      </p:sp>
      <p:sp>
        <p:nvSpPr>
          <p:cNvPr id="12" name="Text 10"/>
          <p:cNvSpPr/>
          <p:nvPr/>
        </p:nvSpPr>
        <p:spPr>
          <a:xfrm>
            <a:off x="993186" y="1693509"/>
            <a:ext cx="1193734" cy="159164"/>
          </a:xfrm>
          <a:prstGeom prst="rect">
            <a:avLst/>
          </a:prstGeom>
          <a:noFill/>
          <a:ln/>
        </p:spPr>
        <p:txBody>
          <a:bodyPr wrap="square" lIns="0" tIns="0" rIns="0" bIns="0" rtlCol="0" anchor="ctr"/>
          <a:lstStyle/>
          <a:p>
            <a:pPr>
              <a:lnSpc>
                <a:spcPct val="120000"/>
              </a:lnSpc>
            </a:pPr>
            <a:r>
              <a:rPr lang="en-US" sz="877" dirty="0">
                <a:solidFill>
                  <a:srgbClr val="86868B"/>
                </a:solidFill>
                <a:latin typeface="Liter" pitchFamily="34" charset="0"/>
                <a:ea typeface="Liter" pitchFamily="34" charset="-122"/>
                <a:cs typeface="Liter" pitchFamily="34" charset="-120"/>
              </a:rPr>
              <a:t>IR Flame Sensor (Pin 4)</a:t>
            </a:r>
            <a:endParaRPr lang="en-US" sz="1600" dirty="0"/>
          </a:p>
        </p:txBody>
      </p:sp>
      <p:sp>
        <p:nvSpPr>
          <p:cNvPr id="13" name="Text 11"/>
          <p:cNvSpPr/>
          <p:nvPr/>
        </p:nvSpPr>
        <p:spPr>
          <a:xfrm>
            <a:off x="579359" y="1916339"/>
            <a:ext cx="5268345" cy="183039"/>
          </a:xfrm>
          <a:prstGeom prst="rect">
            <a:avLst/>
          </a:prstGeom>
          <a:noFill/>
          <a:ln/>
        </p:spPr>
        <p:txBody>
          <a:bodyPr wrap="square" lIns="0" tIns="0" rIns="0" bIns="0" rtlCol="0" anchor="ctr"/>
          <a:lstStyle/>
          <a:p>
            <a:pPr>
              <a:lnSpc>
                <a:spcPct val="140000"/>
              </a:lnSpc>
            </a:pPr>
            <a:r>
              <a:rPr lang="en-US" sz="877" dirty="0">
                <a:solidFill>
                  <a:srgbClr val="86868B"/>
                </a:solidFill>
                <a:latin typeface="Liter" pitchFamily="34" charset="0"/>
                <a:ea typeface="Liter" pitchFamily="34" charset="-122"/>
                <a:cs typeface="Liter" pitchFamily="34" charset="-120"/>
              </a:rPr>
              <a:t>Sensor detects fire (Active HIGH), sets fireActive = true, sends 'F' to Remote Module every 1000ms.</a:t>
            </a:r>
            <a:endParaRPr lang="en-US" sz="1600" dirty="0"/>
          </a:p>
        </p:txBody>
      </p:sp>
      <p:sp>
        <p:nvSpPr>
          <p:cNvPr id="14" name="Shape 12"/>
          <p:cNvSpPr/>
          <p:nvPr/>
        </p:nvSpPr>
        <p:spPr>
          <a:xfrm>
            <a:off x="467944" y="2288386"/>
            <a:ext cx="5419551" cy="787864"/>
          </a:xfrm>
          <a:custGeom>
            <a:avLst/>
            <a:gdLst/>
            <a:ahLst/>
            <a:cxnLst/>
            <a:rect l="l" t="t" r="r" b="b"/>
            <a:pathLst>
              <a:path w="5419551" h="787864">
                <a:moveTo>
                  <a:pt x="31833" y="0"/>
                </a:moveTo>
                <a:lnTo>
                  <a:pt x="5355884" y="0"/>
                </a:lnTo>
                <a:cubicBezTo>
                  <a:pt x="5391046" y="0"/>
                  <a:pt x="5419551" y="28505"/>
                  <a:pt x="5419551" y="63667"/>
                </a:cubicBezTo>
                <a:lnTo>
                  <a:pt x="5419551" y="724197"/>
                </a:lnTo>
                <a:cubicBezTo>
                  <a:pt x="5419551" y="759359"/>
                  <a:pt x="5391046" y="787864"/>
                  <a:pt x="5355884" y="787864"/>
                </a:cubicBezTo>
                <a:lnTo>
                  <a:pt x="31833" y="787864"/>
                </a:lnTo>
                <a:cubicBezTo>
                  <a:pt x="14252" y="787864"/>
                  <a:pt x="0" y="773612"/>
                  <a:pt x="0" y="756031"/>
                </a:cubicBezTo>
                <a:lnTo>
                  <a:pt x="0" y="31833"/>
                </a:lnTo>
                <a:cubicBezTo>
                  <a:pt x="0" y="14252"/>
                  <a:pt x="14252" y="0"/>
                  <a:pt x="31833" y="0"/>
                </a:cubicBezTo>
                <a:close/>
              </a:path>
            </a:pathLst>
          </a:custGeom>
          <a:solidFill>
            <a:srgbClr val="FF9500">
              <a:alpha val="5098"/>
            </a:srgbClr>
          </a:solidFill>
          <a:ln/>
        </p:spPr>
      </p:sp>
      <p:sp>
        <p:nvSpPr>
          <p:cNvPr id="15" name="Shape 13"/>
          <p:cNvSpPr/>
          <p:nvPr/>
        </p:nvSpPr>
        <p:spPr>
          <a:xfrm>
            <a:off x="467944" y="2288386"/>
            <a:ext cx="31833" cy="787864"/>
          </a:xfrm>
          <a:custGeom>
            <a:avLst/>
            <a:gdLst/>
            <a:ahLst/>
            <a:cxnLst/>
            <a:rect l="l" t="t" r="r" b="b"/>
            <a:pathLst>
              <a:path w="31833" h="787864">
                <a:moveTo>
                  <a:pt x="31833" y="0"/>
                </a:moveTo>
                <a:lnTo>
                  <a:pt x="31833" y="0"/>
                </a:lnTo>
                <a:lnTo>
                  <a:pt x="31833" y="787864"/>
                </a:lnTo>
                <a:lnTo>
                  <a:pt x="31833" y="787864"/>
                </a:lnTo>
                <a:cubicBezTo>
                  <a:pt x="14252" y="787864"/>
                  <a:pt x="0" y="773612"/>
                  <a:pt x="0" y="756031"/>
                </a:cubicBezTo>
                <a:lnTo>
                  <a:pt x="0" y="31833"/>
                </a:lnTo>
                <a:cubicBezTo>
                  <a:pt x="0" y="14252"/>
                  <a:pt x="14252" y="0"/>
                  <a:pt x="31833" y="0"/>
                </a:cubicBezTo>
                <a:close/>
              </a:path>
            </a:pathLst>
          </a:custGeom>
          <a:solidFill>
            <a:srgbClr val="FF9500"/>
          </a:solidFill>
          <a:ln/>
        </p:spPr>
      </p:sp>
      <p:sp>
        <p:nvSpPr>
          <p:cNvPr id="16" name="Shape 14"/>
          <p:cNvSpPr/>
          <p:nvPr/>
        </p:nvSpPr>
        <p:spPr>
          <a:xfrm>
            <a:off x="579359" y="2399801"/>
            <a:ext cx="318329" cy="318329"/>
          </a:xfrm>
          <a:custGeom>
            <a:avLst/>
            <a:gdLst/>
            <a:ahLst/>
            <a:cxnLst/>
            <a:rect l="l" t="t" r="r" b="b"/>
            <a:pathLst>
              <a:path w="318329" h="318329">
                <a:moveTo>
                  <a:pt x="159164" y="0"/>
                </a:moveTo>
                <a:lnTo>
                  <a:pt x="159164" y="0"/>
                </a:lnTo>
                <a:cubicBezTo>
                  <a:pt x="247010" y="0"/>
                  <a:pt x="318329" y="71319"/>
                  <a:pt x="318329" y="159164"/>
                </a:cubicBezTo>
                <a:lnTo>
                  <a:pt x="318329" y="159164"/>
                </a:lnTo>
                <a:cubicBezTo>
                  <a:pt x="318329" y="247010"/>
                  <a:pt x="247010" y="318329"/>
                  <a:pt x="159164" y="318329"/>
                </a:cubicBezTo>
                <a:lnTo>
                  <a:pt x="159164" y="318329"/>
                </a:lnTo>
                <a:cubicBezTo>
                  <a:pt x="71319" y="318329"/>
                  <a:pt x="0" y="247010"/>
                  <a:pt x="0" y="159164"/>
                </a:cubicBezTo>
                <a:lnTo>
                  <a:pt x="0" y="159164"/>
                </a:lnTo>
                <a:cubicBezTo>
                  <a:pt x="0" y="71319"/>
                  <a:pt x="71319" y="0"/>
                  <a:pt x="159164" y="0"/>
                </a:cubicBezTo>
                <a:close/>
              </a:path>
            </a:pathLst>
          </a:custGeom>
          <a:solidFill>
            <a:srgbClr val="FF9500"/>
          </a:solidFill>
          <a:ln/>
        </p:spPr>
      </p:sp>
      <p:sp>
        <p:nvSpPr>
          <p:cNvPr id="17" name="Text 15"/>
          <p:cNvSpPr/>
          <p:nvPr/>
        </p:nvSpPr>
        <p:spPr>
          <a:xfrm>
            <a:off x="543547" y="2399801"/>
            <a:ext cx="389953" cy="318329"/>
          </a:xfrm>
          <a:prstGeom prst="rect">
            <a:avLst/>
          </a:prstGeom>
          <a:noFill/>
          <a:ln/>
        </p:spPr>
        <p:txBody>
          <a:bodyPr wrap="square" lIns="0" tIns="0" rIns="0" bIns="0" rtlCol="0" anchor="ctr"/>
          <a:lstStyle/>
          <a:p>
            <a:pPr algn="ctr">
              <a:lnSpc>
                <a:spcPct val="130000"/>
              </a:lnSpc>
            </a:pPr>
            <a:r>
              <a:rPr lang="en-US" sz="1128" b="1" dirty="0">
                <a:solidFill>
                  <a:srgbClr val="FFFFFF"/>
                </a:solidFill>
                <a:latin typeface="Liter" pitchFamily="34" charset="0"/>
                <a:ea typeface="Liter" pitchFamily="34" charset="-122"/>
                <a:cs typeface="Liter" pitchFamily="34" charset="-120"/>
              </a:rPr>
              <a:t>2</a:t>
            </a:r>
            <a:endParaRPr lang="en-US" sz="1600" dirty="0"/>
          </a:p>
        </p:txBody>
      </p:sp>
      <p:sp>
        <p:nvSpPr>
          <p:cNvPr id="18" name="Text 16"/>
          <p:cNvSpPr/>
          <p:nvPr/>
        </p:nvSpPr>
        <p:spPr>
          <a:xfrm>
            <a:off x="993186" y="2383885"/>
            <a:ext cx="1321065" cy="190997"/>
          </a:xfrm>
          <a:prstGeom prst="rect">
            <a:avLst/>
          </a:prstGeom>
          <a:noFill/>
          <a:ln/>
        </p:spPr>
        <p:txBody>
          <a:bodyPr wrap="square" lIns="0" tIns="0" rIns="0" bIns="0" rtlCol="0" anchor="ctr"/>
          <a:lstStyle/>
          <a:p>
            <a:pPr>
              <a:lnSpc>
                <a:spcPct val="130000"/>
              </a:lnSpc>
            </a:pPr>
            <a:r>
              <a:rPr lang="en-US" sz="1003" b="1" dirty="0">
                <a:solidFill>
                  <a:srgbClr val="1D1D1D"/>
                </a:solidFill>
                <a:latin typeface="Liter" pitchFamily="34" charset="0"/>
                <a:ea typeface="Liter" pitchFamily="34" charset="-122"/>
                <a:cs typeface="Liter" pitchFamily="34" charset="-120"/>
              </a:rPr>
              <a:t>Awaiting Confirmation</a:t>
            </a:r>
            <a:endParaRPr lang="en-US" sz="1600" dirty="0"/>
          </a:p>
        </p:txBody>
      </p:sp>
      <p:sp>
        <p:nvSpPr>
          <p:cNvPr id="19" name="Text 17"/>
          <p:cNvSpPr/>
          <p:nvPr/>
        </p:nvSpPr>
        <p:spPr>
          <a:xfrm>
            <a:off x="993186" y="2574882"/>
            <a:ext cx="1313107" cy="159164"/>
          </a:xfrm>
          <a:prstGeom prst="rect">
            <a:avLst/>
          </a:prstGeom>
          <a:noFill/>
          <a:ln/>
        </p:spPr>
        <p:txBody>
          <a:bodyPr wrap="square" lIns="0" tIns="0" rIns="0" bIns="0" rtlCol="0" anchor="ctr"/>
          <a:lstStyle/>
          <a:p>
            <a:pPr>
              <a:lnSpc>
                <a:spcPct val="120000"/>
              </a:lnSpc>
            </a:pPr>
            <a:r>
              <a:rPr lang="en-US" sz="877" dirty="0">
                <a:solidFill>
                  <a:srgbClr val="86868B"/>
                </a:solidFill>
                <a:latin typeface="Liter" pitchFamily="34" charset="0"/>
                <a:ea typeface="Liter" pitchFamily="34" charset="-122"/>
                <a:cs typeface="Liter" pitchFamily="34" charset="-120"/>
              </a:rPr>
              <a:t>Human-in-the-Loop</a:t>
            </a:r>
            <a:endParaRPr lang="en-US" sz="1600" dirty="0"/>
          </a:p>
        </p:txBody>
      </p:sp>
      <p:sp>
        <p:nvSpPr>
          <p:cNvPr id="20" name="Text 18"/>
          <p:cNvSpPr/>
          <p:nvPr/>
        </p:nvSpPr>
        <p:spPr>
          <a:xfrm>
            <a:off x="579359" y="2797712"/>
            <a:ext cx="5268345" cy="183039"/>
          </a:xfrm>
          <a:prstGeom prst="rect">
            <a:avLst/>
          </a:prstGeom>
          <a:noFill/>
          <a:ln/>
        </p:spPr>
        <p:txBody>
          <a:bodyPr wrap="square" lIns="0" tIns="0" rIns="0" bIns="0" rtlCol="0" anchor="ctr"/>
          <a:lstStyle/>
          <a:p>
            <a:pPr>
              <a:lnSpc>
                <a:spcPct val="140000"/>
              </a:lnSpc>
            </a:pPr>
            <a:r>
              <a:rPr lang="en-US" sz="877" dirty="0">
                <a:solidFill>
                  <a:srgbClr val="86868B"/>
                </a:solidFill>
                <a:latin typeface="Liter" pitchFamily="34" charset="0"/>
                <a:ea typeface="Liter" pitchFamily="34" charset="-122"/>
                <a:cs typeface="Liter" pitchFamily="34" charset="-120"/>
              </a:rPr>
              <a:t>Blocks other inputs until "ACK" or "STOP" received from user via touch sensors.</a:t>
            </a:r>
            <a:endParaRPr lang="en-US" sz="1600" dirty="0"/>
          </a:p>
        </p:txBody>
      </p:sp>
      <p:sp>
        <p:nvSpPr>
          <p:cNvPr id="21" name="Shape 19"/>
          <p:cNvSpPr/>
          <p:nvPr/>
        </p:nvSpPr>
        <p:spPr>
          <a:xfrm>
            <a:off x="467944" y="3169759"/>
            <a:ext cx="5419551" cy="787864"/>
          </a:xfrm>
          <a:custGeom>
            <a:avLst/>
            <a:gdLst/>
            <a:ahLst/>
            <a:cxnLst/>
            <a:rect l="l" t="t" r="r" b="b"/>
            <a:pathLst>
              <a:path w="5419551" h="787864">
                <a:moveTo>
                  <a:pt x="31833" y="0"/>
                </a:moveTo>
                <a:lnTo>
                  <a:pt x="5355884" y="0"/>
                </a:lnTo>
                <a:cubicBezTo>
                  <a:pt x="5391046" y="0"/>
                  <a:pt x="5419551" y="28505"/>
                  <a:pt x="5419551" y="63667"/>
                </a:cubicBezTo>
                <a:lnTo>
                  <a:pt x="5419551" y="724197"/>
                </a:lnTo>
                <a:cubicBezTo>
                  <a:pt x="5419551" y="759359"/>
                  <a:pt x="5391046" y="787864"/>
                  <a:pt x="5355884" y="787864"/>
                </a:cubicBezTo>
                <a:lnTo>
                  <a:pt x="31833" y="787864"/>
                </a:lnTo>
                <a:cubicBezTo>
                  <a:pt x="14252" y="787864"/>
                  <a:pt x="0" y="773612"/>
                  <a:pt x="0" y="756031"/>
                </a:cubicBezTo>
                <a:lnTo>
                  <a:pt x="0" y="31833"/>
                </a:lnTo>
                <a:cubicBezTo>
                  <a:pt x="0" y="14252"/>
                  <a:pt x="14252" y="0"/>
                  <a:pt x="31833" y="0"/>
                </a:cubicBezTo>
                <a:close/>
              </a:path>
            </a:pathLst>
          </a:custGeom>
          <a:solidFill>
            <a:srgbClr val="34C759">
              <a:alpha val="5098"/>
            </a:srgbClr>
          </a:solidFill>
          <a:ln/>
        </p:spPr>
      </p:sp>
      <p:sp>
        <p:nvSpPr>
          <p:cNvPr id="22" name="Shape 20"/>
          <p:cNvSpPr/>
          <p:nvPr/>
        </p:nvSpPr>
        <p:spPr>
          <a:xfrm>
            <a:off x="467944" y="3169759"/>
            <a:ext cx="31833" cy="787864"/>
          </a:xfrm>
          <a:custGeom>
            <a:avLst/>
            <a:gdLst/>
            <a:ahLst/>
            <a:cxnLst/>
            <a:rect l="l" t="t" r="r" b="b"/>
            <a:pathLst>
              <a:path w="31833" h="787864">
                <a:moveTo>
                  <a:pt x="31833" y="0"/>
                </a:moveTo>
                <a:lnTo>
                  <a:pt x="31833" y="0"/>
                </a:lnTo>
                <a:lnTo>
                  <a:pt x="31833" y="787864"/>
                </a:lnTo>
                <a:lnTo>
                  <a:pt x="31833" y="787864"/>
                </a:lnTo>
                <a:cubicBezTo>
                  <a:pt x="14252" y="787864"/>
                  <a:pt x="0" y="773612"/>
                  <a:pt x="0" y="756031"/>
                </a:cubicBezTo>
                <a:lnTo>
                  <a:pt x="0" y="31833"/>
                </a:lnTo>
                <a:cubicBezTo>
                  <a:pt x="0" y="14252"/>
                  <a:pt x="14252" y="0"/>
                  <a:pt x="31833" y="0"/>
                </a:cubicBezTo>
                <a:close/>
              </a:path>
            </a:pathLst>
          </a:custGeom>
          <a:solidFill>
            <a:srgbClr val="34C759"/>
          </a:solidFill>
          <a:ln/>
        </p:spPr>
      </p:sp>
      <p:sp>
        <p:nvSpPr>
          <p:cNvPr id="23" name="Shape 21"/>
          <p:cNvSpPr/>
          <p:nvPr/>
        </p:nvSpPr>
        <p:spPr>
          <a:xfrm>
            <a:off x="579359" y="3281174"/>
            <a:ext cx="318329" cy="318329"/>
          </a:xfrm>
          <a:custGeom>
            <a:avLst/>
            <a:gdLst/>
            <a:ahLst/>
            <a:cxnLst/>
            <a:rect l="l" t="t" r="r" b="b"/>
            <a:pathLst>
              <a:path w="318329" h="318329">
                <a:moveTo>
                  <a:pt x="159164" y="0"/>
                </a:moveTo>
                <a:lnTo>
                  <a:pt x="159164" y="0"/>
                </a:lnTo>
                <a:cubicBezTo>
                  <a:pt x="247010" y="0"/>
                  <a:pt x="318329" y="71319"/>
                  <a:pt x="318329" y="159164"/>
                </a:cubicBezTo>
                <a:lnTo>
                  <a:pt x="318329" y="159164"/>
                </a:lnTo>
                <a:cubicBezTo>
                  <a:pt x="318329" y="247010"/>
                  <a:pt x="247010" y="318329"/>
                  <a:pt x="159164" y="318329"/>
                </a:cubicBezTo>
                <a:lnTo>
                  <a:pt x="159164" y="318329"/>
                </a:lnTo>
                <a:cubicBezTo>
                  <a:pt x="71319" y="318329"/>
                  <a:pt x="0" y="247010"/>
                  <a:pt x="0" y="159164"/>
                </a:cubicBezTo>
                <a:lnTo>
                  <a:pt x="0" y="159164"/>
                </a:lnTo>
                <a:cubicBezTo>
                  <a:pt x="0" y="71319"/>
                  <a:pt x="71319" y="0"/>
                  <a:pt x="159164" y="0"/>
                </a:cubicBezTo>
                <a:close/>
              </a:path>
            </a:pathLst>
          </a:custGeom>
          <a:solidFill>
            <a:srgbClr val="34C759"/>
          </a:solidFill>
          <a:ln/>
        </p:spPr>
      </p:sp>
      <p:sp>
        <p:nvSpPr>
          <p:cNvPr id="24" name="Text 22"/>
          <p:cNvSpPr/>
          <p:nvPr/>
        </p:nvSpPr>
        <p:spPr>
          <a:xfrm>
            <a:off x="543547" y="3281174"/>
            <a:ext cx="389953" cy="318329"/>
          </a:xfrm>
          <a:prstGeom prst="rect">
            <a:avLst/>
          </a:prstGeom>
          <a:noFill/>
          <a:ln/>
        </p:spPr>
        <p:txBody>
          <a:bodyPr wrap="square" lIns="0" tIns="0" rIns="0" bIns="0" rtlCol="0" anchor="ctr"/>
          <a:lstStyle/>
          <a:p>
            <a:pPr algn="ctr">
              <a:lnSpc>
                <a:spcPct val="130000"/>
              </a:lnSpc>
            </a:pPr>
            <a:r>
              <a:rPr lang="en-US" sz="1128" b="1" dirty="0">
                <a:solidFill>
                  <a:srgbClr val="FFFFFF"/>
                </a:solidFill>
                <a:latin typeface="Liter" pitchFamily="34" charset="0"/>
                <a:ea typeface="Liter" pitchFamily="34" charset="-122"/>
                <a:cs typeface="Liter" pitchFamily="34" charset="-120"/>
              </a:rPr>
              <a:t>3</a:t>
            </a:r>
            <a:endParaRPr lang="en-US" sz="1600" dirty="0"/>
          </a:p>
        </p:txBody>
      </p:sp>
      <p:sp>
        <p:nvSpPr>
          <p:cNvPr id="25" name="Text 23"/>
          <p:cNvSpPr/>
          <p:nvPr/>
        </p:nvSpPr>
        <p:spPr>
          <a:xfrm>
            <a:off x="993186" y="3265258"/>
            <a:ext cx="1130068" cy="190997"/>
          </a:xfrm>
          <a:prstGeom prst="rect">
            <a:avLst/>
          </a:prstGeom>
          <a:noFill/>
          <a:ln/>
        </p:spPr>
        <p:txBody>
          <a:bodyPr wrap="square" lIns="0" tIns="0" rIns="0" bIns="0" rtlCol="0" anchor="ctr"/>
          <a:lstStyle/>
          <a:p>
            <a:pPr>
              <a:lnSpc>
                <a:spcPct val="130000"/>
              </a:lnSpc>
            </a:pPr>
            <a:r>
              <a:rPr lang="en-US" sz="1003" b="1" dirty="0">
                <a:solidFill>
                  <a:srgbClr val="1D1D1D"/>
                </a:solidFill>
                <a:latin typeface="Liter" pitchFamily="34" charset="0"/>
                <a:ea typeface="Liter" pitchFamily="34" charset="-122"/>
                <a:cs typeface="Liter" pitchFamily="34" charset="-120"/>
              </a:rPr>
              <a:t>Action (On ACK)</a:t>
            </a:r>
            <a:endParaRPr lang="en-US" sz="1600" dirty="0"/>
          </a:p>
        </p:txBody>
      </p:sp>
      <p:sp>
        <p:nvSpPr>
          <p:cNvPr id="26" name="Text 24"/>
          <p:cNvSpPr/>
          <p:nvPr/>
        </p:nvSpPr>
        <p:spPr>
          <a:xfrm>
            <a:off x="993186" y="3456255"/>
            <a:ext cx="1122110" cy="159164"/>
          </a:xfrm>
          <a:prstGeom prst="rect">
            <a:avLst/>
          </a:prstGeom>
          <a:noFill/>
          <a:ln/>
        </p:spPr>
        <p:txBody>
          <a:bodyPr wrap="square" lIns="0" tIns="0" rIns="0" bIns="0" rtlCol="0" anchor="ctr"/>
          <a:lstStyle/>
          <a:p>
            <a:pPr>
              <a:lnSpc>
                <a:spcPct val="120000"/>
              </a:lnSpc>
            </a:pPr>
            <a:r>
              <a:rPr lang="en-US" sz="877" dirty="0">
                <a:solidFill>
                  <a:srgbClr val="86868B"/>
                </a:solidFill>
                <a:latin typeface="Liter" pitchFamily="34" charset="0"/>
                <a:ea typeface="Liter" pitchFamily="34" charset="-122"/>
                <a:cs typeface="Liter" pitchFamily="34" charset="-120"/>
              </a:rPr>
              <a:t>Emergency Response</a:t>
            </a:r>
            <a:endParaRPr lang="en-US" sz="1600" dirty="0"/>
          </a:p>
        </p:txBody>
      </p:sp>
      <p:sp>
        <p:nvSpPr>
          <p:cNvPr id="27" name="Text 25"/>
          <p:cNvSpPr/>
          <p:nvPr/>
        </p:nvSpPr>
        <p:spPr>
          <a:xfrm>
            <a:off x="579359" y="3679086"/>
            <a:ext cx="5268345" cy="183039"/>
          </a:xfrm>
          <a:prstGeom prst="rect">
            <a:avLst/>
          </a:prstGeom>
          <a:noFill/>
          <a:ln/>
        </p:spPr>
        <p:txBody>
          <a:bodyPr wrap="square" lIns="0" tIns="0" rIns="0" bIns="0" rtlCol="0" anchor="ctr"/>
          <a:lstStyle/>
          <a:p>
            <a:pPr>
              <a:lnSpc>
                <a:spcPct val="140000"/>
              </a:lnSpc>
            </a:pPr>
            <a:r>
              <a:rPr lang="en-US" sz="877" dirty="0">
                <a:solidFill>
                  <a:srgbClr val="86868B"/>
                </a:solidFill>
                <a:latin typeface="Liter" pitchFamily="34" charset="0"/>
                <a:ea typeface="Liter" pitchFamily="34" charset="-122"/>
                <a:cs typeface="Liter" pitchFamily="34" charset="-120"/>
              </a:rPr>
              <a:t>Opens door (Servo 90°), triggers Blynk notification, displays "Alert Confirmed" on OLED.</a:t>
            </a:r>
            <a:endParaRPr lang="en-US" sz="1600" dirty="0"/>
          </a:p>
        </p:txBody>
      </p:sp>
      <p:sp>
        <p:nvSpPr>
          <p:cNvPr id="28" name="Shape 26"/>
          <p:cNvSpPr/>
          <p:nvPr/>
        </p:nvSpPr>
        <p:spPr>
          <a:xfrm>
            <a:off x="318329" y="4216662"/>
            <a:ext cx="5698089" cy="2284010"/>
          </a:xfrm>
          <a:custGeom>
            <a:avLst/>
            <a:gdLst/>
            <a:ahLst/>
            <a:cxnLst/>
            <a:rect l="l" t="t" r="r" b="b"/>
            <a:pathLst>
              <a:path w="5698089" h="2284010">
                <a:moveTo>
                  <a:pt x="95494" y="0"/>
                </a:moveTo>
                <a:lnTo>
                  <a:pt x="5602594" y="0"/>
                </a:lnTo>
                <a:cubicBezTo>
                  <a:pt x="5655334" y="0"/>
                  <a:pt x="5698089" y="42754"/>
                  <a:pt x="5698089" y="95494"/>
                </a:cubicBezTo>
                <a:lnTo>
                  <a:pt x="5698089" y="2188516"/>
                </a:lnTo>
                <a:cubicBezTo>
                  <a:pt x="5698089" y="2241256"/>
                  <a:pt x="5655334" y="2284010"/>
                  <a:pt x="5602594" y="2284010"/>
                </a:cubicBezTo>
                <a:lnTo>
                  <a:pt x="95494" y="2284010"/>
                </a:lnTo>
                <a:cubicBezTo>
                  <a:pt x="42754" y="2284010"/>
                  <a:pt x="0" y="2241256"/>
                  <a:pt x="0" y="2188516"/>
                </a:cubicBezTo>
                <a:lnTo>
                  <a:pt x="0" y="95494"/>
                </a:lnTo>
                <a:cubicBezTo>
                  <a:pt x="0" y="42790"/>
                  <a:pt x="42790" y="0"/>
                  <a:pt x="95494" y="0"/>
                </a:cubicBezTo>
                <a:close/>
              </a:path>
            </a:pathLst>
          </a:custGeom>
          <a:solidFill>
            <a:srgbClr val="1D1D1D"/>
          </a:solidFill>
          <a:ln/>
        </p:spPr>
      </p:sp>
      <p:sp>
        <p:nvSpPr>
          <p:cNvPr id="29" name="Shape 27"/>
          <p:cNvSpPr/>
          <p:nvPr/>
        </p:nvSpPr>
        <p:spPr>
          <a:xfrm>
            <a:off x="456603" y="4383785"/>
            <a:ext cx="161154" cy="143248"/>
          </a:xfrm>
          <a:custGeom>
            <a:avLst/>
            <a:gdLst/>
            <a:ahLst/>
            <a:cxnLst/>
            <a:rect l="l" t="t" r="r" b="b"/>
            <a:pathLst>
              <a:path w="161154" h="143248">
                <a:moveTo>
                  <a:pt x="100945" y="336"/>
                </a:moveTo>
                <a:cubicBezTo>
                  <a:pt x="96189" y="-1035"/>
                  <a:pt x="91237" y="1735"/>
                  <a:pt x="89866" y="6491"/>
                </a:cubicBezTo>
                <a:lnTo>
                  <a:pt x="54054" y="131833"/>
                </a:lnTo>
                <a:cubicBezTo>
                  <a:pt x="52683" y="136589"/>
                  <a:pt x="55453" y="141541"/>
                  <a:pt x="60209" y="142912"/>
                </a:cubicBezTo>
                <a:cubicBezTo>
                  <a:pt x="64965" y="144283"/>
                  <a:pt x="69917" y="141513"/>
                  <a:pt x="71288" y="136757"/>
                </a:cubicBezTo>
                <a:lnTo>
                  <a:pt x="107100" y="11415"/>
                </a:lnTo>
                <a:cubicBezTo>
                  <a:pt x="108471" y="6659"/>
                  <a:pt x="105701" y="1707"/>
                  <a:pt x="100945" y="336"/>
                </a:cubicBezTo>
                <a:close/>
                <a:moveTo>
                  <a:pt x="119019" y="38414"/>
                </a:moveTo>
                <a:cubicBezTo>
                  <a:pt x="115522" y="41911"/>
                  <a:pt x="115522" y="47591"/>
                  <a:pt x="119019" y="51088"/>
                </a:cubicBezTo>
                <a:lnTo>
                  <a:pt x="139555" y="71624"/>
                </a:lnTo>
                <a:lnTo>
                  <a:pt x="119019" y="92160"/>
                </a:lnTo>
                <a:cubicBezTo>
                  <a:pt x="115522" y="95657"/>
                  <a:pt x="115522" y="101337"/>
                  <a:pt x="119019" y="104834"/>
                </a:cubicBezTo>
                <a:cubicBezTo>
                  <a:pt x="122516" y="108331"/>
                  <a:pt x="128196" y="108331"/>
                  <a:pt x="131693" y="104834"/>
                </a:cubicBezTo>
                <a:lnTo>
                  <a:pt x="158552" y="77975"/>
                </a:lnTo>
                <a:cubicBezTo>
                  <a:pt x="162049" y="74478"/>
                  <a:pt x="162049" y="68798"/>
                  <a:pt x="158552" y="65301"/>
                </a:cubicBezTo>
                <a:lnTo>
                  <a:pt x="131693" y="38442"/>
                </a:lnTo>
                <a:cubicBezTo>
                  <a:pt x="128196" y="34945"/>
                  <a:pt x="122516" y="34945"/>
                  <a:pt x="119019" y="38442"/>
                </a:cubicBezTo>
                <a:close/>
                <a:moveTo>
                  <a:pt x="42163" y="38414"/>
                </a:moveTo>
                <a:cubicBezTo>
                  <a:pt x="38666" y="34917"/>
                  <a:pt x="32986" y="34917"/>
                  <a:pt x="29489" y="38414"/>
                </a:cubicBezTo>
                <a:lnTo>
                  <a:pt x="2630" y="65273"/>
                </a:lnTo>
                <a:cubicBezTo>
                  <a:pt x="-867" y="68770"/>
                  <a:pt x="-867" y="74450"/>
                  <a:pt x="2630" y="77947"/>
                </a:cubicBezTo>
                <a:lnTo>
                  <a:pt x="29489" y="104806"/>
                </a:lnTo>
                <a:cubicBezTo>
                  <a:pt x="32986" y="108303"/>
                  <a:pt x="38666" y="108303"/>
                  <a:pt x="42163" y="104806"/>
                </a:cubicBezTo>
                <a:cubicBezTo>
                  <a:pt x="45660" y="101309"/>
                  <a:pt x="45660" y="95629"/>
                  <a:pt x="42163" y="92132"/>
                </a:cubicBezTo>
                <a:lnTo>
                  <a:pt x="21627" y="71624"/>
                </a:lnTo>
                <a:lnTo>
                  <a:pt x="42135" y="51088"/>
                </a:lnTo>
                <a:cubicBezTo>
                  <a:pt x="45632" y="47591"/>
                  <a:pt x="45632" y="41911"/>
                  <a:pt x="42135" y="38414"/>
                </a:cubicBezTo>
                <a:close/>
              </a:path>
            </a:pathLst>
          </a:custGeom>
          <a:solidFill>
            <a:srgbClr val="0071E3"/>
          </a:solidFill>
          <a:ln/>
        </p:spPr>
      </p:sp>
      <p:sp>
        <p:nvSpPr>
          <p:cNvPr id="30" name="Text 28"/>
          <p:cNvSpPr/>
          <p:nvPr/>
        </p:nvSpPr>
        <p:spPr>
          <a:xfrm>
            <a:off x="628700" y="4343994"/>
            <a:ext cx="5332010" cy="222830"/>
          </a:xfrm>
          <a:prstGeom prst="rect">
            <a:avLst/>
          </a:prstGeom>
          <a:noFill/>
          <a:ln/>
        </p:spPr>
        <p:txBody>
          <a:bodyPr wrap="square" lIns="0" tIns="0" rIns="0" bIns="0" rtlCol="0" anchor="ctr"/>
          <a:lstStyle/>
          <a:p>
            <a:pPr>
              <a:lnSpc>
                <a:spcPct val="130000"/>
              </a:lnSpc>
            </a:pPr>
            <a:r>
              <a:rPr lang="en-US" sz="1128" b="1" dirty="0">
                <a:solidFill>
                  <a:srgbClr val="FFFFFF"/>
                </a:solidFill>
                <a:latin typeface="Liter" pitchFamily="34" charset="0"/>
                <a:ea typeface="Liter" pitchFamily="34" charset="-122"/>
                <a:cs typeface="Liter" pitchFamily="34" charset="-120"/>
              </a:rPr>
              <a:t>Fire Detection Loop (Lines 638-647)</a:t>
            </a:r>
            <a:endParaRPr lang="en-US" sz="1600" dirty="0"/>
          </a:p>
        </p:txBody>
      </p:sp>
      <p:sp>
        <p:nvSpPr>
          <p:cNvPr id="31" name="Shape 29"/>
          <p:cNvSpPr/>
          <p:nvPr/>
        </p:nvSpPr>
        <p:spPr>
          <a:xfrm>
            <a:off x="445661" y="4630490"/>
            <a:ext cx="5443426" cy="1742851"/>
          </a:xfrm>
          <a:custGeom>
            <a:avLst/>
            <a:gdLst/>
            <a:ahLst/>
            <a:cxnLst/>
            <a:rect l="l" t="t" r="r" b="b"/>
            <a:pathLst>
              <a:path w="5443426" h="1742851">
                <a:moveTo>
                  <a:pt x="63666" y="0"/>
                </a:moveTo>
                <a:lnTo>
                  <a:pt x="5379759" y="0"/>
                </a:lnTo>
                <a:cubicBezTo>
                  <a:pt x="5414921" y="0"/>
                  <a:pt x="5443426" y="28504"/>
                  <a:pt x="5443426" y="63666"/>
                </a:cubicBezTo>
                <a:lnTo>
                  <a:pt x="5443426" y="1679185"/>
                </a:lnTo>
                <a:cubicBezTo>
                  <a:pt x="5443426" y="1714347"/>
                  <a:pt x="5414921" y="1742851"/>
                  <a:pt x="5379759" y="1742851"/>
                </a:cubicBezTo>
                <a:lnTo>
                  <a:pt x="63666" y="1742851"/>
                </a:lnTo>
                <a:cubicBezTo>
                  <a:pt x="28504" y="1742851"/>
                  <a:pt x="0" y="1714347"/>
                  <a:pt x="0" y="1679185"/>
                </a:cubicBezTo>
                <a:lnTo>
                  <a:pt x="0" y="63666"/>
                </a:lnTo>
                <a:cubicBezTo>
                  <a:pt x="0" y="28528"/>
                  <a:pt x="28528" y="0"/>
                  <a:pt x="63666" y="0"/>
                </a:cubicBezTo>
                <a:close/>
              </a:path>
            </a:pathLst>
          </a:custGeom>
          <a:solidFill>
            <a:srgbClr val="2D2D2D"/>
          </a:solidFill>
          <a:ln/>
        </p:spPr>
      </p:sp>
      <p:sp>
        <p:nvSpPr>
          <p:cNvPr id="32" name="Text 30"/>
          <p:cNvSpPr/>
          <p:nvPr/>
        </p:nvSpPr>
        <p:spPr>
          <a:xfrm>
            <a:off x="572992" y="4725989"/>
            <a:ext cx="5240491" cy="159164"/>
          </a:xfrm>
          <a:prstGeom prst="rect">
            <a:avLst/>
          </a:prstGeom>
          <a:noFill/>
          <a:ln/>
        </p:spPr>
        <p:txBody>
          <a:bodyPr wrap="square" lIns="0" tIns="0" rIns="0" bIns="0" rtlCol="0" anchor="ctr"/>
          <a:lstStyle/>
          <a:p>
            <a:pPr>
              <a:lnSpc>
                <a:spcPct val="130000"/>
              </a:lnSpc>
            </a:pPr>
            <a:r>
              <a:rPr lang="en-US" sz="815" dirty="0">
                <a:solidFill>
                  <a:srgbClr val="0071E3"/>
                </a:solidFill>
                <a:latin typeface="MiSans" pitchFamily="34" charset="0"/>
                <a:ea typeface="MiSans" pitchFamily="34" charset="-122"/>
                <a:cs typeface="MiSans" pitchFamily="34" charset="-120"/>
              </a:rPr>
              <a:t>if</a:t>
            </a:r>
            <a:r>
              <a:rPr lang="en-US" sz="815" dirty="0">
                <a:solidFill>
                  <a:srgbClr val="FFFFFF"/>
                </a:solidFill>
                <a:latin typeface="MiSans" pitchFamily="34" charset="0"/>
                <a:ea typeface="MiSans" pitchFamily="34" charset="-122"/>
                <a:cs typeface="MiSans" pitchFamily="34" charset="-120"/>
              </a:rPr>
              <a:t> (digitalRead(FLAME_PIN) == HIGH) {</a:t>
            </a:r>
            <a:endParaRPr lang="en-US" sz="1600" dirty="0"/>
          </a:p>
        </p:txBody>
      </p:sp>
      <p:sp>
        <p:nvSpPr>
          <p:cNvPr id="33" name="Text 31"/>
          <p:cNvSpPr/>
          <p:nvPr/>
        </p:nvSpPr>
        <p:spPr>
          <a:xfrm>
            <a:off x="572992" y="4881174"/>
            <a:ext cx="5240491" cy="159164"/>
          </a:xfrm>
          <a:prstGeom prst="rect">
            <a:avLst/>
          </a:prstGeom>
          <a:noFill/>
          <a:ln/>
        </p:spPr>
        <p:txBody>
          <a:bodyPr wrap="square" lIns="0" tIns="0" rIns="0" bIns="0" rtlCol="0" anchor="ctr"/>
          <a:lstStyle/>
          <a:p>
            <a:pPr>
              <a:lnSpc>
                <a:spcPct val="130000"/>
              </a:lnSpc>
            </a:pPr>
            <a:r>
              <a:rPr lang="en-US" sz="815" dirty="0">
                <a:solidFill>
                  <a:srgbClr val="0071E3"/>
                </a:solidFill>
                <a:latin typeface="MiSans" pitchFamily="34" charset="0"/>
                <a:ea typeface="MiSans" pitchFamily="34" charset="-122"/>
                <a:cs typeface="MiSans" pitchFamily="34" charset="-120"/>
              </a:rPr>
              <a:t>if</a:t>
            </a:r>
            <a:r>
              <a:rPr lang="en-US" sz="815" dirty="0">
                <a:solidFill>
                  <a:srgbClr val="FFFFFF"/>
                </a:solidFill>
                <a:latin typeface="MiSans" pitchFamily="34" charset="0"/>
                <a:ea typeface="MiSans" pitchFamily="34" charset="-122"/>
                <a:cs typeface="MiSans" pitchFamily="34" charset="-120"/>
              </a:rPr>
              <a:t> (!fireActive) {</a:t>
            </a:r>
            <a:endParaRPr lang="en-US" sz="1600" dirty="0"/>
          </a:p>
        </p:txBody>
      </p:sp>
      <p:sp>
        <p:nvSpPr>
          <p:cNvPr id="34" name="Text 32"/>
          <p:cNvSpPr/>
          <p:nvPr/>
        </p:nvSpPr>
        <p:spPr>
          <a:xfrm>
            <a:off x="572992" y="5036359"/>
            <a:ext cx="5240491" cy="159164"/>
          </a:xfrm>
          <a:prstGeom prst="rect">
            <a:avLst/>
          </a:prstGeom>
          <a:noFill/>
          <a:ln/>
        </p:spPr>
        <p:txBody>
          <a:bodyPr wrap="square" lIns="0" tIns="0" rIns="0" bIns="0" rtlCol="0" anchor="ctr"/>
          <a:lstStyle/>
          <a:p>
            <a:pPr>
              <a:lnSpc>
                <a:spcPct val="130000"/>
              </a:lnSpc>
            </a:pPr>
            <a:r>
              <a:rPr lang="en-US" sz="815" dirty="0">
                <a:solidFill>
                  <a:srgbClr val="FFFFFF"/>
                </a:solidFill>
                <a:latin typeface="MiSans" pitchFamily="34" charset="0"/>
                <a:ea typeface="MiSans" pitchFamily="34" charset="-122"/>
                <a:cs typeface="MiSans" pitchFamily="34" charset="-120"/>
              </a:rPr>
              <a:t>fireActive = </a:t>
            </a:r>
            <a:r>
              <a:rPr lang="en-US" sz="815" dirty="0">
                <a:solidFill>
                  <a:srgbClr val="0071E3"/>
                </a:solidFill>
                <a:latin typeface="MiSans" pitchFamily="34" charset="0"/>
                <a:ea typeface="MiSans" pitchFamily="34" charset="-122"/>
                <a:cs typeface="MiSans" pitchFamily="34" charset="-120"/>
              </a:rPr>
              <a:t>true</a:t>
            </a:r>
            <a:r>
              <a:rPr lang="en-US" sz="815" dirty="0">
                <a:solidFill>
                  <a:srgbClr val="FFFFFF"/>
                </a:solidFill>
                <a:latin typeface="MiSans" pitchFamily="34" charset="0"/>
                <a:ea typeface="MiSans" pitchFamily="34" charset="-122"/>
                <a:cs typeface="MiSans" pitchFamily="34" charset="-120"/>
              </a:rPr>
              <a:t> ;</a:t>
            </a:r>
            <a:endParaRPr lang="en-US" sz="1600" dirty="0"/>
          </a:p>
        </p:txBody>
      </p:sp>
      <p:sp>
        <p:nvSpPr>
          <p:cNvPr id="35" name="Text 33"/>
          <p:cNvSpPr/>
          <p:nvPr/>
        </p:nvSpPr>
        <p:spPr>
          <a:xfrm>
            <a:off x="572992" y="5191545"/>
            <a:ext cx="5240491" cy="159164"/>
          </a:xfrm>
          <a:prstGeom prst="rect">
            <a:avLst/>
          </a:prstGeom>
          <a:noFill/>
          <a:ln/>
        </p:spPr>
        <p:txBody>
          <a:bodyPr wrap="square" lIns="0" tIns="0" rIns="0" bIns="0" rtlCol="0" anchor="ctr"/>
          <a:lstStyle/>
          <a:p>
            <a:pPr>
              <a:lnSpc>
                <a:spcPct val="130000"/>
              </a:lnSpc>
            </a:pPr>
            <a:r>
              <a:rPr lang="en-US" sz="815" dirty="0">
                <a:solidFill>
                  <a:srgbClr val="FFFFFF"/>
                </a:solidFill>
                <a:latin typeface="MiSans" pitchFamily="34" charset="0"/>
                <a:ea typeface="MiSans" pitchFamily="34" charset="-122"/>
                <a:cs typeface="MiSans" pitchFamily="34" charset="-120"/>
              </a:rPr>
              <a:t>updateOled( </a:t>
            </a:r>
            <a:r>
              <a:rPr lang="en-US" sz="815" dirty="0">
                <a:solidFill>
                  <a:srgbClr val="34C759"/>
                </a:solidFill>
                <a:latin typeface="MiSans" pitchFamily="34" charset="0"/>
                <a:ea typeface="MiSans" pitchFamily="34" charset="-122"/>
                <a:cs typeface="MiSans" pitchFamily="34" charset="-120"/>
              </a:rPr>
              <a:t>"!! FIRE !!"</a:t>
            </a:r>
            <a:r>
              <a:rPr lang="en-US" sz="815" dirty="0">
                <a:solidFill>
                  <a:srgbClr val="FFFFFF"/>
                </a:solidFill>
                <a:latin typeface="MiSans" pitchFamily="34" charset="0"/>
                <a:ea typeface="MiSans" pitchFamily="34" charset="-122"/>
                <a:cs typeface="MiSans" pitchFamily="34" charset="-120"/>
              </a:rPr>
              <a:t> );</a:t>
            </a:r>
            <a:endParaRPr lang="en-US" sz="1600" dirty="0"/>
          </a:p>
        </p:txBody>
      </p:sp>
      <p:sp>
        <p:nvSpPr>
          <p:cNvPr id="36" name="Text 34"/>
          <p:cNvSpPr/>
          <p:nvPr/>
        </p:nvSpPr>
        <p:spPr>
          <a:xfrm>
            <a:off x="572992" y="5346730"/>
            <a:ext cx="5240491" cy="159164"/>
          </a:xfrm>
          <a:prstGeom prst="rect">
            <a:avLst/>
          </a:prstGeom>
          <a:noFill/>
          <a:ln/>
        </p:spPr>
        <p:txBody>
          <a:bodyPr wrap="square" lIns="0" tIns="0" rIns="0" bIns="0" rtlCol="0" anchor="ctr"/>
          <a:lstStyle/>
          <a:p>
            <a:pPr>
              <a:lnSpc>
                <a:spcPct val="130000"/>
              </a:lnSpc>
            </a:pPr>
            <a:r>
              <a:rPr lang="en-US" sz="815" dirty="0">
                <a:solidFill>
                  <a:srgbClr val="FFFFFF"/>
                </a:solidFill>
                <a:latin typeface="MiSans" pitchFamily="34" charset="0"/>
                <a:ea typeface="MiSans" pitchFamily="34" charset="-122"/>
                <a:cs typeface="MiSans" pitchFamily="34" charset="-120"/>
              </a:rPr>
              <a:t>}</a:t>
            </a:r>
            <a:endParaRPr lang="en-US" sz="1600" dirty="0"/>
          </a:p>
        </p:txBody>
      </p:sp>
      <p:sp>
        <p:nvSpPr>
          <p:cNvPr id="37" name="Text 35"/>
          <p:cNvSpPr/>
          <p:nvPr/>
        </p:nvSpPr>
        <p:spPr>
          <a:xfrm>
            <a:off x="572992" y="5501915"/>
            <a:ext cx="5240491" cy="159164"/>
          </a:xfrm>
          <a:prstGeom prst="rect">
            <a:avLst/>
          </a:prstGeom>
          <a:noFill/>
          <a:ln/>
        </p:spPr>
        <p:txBody>
          <a:bodyPr wrap="square" lIns="0" tIns="0" rIns="0" bIns="0" rtlCol="0" anchor="ctr"/>
          <a:lstStyle/>
          <a:p>
            <a:pPr>
              <a:lnSpc>
                <a:spcPct val="130000"/>
              </a:lnSpc>
            </a:pPr>
            <a:r>
              <a:rPr lang="en-US" sz="815" dirty="0">
                <a:solidFill>
                  <a:srgbClr val="0071E3"/>
                </a:solidFill>
                <a:latin typeface="MiSans" pitchFamily="34" charset="0"/>
                <a:ea typeface="MiSans" pitchFamily="34" charset="-122"/>
                <a:cs typeface="MiSans" pitchFamily="34" charset="-120"/>
              </a:rPr>
              <a:t>if</a:t>
            </a:r>
            <a:r>
              <a:rPr lang="en-US" sz="815" dirty="0">
                <a:solidFill>
                  <a:srgbClr val="FFFFFF"/>
                </a:solidFill>
                <a:latin typeface="MiSans" pitchFamily="34" charset="0"/>
                <a:ea typeface="MiSans" pitchFamily="34" charset="-122"/>
                <a:cs typeface="MiSans" pitchFamily="34" charset="-120"/>
              </a:rPr>
              <a:t> (millis() - lastFireMsg &gt; </a:t>
            </a:r>
            <a:r>
              <a:rPr lang="en-US" sz="815" dirty="0">
                <a:solidFill>
                  <a:srgbClr val="FF9500"/>
                </a:solidFill>
                <a:latin typeface="MiSans" pitchFamily="34" charset="0"/>
                <a:ea typeface="MiSans" pitchFamily="34" charset="-122"/>
                <a:cs typeface="MiSans" pitchFamily="34" charset="-120"/>
              </a:rPr>
              <a:t>1000</a:t>
            </a:r>
            <a:r>
              <a:rPr lang="en-US" sz="815" dirty="0">
                <a:solidFill>
                  <a:srgbClr val="FFFFFF"/>
                </a:solidFill>
                <a:latin typeface="MiSans" pitchFamily="34" charset="0"/>
                <a:ea typeface="MiSans" pitchFamily="34" charset="-122"/>
                <a:cs typeface="MiSans" pitchFamily="34" charset="-120"/>
              </a:rPr>
              <a:t> ) {</a:t>
            </a:r>
            <a:endParaRPr lang="en-US" sz="1600" dirty="0"/>
          </a:p>
        </p:txBody>
      </p:sp>
      <p:sp>
        <p:nvSpPr>
          <p:cNvPr id="38" name="Text 36"/>
          <p:cNvSpPr/>
          <p:nvPr/>
        </p:nvSpPr>
        <p:spPr>
          <a:xfrm>
            <a:off x="572992" y="5657101"/>
            <a:ext cx="5240491" cy="159164"/>
          </a:xfrm>
          <a:prstGeom prst="rect">
            <a:avLst/>
          </a:prstGeom>
          <a:noFill/>
          <a:ln/>
        </p:spPr>
        <p:txBody>
          <a:bodyPr wrap="square" lIns="0" tIns="0" rIns="0" bIns="0" rtlCol="0" anchor="ctr"/>
          <a:lstStyle/>
          <a:p>
            <a:pPr>
              <a:lnSpc>
                <a:spcPct val="130000"/>
              </a:lnSpc>
            </a:pPr>
            <a:r>
              <a:rPr lang="en-US" sz="815" dirty="0">
                <a:solidFill>
                  <a:srgbClr val="FFFFFF"/>
                </a:solidFill>
                <a:latin typeface="MiSans" pitchFamily="34" charset="0"/>
                <a:ea typeface="MiSans" pitchFamily="34" charset="-122"/>
                <a:cs typeface="MiSans" pitchFamily="34" charset="-120"/>
              </a:rPr>
              <a:t>lastFireMsg = millis();</a:t>
            </a:r>
            <a:endParaRPr lang="en-US" sz="1600" dirty="0"/>
          </a:p>
        </p:txBody>
      </p:sp>
      <p:sp>
        <p:nvSpPr>
          <p:cNvPr id="39" name="Text 37"/>
          <p:cNvSpPr/>
          <p:nvPr/>
        </p:nvSpPr>
        <p:spPr>
          <a:xfrm>
            <a:off x="572992" y="5812286"/>
            <a:ext cx="5240491" cy="159164"/>
          </a:xfrm>
          <a:prstGeom prst="rect">
            <a:avLst/>
          </a:prstGeom>
          <a:noFill/>
          <a:ln/>
        </p:spPr>
        <p:txBody>
          <a:bodyPr wrap="square" lIns="0" tIns="0" rIns="0" bIns="0" rtlCol="0" anchor="ctr"/>
          <a:lstStyle/>
          <a:p>
            <a:pPr>
              <a:lnSpc>
                <a:spcPct val="130000"/>
              </a:lnSpc>
            </a:pPr>
            <a:r>
              <a:rPr lang="en-US" sz="815" dirty="0">
                <a:solidFill>
                  <a:srgbClr val="FFFFFF"/>
                </a:solidFill>
                <a:latin typeface="MiSans" pitchFamily="34" charset="0"/>
                <a:ea typeface="MiSans" pitchFamily="34" charset="-122"/>
                <a:cs typeface="MiSans" pitchFamily="34" charset="-120"/>
              </a:rPr>
              <a:t>activeClient.print( </a:t>
            </a:r>
            <a:r>
              <a:rPr lang="en-US" sz="815" dirty="0">
                <a:solidFill>
                  <a:srgbClr val="34C759"/>
                </a:solidFill>
                <a:latin typeface="MiSans" pitchFamily="34" charset="0"/>
                <a:ea typeface="MiSans" pitchFamily="34" charset="-122"/>
                <a:cs typeface="MiSans" pitchFamily="34" charset="-120"/>
              </a:rPr>
              <a:t>'F'</a:t>
            </a:r>
            <a:r>
              <a:rPr lang="en-US" sz="815" dirty="0">
                <a:solidFill>
                  <a:srgbClr val="FFFFFF"/>
                </a:solidFill>
                <a:latin typeface="MiSans" pitchFamily="34" charset="0"/>
                <a:ea typeface="MiSans" pitchFamily="34" charset="-122"/>
                <a:cs typeface="MiSans" pitchFamily="34" charset="-120"/>
              </a:rPr>
              <a:t> );</a:t>
            </a:r>
            <a:endParaRPr lang="en-US" sz="1600" dirty="0"/>
          </a:p>
        </p:txBody>
      </p:sp>
      <p:sp>
        <p:nvSpPr>
          <p:cNvPr id="40" name="Text 38"/>
          <p:cNvSpPr/>
          <p:nvPr/>
        </p:nvSpPr>
        <p:spPr>
          <a:xfrm>
            <a:off x="572992" y="5967472"/>
            <a:ext cx="5240491" cy="159164"/>
          </a:xfrm>
          <a:prstGeom prst="rect">
            <a:avLst/>
          </a:prstGeom>
          <a:noFill/>
          <a:ln/>
        </p:spPr>
        <p:txBody>
          <a:bodyPr wrap="square" lIns="0" tIns="0" rIns="0" bIns="0" rtlCol="0" anchor="ctr"/>
          <a:lstStyle/>
          <a:p>
            <a:pPr>
              <a:lnSpc>
                <a:spcPct val="130000"/>
              </a:lnSpc>
            </a:pPr>
            <a:r>
              <a:rPr lang="en-US" sz="815" dirty="0">
                <a:solidFill>
                  <a:srgbClr val="FFFFFF"/>
                </a:solidFill>
                <a:latin typeface="MiSans" pitchFamily="34" charset="0"/>
                <a:ea typeface="MiSans" pitchFamily="34" charset="-122"/>
                <a:cs typeface="MiSans" pitchFamily="34" charset="-120"/>
              </a:rPr>
              <a:t>}</a:t>
            </a:r>
            <a:endParaRPr lang="en-US" sz="1600" dirty="0"/>
          </a:p>
        </p:txBody>
      </p:sp>
      <p:sp>
        <p:nvSpPr>
          <p:cNvPr id="41" name="Text 39"/>
          <p:cNvSpPr/>
          <p:nvPr/>
        </p:nvSpPr>
        <p:spPr>
          <a:xfrm>
            <a:off x="572992" y="6122657"/>
            <a:ext cx="5240491" cy="159164"/>
          </a:xfrm>
          <a:prstGeom prst="rect">
            <a:avLst/>
          </a:prstGeom>
          <a:noFill/>
          <a:ln/>
        </p:spPr>
        <p:txBody>
          <a:bodyPr wrap="square" lIns="0" tIns="0" rIns="0" bIns="0" rtlCol="0" anchor="ctr"/>
          <a:lstStyle/>
          <a:p>
            <a:pPr>
              <a:lnSpc>
                <a:spcPct val="130000"/>
              </a:lnSpc>
            </a:pPr>
            <a:r>
              <a:rPr lang="en-US" sz="815" dirty="0">
                <a:solidFill>
                  <a:srgbClr val="FFFFFF"/>
                </a:solidFill>
                <a:latin typeface="MiSans" pitchFamily="34" charset="0"/>
                <a:ea typeface="MiSans" pitchFamily="34" charset="-122"/>
                <a:cs typeface="MiSans" pitchFamily="34" charset="-120"/>
              </a:rPr>
              <a:t>}</a:t>
            </a:r>
            <a:endParaRPr lang="en-US" sz="1600" dirty="0"/>
          </a:p>
        </p:txBody>
      </p:sp>
      <p:sp>
        <p:nvSpPr>
          <p:cNvPr id="42" name="Shape 40"/>
          <p:cNvSpPr/>
          <p:nvPr/>
        </p:nvSpPr>
        <p:spPr>
          <a:xfrm>
            <a:off x="6180457" y="958170"/>
            <a:ext cx="5696497" cy="4494805"/>
          </a:xfrm>
          <a:custGeom>
            <a:avLst/>
            <a:gdLst/>
            <a:ahLst/>
            <a:cxnLst/>
            <a:rect l="l" t="t" r="r" b="b"/>
            <a:pathLst>
              <a:path w="5696497" h="4494805">
                <a:moveTo>
                  <a:pt x="95515" y="0"/>
                </a:moveTo>
                <a:lnTo>
                  <a:pt x="5600983" y="0"/>
                </a:lnTo>
                <a:cubicBezTo>
                  <a:pt x="5653734" y="0"/>
                  <a:pt x="5696497" y="42763"/>
                  <a:pt x="5696497" y="95515"/>
                </a:cubicBezTo>
                <a:lnTo>
                  <a:pt x="5696497" y="4399291"/>
                </a:lnTo>
                <a:cubicBezTo>
                  <a:pt x="5696497" y="4452042"/>
                  <a:pt x="5653734" y="4494805"/>
                  <a:pt x="5600983" y="4494805"/>
                </a:cubicBezTo>
                <a:lnTo>
                  <a:pt x="95515" y="4494805"/>
                </a:lnTo>
                <a:cubicBezTo>
                  <a:pt x="42763" y="4494805"/>
                  <a:pt x="0" y="4452042"/>
                  <a:pt x="0" y="4399291"/>
                </a:cubicBezTo>
                <a:lnTo>
                  <a:pt x="0" y="95515"/>
                </a:lnTo>
                <a:cubicBezTo>
                  <a:pt x="0" y="42763"/>
                  <a:pt x="42763" y="0"/>
                  <a:pt x="95515" y="0"/>
                </a:cubicBezTo>
                <a:close/>
              </a:path>
            </a:pathLst>
          </a:custGeom>
          <a:solidFill>
            <a:srgbClr val="FFFFFF"/>
          </a:solidFill>
          <a:ln w="10160">
            <a:solidFill>
              <a:srgbClr val="E5E5E5"/>
            </a:solidFill>
            <a:prstDash val="solid"/>
          </a:ln>
          <a:effectLst>
            <a:outerShdw blurRad="23875" dist="7958" dir="5400000" algn="bl" rotWithShape="0">
              <a:srgbClr val="000000">
                <a:alpha val="10196"/>
              </a:srgbClr>
            </a:outerShdw>
          </a:effectLst>
        </p:spPr>
      </p:sp>
      <p:sp>
        <p:nvSpPr>
          <p:cNvPr id="43" name="Shape 41"/>
          <p:cNvSpPr/>
          <p:nvPr/>
        </p:nvSpPr>
        <p:spPr>
          <a:xfrm>
            <a:off x="6330867" y="1120516"/>
            <a:ext cx="159164" cy="159164"/>
          </a:xfrm>
          <a:custGeom>
            <a:avLst/>
            <a:gdLst/>
            <a:ahLst/>
            <a:cxnLst/>
            <a:rect l="l" t="t" r="r" b="b"/>
            <a:pathLst>
              <a:path w="159164" h="159164">
                <a:moveTo>
                  <a:pt x="0" y="24869"/>
                </a:moveTo>
                <a:cubicBezTo>
                  <a:pt x="0" y="16631"/>
                  <a:pt x="6684" y="9948"/>
                  <a:pt x="14922" y="9948"/>
                </a:cubicBezTo>
                <a:lnTo>
                  <a:pt x="44765" y="9948"/>
                </a:lnTo>
                <a:cubicBezTo>
                  <a:pt x="53003" y="9948"/>
                  <a:pt x="59687" y="16631"/>
                  <a:pt x="59687" y="24869"/>
                </a:cubicBezTo>
                <a:lnTo>
                  <a:pt x="59687" y="29843"/>
                </a:lnTo>
                <a:lnTo>
                  <a:pt x="99478" y="29843"/>
                </a:lnTo>
                <a:lnTo>
                  <a:pt x="99478" y="24869"/>
                </a:lnTo>
                <a:cubicBezTo>
                  <a:pt x="99478" y="16631"/>
                  <a:pt x="106161" y="9948"/>
                  <a:pt x="114399" y="9948"/>
                </a:cubicBezTo>
                <a:lnTo>
                  <a:pt x="144243" y="9948"/>
                </a:lnTo>
                <a:cubicBezTo>
                  <a:pt x="152481" y="9948"/>
                  <a:pt x="159164" y="16631"/>
                  <a:pt x="159164" y="24869"/>
                </a:cubicBezTo>
                <a:lnTo>
                  <a:pt x="159164" y="54713"/>
                </a:lnTo>
                <a:cubicBezTo>
                  <a:pt x="159164" y="62951"/>
                  <a:pt x="152481" y="69634"/>
                  <a:pt x="144243" y="69634"/>
                </a:cubicBezTo>
                <a:lnTo>
                  <a:pt x="114399" y="69634"/>
                </a:lnTo>
                <a:cubicBezTo>
                  <a:pt x="106161" y="69634"/>
                  <a:pt x="99478" y="62951"/>
                  <a:pt x="99478" y="54713"/>
                </a:cubicBezTo>
                <a:lnTo>
                  <a:pt x="99478" y="49739"/>
                </a:lnTo>
                <a:lnTo>
                  <a:pt x="59687" y="49739"/>
                </a:lnTo>
                <a:lnTo>
                  <a:pt x="59687" y="54713"/>
                </a:lnTo>
                <a:cubicBezTo>
                  <a:pt x="59687" y="56982"/>
                  <a:pt x="59158" y="59158"/>
                  <a:pt x="58257" y="61086"/>
                </a:cubicBezTo>
                <a:lnTo>
                  <a:pt x="79582" y="89530"/>
                </a:lnTo>
                <a:lnTo>
                  <a:pt x="104452" y="89530"/>
                </a:lnTo>
                <a:cubicBezTo>
                  <a:pt x="112690" y="89530"/>
                  <a:pt x="119373" y="96214"/>
                  <a:pt x="119373" y="104452"/>
                </a:cubicBezTo>
                <a:lnTo>
                  <a:pt x="119373" y="134295"/>
                </a:lnTo>
                <a:cubicBezTo>
                  <a:pt x="119373" y="142533"/>
                  <a:pt x="112690" y="149217"/>
                  <a:pt x="104452" y="149217"/>
                </a:cubicBezTo>
                <a:lnTo>
                  <a:pt x="74608" y="149217"/>
                </a:lnTo>
                <a:cubicBezTo>
                  <a:pt x="66370" y="149217"/>
                  <a:pt x="59687" y="142533"/>
                  <a:pt x="59687" y="134295"/>
                </a:cubicBezTo>
                <a:lnTo>
                  <a:pt x="59687" y="104452"/>
                </a:lnTo>
                <a:cubicBezTo>
                  <a:pt x="59687" y="102182"/>
                  <a:pt x="60215" y="100006"/>
                  <a:pt x="61117" y="98079"/>
                </a:cubicBezTo>
                <a:lnTo>
                  <a:pt x="39791" y="69634"/>
                </a:lnTo>
                <a:lnTo>
                  <a:pt x="14922" y="69634"/>
                </a:lnTo>
                <a:cubicBezTo>
                  <a:pt x="6684" y="69634"/>
                  <a:pt x="0" y="62951"/>
                  <a:pt x="0" y="54713"/>
                </a:cubicBezTo>
                <a:lnTo>
                  <a:pt x="0" y="24869"/>
                </a:lnTo>
                <a:close/>
              </a:path>
            </a:pathLst>
          </a:custGeom>
          <a:solidFill>
            <a:srgbClr val="0071E3"/>
          </a:solidFill>
          <a:ln/>
        </p:spPr>
      </p:sp>
      <p:sp>
        <p:nvSpPr>
          <p:cNvPr id="44" name="Text 42"/>
          <p:cNvSpPr/>
          <p:nvPr/>
        </p:nvSpPr>
        <p:spPr>
          <a:xfrm>
            <a:off x="6509927" y="1088684"/>
            <a:ext cx="5316094" cy="222830"/>
          </a:xfrm>
          <a:prstGeom prst="rect">
            <a:avLst/>
          </a:prstGeom>
          <a:noFill/>
          <a:ln/>
        </p:spPr>
        <p:txBody>
          <a:bodyPr wrap="square" lIns="0" tIns="0" rIns="0" bIns="0" rtlCol="0" anchor="ctr"/>
          <a:lstStyle/>
          <a:p>
            <a:pPr>
              <a:lnSpc>
                <a:spcPct val="120000"/>
              </a:lnSpc>
            </a:pPr>
            <a:r>
              <a:rPr lang="en-US" sz="1253" b="1" dirty="0">
                <a:solidFill>
                  <a:srgbClr val="1D1D1D"/>
                </a:solidFill>
                <a:latin typeface="Liter" pitchFamily="34" charset="0"/>
                <a:ea typeface="Liter" pitchFamily="34" charset="-122"/>
                <a:cs typeface="Liter" pitchFamily="34" charset="-120"/>
              </a:rPr>
              <a:t>State Transition Diagram</a:t>
            </a:r>
            <a:endParaRPr lang="en-US" sz="1600" dirty="0"/>
          </a:p>
        </p:txBody>
      </p:sp>
      <p:sp>
        <p:nvSpPr>
          <p:cNvPr id="45" name="Shape 43"/>
          <p:cNvSpPr/>
          <p:nvPr/>
        </p:nvSpPr>
        <p:spPr>
          <a:xfrm>
            <a:off x="8457106" y="1413379"/>
            <a:ext cx="1142801" cy="522060"/>
          </a:xfrm>
          <a:custGeom>
            <a:avLst/>
            <a:gdLst/>
            <a:ahLst/>
            <a:cxnLst/>
            <a:rect l="l" t="t" r="r" b="b"/>
            <a:pathLst>
              <a:path w="1142801" h="522060">
                <a:moveTo>
                  <a:pt x="63665" y="0"/>
                </a:moveTo>
                <a:lnTo>
                  <a:pt x="1079136" y="0"/>
                </a:lnTo>
                <a:cubicBezTo>
                  <a:pt x="1114297" y="0"/>
                  <a:pt x="1142801" y="28504"/>
                  <a:pt x="1142801" y="63665"/>
                </a:cubicBezTo>
                <a:lnTo>
                  <a:pt x="1142801" y="458394"/>
                </a:lnTo>
                <a:cubicBezTo>
                  <a:pt x="1142801" y="493556"/>
                  <a:pt x="1114297" y="522060"/>
                  <a:pt x="1079136" y="522060"/>
                </a:cubicBezTo>
                <a:lnTo>
                  <a:pt x="63665" y="522060"/>
                </a:lnTo>
                <a:cubicBezTo>
                  <a:pt x="28504" y="522060"/>
                  <a:pt x="0" y="493556"/>
                  <a:pt x="0" y="458394"/>
                </a:cubicBezTo>
                <a:lnTo>
                  <a:pt x="0" y="63665"/>
                </a:lnTo>
                <a:cubicBezTo>
                  <a:pt x="0" y="28527"/>
                  <a:pt x="28527" y="0"/>
                  <a:pt x="63665" y="0"/>
                </a:cubicBezTo>
                <a:close/>
              </a:path>
            </a:pathLst>
          </a:custGeom>
          <a:solidFill>
            <a:srgbClr val="0071E3">
              <a:alpha val="10196"/>
            </a:srgbClr>
          </a:solidFill>
          <a:ln w="20320">
            <a:solidFill>
              <a:srgbClr val="0071E3"/>
            </a:solidFill>
            <a:prstDash val="solid"/>
          </a:ln>
        </p:spPr>
      </p:sp>
      <p:sp>
        <p:nvSpPr>
          <p:cNvPr id="46" name="Text 44"/>
          <p:cNvSpPr/>
          <p:nvPr/>
        </p:nvSpPr>
        <p:spPr>
          <a:xfrm>
            <a:off x="8622637" y="1515245"/>
            <a:ext cx="811739" cy="190997"/>
          </a:xfrm>
          <a:prstGeom prst="rect">
            <a:avLst/>
          </a:prstGeom>
          <a:noFill/>
          <a:ln/>
        </p:spPr>
        <p:txBody>
          <a:bodyPr wrap="square" lIns="0" tIns="0" rIns="0" bIns="0" rtlCol="0" anchor="ctr"/>
          <a:lstStyle/>
          <a:p>
            <a:pPr algn="ctr">
              <a:lnSpc>
                <a:spcPct val="130000"/>
              </a:lnSpc>
            </a:pPr>
            <a:r>
              <a:rPr lang="en-US" sz="1003" b="1" dirty="0">
                <a:solidFill>
                  <a:srgbClr val="1D1D1D"/>
                </a:solidFill>
                <a:latin typeface="Liter" pitchFamily="34" charset="0"/>
                <a:ea typeface="Liter" pitchFamily="34" charset="-122"/>
                <a:cs typeface="Liter" pitchFamily="34" charset="-120"/>
              </a:rPr>
              <a:t>IDLE</a:t>
            </a:r>
            <a:endParaRPr lang="en-US" sz="1600" dirty="0"/>
          </a:p>
        </p:txBody>
      </p:sp>
      <p:sp>
        <p:nvSpPr>
          <p:cNvPr id="47" name="Text 45"/>
          <p:cNvSpPr/>
          <p:nvPr/>
        </p:nvSpPr>
        <p:spPr>
          <a:xfrm>
            <a:off x="8630595" y="1706243"/>
            <a:ext cx="795822" cy="127332"/>
          </a:xfrm>
          <a:prstGeom prst="rect">
            <a:avLst/>
          </a:prstGeom>
          <a:noFill/>
          <a:ln/>
        </p:spPr>
        <p:txBody>
          <a:bodyPr wrap="square" lIns="0" tIns="0" rIns="0" bIns="0" rtlCol="0" anchor="ctr"/>
          <a:lstStyle/>
          <a:p>
            <a:pPr algn="ctr">
              <a:lnSpc>
                <a:spcPct val="110000"/>
              </a:lnSpc>
            </a:pPr>
            <a:r>
              <a:rPr lang="en-US" sz="752" dirty="0">
                <a:solidFill>
                  <a:srgbClr val="86868B"/>
                </a:solidFill>
                <a:latin typeface="Liter" pitchFamily="34" charset="0"/>
                <a:ea typeface="Liter" pitchFamily="34" charset="-122"/>
                <a:cs typeface="Liter" pitchFamily="34" charset="-120"/>
              </a:rPr>
              <a:t>Normal Operation</a:t>
            </a:r>
            <a:endParaRPr lang="en-US" sz="1600" dirty="0"/>
          </a:p>
        </p:txBody>
      </p:sp>
      <p:sp>
        <p:nvSpPr>
          <p:cNvPr id="48" name="Shape 46"/>
          <p:cNvSpPr/>
          <p:nvPr/>
        </p:nvSpPr>
        <p:spPr>
          <a:xfrm>
            <a:off x="8955590" y="2105448"/>
            <a:ext cx="143248" cy="190997"/>
          </a:xfrm>
          <a:custGeom>
            <a:avLst/>
            <a:gdLst/>
            <a:ahLst/>
            <a:cxnLst/>
            <a:rect l="l" t="t" r="r" b="b"/>
            <a:pathLst>
              <a:path w="143248" h="190997">
                <a:moveTo>
                  <a:pt x="63193" y="187491"/>
                </a:moveTo>
                <a:cubicBezTo>
                  <a:pt x="67856" y="192154"/>
                  <a:pt x="75429" y="192154"/>
                  <a:pt x="80092" y="187491"/>
                </a:cubicBezTo>
                <a:lnTo>
                  <a:pt x="139779" y="127804"/>
                </a:lnTo>
                <a:cubicBezTo>
                  <a:pt x="144442" y="123141"/>
                  <a:pt x="144442" y="115568"/>
                  <a:pt x="139779" y="110905"/>
                </a:cubicBezTo>
                <a:cubicBezTo>
                  <a:pt x="135116" y="106242"/>
                  <a:pt x="127543" y="106242"/>
                  <a:pt x="122880" y="110905"/>
                </a:cubicBezTo>
                <a:lnTo>
                  <a:pt x="83561" y="150224"/>
                </a:lnTo>
                <a:lnTo>
                  <a:pt x="83561" y="11937"/>
                </a:lnTo>
                <a:cubicBezTo>
                  <a:pt x="83561" y="5334"/>
                  <a:pt x="78227" y="0"/>
                  <a:pt x="71624" y="0"/>
                </a:cubicBezTo>
                <a:cubicBezTo>
                  <a:pt x="65021" y="0"/>
                  <a:pt x="59687" y="5334"/>
                  <a:pt x="59687" y="11937"/>
                </a:cubicBezTo>
                <a:lnTo>
                  <a:pt x="59687" y="150224"/>
                </a:lnTo>
                <a:lnTo>
                  <a:pt x="20368" y="110905"/>
                </a:lnTo>
                <a:cubicBezTo>
                  <a:pt x="15705" y="106242"/>
                  <a:pt x="8132" y="106242"/>
                  <a:pt x="3469" y="110905"/>
                </a:cubicBezTo>
                <a:cubicBezTo>
                  <a:pt x="-1194" y="115568"/>
                  <a:pt x="-1194" y="123141"/>
                  <a:pt x="3469" y="127804"/>
                </a:cubicBezTo>
                <a:lnTo>
                  <a:pt x="63156" y="187491"/>
                </a:lnTo>
                <a:close/>
              </a:path>
            </a:pathLst>
          </a:custGeom>
          <a:solidFill>
            <a:srgbClr val="FF3B30"/>
          </a:solidFill>
          <a:ln/>
        </p:spPr>
      </p:sp>
      <p:sp>
        <p:nvSpPr>
          <p:cNvPr id="49" name="Shape 47"/>
          <p:cNvSpPr/>
          <p:nvPr/>
        </p:nvSpPr>
        <p:spPr>
          <a:xfrm>
            <a:off x="8313659" y="2466453"/>
            <a:ext cx="1429297" cy="522060"/>
          </a:xfrm>
          <a:custGeom>
            <a:avLst/>
            <a:gdLst/>
            <a:ahLst/>
            <a:cxnLst/>
            <a:rect l="l" t="t" r="r" b="b"/>
            <a:pathLst>
              <a:path w="1429297" h="522060">
                <a:moveTo>
                  <a:pt x="63665" y="0"/>
                </a:moveTo>
                <a:lnTo>
                  <a:pt x="1365632" y="0"/>
                </a:lnTo>
                <a:cubicBezTo>
                  <a:pt x="1400793" y="0"/>
                  <a:pt x="1429297" y="28504"/>
                  <a:pt x="1429297" y="63665"/>
                </a:cubicBezTo>
                <a:lnTo>
                  <a:pt x="1429297" y="458394"/>
                </a:lnTo>
                <a:cubicBezTo>
                  <a:pt x="1429297" y="493556"/>
                  <a:pt x="1400793" y="522060"/>
                  <a:pt x="1365632" y="522060"/>
                </a:cubicBezTo>
                <a:lnTo>
                  <a:pt x="63665" y="522060"/>
                </a:lnTo>
                <a:cubicBezTo>
                  <a:pt x="28504" y="522060"/>
                  <a:pt x="0" y="493556"/>
                  <a:pt x="0" y="458394"/>
                </a:cubicBezTo>
                <a:lnTo>
                  <a:pt x="0" y="63665"/>
                </a:lnTo>
                <a:cubicBezTo>
                  <a:pt x="0" y="28527"/>
                  <a:pt x="28527" y="0"/>
                  <a:pt x="63665" y="0"/>
                </a:cubicBezTo>
                <a:close/>
              </a:path>
            </a:pathLst>
          </a:custGeom>
          <a:solidFill>
            <a:srgbClr val="FF3B30">
              <a:alpha val="10196"/>
            </a:srgbClr>
          </a:solidFill>
          <a:ln w="20320">
            <a:solidFill>
              <a:srgbClr val="FF3B30"/>
            </a:solidFill>
            <a:prstDash val="solid"/>
          </a:ln>
        </p:spPr>
      </p:sp>
      <p:sp>
        <p:nvSpPr>
          <p:cNvPr id="50" name="Text 48"/>
          <p:cNvSpPr/>
          <p:nvPr/>
        </p:nvSpPr>
        <p:spPr>
          <a:xfrm>
            <a:off x="8479190" y="2568319"/>
            <a:ext cx="1098235" cy="190997"/>
          </a:xfrm>
          <a:prstGeom prst="rect">
            <a:avLst/>
          </a:prstGeom>
          <a:noFill/>
          <a:ln/>
        </p:spPr>
        <p:txBody>
          <a:bodyPr wrap="square" lIns="0" tIns="0" rIns="0" bIns="0" rtlCol="0" anchor="ctr"/>
          <a:lstStyle/>
          <a:p>
            <a:pPr algn="ctr">
              <a:lnSpc>
                <a:spcPct val="130000"/>
              </a:lnSpc>
            </a:pPr>
            <a:r>
              <a:rPr lang="en-US" sz="1003" b="1" dirty="0">
                <a:solidFill>
                  <a:srgbClr val="1D1D1D"/>
                </a:solidFill>
                <a:latin typeface="Liter" pitchFamily="34" charset="0"/>
                <a:ea typeface="Liter" pitchFamily="34" charset="-122"/>
                <a:cs typeface="Liter" pitchFamily="34" charset="-120"/>
              </a:rPr>
              <a:t>DETECTION</a:t>
            </a:r>
            <a:endParaRPr lang="en-US" sz="1600" dirty="0"/>
          </a:p>
        </p:txBody>
      </p:sp>
      <p:sp>
        <p:nvSpPr>
          <p:cNvPr id="51" name="Text 49"/>
          <p:cNvSpPr/>
          <p:nvPr/>
        </p:nvSpPr>
        <p:spPr>
          <a:xfrm>
            <a:off x="8487148" y="2759316"/>
            <a:ext cx="1082319" cy="127332"/>
          </a:xfrm>
          <a:prstGeom prst="rect">
            <a:avLst/>
          </a:prstGeom>
          <a:noFill/>
          <a:ln/>
        </p:spPr>
        <p:txBody>
          <a:bodyPr wrap="square" lIns="0" tIns="0" rIns="0" bIns="0" rtlCol="0" anchor="ctr"/>
          <a:lstStyle/>
          <a:p>
            <a:pPr algn="ctr">
              <a:lnSpc>
                <a:spcPct val="110000"/>
              </a:lnSpc>
            </a:pPr>
            <a:r>
              <a:rPr lang="en-US" sz="752" dirty="0">
                <a:solidFill>
                  <a:srgbClr val="86868B"/>
                </a:solidFill>
                <a:latin typeface="Liter" pitchFamily="34" charset="0"/>
                <a:ea typeface="Liter" pitchFamily="34" charset="-122"/>
                <a:cs typeface="Liter" pitchFamily="34" charset="-120"/>
              </a:rPr>
              <a:t>Fire Detected → Send 'F'</a:t>
            </a:r>
            <a:endParaRPr lang="en-US" sz="1600" dirty="0"/>
          </a:p>
        </p:txBody>
      </p:sp>
      <p:sp>
        <p:nvSpPr>
          <p:cNvPr id="52" name="Shape 50"/>
          <p:cNvSpPr/>
          <p:nvPr/>
        </p:nvSpPr>
        <p:spPr>
          <a:xfrm>
            <a:off x="8955490" y="3158518"/>
            <a:ext cx="143248" cy="190997"/>
          </a:xfrm>
          <a:custGeom>
            <a:avLst/>
            <a:gdLst/>
            <a:ahLst/>
            <a:cxnLst/>
            <a:rect l="l" t="t" r="r" b="b"/>
            <a:pathLst>
              <a:path w="143248" h="190997">
                <a:moveTo>
                  <a:pt x="63193" y="187491"/>
                </a:moveTo>
                <a:cubicBezTo>
                  <a:pt x="67856" y="192154"/>
                  <a:pt x="75429" y="192154"/>
                  <a:pt x="80092" y="187491"/>
                </a:cubicBezTo>
                <a:lnTo>
                  <a:pt x="139779" y="127804"/>
                </a:lnTo>
                <a:cubicBezTo>
                  <a:pt x="144442" y="123141"/>
                  <a:pt x="144442" y="115568"/>
                  <a:pt x="139779" y="110905"/>
                </a:cubicBezTo>
                <a:cubicBezTo>
                  <a:pt x="135116" y="106242"/>
                  <a:pt x="127543" y="106242"/>
                  <a:pt x="122880" y="110905"/>
                </a:cubicBezTo>
                <a:lnTo>
                  <a:pt x="83561" y="150224"/>
                </a:lnTo>
                <a:lnTo>
                  <a:pt x="83561" y="11937"/>
                </a:lnTo>
                <a:cubicBezTo>
                  <a:pt x="83561" y="5334"/>
                  <a:pt x="78227" y="0"/>
                  <a:pt x="71624" y="0"/>
                </a:cubicBezTo>
                <a:cubicBezTo>
                  <a:pt x="65021" y="0"/>
                  <a:pt x="59687" y="5334"/>
                  <a:pt x="59687" y="11937"/>
                </a:cubicBezTo>
                <a:lnTo>
                  <a:pt x="59687" y="150224"/>
                </a:lnTo>
                <a:lnTo>
                  <a:pt x="20368" y="110905"/>
                </a:lnTo>
                <a:cubicBezTo>
                  <a:pt x="15705" y="106242"/>
                  <a:pt x="8132" y="106242"/>
                  <a:pt x="3469" y="110905"/>
                </a:cubicBezTo>
                <a:cubicBezTo>
                  <a:pt x="-1194" y="115568"/>
                  <a:pt x="-1194" y="123141"/>
                  <a:pt x="3469" y="127804"/>
                </a:cubicBezTo>
                <a:lnTo>
                  <a:pt x="63156" y="187491"/>
                </a:lnTo>
                <a:close/>
              </a:path>
            </a:pathLst>
          </a:custGeom>
          <a:solidFill>
            <a:srgbClr val="FF9500"/>
          </a:solidFill>
          <a:ln/>
        </p:spPr>
      </p:sp>
      <p:sp>
        <p:nvSpPr>
          <p:cNvPr id="53" name="Text 51"/>
          <p:cNvSpPr/>
          <p:nvPr/>
        </p:nvSpPr>
        <p:spPr>
          <a:xfrm>
            <a:off x="8814331" y="3381352"/>
            <a:ext cx="469535" cy="127332"/>
          </a:xfrm>
          <a:prstGeom prst="rect">
            <a:avLst/>
          </a:prstGeom>
          <a:noFill/>
          <a:ln/>
        </p:spPr>
        <p:txBody>
          <a:bodyPr wrap="square" lIns="0" tIns="0" rIns="0" bIns="0" rtlCol="0" anchor="ctr"/>
          <a:lstStyle/>
          <a:p>
            <a:pPr>
              <a:lnSpc>
                <a:spcPct val="110000"/>
              </a:lnSpc>
            </a:pPr>
            <a:r>
              <a:rPr lang="en-US" sz="752" dirty="0">
                <a:solidFill>
                  <a:srgbClr val="86868B"/>
                </a:solidFill>
                <a:latin typeface="Liter" pitchFamily="34" charset="0"/>
                <a:ea typeface="Liter" pitchFamily="34" charset="-122"/>
                <a:cs typeface="Liter" pitchFamily="34" charset="-120"/>
              </a:rPr>
              <a:t>Any touch</a:t>
            </a:r>
            <a:endParaRPr lang="en-US" sz="1600" dirty="0"/>
          </a:p>
        </p:txBody>
      </p:sp>
      <p:sp>
        <p:nvSpPr>
          <p:cNvPr id="54" name="Shape 52"/>
          <p:cNvSpPr/>
          <p:nvPr/>
        </p:nvSpPr>
        <p:spPr>
          <a:xfrm>
            <a:off x="8418508" y="3678691"/>
            <a:ext cx="1214425" cy="522060"/>
          </a:xfrm>
          <a:custGeom>
            <a:avLst/>
            <a:gdLst/>
            <a:ahLst/>
            <a:cxnLst/>
            <a:rect l="l" t="t" r="r" b="b"/>
            <a:pathLst>
              <a:path w="1214425" h="522060">
                <a:moveTo>
                  <a:pt x="63665" y="0"/>
                </a:moveTo>
                <a:lnTo>
                  <a:pt x="1150760" y="0"/>
                </a:lnTo>
                <a:cubicBezTo>
                  <a:pt x="1185921" y="0"/>
                  <a:pt x="1214425" y="28504"/>
                  <a:pt x="1214425" y="63665"/>
                </a:cubicBezTo>
                <a:lnTo>
                  <a:pt x="1214425" y="458394"/>
                </a:lnTo>
                <a:cubicBezTo>
                  <a:pt x="1214425" y="493556"/>
                  <a:pt x="1185921" y="522060"/>
                  <a:pt x="1150760" y="522060"/>
                </a:cubicBezTo>
                <a:lnTo>
                  <a:pt x="63665" y="522060"/>
                </a:lnTo>
                <a:cubicBezTo>
                  <a:pt x="28504" y="522060"/>
                  <a:pt x="0" y="493556"/>
                  <a:pt x="0" y="458394"/>
                </a:cubicBezTo>
                <a:lnTo>
                  <a:pt x="0" y="63665"/>
                </a:lnTo>
                <a:cubicBezTo>
                  <a:pt x="0" y="28527"/>
                  <a:pt x="28527" y="0"/>
                  <a:pt x="63665" y="0"/>
                </a:cubicBezTo>
                <a:close/>
              </a:path>
            </a:pathLst>
          </a:custGeom>
          <a:solidFill>
            <a:srgbClr val="FF9500">
              <a:alpha val="10196"/>
            </a:srgbClr>
          </a:solidFill>
          <a:ln w="20320">
            <a:solidFill>
              <a:srgbClr val="FF9500"/>
            </a:solidFill>
            <a:prstDash val="solid"/>
          </a:ln>
        </p:spPr>
      </p:sp>
      <p:sp>
        <p:nvSpPr>
          <p:cNvPr id="55" name="Text 53"/>
          <p:cNvSpPr/>
          <p:nvPr/>
        </p:nvSpPr>
        <p:spPr>
          <a:xfrm>
            <a:off x="8584040" y="3780553"/>
            <a:ext cx="883363" cy="190997"/>
          </a:xfrm>
          <a:prstGeom prst="rect">
            <a:avLst/>
          </a:prstGeom>
          <a:noFill/>
          <a:ln/>
        </p:spPr>
        <p:txBody>
          <a:bodyPr wrap="square" lIns="0" tIns="0" rIns="0" bIns="0" rtlCol="0" anchor="ctr"/>
          <a:lstStyle/>
          <a:p>
            <a:pPr algn="ctr">
              <a:lnSpc>
                <a:spcPct val="130000"/>
              </a:lnSpc>
            </a:pPr>
            <a:r>
              <a:rPr lang="en-US" sz="1003" b="1" dirty="0">
                <a:solidFill>
                  <a:srgbClr val="1D1D1D"/>
                </a:solidFill>
                <a:latin typeface="Liter" pitchFamily="34" charset="0"/>
                <a:ea typeface="Liter" pitchFamily="34" charset="-122"/>
                <a:cs typeface="Liter" pitchFamily="34" charset="-120"/>
              </a:rPr>
              <a:t>AWAITING</a:t>
            </a:r>
            <a:endParaRPr lang="en-US" sz="1600" dirty="0"/>
          </a:p>
        </p:txBody>
      </p:sp>
      <p:sp>
        <p:nvSpPr>
          <p:cNvPr id="56" name="Text 54"/>
          <p:cNvSpPr/>
          <p:nvPr/>
        </p:nvSpPr>
        <p:spPr>
          <a:xfrm>
            <a:off x="8591998" y="3971550"/>
            <a:ext cx="867446" cy="127332"/>
          </a:xfrm>
          <a:prstGeom prst="rect">
            <a:avLst/>
          </a:prstGeom>
          <a:noFill/>
          <a:ln/>
        </p:spPr>
        <p:txBody>
          <a:bodyPr wrap="square" lIns="0" tIns="0" rIns="0" bIns="0" rtlCol="0" anchor="ctr"/>
          <a:lstStyle/>
          <a:p>
            <a:pPr algn="ctr">
              <a:lnSpc>
                <a:spcPct val="110000"/>
              </a:lnSpc>
            </a:pPr>
            <a:r>
              <a:rPr lang="en-US" sz="752" dirty="0">
                <a:solidFill>
                  <a:srgbClr val="86868B"/>
                </a:solidFill>
                <a:latin typeface="Liter" pitchFamily="34" charset="0"/>
                <a:ea typeface="Liter" pitchFamily="34" charset="-122"/>
                <a:cs typeface="Liter" pitchFamily="34" charset="-120"/>
              </a:rPr>
              <a:t>Wait for ACK/STOP</a:t>
            </a:r>
            <a:endParaRPr lang="en-US" sz="1600" dirty="0"/>
          </a:p>
        </p:txBody>
      </p:sp>
      <p:sp>
        <p:nvSpPr>
          <p:cNvPr id="57" name="Shape 55"/>
          <p:cNvSpPr/>
          <p:nvPr/>
        </p:nvSpPr>
        <p:spPr>
          <a:xfrm>
            <a:off x="8554992" y="4370658"/>
            <a:ext cx="190997" cy="190997"/>
          </a:xfrm>
          <a:custGeom>
            <a:avLst/>
            <a:gdLst/>
            <a:ahLst/>
            <a:cxnLst/>
            <a:rect l="l" t="t" r="r" b="b"/>
            <a:pathLst>
              <a:path w="190997" h="190997">
                <a:moveTo>
                  <a:pt x="24583" y="85240"/>
                </a:moveTo>
                <a:cubicBezTo>
                  <a:pt x="29545" y="50547"/>
                  <a:pt x="59426" y="23875"/>
                  <a:pt x="95499" y="23875"/>
                </a:cubicBezTo>
                <a:cubicBezTo>
                  <a:pt x="115270" y="23875"/>
                  <a:pt x="133176" y="31895"/>
                  <a:pt x="146158" y="44840"/>
                </a:cubicBezTo>
                <a:cubicBezTo>
                  <a:pt x="146232" y="44914"/>
                  <a:pt x="146307" y="44989"/>
                  <a:pt x="146382" y="45063"/>
                </a:cubicBezTo>
                <a:lnTo>
                  <a:pt x="149217" y="47749"/>
                </a:lnTo>
                <a:lnTo>
                  <a:pt x="131348" y="47749"/>
                </a:lnTo>
                <a:cubicBezTo>
                  <a:pt x="124745" y="47749"/>
                  <a:pt x="119411" y="53084"/>
                  <a:pt x="119411" y="59687"/>
                </a:cubicBezTo>
                <a:cubicBezTo>
                  <a:pt x="119411" y="66290"/>
                  <a:pt x="124745" y="71624"/>
                  <a:pt x="131348" y="71624"/>
                </a:cubicBezTo>
                <a:lnTo>
                  <a:pt x="179097" y="71624"/>
                </a:lnTo>
                <a:cubicBezTo>
                  <a:pt x="185700" y="71624"/>
                  <a:pt x="191035" y="66290"/>
                  <a:pt x="191035" y="59687"/>
                </a:cubicBezTo>
                <a:lnTo>
                  <a:pt x="191035" y="11937"/>
                </a:lnTo>
                <a:cubicBezTo>
                  <a:pt x="191035" y="5334"/>
                  <a:pt x="185700" y="0"/>
                  <a:pt x="179097" y="0"/>
                </a:cubicBezTo>
                <a:cubicBezTo>
                  <a:pt x="172495" y="0"/>
                  <a:pt x="167160" y="5334"/>
                  <a:pt x="167160" y="11937"/>
                </a:cubicBezTo>
                <a:lnTo>
                  <a:pt x="167160" y="31858"/>
                </a:lnTo>
                <a:lnTo>
                  <a:pt x="162945" y="27866"/>
                </a:lnTo>
                <a:cubicBezTo>
                  <a:pt x="145673" y="10669"/>
                  <a:pt x="121798" y="0"/>
                  <a:pt x="95499" y="0"/>
                </a:cubicBezTo>
                <a:cubicBezTo>
                  <a:pt x="47376" y="0"/>
                  <a:pt x="7573" y="35588"/>
                  <a:pt x="970" y="81883"/>
                </a:cubicBezTo>
                <a:cubicBezTo>
                  <a:pt x="37" y="88411"/>
                  <a:pt x="4551" y="94454"/>
                  <a:pt x="11079" y="95387"/>
                </a:cubicBezTo>
                <a:cubicBezTo>
                  <a:pt x="17608" y="96319"/>
                  <a:pt x="23651" y="91768"/>
                  <a:pt x="24583" y="85277"/>
                </a:cubicBezTo>
                <a:close/>
                <a:moveTo>
                  <a:pt x="190027" y="109115"/>
                </a:moveTo>
                <a:cubicBezTo>
                  <a:pt x="190960" y="102586"/>
                  <a:pt x="186409" y="96543"/>
                  <a:pt x="179918" y="95611"/>
                </a:cubicBezTo>
                <a:cubicBezTo>
                  <a:pt x="173427" y="94678"/>
                  <a:pt x="167347" y="99229"/>
                  <a:pt x="166414" y="105720"/>
                </a:cubicBezTo>
                <a:cubicBezTo>
                  <a:pt x="161452" y="140413"/>
                  <a:pt x="131572" y="167085"/>
                  <a:pt x="95499" y="167085"/>
                </a:cubicBezTo>
                <a:cubicBezTo>
                  <a:pt x="75727" y="167085"/>
                  <a:pt x="57821" y="159065"/>
                  <a:pt x="44840" y="146120"/>
                </a:cubicBezTo>
                <a:cubicBezTo>
                  <a:pt x="44765" y="146046"/>
                  <a:pt x="44690" y="145971"/>
                  <a:pt x="44616" y="145897"/>
                </a:cubicBezTo>
                <a:lnTo>
                  <a:pt x="41781" y="143211"/>
                </a:lnTo>
                <a:lnTo>
                  <a:pt x="59649" y="143211"/>
                </a:lnTo>
                <a:cubicBezTo>
                  <a:pt x="66252" y="143211"/>
                  <a:pt x="71587" y="137876"/>
                  <a:pt x="71587" y="131273"/>
                </a:cubicBezTo>
                <a:cubicBezTo>
                  <a:pt x="71587" y="124671"/>
                  <a:pt x="66252" y="119336"/>
                  <a:pt x="59649" y="119336"/>
                </a:cubicBezTo>
                <a:lnTo>
                  <a:pt x="11937" y="119373"/>
                </a:lnTo>
                <a:cubicBezTo>
                  <a:pt x="8766" y="119373"/>
                  <a:pt x="5708" y="120642"/>
                  <a:pt x="3469" y="122917"/>
                </a:cubicBezTo>
                <a:cubicBezTo>
                  <a:pt x="1231" y="125193"/>
                  <a:pt x="-37" y="128214"/>
                  <a:pt x="0" y="131423"/>
                </a:cubicBezTo>
                <a:lnTo>
                  <a:pt x="373" y="178799"/>
                </a:lnTo>
                <a:cubicBezTo>
                  <a:pt x="410" y="185402"/>
                  <a:pt x="5819" y="190699"/>
                  <a:pt x="12422" y="190624"/>
                </a:cubicBezTo>
                <a:cubicBezTo>
                  <a:pt x="19025" y="190550"/>
                  <a:pt x="24322" y="185178"/>
                  <a:pt x="24248" y="178575"/>
                </a:cubicBezTo>
                <a:lnTo>
                  <a:pt x="24098" y="159363"/>
                </a:lnTo>
                <a:lnTo>
                  <a:pt x="28090" y="163131"/>
                </a:lnTo>
                <a:cubicBezTo>
                  <a:pt x="45362" y="180328"/>
                  <a:pt x="69199" y="190997"/>
                  <a:pt x="95499" y="190997"/>
                </a:cubicBezTo>
                <a:cubicBezTo>
                  <a:pt x="143621" y="190997"/>
                  <a:pt x="183425" y="155409"/>
                  <a:pt x="190027" y="109115"/>
                </a:cubicBezTo>
                <a:close/>
              </a:path>
            </a:pathLst>
          </a:custGeom>
          <a:solidFill>
            <a:srgbClr val="34C759"/>
          </a:solidFill>
          <a:ln/>
        </p:spPr>
      </p:sp>
      <p:sp>
        <p:nvSpPr>
          <p:cNvPr id="58" name="Text 56"/>
          <p:cNvSpPr/>
          <p:nvPr/>
        </p:nvSpPr>
        <p:spPr>
          <a:xfrm>
            <a:off x="8556285" y="4593489"/>
            <a:ext cx="238747" cy="127332"/>
          </a:xfrm>
          <a:prstGeom prst="rect">
            <a:avLst/>
          </a:prstGeom>
          <a:noFill/>
          <a:ln/>
        </p:spPr>
        <p:txBody>
          <a:bodyPr wrap="square" lIns="0" tIns="0" rIns="0" bIns="0" rtlCol="0" anchor="ctr"/>
          <a:lstStyle/>
          <a:p>
            <a:pPr>
              <a:lnSpc>
                <a:spcPct val="110000"/>
              </a:lnSpc>
            </a:pPr>
            <a:r>
              <a:rPr lang="en-US" sz="752" dirty="0">
                <a:solidFill>
                  <a:srgbClr val="86868B"/>
                </a:solidFill>
                <a:latin typeface="Liter" pitchFamily="34" charset="0"/>
                <a:ea typeface="Liter" pitchFamily="34" charset="-122"/>
                <a:cs typeface="Liter" pitchFamily="34" charset="-120"/>
              </a:rPr>
              <a:t>ACK</a:t>
            </a:r>
            <a:endParaRPr lang="en-US" sz="1600" dirty="0"/>
          </a:p>
        </p:txBody>
      </p:sp>
      <p:sp>
        <p:nvSpPr>
          <p:cNvPr id="59" name="Shape 57"/>
          <p:cNvSpPr/>
          <p:nvPr/>
        </p:nvSpPr>
        <p:spPr>
          <a:xfrm>
            <a:off x="9305751" y="4370658"/>
            <a:ext cx="190997" cy="190997"/>
          </a:xfrm>
          <a:custGeom>
            <a:avLst/>
            <a:gdLst/>
            <a:ahLst/>
            <a:cxnLst/>
            <a:rect l="l" t="t" r="r" b="b"/>
            <a:pathLst>
              <a:path w="190997" h="190997">
                <a:moveTo>
                  <a:pt x="24583" y="85240"/>
                </a:moveTo>
                <a:cubicBezTo>
                  <a:pt x="29545" y="50547"/>
                  <a:pt x="59426" y="23875"/>
                  <a:pt x="95499" y="23875"/>
                </a:cubicBezTo>
                <a:cubicBezTo>
                  <a:pt x="115270" y="23875"/>
                  <a:pt x="133176" y="31895"/>
                  <a:pt x="146158" y="44840"/>
                </a:cubicBezTo>
                <a:cubicBezTo>
                  <a:pt x="146232" y="44914"/>
                  <a:pt x="146307" y="44989"/>
                  <a:pt x="146382" y="45063"/>
                </a:cubicBezTo>
                <a:lnTo>
                  <a:pt x="149217" y="47749"/>
                </a:lnTo>
                <a:lnTo>
                  <a:pt x="131348" y="47749"/>
                </a:lnTo>
                <a:cubicBezTo>
                  <a:pt x="124745" y="47749"/>
                  <a:pt x="119411" y="53084"/>
                  <a:pt x="119411" y="59687"/>
                </a:cubicBezTo>
                <a:cubicBezTo>
                  <a:pt x="119411" y="66290"/>
                  <a:pt x="124745" y="71624"/>
                  <a:pt x="131348" y="71624"/>
                </a:cubicBezTo>
                <a:lnTo>
                  <a:pt x="179097" y="71624"/>
                </a:lnTo>
                <a:cubicBezTo>
                  <a:pt x="185700" y="71624"/>
                  <a:pt x="191035" y="66290"/>
                  <a:pt x="191035" y="59687"/>
                </a:cubicBezTo>
                <a:lnTo>
                  <a:pt x="191035" y="11937"/>
                </a:lnTo>
                <a:cubicBezTo>
                  <a:pt x="191035" y="5334"/>
                  <a:pt x="185700" y="0"/>
                  <a:pt x="179097" y="0"/>
                </a:cubicBezTo>
                <a:cubicBezTo>
                  <a:pt x="172495" y="0"/>
                  <a:pt x="167160" y="5334"/>
                  <a:pt x="167160" y="11937"/>
                </a:cubicBezTo>
                <a:lnTo>
                  <a:pt x="167160" y="31858"/>
                </a:lnTo>
                <a:lnTo>
                  <a:pt x="162945" y="27866"/>
                </a:lnTo>
                <a:cubicBezTo>
                  <a:pt x="145673" y="10669"/>
                  <a:pt x="121798" y="0"/>
                  <a:pt x="95499" y="0"/>
                </a:cubicBezTo>
                <a:cubicBezTo>
                  <a:pt x="47376" y="0"/>
                  <a:pt x="7573" y="35588"/>
                  <a:pt x="970" y="81883"/>
                </a:cubicBezTo>
                <a:cubicBezTo>
                  <a:pt x="37" y="88411"/>
                  <a:pt x="4551" y="94454"/>
                  <a:pt x="11079" y="95387"/>
                </a:cubicBezTo>
                <a:cubicBezTo>
                  <a:pt x="17608" y="96319"/>
                  <a:pt x="23651" y="91768"/>
                  <a:pt x="24583" y="85277"/>
                </a:cubicBezTo>
                <a:close/>
                <a:moveTo>
                  <a:pt x="190027" y="109115"/>
                </a:moveTo>
                <a:cubicBezTo>
                  <a:pt x="190960" y="102586"/>
                  <a:pt x="186409" y="96543"/>
                  <a:pt x="179918" y="95611"/>
                </a:cubicBezTo>
                <a:cubicBezTo>
                  <a:pt x="173427" y="94678"/>
                  <a:pt x="167347" y="99229"/>
                  <a:pt x="166414" y="105720"/>
                </a:cubicBezTo>
                <a:cubicBezTo>
                  <a:pt x="161452" y="140413"/>
                  <a:pt x="131572" y="167085"/>
                  <a:pt x="95499" y="167085"/>
                </a:cubicBezTo>
                <a:cubicBezTo>
                  <a:pt x="75727" y="167085"/>
                  <a:pt x="57821" y="159065"/>
                  <a:pt x="44840" y="146120"/>
                </a:cubicBezTo>
                <a:cubicBezTo>
                  <a:pt x="44765" y="146046"/>
                  <a:pt x="44690" y="145971"/>
                  <a:pt x="44616" y="145897"/>
                </a:cubicBezTo>
                <a:lnTo>
                  <a:pt x="41781" y="143211"/>
                </a:lnTo>
                <a:lnTo>
                  <a:pt x="59649" y="143211"/>
                </a:lnTo>
                <a:cubicBezTo>
                  <a:pt x="66252" y="143211"/>
                  <a:pt x="71587" y="137876"/>
                  <a:pt x="71587" y="131273"/>
                </a:cubicBezTo>
                <a:cubicBezTo>
                  <a:pt x="71587" y="124671"/>
                  <a:pt x="66252" y="119336"/>
                  <a:pt x="59649" y="119336"/>
                </a:cubicBezTo>
                <a:lnTo>
                  <a:pt x="11937" y="119373"/>
                </a:lnTo>
                <a:cubicBezTo>
                  <a:pt x="8766" y="119373"/>
                  <a:pt x="5708" y="120642"/>
                  <a:pt x="3469" y="122917"/>
                </a:cubicBezTo>
                <a:cubicBezTo>
                  <a:pt x="1231" y="125193"/>
                  <a:pt x="-37" y="128214"/>
                  <a:pt x="0" y="131423"/>
                </a:cubicBezTo>
                <a:lnTo>
                  <a:pt x="373" y="178799"/>
                </a:lnTo>
                <a:cubicBezTo>
                  <a:pt x="410" y="185402"/>
                  <a:pt x="5819" y="190699"/>
                  <a:pt x="12422" y="190624"/>
                </a:cubicBezTo>
                <a:cubicBezTo>
                  <a:pt x="19025" y="190550"/>
                  <a:pt x="24322" y="185178"/>
                  <a:pt x="24248" y="178575"/>
                </a:cubicBezTo>
                <a:lnTo>
                  <a:pt x="24098" y="159363"/>
                </a:lnTo>
                <a:lnTo>
                  <a:pt x="28090" y="163131"/>
                </a:lnTo>
                <a:cubicBezTo>
                  <a:pt x="45362" y="180328"/>
                  <a:pt x="69199" y="190997"/>
                  <a:pt x="95499" y="190997"/>
                </a:cubicBezTo>
                <a:cubicBezTo>
                  <a:pt x="143621" y="190997"/>
                  <a:pt x="183425" y="155409"/>
                  <a:pt x="190027" y="109115"/>
                </a:cubicBezTo>
                <a:close/>
              </a:path>
            </a:pathLst>
          </a:custGeom>
          <a:solidFill>
            <a:srgbClr val="FF3B30"/>
          </a:solidFill>
          <a:ln/>
        </p:spPr>
      </p:sp>
      <p:sp>
        <p:nvSpPr>
          <p:cNvPr id="60" name="Text 58"/>
          <p:cNvSpPr/>
          <p:nvPr/>
        </p:nvSpPr>
        <p:spPr>
          <a:xfrm>
            <a:off x="9279191" y="4593489"/>
            <a:ext cx="294454" cy="127332"/>
          </a:xfrm>
          <a:prstGeom prst="rect">
            <a:avLst/>
          </a:prstGeom>
          <a:noFill/>
          <a:ln/>
        </p:spPr>
        <p:txBody>
          <a:bodyPr wrap="square" lIns="0" tIns="0" rIns="0" bIns="0" rtlCol="0" anchor="ctr"/>
          <a:lstStyle/>
          <a:p>
            <a:pPr>
              <a:lnSpc>
                <a:spcPct val="110000"/>
              </a:lnSpc>
            </a:pPr>
            <a:r>
              <a:rPr lang="en-US" sz="752" dirty="0">
                <a:solidFill>
                  <a:srgbClr val="86868B"/>
                </a:solidFill>
                <a:latin typeface="Liter" pitchFamily="34" charset="0"/>
                <a:ea typeface="Liter" pitchFamily="34" charset="-122"/>
                <a:cs typeface="Liter" pitchFamily="34" charset="-120"/>
              </a:rPr>
              <a:t>STOP</a:t>
            </a:r>
            <a:endParaRPr lang="en-US" sz="1600" dirty="0"/>
          </a:p>
        </p:txBody>
      </p:sp>
      <p:sp>
        <p:nvSpPr>
          <p:cNvPr id="61" name="Shape 59"/>
          <p:cNvSpPr/>
          <p:nvPr/>
        </p:nvSpPr>
        <p:spPr>
          <a:xfrm>
            <a:off x="7982398" y="4890828"/>
            <a:ext cx="912013" cy="426561"/>
          </a:xfrm>
          <a:custGeom>
            <a:avLst/>
            <a:gdLst/>
            <a:ahLst/>
            <a:cxnLst/>
            <a:rect l="l" t="t" r="r" b="b"/>
            <a:pathLst>
              <a:path w="912013" h="426561">
                <a:moveTo>
                  <a:pt x="63664" y="0"/>
                </a:moveTo>
                <a:lnTo>
                  <a:pt x="848348" y="0"/>
                </a:lnTo>
                <a:cubicBezTo>
                  <a:pt x="883509" y="0"/>
                  <a:pt x="912013" y="28503"/>
                  <a:pt x="912013" y="63664"/>
                </a:cubicBezTo>
                <a:lnTo>
                  <a:pt x="912013" y="362897"/>
                </a:lnTo>
                <a:cubicBezTo>
                  <a:pt x="912013" y="398057"/>
                  <a:pt x="883509" y="426561"/>
                  <a:pt x="848348" y="426561"/>
                </a:cubicBezTo>
                <a:lnTo>
                  <a:pt x="63664" y="426561"/>
                </a:lnTo>
                <a:cubicBezTo>
                  <a:pt x="28503" y="426561"/>
                  <a:pt x="0" y="398057"/>
                  <a:pt x="0" y="362897"/>
                </a:cubicBezTo>
                <a:lnTo>
                  <a:pt x="0" y="63664"/>
                </a:lnTo>
                <a:cubicBezTo>
                  <a:pt x="0" y="28527"/>
                  <a:pt x="28527" y="0"/>
                  <a:pt x="63664" y="0"/>
                </a:cubicBezTo>
                <a:close/>
              </a:path>
            </a:pathLst>
          </a:custGeom>
          <a:solidFill>
            <a:srgbClr val="34C759">
              <a:alpha val="10196"/>
            </a:srgbClr>
          </a:solidFill>
          <a:ln w="20320">
            <a:solidFill>
              <a:srgbClr val="34C759"/>
            </a:solidFill>
            <a:prstDash val="solid"/>
          </a:ln>
        </p:spPr>
      </p:sp>
      <p:sp>
        <p:nvSpPr>
          <p:cNvPr id="62" name="Text 60"/>
          <p:cNvSpPr/>
          <p:nvPr/>
        </p:nvSpPr>
        <p:spPr>
          <a:xfrm>
            <a:off x="8088242" y="4960857"/>
            <a:ext cx="700324" cy="159164"/>
          </a:xfrm>
          <a:prstGeom prst="rect">
            <a:avLst/>
          </a:prstGeom>
          <a:noFill/>
          <a:ln/>
        </p:spPr>
        <p:txBody>
          <a:bodyPr wrap="square" lIns="0" tIns="0" rIns="0" bIns="0" rtlCol="0" anchor="ctr"/>
          <a:lstStyle/>
          <a:p>
            <a:pPr algn="ctr">
              <a:lnSpc>
                <a:spcPct val="120000"/>
              </a:lnSpc>
            </a:pPr>
            <a:r>
              <a:rPr lang="en-US" sz="877" b="1" dirty="0">
                <a:solidFill>
                  <a:srgbClr val="1D1D1D"/>
                </a:solidFill>
                <a:latin typeface="Liter" pitchFamily="34" charset="0"/>
                <a:ea typeface="Liter" pitchFamily="34" charset="-122"/>
                <a:cs typeface="Liter" pitchFamily="34" charset="-120"/>
              </a:rPr>
              <a:t>CONFIRMED</a:t>
            </a:r>
            <a:endParaRPr lang="en-US" sz="1600" dirty="0"/>
          </a:p>
        </p:txBody>
      </p:sp>
      <p:sp>
        <p:nvSpPr>
          <p:cNvPr id="63" name="Text 61"/>
          <p:cNvSpPr/>
          <p:nvPr/>
        </p:nvSpPr>
        <p:spPr>
          <a:xfrm>
            <a:off x="8092221" y="5120022"/>
            <a:ext cx="692366" cy="127332"/>
          </a:xfrm>
          <a:prstGeom prst="rect">
            <a:avLst/>
          </a:prstGeom>
          <a:noFill/>
          <a:ln/>
        </p:spPr>
        <p:txBody>
          <a:bodyPr wrap="square" lIns="0" tIns="0" rIns="0" bIns="0" rtlCol="0" anchor="ctr"/>
          <a:lstStyle/>
          <a:p>
            <a:pPr algn="ctr">
              <a:lnSpc>
                <a:spcPct val="110000"/>
              </a:lnSpc>
            </a:pPr>
            <a:r>
              <a:rPr lang="en-US" sz="752" dirty="0">
                <a:solidFill>
                  <a:srgbClr val="86868B"/>
                </a:solidFill>
                <a:latin typeface="Liter" pitchFamily="34" charset="0"/>
                <a:ea typeface="Liter" pitchFamily="34" charset="-122"/>
                <a:cs typeface="Liter" pitchFamily="34" charset="-120"/>
              </a:rPr>
              <a:t>Blynk + Door</a:t>
            </a:r>
            <a:endParaRPr lang="en-US" sz="1600" dirty="0"/>
          </a:p>
        </p:txBody>
      </p:sp>
      <p:sp>
        <p:nvSpPr>
          <p:cNvPr id="64" name="Shape 62"/>
          <p:cNvSpPr/>
          <p:nvPr/>
        </p:nvSpPr>
        <p:spPr>
          <a:xfrm>
            <a:off x="9161110" y="4890828"/>
            <a:ext cx="912013" cy="426561"/>
          </a:xfrm>
          <a:custGeom>
            <a:avLst/>
            <a:gdLst/>
            <a:ahLst/>
            <a:cxnLst/>
            <a:rect l="l" t="t" r="r" b="b"/>
            <a:pathLst>
              <a:path w="912013" h="426561">
                <a:moveTo>
                  <a:pt x="63664" y="0"/>
                </a:moveTo>
                <a:lnTo>
                  <a:pt x="848348" y="0"/>
                </a:lnTo>
                <a:cubicBezTo>
                  <a:pt x="883509" y="0"/>
                  <a:pt x="912013" y="28503"/>
                  <a:pt x="912013" y="63664"/>
                </a:cubicBezTo>
                <a:lnTo>
                  <a:pt x="912013" y="362897"/>
                </a:lnTo>
                <a:cubicBezTo>
                  <a:pt x="912013" y="398057"/>
                  <a:pt x="883509" y="426561"/>
                  <a:pt x="848348" y="426561"/>
                </a:cubicBezTo>
                <a:lnTo>
                  <a:pt x="63664" y="426561"/>
                </a:lnTo>
                <a:cubicBezTo>
                  <a:pt x="28503" y="426561"/>
                  <a:pt x="0" y="398057"/>
                  <a:pt x="0" y="362897"/>
                </a:cubicBezTo>
                <a:lnTo>
                  <a:pt x="0" y="63664"/>
                </a:lnTo>
                <a:cubicBezTo>
                  <a:pt x="0" y="28527"/>
                  <a:pt x="28527" y="0"/>
                  <a:pt x="63664" y="0"/>
                </a:cubicBezTo>
                <a:close/>
              </a:path>
            </a:pathLst>
          </a:custGeom>
          <a:solidFill>
            <a:srgbClr val="86868B">
              <a:alpha val="10196"/>
            </a:srgbClr>
          </a:solidFill>
          <a:ln w="20320">
            <a:solidFill>
              <a:srgbClr val="86868B"/>
            </a:solidFill>
            <a:prstDash val="solid"/>
          </a:ln>
        </p:spPr>
      </p:sp>
      <p:sp>
        <p:nvSpPr>
          <p:cNvPr id="65" name="Text 63"/>
          <p:cNvSpPr/>
          <p:nvPr/>
        </p:nvSpPr>
        <p:spPr>
          <a:xfrm>
            <a:off x="9266955" y="4960857"/>
            <a:ext cx="700324" cy="159164"/>
          </a:xfrm>
          <a:prstGeom prst="rect">
            <a:avLst/>
          </a:prstGeom>
          <a:noFill/>
          <a:ln/>
        </p:spPr>
        <p:txBody>
          <a:bodyPr wrap="square" lIns="0" tIns="0" rIns="0" bIns="0" rtlCol="0" anchor="ctr"/>
          <a:lstStyle/>
          <a:p>
            <a:pPr algn="ctr">
              <a:lnSpc>
                <a:spcPct val="120000"/>
              </a:lnSpc>
            </a:pPr>
            <a:r>
              <a:rPr lang="en-US" sz="877" b="1" dirty="0">
                <a:solidFill>
                  <a:srgbClr val="1D1D1D"/>
                </a:solidFill>
                <a:latin typeface="Liter" pitchFamily="34" charset="0"/>
                <a:ea typeface="Liter" pitchFamily="34" charset="-122"/>
                <a:cs typeface="Liter" pitchFamily="34" charset="-120"/>
              </a:rPr>
              <a:t>CANCELLED</a:t>
            </a:r>
            <a:endParaRPr lang="en-US" sz="1600" dirty="0"/>
          </a:p>
        </p:txBody>
      </p:sp>
      <p:sp>
        <p:nvSpPr>
          <p:cNvPr id="66" name="Text 64"/>
          <p:cNvSpPr/>
          <p:nvPr/>
        </p:nvSpPr>
        <p:spPr>
          <a:xfrm>
            <a:off x="9270934" y="5120022"/>
            <a:ext cx="692366" cy="127332"/>
          </a:xfrm>
          <a:prstGeom prst="rect">
            <a:avLst/>
          </a:prstGeom>
          <a:noFill/>
          <a:ln/>
        </p:spPr>
        <p:txBody>
          <a:bodyPr wrap="square" lIns="0" tIns="0" rIns="0" bIns="0" rtlCol="0" anchor="ctr"/>
          <a:lstStyle/>
          <a:p>
            <a:pPr algn="ctr">
              <a:lnSpc>
                <a:spcPct val="110000"/>
              </a:lnSpc>
            </a:pPr>
            <a:r>
              <a:rPr lang="en-US" sz="752" dirty="0">
                <a:solidFill>
                  <a:srgbClr val="86868B"/>
                </a:solidFill>
                <a:latin typeface="Liter" pitchFamily="34" charset="0"/>
                <a:ea typeface="Liter" pitchFamily="34" charset="-122"/>
                <a:cs typeface="Liter" pitchFamily="34" charset="-120"/>
              </a:rPr>
              <a:t>Silent Stop</a:t>
            </a:r>
            <a:endParaRPr lang="en-US" sz="1600" dirty="0"/>
          </a:p>
        </p:txBody>
      </p:sp>
      <p:sp>
        <p:nvSpPr>
          <p:cNvPr id="67" name="Shape 65"/>
          <p:cNvSpPr/>
          <p:nvPr/>
        </p:nvSpPr>
        <p:spPr>
          <a:xfrm>
            <a:off x="6180457" y="5587867"/>
            <a:ext cx="5696497" cy="913604"/>
          </a:xfrm>
          <a:custGeom>
            <a:avLst/>
            <a:gdLst/>
            <a:ahLst/>
            <a:cxnLst/>
            <a:rect l="l" t="t" r="r" b="b"/>
            <a:pathLst>
              <a:path w="5696497" h="913604">
                <a:moveTo>
                  <a:pt x="95499" y="0"/>
                </a:moveTo>
                <a:lnTo>
                  <a:pt x="5600998" y="0"/>
                </a:lnTo>
                <a:cubicBezTo>
                  <a:pt x="5653741" y="0"/>
                  <a:pt x="5696497" y="42756"/>
                  <a:pt x="5696497" y="95499"/>
                </a:cubicBezTo>
                <a:lnTo>
                  <a:pt x="5696497" y="818105"/>
                </a:lnTo>
                <a:cubicBezTo>
                  <a:pt x="5696497" y="870848"/>
                  <a:pt x="5653741" y="913604"/>
                  <a:pt x="5600998" y="913604"/>
                </a:cubicBezTo>
                <a:lnTo>
                  <a:pt x="95499" y="913604"/>
                </a:lnTo>
                <a:cubicBezTo>
                  <a:pt x="42756" y="913604"/>
                  <a:pt x="0" y="870848"/>
                  <a:pt x="0" y="818105"/>
                </a:cubicBezTo>
                <a:lnTo>
                  <a:pt x="0" y="95499"/>
                </a:lnTo>
                <a:cubicBezTo>
                  <a:pt x="0" y="42792"/>
                  <a:pt x="42792" y="0"/>
                  <a:pt x="95499" y="0"/>
                </a:cubicBezTo>
                <a:close/>
              </a:path>
            </a:pathLst>
          </a:custGeom>
          <a:solidFill>
            <a:srgbClr val="0071E3">
              <a:alpha val="5098"/>
            </a:srgbClr>
          </a:solidFill>
          <a:ln w="10160">
            <a:solidFill>
              <a:srgbClr val="0071E3">
                <a:alpha val="20000"/>
              </a:srgbClr>
            </a:solidFill>
            <a:prstDash val="solid"/>
          </a:ln>
        </p:spPr>
      </p:sp>
      <p:sp>
        <p:nvSpPr>
          <p:cNvPr id="68" name="Shape 66"/>
          <p:cNvSpPr/>
          <p:nvPr/>
        </p:nvSpPr>
        <p:spPr>
          <a:xfrm>
            <a:off x="6330867" y="5758172"/>
            <a:ext cx="143248" cy="143248"/>
          </a:xfrm>
          <a:custGeom>
            <a:avLst/>
            <a:gdLst/>
            <a:ahLst/>
            <a:cxnLst/>
            <a:rect l="l" t="t" r="r" b="b"/>
            <a:pathLst>
              <a:path w="143248" h="143248">
                <a:moveTo>
                  <a:pt x="71624" y="0"/>
                </a:moveTo>
                <a:cubicBezTo>
                  <a:pt x="72911" y="0"/>
                  <a:pt x="74198" y="280"/>
                  <a:pt x="75373" y="811"/>
                </a:cubicBezTo>
                <a:lnTo>
                  <a:pt x="128084" y="23166"/>
                </a:lnTo>
                <a:cubicBezTo>
                  <a:pt x="134239" y="25768"/>
                  <a:pt x="138827" y="31839"/>
                  <a:pt x="138800" y="39169"/>
                </a:cubicBezTo>
                <a:cubicBezTo>
                  <a:pt x="138660" y="66924"/>
                  <a:pt x="127245" y="117704"/>
                  <a:pt x="79038" y="140786"/>
                </a:cubicBezTo>
                <a:cubicBezTo>
                  <a:pt x="74366" y="143024"/>
                  <a:pt x="68938" y="143024"/>
                  <a:pt x="64266" y="140786"/>
                </a:cubicBezTo>
                <a:cubicBezTo>
                  <a:pt x="16031" y="117704"/>
                  <a:pt x="4644" y="66924"/>
                  <a:pt x="4504" y="39169"/>
                </a:cubicBezTo>
                <a:cubicBezTo>
                  <a:pt x="4477" y="31839"/>
                  <a:pt x="9065" y="25768"/>
                  <a:pt x="15220" y="23166"/>
                </a:cubicBezTo>
                <a:lnTo>
                  <a:pt x="67903" y="811"/>
                </a:lnTo>
                <a:cubicBezTo>
                  <a:pt x="69078" y="280"/>
                  <a:pt x="70337" y="0"/>
                  <a:pt x="71624" y="0"/>
                </a:cubicBezTo>
                <a:close/>
                <a:moveTo>
                  <a:pt x="71624" y="18689"/>
                </a:moveTo>
                <a:lnTo>
                  <a:pt x="71624" y="124475"/>
                </a:lnTo>
                <a:cubicBezTo>
                  <a:pt x="110234" y="105785"/>
                  <a:pt x="120614" y="64378"/>
                  <a:pt x="120866" y="39589"/>
                </a:cubicBezTo>
                <a:lnTo>
                  <a:pt x="71624" y="18717"/>
                </a:lnTo>
                <a:lnTo>
                  <a:pt x="71624" y="18717"/>
                </a:lnTo>
                <a:close/>
              </a:path>
            </a:pathLst>
          </a:custGeom>
          <a:solidFill>
            <a:srgbClr val="0071E3"/>
          </a:solidFill>
          <a:ln/>
        </p:spPr>
      </p:sp>
      <p:sp>
        <p:nvSpPr>
          <p:cNvPr id="69" name="Text 67"/>
          <p:cNvSpPr/>
          <p:nvPr/>
        </p:nvSpPr>
        <p:spPr>
          <a:xfrm>
            <a:off x="6494011" y="5718381"/>
            <a:ext cx="5324052" cy="222830"/>
          </a:xfrm>
          <a:prstGeom prst="rect">
            <a:avLst/>
          </a:prstGeom>
          <a:noFill/>
          <a:ln/>
        </p:spPr>
        <p:txBody>
          <a:bodyPr wrap="square" lIns="0" tIns="0" rIns="0" bIns="0" rtlCol="0" anchor="ctr"/>
          <a:lstStyle/>
          <a:p>
            <a:pPr>
              <a:lnSpc>
                <a:spcPct val="130000"/>
              </a:lnSpc>
            </a:pPr>
            <a:r>
              <a:rPr lang="en-US" sz="1128" b="1" dirty="0">
                <a:solidFill>
                  <a:srgbClr val="1D1D1D"/>
                </a:solidFill>
                <a:latin typeface="Liter" pitchFamily="34" charset="0"/>
                <a:ea typeface="Liter" pitchFamily="34" charset="-122"/>
                <a:cs typeface="Liter" pitchFamily="34" charset="-120"/>
              </a:rPr>
              <a:t>Safety-First Design</a:t>
            </a:r>
            <a:endParaRPr lang="en-US" sz="1600" dirty="0"/>
          </a:p>
        </p:txBody>
      </p:sp>
      <p:sp>
        <p:nvSpPr>
          <p:cNvPr id="70" name="Text 68"/>
          <p:cNvSpPr/>
          <p:nvPr/>
        </p:nvSpPr>
        <p:spPr>
          <a:xfrm>
            <a:off x="6310972" y="6004877"/>
            <a:ext cx="5491175" cy="366078"/>
          </a:xfrm>
          <a:prstGeom prst="rect">
            <a:avLst/>
          </a:prstGeom>
          <a:noFill/>
          <a:ln/>
        </p:spPr>
        <p:txBody>
          <a:bodyPr wrap="square" lIns="0" tIns="0" rIns="0" bIns="0" rtlCol="0" anchor="ctr"/>
          <a:lstStyle/>
          <a:p>
            <a:pPr>
              <a:lnSpc>
                <a:spcPct val="140000"/>
              </a:lnSpc>
            </a:pPr>
            <a:r>
              <a:rPr lang="en-US" sz="877" dirty="0">
                <a:solidFill>
                  <a:srgbClr val="86868B"/>
                </a:solidFill>
                <a:latin typeface="Liter" pitchFamily="34" charset="0"/>
                <a:ea typeface="Liter" pitchFamily="34" charset="-122"/>
                <a:cs typeface="Liter" pitchFamily="34" charset="-120"/>
              </a:rPr>
              <a:t>The human-in-the-loop verification prevents false IoT alerts due to sensor errors or transient conditions. Emergency notifications are only sent after explicit user confirmation.</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Liter" pitchFamily="34" charset="0"/>
                <a:ea typeface="Liter" pitchFamily="34" charset="-122"/>
                <a:cs typeface="Liter" pitchFamily="34" charset="-120"/>
              </a:rPr>
              <a:t>HYBRID INPUT SYSTEM</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Liter" pitchFamily="34" charset="0"/>
                <a:ea typeface="Liter" pitchFamily="34" charset="-122"/>
                <a:cs typeface="Liter" pitchFamily="34" charset="-120"/>
              </a:rPr>
              <a:t>Manual "Smart Button" Logic</a:t>
            </a:r>
            <a:endParaRPr lang="en-US" sz="1600" dirty="0"/>
          </a:p>
        </p:txBody>
      </p:sp>
      <p:sp>
        <p:nvSpPr>
          <p:cNvPr id="4" name="Shape 2"/>
          <p:cNvSpPr/>
          <p:nvPr/>
        </p:nvSpPr>
        <p:spPr>
          <a:xfrm>
            <a:off x="320675" y="1019175"/>
            <a:ext cx="5673725" cy="2562225"/>
          </a:xfrm>
          <a:custGeom>
            <a:avLst/>
            <a:gdLst/>
            <a:ahLst/>
            <a:cxnLst/>
            <a:rect l="l" t="t" r="r" b="b"/>
            <a:pathLst>
              <a:path w="5673725" h="2562225">
                <a:moveTo>
                  <a:pt x="95238" y="0"/>
                </a:moveTo>
                <a:lnTo>
                  <a:pt x="5578487" y="0"/>
                </a:lnTo>
                <a:cubicBezTo>
                  <a:pt x="5631086" y="0"/>
                  <a:pt x="5673725" y="42639"/>
                  <a:pt x="5673725" y="95238"/>
                </a:cubicBezTo>
                <a:lnTo>
                  <a:pt x="5673725" y="2466987"/>
                </a:lnTo>
                <a:cubicBezTo>
                  <a:pt x="5673725" y="2519586"/>
                  <a:pt x="5631086" y="2562225"/>
                  <a:pt x="5578487" y="2562225"/>
                </a:cubicBezTo>
                <a:lnTo>
                  <a:pt x="95238" y="2562225"/>
                </a:lnTo>
                <a:cubicBezTo>
                  <a:pt x="42639" y="2562225"/>
                  <a:pt x="0" y="2519586"/>
                  <a:pt x="0" y="2466987"/>
                </a:cubicBezTo>
                <a:lnTo>
                  <a:pt x="0" y="95238"/>
                </a:lnTo>
                <a:cubicBezTo>
                  <a:pt x="0" y="42675"/>
                  <a:pt x="42675" y="0"/>
                  <a:pt x="95238"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5" name="Shape 3"/>
          <p:cNvSpPr/>
          <p:nvPr/>
        </p:nvSpPr>
        <p:spPr>
          <a:xfrm>
            <a:off x="544116" y="1244598"/>
            <a:ext cx="138906" cy="158750"/>
          </a:xfrm>
          <a:custGeom>
            <a:avLst/>
            <a:gdLst/>
            <a:ahLst/>
            <a:cxnLst/>
            <a:rect l="l" t="t" r="r" b="b"/>
            <a:pathLst>
              <a:path w="138906" h="158750">
                <a:moveTo>
                  <a:pt x="39688" y="12402"/>
                </a:moveTo>
                <a:cubicBezTo>
                  <a:pt x="39688" y="5550"/>
                  <a:pt x="45238" y="0"/>
                  <a:pt x="52090" y="0"/>
                </a:cubicBezTo>
                <a:cubicBezTo>
                  <a:pt x="58942" y="0"/>
                  <a:pt x="64492" y="5550"/>
                  <a:pt x="64492" y="12402"/>
                </a:cubicBezTo>
                <a:lnTo>
                  <a:pt x="64492" y="58353"/>
                </a:lnTo>
                <a:cubicBezTo>
                  <a:pt x="67128" y="55997"/>
                  <a:pt x="70600" y="54570"/>
                  <a:pt x="74414" y="54570"/>
                </a:cubicBezTo>
                <a:cubicBezTo>
                  <a:pt x="80801" y="54570"/>
                  <a:pt x="86258" y="58601"/>
                  <a:pt x="88367" y="64244"/>
                </a:cubicBezTo>
                <a:cubicBezTo>
                  <a:pt x="91095" y="61361"/>
                  <a:pt x="94940" y="59531"/>
                  <a:pt x="99219" y="59531"/>
                </a:cubicBezTo>
                <a:cubicBezTo>
                  <a:pt x="107063" y="59531"/>
                  <a:pt x="113481" y="65577"/>
                  <a:pt x="114071" y="73267"/>
                </a:cubicBezTo>
                <a:cubicBezTo>
                  <a:pt x="116706" y="70879"/>
                  <a:pt x="120210" y="69453"/>
                  <a:pt x="124023" y="69453"/>
                </a:cubicBezTo>
                <a:cubicBezTo>
                  <a:pt x="132240" y="69453"/>
                  <a:pt x="138906" y="76119"/>
                  <a:pt x="138906" y="84336"/>
                </a:cubicBezTo>
                <a:lnTo>
                  <a:pt x="138906" y="119062"/>
                </a:lnTo>
                <a:cubicBezTo>
                  <a:pt x="138906" y="140984"/>
                  <a:pt x="121140" y="158750"/>
                  <a:pt x="99219" y="158750"/>
                </a:cubicBezTo>
                <a:lnTo>
                  <a:pt x="72771" y="158750"/>
                </a:lnTo>
                <a:cubicBezTo>
                  <a:pt x="71220" y="158750"/>
                  <a:pt x="69701" y="158657"/>
                  <a:pt x="68213" y="158440"/>
                </a:cubicBezTo>
                <a:cubicBezTo>
                  <a:pt x="51067" y="156704"/>
                  <a:pt x="35285" y="147898"/>
                  <a:pt x="24805" y="133945"/>
                </a:cubicBezTo>
                <a:lnTo>
                  <a:pt x="2480" y="104180"/>
                </a:lnTo>
                <a:cubicBezTo>
                  <a:pt x="-1643" y="98692"/>
                  <a:pt x="-527" y="90940"/>
                  <a:pt x="4961" y="86816"/>
                </a:cubicBezTo>
                <a:cubicBezTo>
                  <a:pt x="10449" y="82693"/>
                  <a:pt x="18200" y="83809"/>
                  <a:pt x="22324" y="89297"/>
                </a:cubicBezTo>
                <a:lnTo>
                  <a:pt x="39688" y="112458"/>
                </a:lnTo>
                <a:lnTo>
                  <a:pt x="39688" y="12402"/>
                </a:lnTo>
                <a:close/>
                <a:moveTo>
                  <a:pt x="74414" y="94258"/>
                </a:moveTo>
                <a:cubicBezTo>
                  <a:pt x="74414" y="91529"/>
                  <a:pt x="72182" y="89297"/>
                  <a:pt x="69453" y="89297"/>
                </a:cubicBezTo>
                <a:cubicBezTo>
                  <a:pt x="66725" y="89297"/>
                  <a:pt x="64492" y="91529"/>
                  <a:pt x="64492" y="94258"/>
                </a:cubicBezTo>
                <a:lnTo>
                  <a:pt x="64492" y="124023"/>
                </a:lnTo>
                <a:cubicBezTo>
                  <a:pt x="64492" y="126752"/>
                  <a:pt x="66725" y="128984"/>
                  <a:pt x="69453" y="128984"/>
                </a:cubicBezTo>
                <a:cubicBezTo>
                  <a:pt x="72182" y="128984"/>
                  <a:pt x="74414" y="126752"/>
                  <a:pt x="74414" y="124023"/>
                </a:cubicBezTo>
                <a:lnTo>
                  <a:pt x="74414" y="94258"/>
                </a:lnTo>
                <a:close/>
                <a:moveTo>
                  <a:pt x="89297" y="89297"/>
                </a:moveTo>
                <a:cubicBezTo>
                  <a:pt x="86568" y="89297"/>
                  <a:pt x="84336" y="91529"/>
                  <a:pt x="84336" y="94258"/>
                </a:cubicBezTo>
                <a:lnTo>
                  <a:pt x="84336" y="124023"/>
                </a:lnTo>
                <a:cubicBezTo>
                  <a:pt x="84336" y="126752"/>
                  <a:pt x="86568" y="128984"/>
                  <a:pt x="89297" y="128984"/>
                </a:cubicBezTo>
                <a:cubicBezTo>
                  <a:pt x="92025" y="128984"/>
                  <a:pt x="94258" y="126752"/>
                  <a:pt x="94258" y="124023"/>
                </a:cubicBezTo>
                <a:lnTo>
                  <a:pt x="94258" y="94258"/>
                </a:lnTo>
                <a:cubicBezTo>
                  <a:pt x="94258" y="91529"/>
                  <a:pt x="92025" y="89297"/>
                  <a:pt x="89297" y="89297"/>
                </a:cubicBezTo>
                <a:close/>
                <a:moveTo>
                  <a:pt x="114102" y="94258"/>
                </a:moveTo>
                <a:cubicBezTo>
                  <a:pt x="114102" y="91529"/>
                  <a:pt x="111869" y="89297"/>
                  <a:pt x="109141" y="89297"/>
                </a:cubicBezTo>
                <a:cubicBezTo>
                  <a:pt x="106412" y="89297"/>
                  <a:pt x="104180" y="91529"/>
                  <a:pt x="104180" y="94258"/>
                </a:cubicBezTo>
                <a:lnTo>
                  <a:pt x="104180" y="124023"/>
                </a:lnTo>
                <a:cubicBezTo>
                  <a:pt x="104180" y="126752"/>
                  <a:pt x="106412" y="128984"/>
                  <a:pt x="109141" y="128984"/>
                </a:cubicBezTo>
                <a:cubicBezTo>
                  <a:pt x="111869" y="128984"/>
                  <a:pt x="114102" y="126752"/>
                  <a:pt x="114102" y="124023"/>
                </a:cubicBezTo>
                <a:lnTo>
                  <a:pt x="114102" y="94258"/>
                </a:lnTo>
                <a:close/>
              </a:path>
            </a:pathLst>
          </a:custGeom>
          <a:solidFill>
            <a:srgbClr val="0071E3"/>
          </a:solidFill>
          <a:ln/>
        </p:spPr>
      </p:sp>
      <p:sp>
        <p:nvSpPr>
          <p:cNvPr id="6" name="Text 4"/>
          <p:cNvSpPr/>
          <p:nvPr/>
        </p:nvSpPr>
        <p:spPr>
          <a:xfrm>
            <a:off x="712788" y="1212848"/>
            <a:ext cx="516731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Dual-Mode Button Operation</a:t>
            </a:r>
            <a:endParaRPr lang="en-US" sz="1600" dirty="0"/>
          </a:p>
        </p:txBody>
      </p:sp>
      <p:sp>
        <p:nvSpPr>
          <p:cNvPr id="7" name="Shape 5"/>
          <p:cNvSpPr/>
          <p:nvPr/>
        </p:nvSpPr>
        <p:spPr>
          <a:xfrm>
            <a:off x="530225" y="1562098"/>
            <a:ext cx="5270500" cy="849313"/>
          </a:xfrm>
          <a:custGeom>
            <a:avLst/>
            <a:gdLst/>
            <a:ahLst/>
            <a:cxnLst/>
            <a:rect l="l" t="t" r="r" b="b"/>
            <a:pathLst>
              <a:path w="5270500" h="849313">
                <a:moveTo>
                  <a:pt x="31750" y="0"/>
                </a:moveTo>
                <a:lnTo>
                  <a:pt x="5206997" y="0"/>
                </a:lnTo>
                <a:cubicBezTo>
                  <a:pt x="5242069" y="0"/>
                  <a:pt x="5270500" y="28431"/>
                  <a:pt x="5270500" y="63503"/>
                </a:cubicBezTo>
                <a:lnTo>
                  <a:pt x="5270500" y="785809"/>
                </a:lnTo>
                <a:cubicBezTo>
                  <a:pt x="5270500" y="820881"/>
                  <a:pt x="5242069" y="849312"/>
                  <a:pt x="5206997" y="849313"/>
                </a:cubicBezTo>
                <a:lnTo>
                  <a:pt x="31750" y="849313"/>
                </a:lnTo>
                <a:cubicBezTo>
                  <a:pt x="14215" y="849313"/>
                  <a:pt x="0" y="835098"/>
                  <a:pt x="0" y="817563"/>
                </a:cubicBezTo>
                <a:lnTo>
                  <a:pt x="0" y="31750"/>
                </a:lnTo>
                <a:cubicBezTo>
                  <a:pt x="0" y="14227"/>
                  <a:pt x="14227" y="0"/>
                  <a:pt x="31750" y="0"/>
                </a:cubicBezTo>
                <a:close/>
              </a:path>
            </a:pathLst>
          </a:custGeom>
          <a:solidFill>
            <a:srgbClr val="0071E3">
              <a:alpha val="5098"/>
            </a:srgbClr>
          </a:solidFill>
          <a:ln/>
        </p:spPr>
      </p:sp>
      <p:sp>
        <p:nvSpPr>
          <p:cNvPr id="8" name="Shape 6"/>
          <p:cNvSpPr/>
          <p:nvPr/>
        </p:nvSpPr>
        <p:spPr>
          <a:xfrm>
            <a:off x="530225" y="1562098"/>
            <a:ext cx="31750" cy="849313"/>
          </a:xfrm>
          <a:custGeom>
            <a:avLst/>
            <a:gdLst/>
            <a:ahLst/>
            <a:cxnLst/>
            <a:rect l="l" t="t" r="r" b="b"/>
            <a:pathLst>
              <a:path w="31750" h="849313">
                <a:moveTo>
                  <a:pt x="31750" y="0"/>
                </a:moveTo>
                <a:lnTo>
                  <a:pt x="31750" y="0"/>
                </a:lnTo>
                <a:lnTo>
                  <a:pt x="31750" y="849313"/>
                </a:lnTo>
                <a:lnTo>
                  <a:pt x="31750" y="849313"/>
                </a:lnTo>
                <a:cubicBezTo>
                  <a:pt x="14227" y="849313"/>
                  <a:pt x="0" y="835086"/>
                  <a:pt x="0" y="817563"/>
                </a:cubicBezTo>
                <a:lnTo>
                  <a:pt x="0" y="31750"/>
                </a:lnTo>
                <a:cubicBezTo>
                  <a:pt x="0" y="14227"/>
                  <a:pt x="14227" y="0"/>
                  <a:pt x="31750" y="0"/>
                </a:cubicBezTo>
                <a:close/>
              </a:path>
            </a:pathLst>
          </a:custGeom>
          <a:solidFill>
            <a:srgbClr val="0071E3"/>
          </a:solidFill>
          <a:ln/>
        </p:spPr>
      </p:sp>
      <p:sp>
        <p:nvSpPr>
          <p:cNvPr id="9" name="Shape 7"/>
          <p:cNvSpPr/>
          <p:nvPr/>
        </p:nvSpPr>
        <p:spPr>
          <a:xfrm>
            <a:off x="685006" y="1768473"/>
            <a:ext cx="214313" cy="190500"/>
          </a:xfrm>
          <a:custGeom>
            <a:avLst/>
            <a:gdLst/>
            <a:ahLst/>
            <a:cxnLst/>
            <a:rect l="l" t="t" r="r" b="b"/>
            <a:pathLst>
              <a:path w="214313" h="190500">
                <a:moveTo>
                  <a:pt x="142875" y="47625"/>
                </a:moveTo>
                <a:cubicBezTo>
                  <a:pt x="169180" y="47625"/>
                  <a:pt x="190500" y="68945"/>
                  <a:pt x="190500" y="95250"/>
                </a:cubicBezTo>
                <a:cubicBezTo>
                  <a:pt x="190500" y="121555"/>
                  <a:pt x="169180" y="142875"/>
                  <a:pt x="142875" y="142875"/>
                </a:cubicBezTo>
                <a:lnTo>
                  <a:pt x="71438" y="142875"/>
                </a:lnTo>
                <a:cubicBezTo>
                  <a:pt x="45132" y="142875"/>
                  <a:pt x="23812" y="121555"/>
                  <a:pt x="23812" y="95250"/>
                </a:cubicBezTo>
                <a:cubicBezTo>
                  <a:pt x="23812" y="68945"/>
                  <a:pt x="45132" y="47625"/>
                  <a:pt x="71438" y="47625"/>
                </a:cubicBezTo>
                <a:lnTo>
                  <a:pt x="142875" y="47625"/>
                </a:lnTo>
                <a:close/>
                <a:moveTo>
                  <a:pt x="214313" y="95250"/>
                </a:moveTo>
                <a:cubicBezTo>
                  <a:pt x="214313" y="55811"/>
                  <a:pt x="182314" y="23812"/>
                  <a:pt x="142875" y="23812"/>
                </a:cubicBezTo>
                <a:lnTo>
                  <a:pt x="71438" y="23812"/>
                </a:lnTo>
                <a:cubicBezTo>
                  <a:pt x="31998" y="23812"/>
                  <a:pt x="0" y="55811"/>
                  <a:pt x="0" y="95250"/>
                </a:cubicBezTo>
                <a:cubicBezTo>
                  <a:pt x="0" y="134689"/>
                  <a:pt x="31998" y="166688"/>
                  <a:pt x="71438" y="166688"/>
                </a:cubicBezTo>
                <a:lnTo>
                  <a:pt x="142875" y="166688"/>
                </a:lnTo>
                <a:cubicBezTo>
                  <a:pt x="182314" y="166688"/>
                  <a:pt x="214313" y="134689"/>
                  <a:pt x="214313" y="95250"/>
                </a:cubicBezTo>
                <a:close/>
                <a:moveTo>
                  <a:pt x="71438" y="125016"/>
                </a:moveTo>
                <a:cubicBezTo>
                  <a:pt x="87866" y="125016"/>
                  <a:pt x="101203" y="111678"/>
                  <a:pt x="101203" y="95250"/>
                </a:cubicBezTo>
                <a:cubicBezTo>
                  <a:pt x="101203" y="78822"/>
                  <a:pt x="87866" y="65484"/>
                  <a:pt x="71438" y="65484"/>
                </a:cubicBezTo>
                <a:cubicBezTo>
                  <a:pt x="55009" y="65484"/>
                  <a:pt x="41672" y="78822"/>
                  <a:pt x="41672" y="95250"/>
                </a:cubicBezTo>
                <a:cubicBezTo>
                  <a:pt x="41672" y="111678"/>
                  <a:pt x="55009" y="125016"/>
                  <a:pt x="71437" y="125016"/>
                </a:cubicBezTo>
                <a:close/>
              </a:path>
            </a:pathLst>
          </a:custGeom>
          <a:solidFill>
            <a:srgbClr val="0071E3"/>
          </a:solidFill>
          <a:ln/>
        </p:spPr>
      </p:sp>
      <p:sp>
        <p:nvSpPr>
          <p:cNvPr id="10" name="Text 8"/>
          <p:cNvSpPr/>
          <p:nvPr/>
        </p:nvSpPr>
        <p:spPr>
          <a:xfrm>
            <a:off x="1006475" y="1689098"/>
            <a:ext cx="70643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Liter" pitchFamily="34" charset="0"/>
                <a:ea typeface="Liter" pitchFamily="34" charset="-122"/>
                <a:cs typeface="Liter" pitchFamily="34" charset="-120"/>
              </a:rPr>
              <a:t>Short Press</a:t>
            </a:r>
            <a:endParaRPr lang="en-US" sz="1600" dirty="0"/>
          </a:p>
        </p:txBody>
      </p:sp>
      <p:sp>
        <p:nvSpPr>
          <p:cNvPr id="11" name="Text 9"/>
          <p:cNvSpPr/>
          <p:nvPr/>
        </p:nvSpPr>
        <p:spPr>
          <a:xfrm>
            <a:off x="1006475" y="1879598"/>
            <a:ext cx="6985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&lt; 500ms</a:t>
            </a:r>
            <a:endParaRPr lang="en-US" sz="1600" dirty="0"/>
          </a:p>
        </p:txBody>
      </p:sp>
      <p:sp>
        <p:nvSpPr>
          <p:cNvPr id="12" name="Text 10"/>
          <p:cNvSpPr/>
          <p:nvPr/>
        </p:nvSpPr>
        <p:spPr>
          <a:xfrm>
            <a:off x="673100" y="2101848"/>
            <a:ext cx="5056188" cy="182563"/>
          </a:xfrm>
          <a:prstGeom prst="rect">
            <a:avLst/>
          </a:prstGeom>
          <a:noFill/>
          <a:ln/>
        </p:spPr>
        <p:txBody>
          <a:bodyPr wrap="square" lIns="0" tIns="0" rIns="0" bIns="0" rtlCol="0" anchor="ctr"/>
          <a:lstStyle/>
          <a:p>
            <a:pPr>
              <a:lnSpc>
                <a:spcPct val="140000"/>
              </a:lnSpc>
            </a:pPr>
            <a:r>
              <a:rPr lang="en-US" sz="875" dirty="0">
                <a:solidFill>
                  <a:srgbClr val="86868B"/>
                </a:solidFill>
                <a:latin typeface="Liter" pitchFamily="34" charset="0"/>
                <a:ea typeface="Liter" pitchFamily="34" charset="-122"/>
                <a:cs typeface="Liter" pitchFamily="34" charset="-120"/>
              </a:rPr>
              <a:t>Toggles device ON/OFF. If fan is running, saves current speed to savedFan variable before turning off.</a:t>
            </a:r>
            <a:endParaRPr lang="en-US" sz="1600" dirty="0"/>
          </a:p>
        </p:txBody>
      </p:sp>
      <p:sp>
        <p:nvSpPr>
          <p:cNvPr id="13" name="Shape 11"/>
          <p:cNvSpPr/>
          <p:nvPr/>
        </p:nvSpPr>
        <p:spPr>
          <a:xfrm>
            <a:off x="530225" y="2536427"/>
            <a:ext cx="5270500" cy="849313"/>
          </a:xfrm>
          <a:custGeom>
            <a:avLst/>
            <a:gdLst/>
            <a:ahLst/>
            <a:cxnLst/>
            <a:rect l="l" t="t" r="r" b="b"/>
            <a:pathLst>
              <a:path w="5270500" h="849313">
                <a:moveTo>
                  <a:pt x="31750" y="0"/>
                </a:moveTo>
                <a:lnTo>
                  <a:pt x="5206997" y="0"/>
                </a:lnTo>
                <a:cubicBezTo>
                  <a:pt x="5242069" y="0"/>
                  <a:pt x="5270500" y="28431"/>
                  <a:pt x="5270500" y="63503"/>
                </a:cubicBezTo>
                <a:lnTo>
                  <a:pt x="5270500" y="785809"/>
                </a:lnTo>
                <a:cubicBezTo>
                  <a:pt x="5270500" y="820881"/>
                  <a:pt x="5242069" y="849312"/>
                  <a:pt x="5206997" y="849313"/>
                </a:cubicBezTo>
                <a:lnTo>
                  <a:pt x="31750" y="849313"/>
                </a:lnTo>
                <a:cubicBezTo>
                  <a:pt x="14215" y="849313"/>
                  <a:pt x="0" y="835098"/>
                  <a:pt x="0" y="817563"/>
                </a:cubicBezTo>
                <a:lnTo>
                  <a:pt x="0" y="31750"/>
                </a:lnTo>
                <a:cubicBezTo>
                  <a:pt x="0" y="14227"/>
                  <a:pt x="14227" y="0"/>
                  <a:pt x="31750" y="0"/>
                </a:cubicBezTo>
                <a:close/>
              </a:path>
            </a:pathLst>
          </a:custGeom>
          <a:solidFill>
            <a:srgbClr val="34C759">
              <a:alpha val="5098"/>
            </a:srgbClr>
          </a:solidFill>
          <a:ln/>
        </p:spPr>
      </p:sp>
      <p:sp>
        <p:nvSpPr>
          <p:cNvPr id="14" name="Shape 12"/>
          <p:cNvSpPr/>
          <p:nvPr/>
        </p:nvSpPr>
        <p:spPr>
          <a:xfrm>
            <a:off x="530225" y="2536427"/>
            <a:ext cx="31750" cy="849313"/>
          </a:xfrm>
          <a:custGeom>
            <a:avLst/>
            <a:gdLst/>
            <a:ahLst/>
            <a:cxnLst/>
            <a:rect l="l" t="t" r="r" b="b"/>
            <a:pathLst>
              <a:path w="31750" h="849313">
                <a:moveTo>
                  <a:pt x="31750" y="0"/>
                </a:moveTo>
                <a:lnTo>
                  <a:pt x="31750" y="0"/>
                </a:lnTo>
                <a:lnTo>
                  <a:pt x="31750" y="849313"/>
                </a:lnTo>
                <a:lnTo>
                  <a:pt x="31750" y="849313"/>
                </a:lnTo>
                <a:cubicBezTo>
                  <a:pt x="14227" y="849313"/>
                  <a:pt x="0" y="835086"/>
                  <a:pt x="0" y="817563"/>
                </a:cubicBezTo>
                <a:lnTo>
                  <a:pt x="0" y="31750"/>
                </a:lnTo>
                <a:cubicBezTo>
                  <a:pt x="0" y="14227"/>
                  <a:pt x="14227" y="0"/>
                  <a:pt x="31750" y="0"/>
                </a:cubicBezTo>
                <a:close/>
              </a:path>
            </a:pathLst>
          </a:custGeom>
          <a:solidFill>
            <a:srgbClr val="34C759"/>
          </a:solidFill>
          <a:ln/>
        </p:spPr>
      </p:sp>
      <p:sp>
        <p:nvSpPr>
          <p:cNvPr id="15" name="Shape 13"/>
          <p:cNvSpPr/>
          <p:nvPr/>
        </p:nvSpPr>
        <p:spPr>
          <a:xfrm>
            <a:off x="696913" y="2742802"/>
            <a:ext cx="190500" cy="190500"/>
          </a:xfrm>
          <a:custGeom>
            <a:avLst/>
            <a:gdLst/>
            <a:ahLst/>
            <a:cxnLst/>
            <a:rect l="l" t="t" r="r" b="b"/>
            <a:pathLst>
              <a:path w="190500" h="190500">
                <a:moveTo>
                  <a:pt x="11906" y="23812"/>
                </a:moveTo>
                <a:cubicBezTo>
                  <a:pt x="5321" y="23812"/>
                  <a:pt x="0" y="29133"/>
                  <a:pt x="0" y="35719"/>
                </a:cubicBezTo>
                <a:cubicBezTo>
                  <a:pt x="0" y="42304"/>
                  <a:pt x="5321" y="47625"/>
                  <a:pt x="11906" y="47625"/>
                </a:cubicBezTo>
                <a:lnTo>
                  <a:pt x="44165" y="47625"/>
                </a:lnTo>
                <a:cubicBezTo>
                  <a:pt x="48741" y="58155"/>
                  <a:pt x="59234" y="65484"/>
                  <a:pt x="71438" y="65484"/>
                </a:cubicBezTo>
                <a:cubicBezTo>
                  <a:pt x="83641" y="65484"/>
                  <a:pt x="94134" y="58155"/>
                  <a:pt x="98710" y="47625"/>
                </a:cubicBezTo>
                <a:lnTo>
                  <a:pt x="178594" y="47625"/>
                </a:lnTo>
                <a:cubicBezTo>
                  <a:pt x="185179" y="47625"/>
                  <a:pt x="190500" y="42304"/>
                  <a:pt x="190500" y="35719"/>
                </a:cubicBezTo>
                <a:cubicBezTo>
                  <a:pt x="190500" y="29133"/>
                  <a:pt x="185179" y="23812"/>
                  <a:pt x="178594" y="23812"/>
                </a:cubicBezTo>
                <a:lnTo>
                  <a:pt x="98710" y="23812"/>
                </a:lnTo>
                <a:cubicBezTo>
                  <a:pt x="94134" y="13283"/>
                  <a:pt x="83641" y="5953"/>
                  <a:pt x="71438" y="5953"/>
                </a:cubicBezTo>
                <a:cubicBezTo>
                  <a:pt x="59234" y="5953"/>
                  <a:pt x="48741" y="13283"/>
                  <a:pt x="44165" y="23812"/>
                </a:cubicBezTo>
                <a:lnTo>
                  <a:pt x="11906" y="23812"/>
                </a:lnTo>
                <a:close/>
                <a:moveTo>
                  <a:pt x="11906" y="83344"/>
                </a:moveTo>
                <a:cubicBezTo>
                  <a:pt x="5321" y="83344"/>
                  <a:pt x="0" y="88664"/>
                  <a:pt x="0" y="95250"/>
                </a:cubicBezTo>
                <a:cubicBezTo>
                  <a:pt x="0" y="101836"/>
                  <a:pt x="5321" y="107156"/>
                  <a:pt x="11906" y="107156"/>
                </a:cubicBezTo>
                <a:lnTo>
                  <a:pt x="103696" y="107156"/>
                </a:lnTo>
                <a:cubicBezTo>
                  <a:pt x="108272" y="117686"/>
                  <a:pt x="118765" y="125016"/>
                  <a:pt x="130969" y="125016"/>
                </a:cubicBezTo>
                <a:cubicBezTo>
                  <a:pt x="143173" y="125016"/>
                  <a:pt x="153665" y="117686"/>
                  <a:pt x="158242" y="107156"/>
                </a:cubicBezTo>
                <a:lnTo>
                  <a:pt x="178594" y="107156"/>
                </a:lnTo>
                <a:cubicBezTo>
                  <a:pt x="185179" y="107156"/>
                  <a:pt x="190500" y="101836"/>
                  <a:pt x="190500" y="95250"/>
                </a:cubicBezTo>
                <a:cubicBezTo>
                  <a:pt x="190500" y="88664"/>
                  <a:pt x="185179" y="83344"/>
                  <a:pt x="178594" y="83344"/>
                </a:cubicBezTo>
                <a:lnTo>
                  <a:pt x="158242" y="83344"/>
                </a:lnTo>
                <a:cubicBezTo>
                  <a:pt x="153665" y="72814"/>
                  <a:pt x="143173" y="65484"/>
                  <a:pt x="130969" y="65484"/>
                </a:cubicBezTo>
                <a:cubicBezTo>
                  <a:pt x="118765" y="65484"/>
                  <a:pt x="108272" y="72814"/>
                  <a:pt x="103696" y="83344"/>
                </a:cubicBezTo>
                <a:lnTo>
                  <a:pt x="11906" y="83344"/>
                </a:lnTo>
                <a:close/>
                <a:moveTo>
                  <a:pt x="11906" y="142875"/>
                </a:moveTo>
                <a:cubicBezTo>
                  <a:pt x="5321" y="142875"/>
                  <a:pt x="0" y="148196"/>
                  <a:pt x="0" y="154781"/>
                </a:cubicBezTo>
                <a:cubicBezTo>
                  <a:pt x="0" y="161367"/>
                  <a:pt x="5321" y="166688"/>
                  <a:pt x="11906" y="166688"/>
                </a:cubicBezTo>
                <a:lnTo>
                  <a:pt x="32258" y="166688"/>
                </a:lnTo>
                <a:cubicBezTo>
                  <a:pt x="36835" y="177217"/>
                  <a:pt x="47327" y="184547"/>
                  <a:pt x="59531" y="184547"/>
                </a:cubicBezTo>
                <a:cubicBezTo>
                  <a:pt x="71735" y="184547"/>
                  <a:pt x="82228" y="177217"/>
                  <a:pt x="86804" y="166688"/>
                </a:cubicBezTo>
                <a:lnTo>
                  <a:pt x="178594" y="166688"/>
                </a:lnTo>
                <a:cubicBezTo>
                  <a:pt x="185179" y="166688"/>
                  <a:pt x="190500" y="161367"/>
                  <a:pt x="190500" y="154781"/>
                </a:cubicBezTo>
                <a:cubicBezTo>
                  <a:pt x="190500" y="148196"/>
                  <a:pt x="185179" y="142875"/>
                  <a:pt x="178594" y="142875"/>
                </a:cubicBezTo>
                <a:lnTo>
                  <a:pt x="86804" y="142875"/>
                </a:lnTo>
                <a:cubicBezTo>
                  <a:pt x="82228" y="132345"/>
                  <a:pt x="71735" y="125016"/>
                  <a:pt x="59531" y="125016"/>
                </a:cubicBezTo>
                <a:cubicBezTo>
                  <a:pt x="47327" y="125016"/>
                  <a:pt x="36835" y="132345"/>
                  <a:pt x="32258" y="142875"/>
                </a:cubicBezTo>
                <a:lnTo>
                  <a:pt x="11906" y="142875"/>
                </a:lnTo>
                <a:close/>
              </a:path>
            </a:pathLst>
          </a:custGeom>
          <a:solidFill>
            <a:srgbClr val="34C759"/>
          </a:solidFill>
          <a:ln/>
        </p:spPr>
      </p:sp>
      <p:sp>
        <p:nvSpPr>
          <p:cNvPr id="16" name="Text 14"/>
          <p:cNvSpPr/>
          <p:nvPr/>
        </p:nvSpPr>
        <p:spPr>
          <a:xfrm>
            <a:off x="1006475" y="2663427"/>
            <a:ext cx="68262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Liter" pitchFamily="34" charset="0"/>
                <a:ea typeface="Liter" pitchFamily="34" charset="-122"/>
                <a:cs typeface="Liter" pitchFamily="34" charset="-120"/>
              </a:rPr>
              <a:t>Long Press</a:t>
            </a:r>
            <a:endParaRPr lang="en-US" sz="1600" dirty="0"/>
          </a:p>
        </p:txBody>
      </p:sp>
      <p:sp>
        <p:nvSpPr>
          <p:cNvPr id="17" name="Text 15"/>
          <p:cNvSpPr/>
          <p:nvPr/>
        </p:nvSpPr>
        <p:spPr>
          <a:xfrm>
            <a:off x="1006475" y="2853927"/>
            <a:ext cx="674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&gt; 500ms</a:t>
            </a:r>
            <a:endParaRPr lang="en-US" sz="1600" dirty="0"/>
          </a:p>
        </p:txBody>
      </p:sp>
      <p:sp>
        <p:nvSpPr>
          <p:cNvPr id="18" name="Text 16"/>
          <p:cNvSpPr/>
          <p:nvPr/>
        </p:nvSpPr>
        <p:spPr>
          <a:xfrm>
            <a:off x="673100" y="3076177"/>
            <a:ext cx="5056188" cy="182563"/>
          </a:xfrm>
          <a:prstGeom prst="rect">
            <a:avLst/>
          </a:prstGeom>
          <a:noFill/>
          <a:ln/>
        </p:spPr>
        <p:txBody>
          <a:bodyPr wrap="square" lIns="0" tIns="0" rIns="0" bIns="0" rtlCol="0" anchor="ctr"/>
          <a:lstStyle/>
          <a:p>
            <a:pPr>
              <a:lnSpc>
                <a:spcPct val="140000"/>
              </a:lnSpc>
            </a:pPr>
            <a:r>
              <a:rPr lang="en-US" sz="875" dirty="0">
                <a:solidFill>
                  <a:srgbClr val="86868B"/>
                </a:solidFill>
                <a:latin typeface="Liter" pitchFamily="34" charset="0"/>
                <a:ea typeface="Liter" pitchFamily="34" charset="-122"/>
                <a:cs typeface="Liter" pitchFamily="34" charset="-120"/>
              </a:rPr>
              <a:t>Cycles through speed levels: 1 → 2 → 3 → 4 → 1. Implements 500ms interval between speed changes.</a:t>
            </a:r>
            <a:endParaRPr lang="en-US" sz="1600" dirty="0"/>
          </a:p>
        </p:txBody>
      </p:sp>
      <p:sp>
        <p:nvSpPr>
          <p:cNvPr id="19" name="Shape 17"/>
          <p:cNvSpPr/>
          <p:nvPr/>
        </p:nvSpPr>
        <p:spPr>
          <a:xfrm>
            <a:off x="317500" y="3739353"/>
            <a:ext cx="5683250" cy="2532063"/>
          </a:xfrm>
          <a:custGeom>
            <a:avLst/>
            <a:gdLst/>
            <a:ahLst/>
            <a:cxnLst/>
            <a:rect l="l" t="t" r="r" b="b"/>
            <a:pathLst>
              <a:path w="5683250" h="2532063">
                <a:moveTo>
                  <a:pt x="95256" y="0"/>
                </a:moveTo>
                <a:lnTo>
                  <a:pt x="5587994" y="0"/>
                </a:lnTo>
                <a:cubicBezTo>
                  <a:pt x="5640602" y="0"/>
                  <a:pt x="5683250" y="42648"/>
                  <a:pt x="5683250" y="95256"/>
                </a:cubicBezTo>
                <a:lnTo>
                  <a:pt x="5683250" y="2436806"/>
                </a:lnTo>
                <a:cubicBezTo>
                  <a:pt x="5683250" y="2489415"/>
                  <a:pt x="5640602" y="2532063"/>
                  <a:pt x="5587994" y="2532063"/>
                </a:cubicBezTo>
                <a:lnTo>
                  <a:pt x="95256" y="2532063"/>
                </a:lnTo>
                <a:cubicBezTo>
                  <a:pt x="42648" y="2532063"/>
                  <a:pt x="0" y="2489415"/>
                  <a:pt x="0" y="2436806"/>
                </a:cubicBezTo>
                <a:lnTo>
                  <a:pt x="0" y="95256"/>
                </a:lnTo>
                <a:cubicBezTo>
                  <a:pt x="0" y="42683"/>
                  <a:pt x="42683" y="0"/>
                  <a:pt x="95256" y="0"/>
                </a:cubicBezTo>
                <a:close/>
              </a:path>
            </a:pathLst>
          </a:custGeom>
          <a:solidFill>
            <a:srgbClr val="1D1D1D"/>
          </a:solidFill>
          <a:ln/>
        </p:spPr>
      </p:sp>
      <p:sp>
        <p:nvSpPr>
          <p:cNvPr id="20" name="Shape 18"/>
          <p:cNvSpPr/>
          <p:nvPr/>
        </p:nvSpPr>
        <p:spPr>
          <a:xfrm>
            <a:off x="487164" y="3937791"/>
            <a:ext cx="160734" cy="142875"/>
          </a:xfrm>
          <a:custGeom>
            <a:avLst/>
            <a:gdLst/>
            <a:ahLst/>
            <a:cxnLst/>
            <a:rect l="l" t="t" r="r" b="b"/>
            <a:pathLst>
              <a:path w="160734" h="142875">
                <a:moveTo>
                  <a:pt x="100682" y="335"/>
                </a:moveTo>
                <a:cubicBezTo>
                  <a:pt x="95938" y="-1032"/>
                  <a:pt x="90999" y="1730"/>
                  <a:pt x="89632" y="6474"/>
                </a:cubicBezTo>
                <a:lnTo>
                  <a:pt x="53913" y="131490"/>
                </a:lnTo>
                <a:cubicBezTo>
                  <a:pt x="52546" y="136234"/>
                  <a:pt x="55308" y="141173"/>
                  <a:pt x="60052" y="142540"/>
                </a:cubicBezTo>
                <a:cubicBezTo>
                  <a:pt x="64796" y="143907"/>
                  <a:pt x="69735" y="141145"/>
                  <a:pt x="71103" y="136401"/>
                </a:cubicBezTo>
                <a:lnTo>
                  <a:pt x="106821" y="11385"/>
                </a:lnTo>
                <a:cubicBezTo>
                  <a:pt x="108189" y="6641"/>
                  <a:pt x="105426" y="1702"/>
                  <a:pt x="100682" y="335"/>
                </a:cubicBezTo>
                <a:close/>
                <a:moveTo>
                  <a:pt x="118709" y="38314"/>
                </a:moveTo>
                <a:cubicBezTo>
                  <a:pt x="115221" y="41802"/>
                  <a:pt x="115221" y="47467"/>
                  <a:pt x="118709" y="50955"/>
                </a:cubicBezTo>
                <a:lnTo>
                  <a:pt x="139192" y="71438"/>
                </a:lnTo>
                <a:lnTo>
                  <a:pt x="118709" y="91920"/>
                </a:lnTo>
                <a:cubicBezTo>
                  <a:pt x="115221" y="95408"/>
                  <a:pt x="115221" y="101073"/>
                  <a:pt x="118709" y="104561"/>
                </a:cubicBezTo>
                <a:cubicBezTo>
                  <a:pt x="122197" y="108049"/>
                  <a:pt x="127862" y="108049"/>
                  <a:pt x="131350" y="104561"/>
                </a:cubicBezTo>
                <a:lnTo>
                  <a:pt x="158139" y="77772"/>
                </a:lnTo>
                <a:cubicBezTo>
                  <a:pt x="161627" y="74284"/>
                  <a:pt x="161627" y="68619"/>
                  <a:pt x="158139" y="65131"/>
                </a:cubicBezTo>
                <a:lnTo>
                  <a:pt x="131350" y="38342"/>
                </a:lnTo>
                <a:cubicBezTo>
                  <a:pt x="127862" y="34854"/>
                  <a:pt x="122197" y="34854"/>
                  <a:pt x="118709" y="38342"/>
                </a:cubicBezTo>
                <a:close/>
                <a:moveTo>
                  <a:pt x="42053" y="38314"/>
                </a:moveTo>
                <a:cubicBezTo>
                  <a:pt x="38565" y="34826"/>
                  <a:pt x="32900" y="34826"/>
                  <a:pt x="29412" y="38314"/>
                </a:cubicBezTo>
                <a:lnTo>
                  <a:pt x="2623" y="65103"/>
                </a:lnTo>
                <a:cubicBezTo>
                  <a:pt x="-865" y="68591"/>
                  <a:pt x="-865" y="74256"/>
                  <a:pt x="2623" y="77744"/>
                </a:cubicBezTo>
                <a:lnTo>
                  <a:pt x="29412" y="104533"/>
                </a:lnTo>
                <a:cubicBezTo>
                  <a:pt x="32900" y="108021"/>
                  <a:pt x="38565" y="108021"/>
                  <a:pt x="42053" y="104533"/>
                </a:cubicBezTo>
                <a:cubicBezTo>
                  <a:pt x="45541" y="101045"/>
                  <a:pt x="45541" y="95380"/>
                  <a:pt x="42053" y="91892"/>
                </a:cubicBezTo>
                <a:lnTo>
                  <a:pt x="21571" y="71438"/>
                </a:lnTo>
                <a:lnTo>
                  <a:pt x="42025" y="50955"/>
                </a:lnTo>
                <a:cubicBezTo>
                  <a:pt x="45514" y="47467"/>
                  <a:pt x="45514" y="41802"/>
                  <a:pt x="42025" y="38314"/>
                </a:cubicBezTo>
                <a:close/>
              </a:path>
            </a:pathLst>
          </a:custGeom>
          <a:solidFill>
            <a:srgbClr val="0071E3"/>
          </a:solidFill>
          <a:ln/>
        </p:spPr>
      </p:sp>
      <p:sp>
        <p:nvSpPr>
          <p:cNvPr id="21" name="Text 19"/>
          <p:cNvSpPr/>
          <p:nvPr/>
        </p:nvSpPr>
        <p:spPr>
          <a:xfrm>
            <a:off x="658813" y="3898103"/>
            <a:ext cx="5254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Debouncing Implementation</a:t>
            </a:r>
            <a:endParaRPr lang="en-US" sz="1600" dirty="0"/>
          </a:p>
        </p:txBody>
      </p:sp>
      <p:sp>
        <p:nvSpPr>
          <p:cNvPr id="22" name="Shape 20"/>
          <p:cNvSpPr/>
          <p:nvPr/>
        </p:nvSpPr>
        <p:spPr>
          <a:xfrm>
            <a:off x="476250" y="4215603"/>
            <a:ext cx="5365750" cy="1897063"/>
          </a:xfrm>
          <a:custGeom>
            <a:avLst/>
            <a:gdLst/>
            <a:ahLst/>
            <a:cxnLst/>
            <a:rect l="l" t="t" r="r" b="b"/>
            <a:pathLst>
              <a:path w="5365750" h="1897063">
                <a:moveTo>
                  <a:pt x="63495" y="0"/>
                </a:moveTo>
                <a:lnTo>
                  <a:pt x="5302255" y="0"/>
                </a:lnTo>
                <a:cubicBezTo>
                  <a:pt x="5337322" y="0"/>
                  <a:pt x="5365750" y="28428"/>
                  <a:pt x="5365750" y="63495"/>
                </a:cubicBezTo>
                <a:lnTo>
                  <a:pt x="5365750" y="1833568"/>
                </a:lnTo>
                <a:cubicBezTo>
                  <a:pt x="5365750" y="1868635"/>
                  <a:pt x="5337322" y="1897063"/>
                  <a:pt x="5302255" y="1897063"/>
                </a:cubicBezTo>
                <a:lnTo>
                  <a:pt x="63495" y="1897063"/>
                </a:lnTo>
                <a:cubicBezTo>
                  <a:pt x="28428" y="1897063"/>
                  <a:pt x="0" y="1868635"/>
                  <a:pt x="0" y="1833568"/>
                </a:cubicBezTo>
                <a:lnTo>
                  <a:pt x="0" y="63495"/>
                </a:lnTo>
                <a:cubicBezTo>
                  <a:pt x="0" y="28451"/>
                  <a:pt x="28451" y="0"/>
                  <a:pt x="63495" y="0"/>
                </a:cubicBezTo>
                <a:close/>
              </a:path>
            </a:pathLst>
          </a:custGeom>
          <a:solidFill>
            <a:srgbClr val="2D2D2D"/>
          </a:solidFill>
          <a:ln/>
        </p:spPr>
      </p:sp>
      <p:sp>
        <p:nvSpPr>
          <p:cNvPr id="23" name="Text 21"/>
          <p:cNvSpPr/>
          <p:nvPr/>
        </p:nvSpPr>
        <p:spPr>
          <a:xfrm>
            <a:off x="603250" y="4323558"/>
            <a:ext cx="2652415"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Lines 649-686: Fan button with debounce</a:t>
            </a:r>
            <a:endParaRPr lang="en-US" sz="1600" dirty="0"/>
          </a:p>
        </p:txBody>
      </p:sp>
      <p:sp>
        <p:nvSpPr>
          <p:cNvPr id="24" name="Text 22"/>
          <p:cNvSpPr/>
          <p:nvPr/>
        </p:nvSpPr>
        <p:spPr>
          <a:xfrm>
            <a:off x="603250" y="4465634"/>
            <a:ext cx="5163344"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FFFFFF"/>
                </a:solidFill>
                <a:latin typeface="MiSans" pitchFamily="34" charset="0"/>
                <a:ea typeface="MiSans" pitchFamily="34" charset="-122"/>
                <a:cs typeface="MiSans" pitchFamily="34" charset="-120"/>
              </a:rPr>
              <a:t> (f1Btn == LOW &amp;&amp; lastBtn1State == HIGH) {</a:t>
            </a:r>
            <a:endParaRPr lang="en-US" sz="1600" dirty="0"/>
          </a:p>
        </p:txBody>
      </p:sp>
      <p:sp>
        <p:nvSpPr>
          <p:cNvPr id="25" name="Text 23"/>
          <p:cNvSpPr/>
          <p:nvPr/>
        </p:nvSpPr>
        <p:spPr>
          <a:xfrm>
            <a:off x="603250" y="4620416"/>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btn1PressStart = millis();</a:t>
            </a:r>
            <a:endParaRPr lang="en-US" sz="1600" dirty="0"/>
          </a:p>
        </p:txBody>
      </p:sp>
      <p:sp>
        <p:nvSpPr>
          <p:cNvPr id="26" name="Text 24"/>
          <p:cNvSpPr/>
          <p:nvPr/>
        </p:nvSpPr>
        <p:spPr>
          <a:xfrm>
            <a:off x="603250" y="4775197"/>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btn1Active = </a:t>
            </a:r>
            <a:r>
              <a:rPr lang="en-US" sz="813" dirty="0">
                <a:solidFill>
                  <a:srgbClr val="0071E3"/>
                </a:solidFill>
                <a:latin typeface="MiSans" pitchFamily="34" charset="0"/>
                <a:ea typeface="MiSans" pitchFamily="34" charset="-122"/>
                <a:cs typeface="MiSans" pitchFamily="34" charset="-120"/>
              </a:rPr>
              <a:t>true</a:t>
            </a: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27" name="Text 25"/>
          <p:cNvSpPr/>
          <p:nvPr/>
        </p:nvSpPr>
        <p:spPr>
          <a:xfrm>
            <a:off x="603250" y="4929978"/>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28" name="Text 26"/>
          <p:cNvSpPr/>
          <p:nvPr/>
        </p:nvSpPr>
        <p:spPr>
          <a:xfrm>
            <a:off x="603250" y="5084759"/>
            <a:ext cx="5163344"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FFFFFF"/>
                </a:solidFill>
                <a:latin typeface="MiSans" pitchFamily="34" charset="0"/>
                <a:ea typeface="MiSans" pitchFamily="34" charset="-122"/>
                <a:cs typeface="MiSans" pitchFamily="34" charset="-120"/>
              </a:rPr>
              <a:t> (f1Btn == LOW &amp;&amp; btn1Active) {</a:t>
            </a:r>
            <a:endParaRPr lang="en-US" sz="1600" dirty="0"/>
          </a:p>
        </p:txBody>
      </p:sp>
      <p:sp>
        <p:nvSpPr>
          <p:cNvPr id="29" name="Text 27"/>
          <p:cNvSpPr/>
          <p:nvPr/>
        </p:nvSpPr>
        <p:spPr>
          <a:xfrm>
            <a:off x="603250" y="5239541"/>
            <a:ext cx="5163344"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FFFFFF"/>
                </a:solidFill>
                <a:latin typeface="MiSans" pitchFamily="34" charset="0"/>
                <a:ea typeface="MiSans" pitchFamily="34" charset="-122"/>
                <a:cs typeface="MiSans" pitchFamily="34" charset="-120"/>
              </a:rPr>
              <a:t> (millis() - btn1PressStart &gt; </a:t>
            </a:r>
            <a:r>
              <a:rPr lang="en-US" sz="813" dirty="0">
                <a:solidFill>
                  <a:srgbClr val="FF9500"/>
                </a:solidFill>
                <a:latin typeface="MiSans" pitchFamily="34" charset="0"/>
                <a:ea typeface="MiSans" pitchFamily="34" charset="-122"/>
                <a:cs typeface="MiSans" pitchFamily="34" charset="-120"/>
              </a:rPr>
              <a:t>500</a:t>
            </a:r>
            <a:r>
              <a:rPr lang="en-US" sz="813" dirty="0">
                <a:solidFill>
                  <a:srgbClr val="FFFFFF"/>
                </a:solidFill>
                <a:latin typeface="MiSans" pitchFamily="34" charset="0"/>
                <a:ea typeface="MiSans" pitchFamily="34" charset="-122"/>
                <a:cs typeface="MiSans" pitchFamily="34" charset="-120"/>
              </a:rPr>
              <a:t>) {</a:t>
            </a:r>
            <a:endParaRPr lang="en-US" sz="1600" dirty="0"/>
          </a:p>
        </p:txBody>
      </p:sp>
      <p:sp>
        <p:nvSpPr>
          <p:cNvPr id="30" name="Text 28"/>
          <p:cNvSpPr/>
          <p:nvPr/>
        </p:nvSpPr>
        <p:spPr>
          <a:xfrm>
            <a:off x="850999" y="5407027"/>
            <a:ext cx="1413966"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Long press detected</a:t>
            </a:r>
            <a:endParaRPr lang="en-US" sz="1600" dirty="0"/>
          </a:p>
        </p:txBody>
      </p:sp>
      <p:sp>
        <p:nvSpPr>
          <p:cNvPr id="31" name="Text 29"/>
          <p:cNvSpPr/>
          <p:nvPr/>
        </p:nvSpPr>
        <p:spPr>
          <a:xfrm>
            <a:off x="603250" y="5549103"/>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btn1LongPress = </a:t>
            </a:r>
            <a:r>
              <a:rPr lang="en-US" sz="813" dirty="0">
                <a:solidFill>
                  <a:srgbClr val="0071E3"/>
                </a:solidFill>
                <a:latin typeface="MiSans" pitchFamily="34" charset="0"/>
                <a:ea typeface="MiSans" pitchFamily="34" charset="-122"/>
                <a:cs typeface="MiSans" pitchFamily="34" charset="-120"/>
              </a:rPr>
              <a:t>true</a:t>
            </a: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32" name="Text 30"/>
          <p:cNvSpPr/>
          <p:nvPr/>
        </p:nvSpPr>
        <p:spPr>
          <a:xfrm>
            <a:off x="603250" y="5703884"/>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33" name="Text 31"/>
          <p:cNvSpPr/>
          <p:nvPr/>
        </p:nvSpPr>
        <p:spPr>
          <a:xfrm>
            <a:off x="603250" y="5858666"/>
            <a:ext cx="516334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34" name="Shape 32"/>
          <p:cNvSpPr/>
          <p:nvPr/>
        </p:nvSpPr>
        <p:spPr>
          <a:xfrm>
            <a:off x="6194425" y="1019175"/>
            <a:ext cx="5673725" cy="4065584"/>
          </a:xfrm>
          <a:custGeom>
            <a:avLst/>
            <a:gdLst/>
            <a:ahLst/>
            <a:cxnLst/>
            <a:rect l="l" t="t" r="r" b="b"/>
            <a:pathLst>
              <a:path w="5673725" h="4133850">
                <a:moveTo>
                  <a:pt x="95244" y="0"/>
                </a:moveTo>
                <a:lnTo>
                  <a:pt x="5578481" y="0"/>
                </a:lnTo>
                <a:cubicBezTo>
                  <a:pt x="5631083" y="0"/>
                  <a:pt x="5673725" y="42642"/>
                  <a:pt x="5673725" y="95244"/>
                </a:cubicBezTo>
                <a:lnTo>
                  <a:pt x="5673725" y="4038606"/>
                </a:lnTo>
                <a:cubicBezTo>
                  <a:pt x="5673725" y="4091208"/>
                  <a:pt x="5631083" y="4133850"/>
                  <a:pt x="5578481" y="4133850"/>
                </a:cubicBezTo>
                <a:lnTo>
                  <a:pt x="95244" y="4133850"/>
                </a:lnTo>
                <a:cubicBezTo>
                  <a:pt x="42642" y="4133850"/>
                  <a:pt x="0" y="4091208"/>
                  <a:pt x="0" y="4038606"/>
                </a:cubicBezTo>
                <a:lnTo>
                  <a:pt x="0" y="95244"/>
                </a:lnTo>
                <a:cubicBezTo>
                  <a:pt x="0" y="42642"/>
                  <a:pt x="42642" y="0"/>
                  <a:pt x="95244"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35" name="Shape 33"/>
          <p:cNvSpPr/>
          <p:nvPr/>
        </p:nvSpPr>
        <p:spPr>
          <a:xfrm>
            <a:off x="6427787" y="1244598"/>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0071E3"/>
          </a:solidFill>
          <a:ln/>
        </p:spPr>
      </p:sp>
      <p:sp>
        <p:nvSpPr>
          <p:cNvPr id="36" name="Text 34"/>
          <p:cNvSpPr/>
          <p:nvPr/>
        </p:nvSpPr>
        <p:spPr>
          <a:xfrm>
            <a:off x="6586537" y="1212848"/>
            <a:ext cx="516731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State Management Variables</a:t>
            </a:r>
            <a:endParaRPr lang="en-US" sz="1600" dirty="0"/>
          </a:p>
        </p:txBody>
      </p:sp>
      <p:sp>
        <p:nvSpPr>
          <p:cNvPr id="37" name="Shape 35"/>
          <p:cNvSpPr/>
          <p:nvPr/>
        </p:nvSpPr>
        <p:spPr>
          <a:xfrm>
            <a:off x="6388100" y="1562098"/>
            <a:ext cx="5286375" cy="603250"/>
          </a:xfrm>
          <a:custGeom>
            <a:avLst/>
            <a:gdLst/>
            <a:ahLst/>
            <a:cxnLst/>
            <a:rect l="l" t="t" r="r" b="b"/>
            <a:pathLst>
              <a:path w="5286375" h="603250">
                <a:moveTo>
                  <a:pt x="63498" y="0"/>
                </a:moveTo>
                <a:lnTo>
                  <a:pt x="5222877" y="0"/>
                </a:lnTo>
                <a:cubicBezTo>
                  <a:pt x="5257946" y="0"/>
                  <a:pt x="5286375" y="28429"/>
                  <a:pt x="5286375" y="63498"/>
                </a:cubicBezTo>
                <a:lnTo>
                  <a:pt x="5286375" y="539752"/>
                </a:lnTo>
                <a:cubicBezTo>
                  <a:pt x="5286375" y="574821"/>
                  <a:pt x="5257946" y="603250"/>
                  <a:pt x="5222877" y="603250"/>
                </a:cubicBezTo>
                <a:lnTo>
                  <a:pt x="63498" y="603250"/>
                </a:lnTo>
                <a:cubicBezTo>
                  <a:pt x="28429" y="603250"/>
                  <a:pt x="0" y="574821"/>
                  <a:pt x="0" y="539752"/>
                </a:cubicBezTo>
                <a:lnTo>
                  <a:pt x="0" y="63498"/>
                </a:lnTo>
                <a:cubicBezTo>
                  <a:pt x="0" y="28453"/>
                  <a:pt x="28453" y="0"/>
                  <a:pt x="63498" y="0"/>
                </a:cubicBezTo>
                <a:close/>
              </a:path>
            </a:pathLst>
          </a:custGeom>
          <a:solidFill>
            <a:srgbClr val="FAFAFA"/>
          </a:solidFill>
          <a:ln/>
        </p:spPr>
      </p:sp>
      <p:sp>
        <p:nvSpPr>
          <p:cNvPr id="38" name="Text 36"/>
          <p:cNvSpPr/>
          <p:nvPr/>
        </p:nvSpPr>
        <p:spPr>
          <a:xfrm>
            <a:off x="6515100" y="1689098"/>
            <a:ext cx="508793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unsigned long btn1PressStart</a:t>
            </a:r>
            <a:endParaRPr lang="en-US" sz="1600" dirty="0"/>
          </a:p>
        </p:txBody>
      </p:sp>
      <p:sp>
        <p:nvSpPr>
          <p:cNvPr id="39" name="Text 37"/>
          <p:cNvSpPr/>
          <p:nvPr/>
        </p:nvSpPr>
        <p:spPr>
          <a:xfrm>
            <a:off x="6515100" y="1879598"/>
            <a:ext cx="508793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Records button press start time for duration calculation</a:t>
            </a:r>
            <a:endParaRPr lang="en-US" sz="1600" dirty="0"/>
          </a:p>
        </p:txBody>
      </p:sp>
      <p:sp>
        <p:nvSpPr>
          <p:cNvPr id="40" name="Shape 38"/>
          <p:cNvSpPr/>
          <p:nvPr/>
        </p:nvSpPr>
        <p:spPr>
          <a:xfrm>
            <a:off x="6388100" y="2260598"/>
            <a:ext cx="5286375" cy="603250"/>
          </a:xfrm>
          <a:custGeom>
            <a:avLst/>
            <a:gdLst/>
            <a:ahLst/>
            <a:cxnLst/>
            <a:rect l="l" t="t" r="r" b="b"/>
            <a:pathLst>
              <a:path w="5286375" h="603250">
                <a:moveTo>
                  <a:pt x="63498" y="0"/>
                </a:moveTo>
                <a:lnTo>
                  <a:pt x="5222877" y="0"/>
                </a:lnTo>
                <a:cubicBezTo>
                  <a:pt x="5257946" y="0"/>
                  <a:pt x="5286375" y="28429"/>
                  <a:pt x="5286375" y="63498"/>
                </a:cubicBezTo>
                <a:lnTo>
                  <a:pt x="5286375" y="539752"/>
                </a:lnTo>
                <a:cubicBezTo>
                  <a:pt x="5286375" y="574821"/>
                  <a:pt x="5257946" y="603250"/>
                  <a:pt x="5222877" y="603250"/>
                </a:cubicBezTo>
                <a:lnTo>
                  <a:pt x="63498" y="603250"/>
                </a:lnTo>
                <a:cubicBezTo>
                  <a:pt x="28429" y="603250"/>
                  <a:pt x="0" y="574821"/>
                  <a:pt x="0" y="539752"/>
                </a:cubicBezTo>
                <a:lnTo>
                  <a:pt x="0" y="63498"/>
                </a:lnTo>
                <a:cubicBezTo>
                  <a:pt x="0" y="28453"/>
                  <a:pt x="28453" y="0"/>
                  <a:pt x="63498" y="0"/>
                </a:cubicBezTo>
                <a:close/>
              </a:path>
            </a:pathLst>
          </a:custGeom>
          <a:solidFill>
            <a:srgbClr val="FAFAFA"/>
          </a:solidFill>
          <a:ln/>
        </p:spPr>
      </p:sp>
      <p:sp>
        <p:nvSpPr>
          <p:cNvPr id="41" name="Text 39"/>
          <p:cNvSpPr/>
          <p:nvPr/>
        </p:nvSpPr>
        <p:spPr>
          <a:xfrm>
            <a:off x="6515100" y="2387598"/>
            <a:ext cx="508793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bool btn1Active</a:t>
            </a:r>
            <a:endParaRPr lang="en-US" sz="1600" dirty="0"/>
          </a:p>
        </p:txBody>
      </p:sp>
      <p:sp>
        <p:nvSpPr>
          <p:cNvPr id="42" name="Text 40"/>
          <p:cNvSpPr/>
          <p:nvPr/>
        </p:nvSpPr>
        <p:spPr>
          <a:xfrm>
            <a:off x="6515100" y="2578098"/>
            <a:ext cx="508793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Tracks if button is currently being pressed</a:t>
            </a:r>
            <a:endParaRPr lang="en-US" sz="1600" dirty="0"/>
          </a:p>
        </p:txBody>
      </p:sp>
      <p:sp>
        <p:nvSpPr>
          <p:cNvPr id="43" name="Shape 41"/>
          <p:cNvSpPr/>
          <p:nvPr/>
        </p:nvSpPr>
        <p:spPr>
          <a:xfrm>
            <a:off x="6388100" y="2959098"/>
            <a:ext cx="5286375" cy="603250"/>
          </a:xfrm>
          <a:custGeom>
            <a:avLst/>
            <a:gdLst/>
            <a:ahLst/>
            <a:cxnLst/>
            <a:rect l="l" t="t" r="r" b="b"/>
            <a:pathLst>
              <a:path w="5286375" h="603250">
                <a:moveTo>
                  <a:pt x="63498" y="0"/>
                </a:moveTo>
                <a:lnTo>
                  <a:pt x="5222877" y="0"/>
                </a:lnTo>
                <a:cubicBezTo>
                  <a:pt x="5257946" y="0"/>
                  <a:pt x="5286375" y="28429"/>
                  <a:pt x="5286375" y="63498"/>
                </a:cubicBezTo>
                <a:lnTo>
                  <a:pt x="5286375" y="539752"/>
                </a:lnTo>
                <a:cubicBezTo>
                  <a:pt x="5286375" y="574821"/>
                  <a:pt x="5257946" y="603250"/>
                  <a:pt x="5222877" y="603250"/>
                </a:cubicBezTo>
                <a:lnTo>
                  <a:pt x="63498" y="603250"/>
                </a:lnTo>
                <a:cubicBezTo>
                  <a:pt x="28429" y="603250"/>
                  <a:pt x="0" y="574821"/>
                  <a:pt x="0" y="539752"/>
                </a:cubicBezTo>
                <a:lnTo>
                  <a:pt x="0" y="63498"/>
                </a:lnTo>
                <a:cubicBezTo>
                  <a:pt x="0" y="28453"/>
                  <a:pt x="28453" y="0"/>
                  <a:pt x="63498" y="0"/>
                </a:cubicBezTo>
                <a:close/>
              </a:path>
            </a:pathLst>
          </a:custGeom>
          <a:solidFill>
            <a:srgbClr val="FAFAFA"/>
          </a:solidFill>
          <a:ln/>
        </p:spPr>
      </p:sp>
      <p:sp>
        <p:nvSpPr>
          <p:cNvPr id="44" name="Text 42"/>
          <p:cNvSpPr/>
          <p:nvPr/>
        </p:nvSpPr>
        <p:spPr>
          <a:xfrm>
            <a:off x="6515100" y="3086098"/>
            <a:ext cx="508793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bool btn1LongPress</a:t>
            </a:r>
            <a:endParaRPr lang="en-US" sz="1600" dirty="0"/>
          </a:p>
        </p:txBody>
      </p:sp>
      <p:sp>
        <p:nvSpPr>
          <p:cNvPr id="45" name="Text 43"/>
          <p:cNvSpPr/>
          <p:nvPr/>
        </p:nvSpPr>
        <p:spPr>
          <a:xfrm>
            <a:off x="6515100" y="3276598"/>
            <a:ext cx="508793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Flags long press to prevent toggle on release</a:t>
            </a:r>
            <a:endParaRPr lang="en-US" sz="1600" dirty="0"/>
          </a:p>
        </p:txBody>
      </p:sp>
      <p:sp>
        <p:nvSpPr>
          <p:cNvPr id="46" name="Shape 44"/>
          <p:cNvSpPr/>
          <p:nvPr/>
        </p:nvSpPr>
        <p:spPr>
          <a:xfrm>
            <a:off x="6388100" y="3657598"/>
            <a:ext cx="5286375" cy="603250"/>
          </a:xfrm>
          <a:custGeom>
            <a:avLst/>
            <a:gdLst/>
            <a:ahLst/>
            <a:cxnLst/>
            <a:rect l="l" t="t" r="r" b="b"/>
            <a:pathLst>
              <a:path w="5286375" h="603250">
                <a:moveTo>
                  <a:pt x="63498" y="0"/>
                </a:moveTo>
                <a:lnTo>
                  <a:pt x="5222877" y="0"/>
                </a:lnTo>
                <a:cubicBezTo>
                  <a:pt x="5257946" y="0"/>
                  <a:pt x="5286375" y="28429"/>
                  <a:pt x="5286375" y="63498"/>
                </a:cubicBezTo>
                <a:lnTo>
                  <a:pt x="5286375" y="539752"/>
                </a:lnTo>
                <a:cubicBezTo>
                  <a:pt x="5286375" y="574821"/>
                  <a:pt x="5257946" y="603250"/>
                  <a:pt x="5222877" y="603250"/>
                </a:cubicBezTo>
                <a:lnTo>
                  <a:pt x="63498" y="603250"/>
                </a:lnTo>
                <a:cubicBezTo>
                  <a:pt x="28429" y="603250"/>
                  <a:pt x="0" y="574821"/>
                  <a:pt x="0" y="539752"/>
                </a:cubicBezTo>
                <a:lnTo>
                  <a:pt x="0" y="63498"/>
                </a:lnTo>
                <a:cubicBezTo>
                  <a:pt x="0" y="28453"/>
                  <a:pt x="28453" y="0"/>
                  <a:pt x="63498" y="0"/>
                </a:cubicBezTo>
                <a:close/>
              </a:path>
            </a:pathLst>
          </a:custGeom>
          <a:solidFill>
            <a:srgbClr val="FAFAFA"/>
          </a:solidFill>
          <a:ln/>
        </p:spPr>
      </p:sp>
      <p:sp>
        <p:nvSpPr>
          <p:cNvPr id="47" name="Text 45"/>
          <p:cNvSpPr/>
          <p:nvPr/>
        </p:nvSpPr>
        <p:spPr>
          <a:xfrm>
            <a:off x="6515100" y="3784598"/>
            <a:ext cx="508793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int savedFan1</a:t>
            </a:r>
            <a:endParaRPr lang="en-US" sz="1600" dirty="0"/>
          </a:p>
        </p:txBody>
      </p:sp>
      <p:sp>
        <p:nvSpPr>
          <p:cNvPr id="48" name="Text 46"/>
          <p:cNvSpPr/>
          <p:nvPr/>
        </p:nvSpPr>
        <p:spPr>
          <a:xfrm>
            <a:off x="6515100" y="3975098"/>
            <a:ext cx="508793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Stores last speed setting for resume functionality</a:t>
            </a:r>
            <a:endParaRPr lang="en-US" sz="1600" dirty="0"/>
          </a:p>
        </p:txBody>
      </p:sp>
      <p:sp>
        <p:nvSpPr>
          <p:cNvPr id="49" name="Shape 47"/>
          <p:cNvSpPr/>
          <p:nvPr/>
        </p:nvSpPr>
        <p:spPr>
          <a:xfrm>
            <a:off x="6388100" y="4356098"/>
            <a:ext cx="5286375" cy="603250"/>
          </a:xfrm>
          <a:custGeom>
            <a:avLst/>
            <a:gdLst/>
            <a:ahLst/>
            <a:cxnLst/>
            <a:rect l="l" t="t" r="r" b="b"/>
            <a:pathLst>
              <a:path w="5286375" h="603250">
                <a:moveTo>
                  <a:pt x="63498" y="0"/>
                </a:moveTo>
                <a:lnTo>
                  <a:pt x="5222877" y="0"/>
                </a:lnTo>
                <a:cubicBezTo>
                  <a:pt x="5257946" y="0"/>
                  <a:pt x="5286375" y="28429"/>
                  <a:pt x="5286375" y="63498"/>
                </a:cubicBezTo>
                <a:lnTo>
                  <a:pt x="5286375" y="539752"/>
                </a:lnTo>
                <a:cubicBezTo>
                  <a:pt x="5286375" y="574821"/>
                  <a:pt x="5257946" y="603250"/>
                  <a:pt x="5222877" y="603250"/>
                </a:cubicBezTo>
                <a:lnTo>
                  <a:pt x="63498" y="603250"/>
                </a:lnTo>
                <a:cubicBezTo>
                  <a:pt x="28429" y="603250"/>
                  <a:pt x="0" y="574821"/>
                  <a:pt x="0" y="539752"/>
                </a:cubicBezTo>
                <a:lnTo>
                  <a:pt x="0" y="63498"/>
                </a:lnTo>
                <a:cubicBezTo>
                  <a:pt x="0" y="28453"/>
                  <a:pt x="28453" y="0"/>
                  <a:pt x="63498" y="0"/>
                </a:cubicBezTo>
                <a:close/>
              </a:path>
            </a:pathLst>
          </a:custGeom>
          <a:solidFill>
            <a:srgbClr val="FAFAFA"/>
          </a:solidFill>
          <a:ln/>
        </p:spPr>
      </p:sp>
      <p:sp>
        <p:nvSpPr>
          <p:cNvPr id="50" name="Text 48"/>
          <p:cNvSpPr/>
          <p:nvPr/>
        </p:nvSpPr>
        <p:spPr>
          <a:xfrm>
            <a:off x="6515100" y="4483098"/>
            <a:ext cx="5087938"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unsigned long lastFan1Change</a:t>
            </a:r>
            <a:endParaRPr lang="en-US" sz="1600" dirty="0"/>
          </a:p>
        </p:txBody>
      </p:sp>
      <p:sp>
        <p:nvSpPr>
          <p:cNvPr id="51" name="Text 49"/>
          <p:cNvSpPr/>
          <p:nvPr/>
        </p:nvSpPr>
        <p:spPr>
          <a:xfrm>
            <a:off x="6515100" y="4673598"/>
            <a:ext cx="508793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500ms interval timer between speed increments</a:t>
            </a:r>
            <a:endParaRPr lang="en-US" sz="1600" dirty="0"/>
          </a:p>
        </p:txBody>
      </p:sp>
      <p:sp>
        <p:nvSpPr>
          <p:cNvPr id="52" name="Shape 50"/>
          <p:cNvSpPr/>
          <p:nvPr/>
        </p:nvSpPr>
        <p:spPr>
          <a:xfrm>
            <a:off x="6194425" y="5196202"/>
            <a:ext cx="5673725" cy="1609725"/>
          </a:xfrm>
          <a:custGeom>
            <a:avLst/>
            <a:gdLst/>
            <a:ahLst/>
            <a:cxnLst/>
            <a:rect l="l" t="t" r="r" b="b"/>
            <a:pathLst>
              <a:path w="5673725" h="1609725">
                <a:moveTo>
                  <a:pt x="95247" y="0"/>
                </a:moveTo>
                <a:lnTo>
                  <a:pt x="5578478" y="0"/>
                </a:lnTo>
                <a:cubicBezTo>
                  <a:pt x="5631081" y="0"/>
                  <a:pt x="5673725" y="42644"/>
                  <a:pt x="5673725" y="95247"/>
                </a:cubicBezTo>
                <a:lnTo>
                  <a:pt x="5673725" y="1514478"/>
                </a:lnTo>
                <a:cubicBezTo>
                  <a:pt x="5673725" y="1567081"/>
                  <a:pt x="5631081" y="1609725"/>
                  <a:pt x="5578478" y="1609725"/>
                </a:cubicBezTo>
                <a:lnTo>
                  <a:pt x="95247" y="1609725"/>
                </a:lnTo>
                <a:cubicBezTo>
                  <a:pt x="42644" y="1609725"/>
                  <a:pt x="0" y="1567081"/>
                  <a:pt x="0" y="1514478"/>
                </a:cubicBezTo>
                <a:lnTo>
                  <a:pt x="0" y="95247"/>
                </a:lnTo>
                <a:cubicBezTo>
                  <a:pt x="0" y="42644"/>
                  <a:pt x="42644" y="0"/>
                  <a:pt x="95247" y="0"/>
                </a:cubicBezTo>
                <a:close/>
              </a:path>
            </a:pathLst>
          </a:custGeom>
          <a:solidFill>
            <a:srgbClr val="0071E3">
              <a:alpha val="5098"/>
            </a:srgbClr>
          </a:solidFill>
          <a:ln w="10160">
            <a:solidFill>
              <a:srgbClr val="0071E3">
                <a:alpha val="20000"/>
              </a:srgbClr>
            </a:solidFill>
            <a:prstDash val="solid"/>
          </a:ln>
        </p:spPr>
      </p:sp>
      <p:sp>
        <p:nvSpPr>
          <p:cNvPr id="53" name="Text 51"/>
          <p:cNvSpPr/>
          <p:nvPr/>
        </p:nvSpPr>
        <p:spPr>
          <a:xfrm>
            <a:off x="6356350" y="5358133"/>
            <a:ext cx="5421313"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Liter" pitchFamily="34" charset="0"/>
                <a:ea typeface="Liter" pitchFamily="34" charset="-122"/>
                <a:cs typeface="Liter" pitchFamily="34" charset="-120"/>
              </a:rPr>
              <a:t>Speed Cycling Logic</a:t>
            </a:r>
            <a:endParaRPr lang="en-US" sz="1600" dirty="0"/>
          </a:p>
        </p:txBody>
      </p:sp>
      <p:sp>
        <p:nvSpPr>
          <p:cNvPr id="54" name="Shape 52"/>
          <p:cNvSpPr/>
          <p:nvPr/>
        </p:nvSpPr>
        <p:spPr>
          <a:xfrm>
            <a:off x="6356350" y="5675633"/>
            <a:ext cx="5349875" cy="968375"/>
          </a:xfrm>
          <a:custGeom>
            <a:avLst/>
            <a:gdLst/>
            <a:ahLst/>
            <a:cxnLst/>
            <a:rect l="l" t="t" r="r" b="b"/>
            <a:pathLst>
              <a:path w="5349875" h="968375">
                <a:moveTo>
                  <a:pt x="63496" y="0"/>
                </a:moveTo>
                <a:lnTo>
                  <a:pt x="5286379" y="0"/>
                </a:lnTo>
                <a:cubicBezTo>
                  <a:pt x="5321447" y="0"/>
                  <a:pt x="5349875" y="28428"/>
                  <a:pt x="5349875" y="63496"/>
                </a:cubicBezTo>
                <a:lnTo>
                  <a:pt x="5349875" y="904879"/>
                </a:lnTo>
                <a:cubicBezTo>
                  <a:pt x="5349875" y="939947"/>
                  <a:pt x="5321447" y="968375"/>
                  <a:pt x="5286379" y="968375"/>
                </a:cubicBezTo>
                <a:lnTo>
                  <a:pt x="63496" y="968375"/>
                </a:lnTo>
                <a:cubicBezTo>
                  <a:pt x="28428" y="968375"/>
                  <a:pt x="0" y="939947"/>
                  <a:pt x="0" y="904879"/>
                </a:cubicBezTo>
                <a:lnTo>
                  <a:pt x="0" y="63496"/>
                </a:lnTo>
                <a:cubicBezTo>
                  <a:pt x="0" y="28452"/>
                  <a:pt x="28452" y="0"/>
                  <a:pt x="63496" y="0"/>
                </a:cubicBezTo>
                <a:close/>
              </a:path>
            </a:pathLst>
          </a:custGeom>
          <a:solidFill>
            <a:srgbClr val="F5F5F7"/>
          </a:solidFill>
          <a:ln/>
        </p:spPr>
      </p:sp>
      <p:sp>
        <p:nvSpPr>
          <p:cNvPr id="55" name="Text 53"/>
          <p:cNvSpPr/>
          <p:nvPr/>
        </p:nvSpPr>
        <p:spPr>
          <a:xfrm>
            <a:off x="6483350" y="5770883"/>
            <a:ext cx="514746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1D1D1D"/>
                </a:solidFill>
                <a:latin typeface="MiSans" pitchFamily="34" charset="0"/>
                <a:ea typeface="MiSans" pitchFamily="34" charset="-122"/>
                <a:cs typeface="MiSans" pitchFamily="34" charset="-120"/>
              </a:rPr>
              <a:t> (fan1State == </a:t>
            </a:r>
            <a:r>
              <a:rPr lang="en-US" sz="813" dirty="0">
                <a:solidFill>
                  <a:srgbClr val="FF9500"/>
                </a:solidFill>
                <a:latin typeface="MiSans" pitchFamily="34" charset="0"/>
                <a:ea typeface="MiSans" pitchFamily="34" charset="-122"/>
                <a:cs typeface="MiSans" pitchFamily="34" charset="-120"/>
              </a:rPr>
              <a:t>0</a:t>
            </a:r>
            <a:r>
              <a:rPr lang="en-US" sz="813" dirty="0">
                <a:solidFill>
                  <a:srgbClr val="1D1D1D"/>
                </a:solidFill>
                <a:latin typeface="MiSans" pitchFamily="34" charset="0"/>
                <a:ea typeface="MiSans" pitchFamily="34" charset="-122"/>
                <a:cs typeface="MiSans" pitchFamily="34" charset="-120"/>
              </a:rPr>
              <a:t>) fan1State = </a:t>
            </a:r>
            <a:r>
              <a:rPr lang="en-US" sz="813" dirty="0">
                <a:solidFill>
                  <a:srgbClr val="FF9500"/>
                </a:solidFill>
                <a:latin typeface="MiSans" pitchFamily="34" charset="0"/>
                <a:ea typeface="MiSans" pitchFamily="34" charset="-122"/>
                <a:cs typeface="MiSans" pitchFamily="34" charset="-120"/>
              </a:rPr>
              <a:t>1</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56" name="Text 54"/>
          <p:cNvSpPr/>
          <p:nvPr/>
        </p:nvSpPr>
        <p:spPr>
          <a:xfrm>
            <a:off x="6483350" y="5925664"/>
            <a:ext cx="514746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else</a:t>
            </a:r>
            <a:r>
              <a:rPr lang="en-US" sz="813" dirty="0">
                <a:solidFill>
                  <a:srgbClr val="1D1D1D"/>
                </a:solidFill>
                <a:latin typeface="MiSans" pitchFamily="34" charset="0"/>
                <a:ea typeface="MiSans" pitchFamily="34" charset="-122"/>
                <a:cs typeface="MiSans" pitchFamily="34" charset="-120"/>
              </a:rPr>
              <a:t> {</a:t>
            </a:r>
            <a:endParaRPr lang="en-US" sz="1600" dirty="0"/>
          </a:p>
        </p:txBody>
      </p:sp>
      <p:sp>
        <p:nvSpPr>
          <p:cNvPr id="57" name="Text 55"/>
          <p:cNvSpPr/>
          <p:nvPr/>
        </p:nvSpPr>
        <p:spPr>
          <a:xfrm>
            <a:off x="6483350" y="6080446"/>
            <a:ext cx="514746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fan1State++;</a:t>
            </a:r>
            <a:endParaRPr lang="en-US" sz="1600" dirty="0"/>
          </a:p>
        </p:txBody>
      </p:sp>
      <p:sp>
        <p:nvSpPr>
          <p:cNvPr id="58" name="Text 56"/>
          <p:cNvSpPr/>
          <p:nvPr/>
        </p:nvSpPr>
        <p:spPr>
          <a:xfrm>
            <a:off x="6483350" y="6235227"/>
            <a:ext cx="514746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if</a:t>
            </a:r>
            <a:r>
              <a:rPr lang="en-US" sz="813" dirty="0">
                <a:solidFill>
                  <a:srgbClr val="1D1D1D"/>
                </a:solidFill>
                <a:latin typeface="MiSans" pitchFamily="34" charset="0"/>
                <a:ea typeface="MiSans" pitchFamily="34" charset="-122"/>
                <a:cs typeface="MiSans" pitchFamily="34" charset="-120"/>
              </a:rPr>
              <a:t> (fan1State &gt; </a:t>
            </a:r>
            <a:r>
              <a:rPr lang="en-US" sz="813" dirty="0">
                <a:solidFill>
                  <a:srgbClr val="FF9500"/>
                </a:solidFill>
                <a:latin typeface="MiSans" pitchFamily="34" charset="0"/>
                <a:ea typeface="MiSans" pitchFamily="34" charset="-122"/>
                <a:cs typeface="MiSans" pitchFamily="34" charset="-120"/>
              </a:rPr>
              <a:t>4</a:t>
            </a:r>
            <a:r>
              <a:rPr lang="en-US" sz="813" dirty="0">
                <a:solidFill>
                  <a:srgbClr val="1D1D1D"/>
                </a:solidFill>
                <a:latin typeface="MiSans" pitchFamily="34" charset="0"/>
                <a:ea typeface="MiSans" pitchFamily="34" charset="-122"/>
                <a:cs typeface="MiSans" pitchFamily="34" charset="-120"/>
              </a:rPr>
              <a:t>) fan1State = </a:t>
            </a:r>
            <a:r>
              <a:rPr lang="en-US" sz="813" dirty="0">
                <a:solidFill>
                  <a:srgbClr val="FF9500"/>
                </a:solidFill>
                <a:latin typeface="MiSans" pitchFamily="34" charset="0"/>
                <a:ea typeface="MiSans" pitchFamily="34" charset="-122"/>
                <a:cs typeface="MiSans" pitchFamily="34" charset="-120"/>
              </a:rPr>
              <a:t>1</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59" name="Text 57"/>
          <p:cNvSpPr/>
          <p:nvPr/>
        </p:nvSpPr>
        <p:spPr>
          <a:xfrm>
            <a:off x="6483350" y="6390008"/>
            <a:ext cx="514746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24687" y="324687"/>
            <a:ext cx="11599446" cy="162344"/>
          </a:xfrm>
          <a:prstGeom prst="rect">
            <a:avLst/>
          </a:prstGeom>
          <a:noFill/>
          <a:ln/>
        </p:spPr>
        <p:txBody>
          <a:bodyPr wrap="square" lIns="0" tIns="0" rIns="0" bIns="0" rtlCol="0" anchor="ctr"/>
          <a:lstStyle/>
          <a:p>
            <a:pPr>
              <a:lnSpc>
                <a:spcPct val="120000"/>
              </a:lnSpc>
            </a:pPr>
            <a:r>
              <a:rPr lang="en-US" sz="895" b="1" kern="0" spc="45" dirty="0">
                <a:solidFill>
                  <a:srgbClr val="0071E3"/>
                </a:solidFill>
                <a:latin typeface="Liter" pitchFamily="34" charset="0"/>
                <a:ea typeface="Liter" pitchFamily="34" charset="-122"/>
                <a:cs typeface="Liter" pitchFamily="34" charset="-120"/>
              </a:rPr>
              <a:t>ACCESS CONTROL</a:t>
            </a:r>
            <a:endParaRPr lang="en-US" sz="1600" dirty="0"/>
          </a:p>
        </p:txBody>
      </p:sp>
      <p:sp>
        <p:nvSpPr>
          <p:cNvPr id="3" name="Text 1"/>
          <p:cNvSpPr/>
          <p:nvPr/>
        </p:nvSpPr>
        <p:spPr>
          <a:xfrm>
            <a:off x="324687" y="551968"/>
            <a:ext cx="11688735" cy="324687"/>
          </a:xfrm>
          <a:prstGeom prst="rect">
            <a:avLst/>
          </a:prstGeom>
          <a:noFill/>
          <a:ln/>
        </p:spPr>
        <p:txBody>
          <a:bodyPr wrap="square" lIns="0" tIns="0" rIns="0" bIns="0" rtlCol="0" anchor="ctr"/>
          <a:lstStyle/>
          <a:p>
            <a:pPr>
              <a:lnSpc>
                <a:spcPct val="90000"/>
              </a:lnSpc>
            </a:pPr>
            <a:r>
              <a:rPr lang="en-US" sz="2301" b="1" dirty="0">
                <a:solidFill>
                  <a:srgbClr val="1D1D1D"/>
                </a:solidFill>
                <a:latin typeface="Liter" pitchFamily="34" charset="0"/>
                <a:ea typeface="Liter" pitchFamily="34" charset="-122"/>
                <a:cs typeface="Liter" pitchFamily="34" charset="-120"/>
              </a:rPr>
              <a:t>Security System – The "1010" Logic</a:t>
            </a:r>
            <a:endParaRPr lang="en-US" sz="1600" dirty="0"/>
          </a:p>
        </p:txBody>
      </p:sp>
      <p:sp>
        <p:nvSpPr>
          <p:cNvPr id="4" name="Shape 2"/>
          <p:cNvSpPr/>
          <p:nvPr/>
        </p:nvSpPr>
        <p:spPr>
          <a:xfrm>
            <a:off x="327934" y="1042246"/>
            <a:ext cx="6841157" cy="2790685"/>
          </a:xfrm>
          <a:custGeom>
            <a:avLst/>
            <a:gdLst/>
            <a:ahLst/>
            <a:cxnLst/>
            <a:rect l="l" t="t" r="r" b="b"/>
            <a:pathLst>
              <a:path w="6841157" h="2790685">
                <a:moveTo>
                  <a:pt x="97395" y="0"/>
                </a:moveTo>
                <a:lnTo>
                  <a:pt x="6743762" y="0"/>
                </a:lnTo>
                <a:cubicBezTo>
                  <a:pt x="6797552" y="0"/>
                  <a:pt x="6841157" y="43605"/>
                  <a:pt x="6841157" y="97395"/>
                </a:cubicBezTo>
                <a:lnTo>
                  <a:pt x="6841157" y="2693291"/>
                </a:lnTo>
                <a:cubicBezTo>
                  <a:pt x="6841157" y="2747080"/>
                  <a:pt x="6797552" y="2790685"/>
                  <a:pt x="6743762" y="2790685"/>
                </a:cubicBezTo>
                <a:lnTo>
                  <a:pt x="97395" y="2790685"/>
                </a:lnTo>
                <a:cubicBezTo>
                  <a:pt x="43605" y="2790685"/>
                  <a:pt x="0" y="2747080"/>
                  <a:pt x="0" y="2693291"/>
                </a:cubicBezTo>
                <a:lnTo>
                  <a:pt x="0" y="97395"/>
                </a:lnTo>
                <a:cubicBezTo>
                  <a:pt x="0" y="43641"/>
                  <a:pt x="43641" y="0"/>
                  <a:pt x="97395" y="0"/>
                </a:cubicBezTo>
                <a:close/>
              </a:path>
            </a:pathLst>
          </a:custGeom>
          <a:solidFill>
            <a:srgbClr val="FFFFFF"/>
          </a:solidFill>
          <a:ln w="10160">
            <a:solidFill>
              <a:srgbClr val="E5E5E5"/>
            </a:solidFill>
            <a:prstDash val="solid"/>
          </a:ln>
          <a:effectLst>
            <a:outerShdw blurRad="24352" dist="8117" dir="5400000" algn="bl" rotWithShape="0">
              <a:srgbClr val="000000">
                <a:alpha val="10196"/>
              </a:srgbClr>
            </a:outerShdw>
          </a:effectLst>
        </p:spPr>
      </p:sp>
      <p:sp>
        <p:nvSpPr>
          <p:cNvPr id="5" name="Shape 3"/>
          <p:cNvSpPr/>
          <p:nvPr/>
        </p:nvSpPr>
        <p:spPr>
          <a:xfrm>
            <a:off x="566579" y="1272780"/>
            <a:ext cx="121758" cy="162344"/>
          </a:xfrm>
          <a:custGeom>
            <a:avLst/>
            <a:gdLst/>
            <a:ahLst/>
            <a:cxnLst/>
            <a:rect l="l" t="t" r="r" b="b"/>
            <a:pathLst>
              <a:path w="121758" h="162344">
                <a:moveTo>
                  <a:pt x="40586" y="30439"/>
                </a:moveTo>
                <a:lnTo>
                  <a:pt x="40586" y="50732"/>
                </a:lnTo>
                <a:lnTo>
                  <a:pt x="81172" y="50732"/>
                </a:lnTo>
                <a:lnTo>
                  <a:pt x="81172" y="30439"/>
                </a:lnTo>
                <a:cubicBezTo>
                  <a:pt x="81172" y="19247"/>
                  <a:pt x="72072" y="10146"/>
                  <a:pt x="60879" y="10146"/>
                </a:cubicBezTo>
                <a:cubicBezTo>
                  <a:pt x="49686" y="10146"/>
                  <a:pt x="40586" y="19247"/>
                  <a:pt x="40586" y="30439"/>
                </a:cubicBezTo>
                <a:close/>
                <a:moveTo>
                  <a:pt x="20293" y="50732"/>
                </a:moveTo>
                <a:lnTo>
                  <a:pt x="20293" y="30439"/>
                </a:lnTo>
                <a:cubicBezTo>
                  <a:pt x="20293" y="8022"/>
                  <a:pt x="38461" y="-10146"/>
                  <a:pt x="60879" y="-10146"/>
                </a:cubicBezTo>
                <a:cubicBezTo>
                  <a:pt x="83296" y="-10146"/>
                  <a:pt x="101465" y="8022"/>
                  <a:pt x="101465" y="30439"/>
                </a:cubicBezTo>
                <a:lnTo>
                  <a:pt x="101465" y="50732"/>
                </a:lnTo>
                <a:cubicBezTo>
                  <a:pt x="112658" y="50732"/>
                  <a:pt x="121758" y="59832"/>
                  <a:pt x="121758" y="71025"/>
                </a:cubicBezTo>
                <a:lnTo>
                  <a:pt x="121758" y="142051"/>
                </a:lnTo>
                <a:cubicBezTo>
                  <a:pt x="121758" y="153243"/>
                  <a:pt x="112658" y="162344"/>
                  <a:pt x="101465" y="162344"/>
                </a:cubicBezTo>
                <a:lnTo>
                  <a:pt x="20293" y="162344"/>
                </a:lnTo>
                <a:cubicBezTo>
                  <a:pt x="9100" y="162344"/>
                  <a:pt x="0" y="153243"/>
                  <a:pt x="0" y="142051"/>
                </a:cubicBezTo>
                <a:lnTo>
                  <a:pt x="0" y="71025"/>
                </a:lnTo>
                <a:cubicBezTo>
                  <a:pt x="0" y="59832"/>
                  <a:pt x="9100" y="50732"/>
                  <a:pt x="20293" y="50732"/>
                </a:cubicBezTo>
                <a:close/>
              </a:path>
            </a:pathLst>
          </a:custGeom>
          <a:solidFill>
            <a:srgbClr val="0071E3"/>
          </a:solidFill>
          <a:ln/>
        </p:spPr>
      </p:sp>
      <p:sp>
        <p:nvSpPr>
          <p:cNvPr id="6" name="Text 4"/>
          <p:cNvSpPr/>
          <p:nvPr/>
        </p:nvSpPr>
        <p:spPr>
          <a:xfrm>
            <a:off x="728923" y="1240311"/>
            <a:ext cx="6323281" cy="227281"/>
          </a:xfrm>
          <a:prstGeom prst="rect">
            <a:avLst/>
          </a:prstGeom>
          <a:noFill/>
          <a:ln/>
        </p:spPr>
        <p:txBody>
          <a:bodyPr wrap="square" lIns="0" tIns="0" rIns="0" bIns="0" rtlCol="0" anchor="ctr"/>
          <a:lstStyle/>
          <a:p>
            <a:pPr>
              <a:lnSpc>
                <a:spcPct val="120000"/>
              </a:lnSpc>
            </a:pPr>
            <a:r>
              <a:rPr lang="en-US" sz="1278" b="1" dirty="0">
                <a:solidFill>
                  <a:srgbClr val="1D1D1D"/>
                </a:solidFill>
                <a:latin typeface="Liter" pitchFamily="34" charset="0"/>
                <a:ea typeface="Liter" pitchFamily="34" charset="-122"/>
                <a:cs typeface="Liter" pitchFamily="34" charset="-120"/>
              </a:rPr>
              <a:t>Two-Input Binary Entry System</a:t>
            </a:r>
            <a:endParaRPr lang="en-US" sz="1600" dirty="0"/>
          </a:p>
        </p:txBody>
      </p:sp>
      <p:sp>
        <p:nvSpPr>
          <p:cNvPr id="7" name="Shape 5"/>
          <p:cNvSpPr/>
          <p:nvPr/>
        </p:nvSpPr>
        <p:spPr>
          <a:xfrm>
            <a:off x="532487" y="1603961"/>
            <a:ext cx="3146218" cy="1263033"/>
          </a:xfrm>
          <a:custGeom>
            <a:avLst/>
            <a:gdLst/>
            <a:ahLst/>
            <a:cxnLst/>
            <a:rect l="l" t="t" r="r" b="b"/>
            <a:pathLst>
              <a:path w="3146218" h="1263033">
                <a:moveTo>
                  <a:pt x="64933" y="0"/>
                </a:moveTo>
                <a:lnTo>
                  <a:pt x="3081285" y="0"/>
                </a:lnTo>
                <a:cubicBezTo>
                  <a:pt x="3117147" y="0"/>
                  <a:pt x="3146218" y="29071"/>
                  <a:pt x="3146218" y="64933"/>
                </a:cubicBezTo>
                <a:lnTo>
                  <a:pt x="3146218" y="1198100"/>
                </a:lnTo>
                <a:cubicBezTo>
                  <a:pt x="3146218" y="1233961"/>
                  <a:pt x="3117147" y="1263033"/>
                  <a:pt x="3081285" y="1263033"/>
                </a:cubicBezTo>
                <a:lnTo>
                  <a:pt x="64933" y="1263033"/>
                </a:lnTo>
                <a:cubicBezTo>
                  <a:pt x="29071" y="1263033"/>
                  <a:pt x="0" y="1233961"/>
                  <a:pt x="0" y="1198100"/>
                </a:cubicBezTo>
                <a:lnTo>
                  <a:pt x="0" y="64933"/>
                </a:lnTo>
                <a:cubicBezTo>
                  <a:pt x="0" y="29071"/>
                  <a:pt x="29071" y="0"/>
                  <a:pt x="64933" y="0"/>
                </a:cubicBezTo>
                <a:close/>
              </a:path>
            </a:pathLst>
          </a:custGeom>
          <a:solidFill>
            <a:srgbClr val="0071E3">
              <a:alpha val="5098"/>
            </a:srgbClr>
          </a:solidFill>
          <a:ln w="20320">
            <a:solidFill>
              <a:srgbClr val="0071E3"/>
            </a:solidFill>
            <a:prstDash val="solid"/>
          </a:ln>
        </p:spPr>
      </p:sp>
      <p:sp>
        <p:nvSpPr>
          <p:cNvPr id="8" name="Shape 6"/>
          <p:cNvSpPr/>
          <p:nvPr/>
        </p:nvSpPr>
        <p:spPr>
          <a:xfrm>
            <a:off x="2000478" y="1740326"/>
            <a:ext cx="213076" cy="243515"/>
          </a:xfrm>
          <a:custGeom>
            <a:avLst/>
            <a:gdLst/>
            <a:ahLst/>
            <a:cxnLst/>
            <a:rect l="l" t="t" r="r" b="b"/>
            <a:pathLst>
              <a:path w="213076" h="243515">
                <a:moveTo>
                  <a:pt x="60879" y="19025"/>
                </a:moveTo>
                <a:cubicBezTo>
                  <a:pt x="60879" y="8514"/>
                  <a:pt x="69392" y="0"/>
                  <a:pt x="79903" y="0"/>
                </a:cubicBezTo>
                <a:cubicBezTo>
                  <a:pt x="90415" y="0"/>
                  <a:pt x="98928" y="8514"/>
                  <a:pt x="98928" y="19025"/>
                </a:cubicBezTo>
                <a:lnTo>
                  <a:pt x="98928" y="89511"/>
                </a:lnTo>
                <a:cubicBezTo>
                  <a:pt x="102971" y="85896"/>
                  <a:pt x="108298" y="83708"/>
                  <a:pt x="114148" y="83708"/>
                </a:cubicBezTo>
                <a:cubicBezTo>
                  <a:pt x="123945" y="83708"/>
                  <a:pt x="132316" y="89891"/>
                  <a:pt x="135551" y="98548"/>
                </a:cubicBezTo>
                <a:cubicBezTo>
                  <a:pt x="139736" y="94124"/>
                  <a:pt x="145634" y="91318"/>
                  <a:pt x="152197" y="91318"/>
                </a:cubicBezTo>
                <a:cubicBezTo>
                  <a:pt x="164230" y="91318"/>
                  <a:pt x="174075" y="100593"/>
                  <a:pt x="174979" y="112388"/>
                </a:cubicBezTo>
                <a:cubicBezTo>
                  <a:pt x="179022" y="108726"/>
                  <a:pt x="184396" y="106538"/>
                  <a:pt x="190246" y="106538"/>
                </a:cubicBezTo>
                <a:cubicBezTo>
                  <a:pt x="202850" y="106538"/>
                  <a:pt x="213076" y="116764"/>
                  <a:pt x="213076" y="129368"/>
                </a:cubicBezTo>
                <a:lnTo>
                  <a:pt x="213076" y="182636"/>
                </a:lnTo>
                <a:cubicBezTo>
                  <a:pt x="213076" y="216263"/>
                  <a:pt x="185823" y="243515"/>
                  <a:pt x="152197" y="243515"/>
                </a:cubicBezTo>
                <a:lnTo>
                  <a:pt x="111627" y="243515"/>
                </a:lnTo>
                <a:cubicBezTo>
                  <a:pt x="109249" y="243515"/>
                  <a:pt x="106918" y="243373"/>
                  <a:pt x="104635" y="243040"/>
                </a:cubicBezTo>
                <a:cubicBezTo>
                  <a:pt x="78334" y="240376"/>
                  <a:pt x="54125" y="226869"/>
                  <a:pt x="38049" y="205466"/>
                </a:cubicBezTo>
                <a:lnTo>
                  <a:pt x="3805" y="159807"/>
                </a:lnTo>
                <a:cubicBezTo>
                  <a:pt x="-2521" y="151389"/>
                  <a:pt x="-809" y="139498"/>
                  <a:pt x="7610" y="133172"/>
                </a:cubicBezTo>
                <a:cubicBezTo>
                  <a:pt x="16028" y="126847"/>
                  <a:pt x="27919" y="128559"/>
                  <a:pt x="34244" y="136977"/>
                </a:cubicBezTo>
                <a:lnTo>
                  <a:pt x="60879" y="172506"/>
                </a:lnTo>
                <a:lnTo>
                  <a:pt x="60879" y="19025"/>
                </a:lnTo>
                <a:close/>
                <a:moveTo>
                  <a:pt x="114148" y="144587"/>
                </a:moveTo>
                <a:cubicBezTo>
                  <a:pt x="114148" y="140402"/>
                  <a:pt x="110723" y="136977"/>
                  <a:pt x="106538" y="136977"/>
                </a:cubicBezTo>
                <a:cubicBezTo>
                  <a:pt x="102353" y="136977"/>
                  <a:pt x="98928" y="140402"/>
                  <a:pt x="98928" y="144587"/>
                </a:cubicBezTo>
                <a:lnTo>
                  <a:pt x="98928" y="190246"/>
                </a:lnTo>
                <a:cubicBezTo>
                  <a:pt x="98928" y="194432"/>
                  <a:pt x="102353" y="197856"/>
                  <a:pt x="106538" y="197856"/>
                </a:cubicBezTo>
                <a:cubicBezTo>
                  <a:pt x="110723" y="197856"/>
                  <a:pt x="114148" y="194432"/>
                  <a:pt x="114148" y="190246"/>
                </a:cubicBezTo>
                <a:lnTo>
                  <a:pt x="114148" y="144587"/>
                </a:lnTo>
                <a:close/>
                <a:moveTo>
                  <a:pt x="136977" y="136977"/>
                </a:moveTo>
                <a:cubicBezTo>
                  <a:pt x="132792" y="136977"/>
                  <a:pt x="129368" y="140402"/>
                  <a:pt x="129368" y="144587"/>
                </a:cubicBezTo>
                <a:lnTo>
                  <a:pt x="129368" y="190246"/>
                </a:lnTo>
                <a:cubicBezTo>
                  <a:pt x="129368" y="194432"/>
                  <a:pt x="132792" y="197856"/>
                  <a:pt x="136977" y="197856"/>
                </a:cubicBezTo>
                <a:cubicBezTo>
                  <a:pt x="141163" y="197856"/>
                  <a:pt x="144587" y="194432"/>
                  <a:pt x="144587" y="190246"/>
                </a:cubicBezTo>
                <a:lnTo>
                  <a:pt x="144587" y="144587"/>
                </a:lnTo>
                <a:cubicBezTo>
                  <a:pt x="144587" y="140402"/>
                  <a:pt x="141163" y="136977"/>
                  <a:pt x="136977" y="136977"/>
                </a:cubicBezTo>
                <a:close/>
                <a:moveTo>
                  <a:pt x="175027" y="144587"/>
                </a:moveTo>
                <a:cubicBezTo>
                  <a:pt x="175027" y="140402"/>
                  <a:pt x="171602" y="136977"/>
                  <a:pt x="167417" y="136977"/>
                </a:cubicBezTo>
                <a:cubicBezTo>
                  <a:pt x="163231" y="136977"/>
                  <a:pt x="159807" y="140402"/>
                  <a:pt x="159807" y="144587"/>
                </a:cubicBezTo>
                <a:lnTo>
                  <a:pt x="159807" y="190246"/>
                </a:lnTo>
                <a:cubicBezTo>
                  <a:pt x="159807" y="194432"/>
                  <a:pt x="163231" y="197856"/>
                  <a:pt x="167417" y="197856"/>
                </a:cubicBezTo>
                <a:cubicBezTo>
                  <a:pt x="171602" y="197856"/>
                  <a:pt x="175027" y="194432"/>
                  <a:pt x="175027" y="190246"/>
                </a:cubicBezTo>
                <a:lnTo>
                  <a:pt x="175027" y="144587"/>
                </a:lnTo>
                <a:close/>
              </a:path>
            </a:pathLst>
          </a:custGeom>
          <a:solidFill>
            <a:srgbClr val="0071E3"/>
          </a:solidFill>
          <a:ln/>
        </p:spPr>
      </p:sp>
      <p:sp>
        <p:nvSpPr>
          <p:cNvPr id="9" name="Text 7"/>
          <p:cNvSpPr/>
          <p:nvPr/>
        </p:nvSpPr>
        <p:spPr>
          <a:xfrm>
            <a:off x="636387" y="2048779"/>
            <a:ext cx="2938418" cy="194812"/>
          </a:xfrm>
          <a:prstGeom prst="rect">
            <a:avLst/>
          </a:prstGeom>
          <a:noFill/>
          <a:ln/>
        </p:spPr>
        <p:txBody>
          <a:bodyPr wrap="square" lIns="0" tIns="0" rIns="0" bIns="0" rtlCol="0" anchor="ctr"/>
          <a:lstStyle/>
          <a:p>
            <a:pPr algn="ctr">
              <a:lnSpc>
                <a:spcPct val="130000"/>
              </a:lnSpc>
            </a:pPr>
            <a:r>
              <a:rPr lang="en-US" sz="1023" b="1" dirty="0">
                <a:solidFill>
                  <a:srgbClr val="1D1D1D"/>
                </a:solidFill>
                <a:latin typeface="Liter" pitchFamily="34" charset="0"/>
                <a:ea typeface="Liter" pitchFamily="34" charset="-122"/>
                <a:cs typeface="Liter" pitchFamily="34" charset="-120"/>
              </a:rPr>
              <a:t>Button (Pin 5)</a:t>
            </a:r>
            <a:endParaRPr lang="en-US" sz="1600" dirty="0"/>
          </a:p>
        </p:txBody>
      </p:sp>
      <p:sp>
        <p:nvSpPr>
          <p:cNvPr id="10" name="Text 8"/>
          <p:cNvSpPr/>
          <p:nvPr/>
        </p:nvSpPr>
        <p:spPr>
          <a:xfrm>
            <a:off x="640445" y="2276060"/>
            <a:ext cx="2930301" cy="162344"/>
          </a:xfrm>
          <a:prstGeom prst="rect">
            <a:avLst/>
          </a:prstGeom>
          <a:noFill/>
          <a:ln/>
        </p:spPr>
        <p:txBody>
          <a:bodyPr wrap="square" lIns="0" tIns="0" rIns="0" bIns="0" rtlCol="0" anchor="ctr"/>
          <a:lstStyle/>
          <a:p>
            <a:pPr algn="ctr">
              <a:lnSpc>
                <a:spcPct val="120000"/>
              </a:lnSpc>
            </a:pPr>
            <a:r>
              <a:rPr lang="en-US" sz="895" dirty="0">
                <a:solidFill>
                  <a:srgbClr val="86868B"/>
                </a:solidFill>
                <a:latin typeface="Liter" pitchFamily="34" charset="0"/>
                <a:ea typeface="Liter" pitchFamily="34" charset="-122"/>
                <a:cs typeface="Liter" pitchFamily="34" charset="-120"/>
              </a:rPr>
              <a:t>Data Bit</a:t>
            </a:r>
            <a:endParaRPr lang="en-US" sz="1600" dirty="0"/>
          </a:p>
        </p:txBody>
      </p:sp>
      <p:sp>
        <p:nvSpPr>
          <p:cNvPr id="11" name="Text 9"/>
          <p:cNvSpPr/>
          <p:nvPr/>
        </p:nvSpPr>
        <p:spPr>
          <a:xfrm>
            <a:off x="644504" y="2470872"/>
            <a:ext cx="2922184" cy="259750"/>
          </a:xfrm>
          <a:prstGeom prst="rect">
            <a:avLst/>
          </a:prstGeom>
          <a:noFill/>
          <a:ln/>
        </p:spPr>
        <p:txBody>
          <a:bodyPr wrap="square" lIns="0" tIns="0" rIns="0" bIns="0" rtlCol="0" anchor="ctr"/>
          <a:lstStyle/>
          <a:p>
            <a:pPr algn="ctr">
              <a:lnSpc>
                <a:spcPct val="110000"/>
              </a:lnSpc>
            </a:pPr>
            <a:r>
              <a:rPr lang="en-US" sz="767" dirty="0">
                <a:solidFill>
                  <a:srgbClr val="86868B"/>
                </a:solidFill>
                <a:latin typeface="Liter" pitchFamily="34" charset="0"/>
                <a:ea typeface="Liter" pitchFamily="34" charset="-122"/>
                <a:cs typeface="Liter" pitchFamily="34" charset="-120"/>
              </a:rPr>
              <a:t>Pressed = 1</a:t>
            </a:r>
            <a:endParaRPr lang="en-US" sz="1600" dirty="0"/>
          </a:p>
          <a:p>
            <a:pPr algn="ctr">
              <a:lnSpc>
                <a:spcPct val="110000"/>
              </a:lnSpc>
            </a:pPr>
            <a:r>
              <a:rPr lang="en-US" sz="767" dirty="0">
                <a:solidFill>
                  <a:srgbClr val="86868B"/>
                </a:solidFill>
                <a:latin typeface="Liter" pitchFamily="34" charset="0"/>
                <a:ea typeface="Liter" pitchFamily="34" charset="-122"/>
                <a:cs typeface="Liter" pitchFamily="34" charset="-120"/>
              </a:rPr>
              <a:t>Released = 0</a:t>
            </a:r>
            <a:endParaRPr lang="en-US" sz="1600" dirty="0"/>
          </a:p>
        </p:txBody>
      </p:sp>
      <p:sp>
        <p:nvSpPr>
          <p:cNvPr id="12" name="Shape 10"/>
          <p:cNvSpPr/>
          <p:nvPr/>
        </p:nvSpPr>
        <p:spPr>
          <a:xfrm>
            <a:off x="3820451" y="1603961"/>
            <a:ext cx="3146218" cy="1263033"/>
          </a:xfrm>
          <a:custGeom>
            <a:avLst/>
            <a:gdLst/>
            <a:ahLst/>
            <a:cxnLst/>
            <a:rect l="l" t="t" r="r" b="b"/>
            <a:pathLst>
              <a:path w="3146218" h="1263033">
                <a:moveTo>
                  <a:pt x="64933" y="0"/>
                </a:moveTo>
                <a:lnTo>
                  <a:pt x="3081285" y="0"/>
                </a:lnTo>
                <a:cubicBezTo>
                  <a:pt x="3117147" y="0"/>
                  <a:pt x="3146218" y="29071"/>
                  <a:pt x="3146218" y="64933"/>
                </a:cubicBezTo>
                <a:lnTo>
                  <a:pt x="3146218" y="1198100"/>
                </a:lnTo>
                <a:cubicBezTo>
                  <a:pt x="3146218" y="1233961"/>
                  <a:pt x="3117147" y="1263033"/>
                  <a:pt x="3081285" y="1263033"/>
                </a:cubicBezTo>
                <a:lnTo>
                  <a:pt x="64933" y="1263033"/>
                </a:lnTo>
                <a:cubicBezTo>
                  <a:pt x="29071" y="1263033"/>
                  <a:pt x="0" y="1233961"/>
                  <a:pt x="0" y="1198100"/>
                </a:cubicBezTo>
                <a:lnTo>
                  <a:pt x="0" y="64933"/>
                </a:lnTo>
                <a:cubicBezTo>
                  <a:pt x="0" y="29071"/>
                  <a:pt x="29071" y="0"/>
                  <a:pt x="64933" y="0"/>
                </a:cubicBezTo>
                <a:close/>
              </a:path>
            </a:pathLst>
          </a:custGeom>
          <a:solidFill>
            <a:srgbClr val="FF9500">
              <a:alpha val="5098"/>
            </a:srgbClr>
          </a:solidFill>
          <a:ln w="20320">
            <a:solidFill>
              <a:srgbClr val="FF9500"/>
            </a:solidFill>
            <a:prstDash val="solid"/>
          </a:ln>
        </p:spPr>
      </p:sp>
      <p:sp>
        <p:nvSpPr>
          <p:cNvPr id="13" name="Shape 11"/>
          <p:cNvSpPr/>
          <p:nvPr/>
        </p:nvSpPr>
        <p:spPr>
          <a:xfrm>
            <a:off x="5273223" y="1740326"/>
            <a:ext cx="243515" cy="243515"/>
          </a:xfrm>
          <a:custGeom>
            <a:avLst/>
            <a:gdLst/>
            <a:ahLst/>
            <a:cxnLst/>
            <a:rect l="l" t="t" r="r" b="b"/>
            <a:pathLst>
              <a:path w="243515" h="243515">
                <a:moveTo>
                  <a:pt x="22830" y="121758"/>
                </a:moveTo>
                <a:cubicBezTo>
                  <a:pt x="22830" y="67109"/>
                  <a:pt x="67109" y="22830"/>
                  <a:pt x="121758" y="22830"/>
                </a:cubicBezTo>
                <a:cubicBezTo>
                  <a:pt x="151769" y="22830"/>
                  <a:pt x="178641" y="36194"/>
                  <a:pt x="196810" y="57312"/>
                </a:cubicBezTo>
                <a:cubicBezTo>
                  <a:pt x="200900" y="62115"/>
                  <a:pt x="208129" y="62639"/>
                  <a:pt x="212886" y="58548"/>
                </a:cubicBezTo>
                <a:cubicBezTo>
                  <a:pt x="217642" y="54458"/>
                  <a:pt x="218213" y="47229"/>
                  <a:pt x="214122" y="42472"/>
                </a:cubicBezTo>
                <a:cubicBezTo>
                  <a:pt x="191816" y="16456"/>
                  <a:pt x="158713" y="0"/>
                  <a:pt x="121758" y="0"/>
                </a:cubicBezTo>
                <a:cubicBezTo>
                  <a:pt x="54506" y="0"/>
                  <a:pt x="0" y="54506"/>
                  <a:pt x="0" y="121758"/>
                </a:cubicBezTo>
                <a:lnTo>
                  <a:pt x="0" y="140782"/>
                </a:lnTo>
                <a:cubicBezTo>
                  <a:pt x="0" y="147108"/>
                  <a:pt x="5089" y="152197"/>
                  <a:pt x="11415" y="152197"/>
                </a:cubicBezTo>
                <a:cubicBezTo>
                  <a:pt x="17740" y="152197"/>
                  <a:pt x="22830" y="147108"/>
                  <a:pt x="22830" y="140782"/>
                </a:cubicBezTo>
                <a:lnTo>
                  <a:pt x="22830" y="121758"/>
                </a:lnTo>
                <a:close/>
                <a:moveTo>
                  <a:pt x="240899" y="96598"/>
                </a:moveTo>
                <a:cubicBezTo>
                  <a:pt x="239615" y="90415"/>
                  <a:pt x="233527" y="86467"/>
                  <a:pt x="227392" y="87799"/>
                </a:cubicBezTo>
                <a:cubicBezTo>
                  <a:pt x="221256" y="89130"/>
                  <a:pt x="217261" y="95171"/>
                  <a:pt x="218593" y="101306"/>
                </a:cubicBezTo>
                <a:cubicBezTo>
                  <a:pt x="219972" y="107917"/>
                  <a:pt x="220733" y="114766"/>
                  <a:pt x="220733" y="121805"/>
                </a:cubicBezTo>
                <a:lnTo>
                  <a:pt x="220733" y="140830"/>
                </a:lnTo>
                <a:cubicBezTo>
                  <a:pt x="220733" y="147156"/>
                  <a:pt x="225822" y="152245"/>
                  <a:pt x="232148" y="152245"/>
                </a:cubicBezTo>
                <a:cubicBezTo>
                  <a:pt x="238474" y="152245"/>
                  <a:pt x="243563" y="147156"/>
                  <a:pt x="243563" y="140830"/>
                </a:cubicBezTo>
                <a:lnTo>
                  <a:pt x="243563" y="121805"/>
                </a:lnTo>
                <a:cubicBezTo>
                  <a:pt x="243563" y="113197"/>
                  <a:pt x="242659" y="104778"/>
                  <a:pt x="240947" y="96645"/>
                </a:cubicBezTo>
                <a:close/>
                <a:moveTo>
                  <a:pt x="121758" y="38049"/>
                </a:moveTo>
                <a:cubicBezTo>
                  <a:pt x="112721" y="38049"/>
                  <a:pt x="103970" y="39476"/>
                  <a:pt x="95837" y="42140"/>
                </a:cubicBezTo>
                <a:cubicBezTo>
                  <a:pt x="88607" y="44518"/>
                  <a:pt x="86943" y="53412"/>
                  <a:pt x="91889" y="59214"/>
                </a:cubicBezTo>
                <a:cubicBezTo>
                  <a:pt x="95266" y="63162"/>
                  <a:pt x="100831" y="64351"/>
                  <a:pt x="105872" y="62972"/>
                </a:cubicBezTo>
                <a:cubicBezTo>
                  <a:pt x="110914" y="61592"/>
                  <a:pt x="116241" y="60879"/>
                  <a:pt x="121758" y="60879"/>
                </a:cubicBezTo>
                <a:cubicBezTo>
                  <a:pt x="155384" y="60879"/>
                  <a:pt x="182636" y="88132"/>
                  <a:pt x="182636" y="121758"/>
                </a:cubicBezTo>
                <a:lnTo>
                  <a:pt x="182636" y="133600"/>
                </a:lnTo>
                <a:cubicBezTo>
                  <a:pt x="182636" y="145586"/>
                  <a:pt x="181923" y="157524"/>
                  <a:pt x="180544" y="169414"/>
                </a:cubicBezTo>
                <a:cubicBezTo>
                  <a:pt x="179735" y="176358"/>
                  <a:pt x="185015" y="182636"/>
                  <a:pt x="192054" y="182636"/>
                </a:cubicBezTo>
                <a:cubicBezTo>
                  <a:pt x="197666" y="182636"/>
                  <a:pt x="202470" y="178546"/>
                  <a:pt x="203136" y="172981"/>
                </a:cubicBezTo>
                <a:cubicBezTo>
                  <a:pt x="204705" y="159950"/>
                  <a:pt x="205514" y="146823"/>
                  <a:pt x="205514" y="133648"/>
                </a:cubicBezTo>
                <a:lnTo>
                  <a:pt x="205514" y="121805"/>
                </a:lnTo>
                <a:cubicBezTo>
                  <a:pt x="205514" y="75575"/>
                  <a:pt x="168035" y="38097"/>
                  <a:pt x="121805" y="38097"/>
                </a:cubicBezTo>
                <a:close/>
                <a:moveTo>
                  <a:pt x="71675" y="70724"/>
                </a:moveTo>
                <a:cubicBezTo>
                  <a:pt x="67347" y="65683"/>
                  <a:pt x="59642" y="65302"/>
                  <a:pt x="55552" y="70534"/>
                </a:cubicBezTo>
                <a:cubicBezTo>
                  <a:pt x="44565" y="84707"/>
                  <a:pt x="38049" y="102448"/>
                  <a:pt x="38049" y="121758"/>
                </a:cubicBezTo>
                <a:lnTo>
                  <a:pt x="38049" y="133600"/>
                </a:lnTo>
                <a:cubicBezTo>
                  <a:pt x="38049" y="145110"/>
                  <a:pt x="36813" y="156620"/>
                  <a:pt x="34339" y="167797"/>
                </a:cubicBezTo>
                <a:cubicBezTo>
                  <a:pt x="32722" y="175217"/>
                  <a:pt x="38097" y="182589"/>
                  <a:pt x="45707" y="182589"/>
                </a:cubicBezTo>
                <a:cubicBezTo>
                  <a:pt x="50701" y="182589"/>
                  <a:pt x="55171" y="179260"/>
                  <a:pt x="56265" y="174361"/>
                </a:cubicBezTo>
                <a:cubicBezTo>
                  <a:pt x="59309" y="160996"/>
                  <a:pt x="60879" y="147346"/>
                  <a:pt x="60879" y="133553"/>
                </a:cubicBezTo>
                <a:lnTo>
                  <a:pt x="60879" y="121710"/>
                </a:lnTo>
                <a:cubicBezTo>
                  <a:pt x="60879" y="108773"/>
                  <a:pt x="64922" y="96788"/>
                  <a:pt x="71770" y="86943"/>
                </a:cubicBezTo>
                <a:cubicBezTo>
                  <a:pt x="75195" y="81996"/>
                  <a:pt x="75575" y="75242"/>
                  <a:pt x="71675" y="70677"/>
                </a:cubicBezTo>
                <a:close/>
                <a:moveTo>
                  <a:pt x="121758" y="76099"/>
                </a:moveTo>
                <a:cubicBezTo>
                  <a:pt x="96550" y="76099"/>
                  <a:pt x="76099" y="96550"/>
                  <a:pt x="76099" y="121758"/>
                </a:cubicBezTo>
                <a:lnTo>
                  <a:pt x="76099" y="133600"/>
                </a:lnTo>
                <a:cubicBezTo>
                  <a:pt x="76099" y="150675"/>
                  <a:pt x="73911" y="167607"/>
                  <a:pt x="69535" y="184063"/>
                </a:cubicBezTo>
                <a:cubicBezTo>
                  <a:pt x="67728" y="190865"/>
                  <a:pt x="72722" y="197856"/>
                  <a:pt x="79761" y="197856"/>
                </a:cubicBezTo>
                <a:cubicBezTo>
                  <a:pt x="84279" y="197856"/>
                  <a:pt x="88274" y="194907"/>
                  <a:pt x="89463" y="190532"/>
                </a:cubicBezTo>
                <a:cubicBezTo>
                  <a:pt x="94457" y="171983"/>
                  <a:pt x="97026" y="152863"/>
                  <a:pt x="97026" y="133600"/>
                </a:cubicBezTo>
                <a:lnTo>
                  <a:pt x="97026" y="121758"/>
                </a:lnTo>
                <a:cubicBezTo>
                  <a:pt x="97026" y="108107"/>
                  <a:pt x="108107" y="97026"/>
                  <a:pt x="121758" y="97026"/>
                </a:cubicBezTo>
                <a:cubicBezTo>
                  <a:pt x="135408" y="97026"/>
                  <a:pt x="146490" y="108107"/>
                  <a:pt x="146490" y="121758"/>
                </a:cubicBezTo>
                <a:lnTo>
                  <a:pt x="146490" y="133600"/>
                </a:lnTo>
                <a:cubicBezTo>
                  <a:pt x="146490" y="150865"/>
                  <a:pt x="144825" y="168035"/>
                  <a:pt x="141543" y="184919"/>
                </a:cubicBezTo>
                <a:cubicBezTo>
                  <a:pt x="140259" y="191531"/>
                  <a:pt x="145206" y="197856"/>
                  <a:pt x="151912" y="197856"/>
                </a:cubicBezTo>
                <a:cubicBezTo>
                  <a:pt x="156763" y="197856"/>
                  <a:pt x="160948" y="194527"/>
                  <a:pt x="161900" y="189771"/>
                </a:cubicBezTo>
                <a:cubicBezTo>
                  <a:pt x="165562" y="171317"/>
                  <a:pt x="167417" y="152530"/>
                  <a:pt x="167417" y="133600"/>
                </a:cubicBezTo>
                <a:lnTo>
                  <a:pt x="167417" y="121758"/>
                </a:lnTo>
                <a:cubicBezTo>
                  <a:pt x="167417" y="96550"/>
                  <a:pt x="146965" y="76099"/>
                  <a:pt x="121758" y="76099"/>
                </a:cubicBezTo>
                <a:close/>
                <a:moveTo>
                  <a:pt x="133172" y="121758"/>
                </a:moveTo>
                <a:cubicBezTo>
                  <a:pt x="133172" y="115432"/>
                  <a:pt x="128083" y="110343"/>
                  <a:pt x="121758" y="110343"/>
                </a:cubicBezTo>
                <a:cubicBezTo>
                  <a:pt x="115432" y="110343"/>
                  <a:pt x="110343" y="115432"/>
                  <a:pt x="110343" y="121758"/>
                </a:cubicBezTo>
                <a:lnTo>
                  <a:pt x="110343" y="133600"/>
                </a:lnTo>
                <a:cubicBezTo>
                  <a:pt x="110343" y="162090"/>
                  <a:pt x="105111" y="190341"/>
                  <a:pt x="94885" y="216928"/>
                </a:cubicBezTo>
                <a:lnTo>
                  <a:pt x="92079" y="224205"/>
                </a:lnTo>
                <a:cubicBezTo>
                  <a:pt x="89796" y="230103"/>
                  <a:pt x="92745" y="236714"/>
                  <a:pt x="98643" y="238949"/>
                </a:cubicBezTo>
                <a:cubicBezTo>
                  <a:pt x="104540" y="241185"/>
                  <a:pt x="111151" y="238284"/>
                  <a:pt x="113387" y="232386"/>
                </a:cubicBezTo>
                <a:lnTo>
                  <a:pt x="116193" y="225109"/>
                </a:lnTo>
                <a:cubicBezTo>
                  <a:pt x="127417" y="195906"/>
                  <a:pt x="133172" y="164896"/>
                  <a:pt x="133172" y="133600"/>
                </a:cubicBezTo>
                <a:lnTo>
                  <a:pt x="133172" y="121758"/>
                </a:lnTo>
                <a:close/>
              </a:path>
            </a:pathLst>
          </a:custGeom>
          <a:solidFill>
            <a:srgbClr val="FF9500"/>
          </a:solidFill>
          <a:ln/>
        </p:spPr>
      </p:sp>
      <p:sp>
        <p:nvSpPr>
          <p:cNvPr id="14" name="Text 12"/>
          <p:cNvSpPr/>
          <p:nvPr/>
        </p:nvSpPr>
        <p:spPr>
          <a:xfrm>
            <a:off x="3924351" y="2048779"/>
            <a:ext cx="2938418" cy="194812"/>
          </a:xfrm>
          <a:prstGeom prst="rect">
            <a:avLst/>
          </a:prstGeom>
          <a:noFill/>
          <a:ln/>
        </p:spPr>
        <p:txBody>
          <a:bodyPr wrap="square" lIns="0" tIns="0" rIns="0" bIns="0" rtlCol="0" anchor="ctr"/>
          <a:lstStyle/>
          <a:p>
            <a:pPr algn="ctr">
              <a:lnSpc>
                <a:spcPct val="130000"/>
              </a:lnSpc>
            </a:pPr>
            <a:r>
              <a:rPr lang="en-US" sz="1023" b="1" dirty="0">
                <a:solidFill>
                  <a:srgbClr val="1D1D1D"/>
                </a:solidFill>
                <a:latin typeface="Liter" pitchFamily="34" charset="0"/>
                <a:ea typeface="Liter" pitchFamily="34" charset="-122"/>
                <a:cs typeface="Liter" pitchFamily="34" charset="-120"/>
              </a:rPr>
              <a:t>Touch (Pin 23)</a:t>
            </a:r>
            <a:endParaRPr lang="en-US" sz="1600" dirty="0"/>
          </a:p>
        </p:txBody>
      </p:sp>
      <p:sp>
        <p:nvSpPr>
          <p:cNvPr id="15" name="Text 13"/>
          <p:cNvSpPr/>
          <p:nvPr/>
        </p:nvSpPr>
        <p:spPr>
          <a:xfrm>
            <a:off x="3928409" y="2276060"/>
            <a:ext cx="2930301" cy="162344"/>
          </a:xfrm>
          <a:prstGeom prst="rect">
            <a:avLst/>
          </a:prstGeom>
          <a:noFill/>
          <a:ln/>
        </p:spPr>
        <p:txBody>
          <a:bodyPr wrap="square" lIns="0" tIns="0" rIns="0" bIns="0" rtlCol="0" anchor="ctr"/>
          <a:lstStyle/>
          <a:p>
            <a:pPr algn="ctr">
              <a:lnSpc>
                <a:spcPct val="120000"/>
              </a:lnSpc>
            </a:pPr>
            <a:r>
              <a:rPr lang="en-US" sz="895" dirty="0">
                <a:solidFill>
                  <a:srgbClr val="86868B"/>
                </a:solidFill>
                <a:latin typeface="Liter" pitchFamily="34" charset="0"/>
                <a:ea typeface="Liter" pitchFamily="34" charset="-122"/>
                <a:cs typeface="Liter" pitchFamily="34" charset="-120"/>
              </a:rPr>
              <a:t>Clock/Enter</a:t>
            </a:r>
            <a:endParaRPr lang="en-US" sz="1600" dirty="0"/>
          </a:p>
        </p:txBody>
      </p:sp>
      <p:sp>
        <p:nvSpPr>
          <p:cNvPr id="16" name="Text 14"/>
          <p:cNvSpPr/>
          <p:nvPr/>
        </p:nvSpPr>
        <p:spPr>
          <a:xfrm>
            <a:off x="3932468" y="2470872"/>
            <a:ext cx="2922184" cy="259750"/>
          </a:xfrm>
          <a:prstGeom prst="rect">
            <a:avLst/>
          </a:prstGeom>
          <a:noFill/>
          <a:ln/>
        </p:spPr>
        <p:txBody>
          <a:bodyPr wrap="square" lIns="0" tIns="0" rIns="0" bIns="0" rtlCol="0" anchor="ctr"/>
          <a:lstStyle/>
          <a:p>
            <a:pPr algn="ctr">
              <a:lnSpc>
                <a:spcPct val="110000"/>
              </a:lnSpc>
            </a:pPr>
            <a:r>
              <a:rPr lang="en-US" sz="767" dirty="0">
                <a:solidFill>
                  <a:srgbClr val="86868B"/>
                </a:solidFill>
                <a:latin typeface="Liter" pitchFamily="34" charset="0"/>
                <a:ea typeface="Liter" pitchFamily="34" charset="-122"/>
                <a:cs typeface="Liter" pitchFamily="34" charset="-120"/>
              </a:rPr>
              <a:t>Short = Bit Entry</a:t>
            </a:r>
            <a:endParaRPr lang="en-US" sz="1600" dirty="0"/>
          </a:p>
          <a:p>
            <a:pPr algn="ctr">
              <a:lnSpc>
                <a:spcPct val="110000"/>
              </a:lnSpc>
            </a:pPr>
            <a:r>
              <a:rPr lang="en-US" sz="767" dirty="0">
                <a:solidFill>
                  <a:srgbClr val="86868B"/>
                </a:solidFill>
                <a:latin typeface="Liter" pitchFamily="34" charset="0"/>
                <a:ea typeface="Liter" pitchFamily="34" charset="-122"/>
                <a:cs typeface="Liter" pitchFamily="34" charset="-120"/>
              </a:rPr>
              <a:t>Long = Submit</a:t>
            </a:r>
            <a:endParaRPr lang="en-US" sz="1600" dirty="0"/>
          </a:p>
        </p:txBody>
      </p:sp>
      <p:sp>
        <p:nvSpPr>
          <p:cNvPr id="17" name="Shape 15"/>
          <p:cNvSpPr/>
          <p:nvPr/>
        </p:nvSpPr>
        <p:spPr>
          <a:xfrm>
            <a:off x="525993" y="3003157"/>
            <a:ext cx="6445039" cy="633140"/>
          </a:xfrm>
          <a:custGeom>
            <a:avLst/>
            <a:gdLst/>
            <a:ahLst/>
            <a:cxnLst/>
            <a:rect l="l" t="t" r="r" b="b"/>
            <a:pathLst>
              <a:path w="6445039" h="633140">
                <a:moveTo>
                  <a:pt x="64935" y="0"/>
                </a:moveTo>
                <a:lnTo>
                  <a:pt x="6380104" y="0"/>
                </a:lnTo>
                <a:cubicBezTo>
                  <a:pt x="6415966" y="0"/>
                  <a:pt x="6445039" y="29072"/>
                  <a:pt x="6445039" y="64935"/>
                </a:cubicBezTo>
                <a:lnTo>
                  <a:pt x="6445039" y="568205"/>
                </a:lnTo>
                <a:cubicBezTo>
                  <a:pt x="6445039" y="604068"/>
                  <a:pt x="6415966" y="633140"/>
                  <a:pt x="6380104" y="633140"/>
                </a:cubicBezTo>
                <a:lnTo>
                  <a:pt x="64935" y="633140"/>
                </a:lnTo>
                <a:cubicBezTo>
                  <a:pt x="29096" y="633140"/>
                  <a:pt x="0" y="604043"/>
                  <a:pt x="0" y="568205"/>
                </a:cubicBezTo>
                <a:lnTo>
                  <a:pt x="0" y="64935"/>
                </a:lnTo>
                <a:cubicBezTo>
                  <a:pt x="0" y="29072"/>
                  <a:pt x="29072" y="0"/>
                  <a:pt x="64935" y="0"/>
                </a:cubicBezTo>
                <a:close/>
              </a:path>
            </a:pathLst>
          </a:custGeom>
          <a:solidFill>
            <a:srgbClr val="FAFAFA"/>
          </a:solidFill>
          <a:ln/>
        </p:spPr>
      </p:sp>
      <p:sp>
        <p:nvSpPr>
          <p:cNvPr id="18" name="Text 16"/>
          <p:cNvSpPr/>
          <p:nvPr/>
        </p:nvSpPr>
        <p:spPr>
          <a:xfrm>
            <a:off x="655868" y="3133032"/>
            <a:ext cx="6242109" cy="373390"/>
          </a:xfrm>
          <a:prstGeom prst="rect">
            <a:avLst/>
          </a:prstGeom>
          <a:noFill/>
          <a:ln/>
        </p:spPr>
        <p:txBody>
          <a:bodyPr wrap="square" lIns="0" tIns="0" rIns="0" bIns="0" rtlCol="0" anchor="ctr"/>
          <a:lstStyle/>
          <a:p>
            <a:pPr>
              <a:lnSpc>
                <a:spcPct val="140000"/>
              </a:lnSpc>
            </a:pPr>
            <a:r>
              <a:rPr lang="en-US" sz="895" dirty="0">
                <a:solidFill>
                  <a:srgbClr val="86868B"/>
                </a:solidFill>
                <a:latin typeface="Liter" pitchFamily="34" charset="0"/>
                <a:ea typeface="Liter" pitchFamily="34" charset="-122"/>
                <a:cs typeface="Liter" pitchFamily="34" charset="-120"/>
              </a:rPr>
              <a:t>User enters binary password by holding button (for '1') or releasing (for '0'), then tapping touch sensor to clock in each bit. Long press on touch submits password for validation.</a:t>
            </a:r>
            <a:endParaRPr lang="en-US" sz="1600" dirty="0"/>
          </a:p>
        </p:txBody>
      </p:sp>
      <p:sp>
        <p:nvSpPr>
          <p:cNvPr id="19" name="Shape 17"/>
          <p:cNvSpPr/>
          <p:nvPr/>
        </p:nvSpPr>
        <p:spPr>
          <a:xfrm>
            <a:off x="324687" y="3995887"/>
            <a:ext cx="6850897" cy="2491973"/>
          </a:xfrm>
          <a:custGeom>
            <a:avLst/>
            <a:gdLst/>
            <a:ahLst/>
            <a:cxnLst/>
            <a:rect l="l" t="t" r="r" b="b"/>
            <a:pathLst>
              <a:path w="6850897" h="2491973">
                <a:moveTo>
                  <a:pt x="97411" y="0"/>
                </a:moveTo>
                <a:lnTo>
                  <a:pt x="6753486" y="0"/>
                </a:lnTo>
                <a:cubicBezTo>
                  <a:pt x="6807285" y="0"/>
                  <a:pt x="6850897" y="43612"/>
                  <a:pt x="6850897" y="97411"/>
                </a:cubicBezTo>
                <a:lnTo>
                  <a:pt x="6850897" y="2394562"/>
                </a:lnTo>
                <a:cubicBezTo>
                  <a:pt x="6850897" y="2448361"/>
                  <a:pt x="6807285" y="2491973"/>
                  <a:pt x="6753486" y="2491973"/>
                </a:cubicBezTo>
                <a:lnTo>
                  <a:pt x="97411" y="2491973"/>
                </a:lnTo>
                <a:cubicBezTo>
                  <a:pt x="43612" y="2491973"/>
                  <a:pt x="0" y="2448361"/>
                  <a:pt x="0" y="2394562"/>
                </a:cubicBezTo>
                <a:lnTo>
                  <a:pt x="0" y="97411"/>
                </a:lnTo>
                <a:cubicBezTo>
                  <a:pt x="0" y="43612"/>
                  <a:pt x="43612" y="0"/>
                  <a:pt x="97411" y="0"/>
                </a:cubicBezTo>
                <a:close/>
              </a:path>
            </a:pathLst>
          </a:custGeom>
          <a:solidFill>
            <a:srgbClr val="1D1D1D"/>
          </a:solidFill>
          <a:ln/>
        </p:spPr>
      </p:sp>
      <p:sp>
        <p:nvSpPr>
          <p:cNvPr id="20" name="Shape 18"/>
          <p:cNvSpPr/>
          <p:nvPr/>
        </p:nvSpPr>
        <p:spPr>
          <a:xfrm>
            <a:off x="498192" y="4198816"/>
            <a:ext cx="164373" cy="146109"/>
          </a:xfrm>
          <a:custGeom>
            <a:avLst/>
            <a:gdLst/>
            <a:ahLst/>
            <a:cxnLst/>
            <a:rect l="l" t="t" r="r" b="b"/>
            <a:pathLst>
              <a:path w="164373" h="146109">
                <a:moveTo>
                  <a:pt x="102961" y="342"/>
                </a:moveTo>
                <a:cubicBezTo>
                  <a:pt x="98110" y="-1056"/>
                  <a:pt x="93059" y="1769"/>
                  <a:pt x="91661" y="6621"/>
                </a:cubicBezTo>
                <a:lnTo>
                  <a:pt x="55133" y="134466"/>
                </a:lnTo>
                <a:cubicBezTo>
                  <a:pt x="53735" y="139317"/>
                  <a:pt x="56560" y="144368"/>
                  <a:pt x="61412" y="145767"/>
                </a:cubicBezTo>
                <a:cubicBezTo>
                  <a:pt x="66263" y="147165"/>
                  <a:pt x="71314" y="144340"/>
                  <a:pt x="72712" y="139489"/>
                </a:cubicBezTo>
                <a:lnTo>
                  <a:pt x="109239" y="11643"/>
                </a:lnTo>
                <a:cubicBezTo>
                  <a:pt x="110638" y="6792"/>
                  <a:pt x="107813" y="1741"/>
                  <a:pt x="102961" y="342"/>
                </a:cubicBezTo>
                <a:close/>
                <a:moveTo>
                  <a:pt x="121396" y="39181"/>
                </a:moveTo>
                <a:cubicBezTo>
                  <a:pt x="117829" y="42748"/>
                  <a:pt x="117829" y="48541"/>
                  <a:pt x="121396" y="52108"/>
                </a:cubicBezTo>
                <a:lnTo>
                  <a:pt x="142342" y="73055"/>
                </a:lnTo>
                <a:lnTo>
                  <a:pt x="121396" y="94001"/>
                </a:lnTo>
                <a:cubicBezTo>
                  <a:pt x="117829" y="97568"/>
                  <a:pt x="117829" y="103361"/>
                  <a:pt x="121396" y="106928"/>
                </a:cubicBezTo>
                <a:cubicBezTo>
                  <a:pt x="124963" y="110495"/>
                  <a:pt x="130756" y="110495"/>
                  <a:pt x="134323" y="106928"/>
                </a:cubicBezTo>
                <a:lnTo>
                  <a:pt x="161719" y="79532"/>
                </a:lnTo>
                <a:cubicBezTo>
                  <a:pt x="165286" y="75965"/>
                  <a:pt x="165286" y="70172"/>
                  <a:pt x="161719" y="66605"/>
                </a:cubicBezTo>
                <a:lnTo>
                  <a:pt x="134323" y="39210"/>
                </a:lnTo>
                <a:cubicBezTo>
                  <a:pt x="130756" y="35643"/>
                  <a:pt x="124963" y="35643"/>
                  <a:pt x="121396" y="39210"/>
                </a:cubicBezTo>
                <a:close/>
                <a:moveTo>
                  <a:pt x="43005" y="39181"/>
                </a:moveTo>
                <a:cubicBezTo>
                  <a:pt x="39438" y="35614"/>
                  <a:pt x="33645" y="35614"/>
                  <a:pt x="30078" y="39181"/>
                </a:cubicBezTo>
                <a:lnTo>
                  <a:pt x="2682" y="66577"/>
                </a:lnTo>
                <a:cubicBezTo>
                  <a:pt x="-885" y="70144"/>
                  <a:pt x="-885" y="75937"/>
                  <a:pt x="2682" y="79504"/>
                </a:cubicBezTo>
                <a:lnTo>
                  <a:pt x="30078" y="106899"/>
                </a:lnTo>
                <a:cubicBezTo>
                  <a:pt x="33645" y="110467"/>
                  <a:pt x="39438" y="110467"/>
                  <a:pt x="43005" y="106899"/>
                </a:cubicBezTo>
                <a:cubicBezTo>
                  <a:pt x="46572" y="103332"/>
                  <a:pt x="46572" y="97539"/>
                  <a:pt x="43005" y="93972"/>
                </a:cubicBezTo>
                <a:lnTo>
                  <a:pt x="22059" y="73055"/>
                </a:lnTo>
                <a:lnTo>
                  <a:pt x="42977" y="52108"/>
                </a:lnTo>
                <a:cubicBezTo>
                  <a:pt x="46544" y="48541"/>
                  <a:pt x="46544" y="42748"/>
                  <a:pt x="42977" y="39181"/>
                </a:cubicBezTo>
                <a:close/>
              </a:path>
            </a:pathLst>
          </a:custGeom>
          <a:solidFill>
            <a:srgbClr val="0071E3"/>
          </a:solidFill>
          <a:ln/>
        </p:spPr>
      </p:sp>
      <p:sp>
        <p:nvSpPr>
          <p:cNvPr id="21" name="Text 19"/>
          <p:cNvSpPr/>
          <p:nvPr/>
        </p:nvSpPr>
        <p:spPr>
          <a:xfrm>
            <a:off x="673726" y="4158230"/>
            <a:ext cx="6412570" cy="227281"/>
          </a:xfrm>
          <a:prstGeom prst="rect">
            <a:avLst/>
          </a:prstGeom>
          <a:noFill/>
          <a:ln/>
        </p:spPr>
        <p:txBody>
          <a:bodyPr wrap="square" lIns="0" tIns="0" rIns="0" bIns="0" rtlCol="0" anchor="ctr"/>
          <a:lstStyle/>
          <a:p>
            <a:pPr>
              <a:lnSpc>
                <a:spcPct val="130000"/>
              </a:lnSpc>
            </a:pPr>
            <a:r>
              <a:rPr lang="en-US" sz="1150" b="1" dirty="0">
                <a:solidFill>
                  <a:srgbClr val="FFFFFF"/>
                </a:solidFill>
                <a:latin typeface="Liter" pitchFamily="34" charset="0"/>
                <a:ea typeface="Liter" pitchFamily="34" charset="-122"/>
                <a:cs typeface="Liter" pitchFamily="34" charset="-120"/>
              </a:rPr>
              <a:t>Password Validation (Lines 614-625)</a:t>
            </a:r>
            <a:endParaRPr lang="en-US" sz="1600" dirty="0"/>
          </a:p>
        </p:txBody>
      </p:sp>
      <p:sp>
        <p:nvSpPr>
          <p:cNvPr id="22" name="Shape 20"/>
          <p:cNvSpPr/>
          <p:nvPr/>
        </p:nvSpPr>
        <p:spPr>
          <a:xfrm>
            <a:off x="487031" y="4482917"/>
            <a:ext cx="6526210" cy="1842599"/>
          </a:xfrm>
          <a:custGeom>
            <a:avLst/>
            <a:gdLst/>
            <a:ahLst/>
            <a:cxnLst/>
            <a:rect l="l" t="t" r="r" b="b"/>
            <a:pathLst>
              <a:path w="6526210" h="1842599">
                <a:moveTo>
                  <a:pt x="64933" y="0"/>
                </a:moveTo>
                <a:lnTo>
                  <a:pt x="6461277" y="0"/>
                </a:lnTo>
                <a:cubicBezTo>
                  <a:pt x="6497139" y="0"/>
                  <a:pt x="6526210" y="29072"/>
                  <a:pt x="6526210" y="64933"/>
                </a:cubicBezTo>
                <a:lnTo>
                  <a:pt x="6526210" y="1777666"/>
                </a:lnTo>
                <a:cubicBezTo>
                  <a:pt x="6526210" y="1813528"/>
                  <a:pt x="6497139" y="1842599"/>
                  <a:pt x="6461277" y="1842599"/>
                </a:cubicBezTo>
                <a:lnTo>
                  <a:pt x="64933" y="1842599"/>
                </a:lnTo>
                <a:cubicBezTo>
                  <a:pt x="29072" y="1842599"/>
                  <a:pt x="0" y="1813528"/>
                  <a:pt x="0" y="1777666"/>
                </a:cubicBezTo>
                <a:lnTo>
                  <a:pt x="0" y="64933"/>
                </a:lnTo>
                <a:cubicBezTo>
                  <a:pt x="0" y="29072"/>
                  <a:pt x="29072" y="0"/>
                  <a:pt x="64933" y="0"/>
                </a:cubicBezTo>
                <a:close/>
              </a:path>
            </a:pathLst>
          </a:custGeom>
          <a:solidFill>
            <a:srgbClr val="2D2D2D"/>
          </a:solidFill>
          <a:ln/>
        </p:spPr>
      </p:sp>
      <p:sp>
        <p:nvSpPr>
          <p:cNvPr id="23" name="Text 21"/>
          <p:cNvSpPr/>
          <p:nvPr/>
        </p:nvSpPr>
        <p:spPr>
          <a:xfrm>
            <a:off x="616905" y="4580323"/>
            <a:ext cx="6319222" cy="162344"/>
          </a:xfrm>
          <a:prstGeom prst="rect">
            <a:avLst/>
          </a:prstGeom>
          <a:noFill/>
          <a:ln/>
        </p:spPr>
        <p:txBody>
          <a:bodyPr wrap="square" lIns="0" tIns="0" rIns="0" bIns="0" rtlCol="0" anchor="ctr"/>
          <a:lstStyle/>
          <a:p>
            <a:pPr>
              <a:lnSpc>
                <a:spcPct val="130000"/>
              </a:lnSpc>
            </a:pPr>
            <a:r>
              <a:rPr lang="en-US" sz="831" dirty="0">
                <a:solidFill>
                  <a:srgbClr val="0071E3"/>
                </a:solidFill>
                <a:latin typeface="MiSans" pitchFamily="34" charset="0"/>
                <a:ea typeface="MiSans" pitchFamily="34" charset="-122"/>
                <a:cs typeface="MiSans" pitchFamily="34" charset="-120"/>
              </a:rPr>
              <a:t>const String</a:t>
            </a:r>
            <a:r>
              <a:rPr lang="en-US" sz="831" dirty="0">
                <a:solidFill>
                  <a:srgbClr val="FFFFFF"/>
                </a:solidFill>
                <a:latin typeface="MiSans" pitchFamily="34" charset="0"/>
                <a:ea typeface="MiSans" pitchFamily="34" charset="-122"/>
                <a:cs typeface="MiSans" pitchFamily="34" charset="-120"/>
              </a:rPr>
              <a:t> CORRECT_PASSWORD = </a:t>
            </a:r>
            <a:r>
              <a:rPr lang="en-US" sz="831" dirty="0">
                <a:solidFill>
                  <a:srgbClr val="34C759"/>
                </a:solidFill>
                <a:latin typeface="MiSans" pitchFamily="34" charset="0"/>
                <a:ea typeface="MiSans" pitchFamily="34" charset="-122"/>
                <a:cs typeface="MiSans" pitchFamily="34" charset="-120"/>
              </a:rPr>
              <a:t>"1010"</a:t>
            </a:r>
            <a:r>
              <a:rPr lang="en-US" sz="831" dirty="0">
                <a:solidFill>
                  <a:srgbClr val="FFFFFF"/>
                </a:solidFill>
                <a:latin typeface="MiSans" pitchFamily="34" charset="0"/>
                <a:ea typeface="MiSans" pitchFamily="34" charset="-122"/>
                <a:cs typeface="MiSans" pitchFamily="34" charset="-120"/>
              </a:rPr>
              <a:t>;</a:t>
            </a:r>
            <a:endParaRPr lang="en-US" sz="1600" dirty="0"/>
          </a:p>
        </p:txBody>
      </p:sp>
      <p:sp>
        <p:nvSpPr>
          <p:cNvPr id="24" name="Text 22"/>
          <p:cNvSpPr/>
          <p:nvPr/>
        </p:nvSpPr>
        <p:spPr>
          <a:xfrm>
            <a:off x="616905" y="4803546"/>
            <a:ext cx="6319222" cy="162344"/>
          </a:xfrm>
          <a:prstGeom prst="rect">
            <a:avLst/>
          </a:prstGeom>
          <a:noFill/>
          <a:ln/>
        </p:spPr>
        <p:txBody>
          <a:bodyPr wrap="square" lIns="0" tIns="0" rIns="0" bIns="0" rtlCol="0" anchor="ctr"/>
          <a:lstStyle/>
          <a:p>
            <a:pPr>
              <a:lnSpc>
                <a:spcPct val="130000"/>
              </a:lnSpc>
            </a:pPr>
            <a:r>
              <a:rPr lang="en-US" sz="831" dirty="0">
                <a:solidFill>
                  <a:srgbClr val="0071E3"/>
                </a:solidFill>
                <a:latin typeface="MiSans" pitchFamily="34" charset="0"/>
                <a:ea typeface="MiSans" pitchFamily="34" charset="-122"/>
                <a:cs typeface="MiSans" pitchFamily="34" charset="-120"/>
              </a:rPr>
              <a:t>if</a:t>
            </a:r>
            <a:r>
              <a:rPr lang="en-US" sz="831" dirty="0">
                <a:solidFill>
                  <a:srgbClr val="FFFFFF"/>
                </a:solidFill>
                <a:latin typeface="MiSans" pitchFamily="34" charset="0"/>
                <a:ea typeface="MiSans" pitchFamily="34" charset="-122"/>
                <a:cs typeface="MiSans" pitchFamily="34" charset="-120"/>
              </a:rPr>
              <a:t> (passInput == CORRECT_PASSWORD) {</a:t>
            </a:r>
            <a:endParaRPr lang="en-US" sz="1600" dirty="0"/>
          </a:p>
        </p:txBody>
      </p:sp>
      <p:sp>
        <p:nvSpPr>
          <p:cNvPr id="25" name="Text 23"/>
          <p:cNvSpPr/>
          <p:nvPr/>
        </p:nvSpPr>
        <p:spPr>
          <a:xfrm>
            <a:off x="616905" y="4961831"/>
            <a:ext cx="6319222" cy="162344"/>
          </a:xfrm>
          <a:prstGeom prst="rect">
            <a:avLst/>
          </a:prstGeom>
          <a:noFill/>
          <a:ln/>
        </p:spPr>
        <p:txBody>
          <a:bodyPr wrap="square" lIns="0" tIns="0" rIns="0" bIns="0" rtlCol="0" anchor="ctr"/>
          <a:lstStyle/>
          <a:p>
            <a:pPr>
              <a:lnSpc>
                <a:spcPct val="130000"/>
              </a:lnSpc>
            </a:pPr>
            <a:r>
              <a:rPr lang="en-US" sz="831" dirty="0">
                <a:solidFill>
                  <a:srgbClr val="FFFFFF"/>
                </a:solidFill>
                <a:latin typeface="MiSans" pitchFamily="34" charset="0"/>
                <a:ea typeface="MiSans" pitchFamily="34" charset="-122"/>
                <a:cs typeface="MiSans" pitchFamily="34" charset="-120"/>
              </a:rPr>
              <a:t>updateOled(</a:t>
            </a:r>
            <a:r>
              <a:rPr lang="en-US" sz="831" dirty="0">
                <a:solidFill>
                  <a:srgbClr val="34C759"/>
                </a:solidFill>
                <a:latin typeface="MiSans" pitchFamily="34" charset="0"/>
                <a:ea typeface="MiSans" pitchFamily="34" charset="-122"/>
                <a:cs typeface="MiSans" pitchFamily="34" charset="-120"/>
              </a:rPr>
              <a:t>"Access\nGRANTED"</a:t>
            </a:r>
            <a:r>
              <a:rPr lang="en-US" sz="831" dirty="0">
                <a:solidFill>
                  <a:srgbClr val="FFFFFF"/>
                </a:solidFill>
                <a:latin typeface="MiSans" pitchFamily="34" charset="0"/>
                <a:ea typeface="MiSans" pitchFamily="34" charset="-122"/>
                <a:cs typeface="MiSans" pitchFamily="34" charset="-120"/>
              </a:rPr>
              <a:t>);</a:t>
            </a:r>
            <a:endParaRPr lang="en-US" sz="1600" dirty="0"/>
          </a:p>
        </p:txBody>
      </p:sp>
      <p:sp>
        <p:nvSpPr>
          <p:cNvPr id="26" name="Text 24"/>
          <p:cNvSpPr/>
          <p:nvPr/>
        </p:nvSpPr>
        <p:spPr>
          <a:xfrm>
            <a:off x="616905" y="5120116"/>
            <a:ext cx="6319222" cy="162344"/>
          </a:xfrm>
          <a:prstGeom prst="rect">
            <a:avLst/>
          </a:prstGeom>
          <a:noFill/>
          <a:ln/>
        </p:spPr>
        <p:txBody>
          <a:bodyPr wrap="square" lIns="0" tIns="0" rIns="0" bIns="0" rtlCol="0" anchor="ctr"/>
          <a:lstStyle/>
          <a:p>
            <a:pPr>
              <a:lnSpc>
                <a:spcPct val="130000"/>
              </a:lnSpc>
            </a:pPr>
            <a:r>
              <a:rPr lang="en-US" sz="831" dirty="0">
                <a:solidFill>
                  <a:srgbClr val="FFFFFF"/>
                </a:solidFill>
                <a:latin typeface="MiSans" pitchFamily="34" charset="0"/>
                <a:ea typeface="MiSans" pitchFamily="34" charset="-122"/>
                <a:cs typeface="MiSans" pitchFamily="34" charset="-120"/>
              </a:rPr>
              <a:t>activeClient.print(</a:t>
            </a:r>
            <a:r>
              <a:rPr lang="en-US" sz="831" dirty="0">
                <a:solidFill>
                  <a:srgbClr val="34C759"/>
                </a:solidFill>
                <a:latin typeface="MiSans" pitchFamily="34" charset="0"/>
                <a:ea typeface="MiSans" pitchFamily="34" charset="-122"/>
                <a:cs typeface="MiSans" pitchFamily="34" charset="-120"/>
              </a:rPr>
              <a:t>'C'</a:t>
            </a:r>
            <a:r>
              <a:rPr lang="en-US" sz="831" dirty="0">
                <a:solidFill>
                  <a:srgbClr val="FFFFFF"/>
                </a:solidFill>
                <a:latin typeface="MiSans" pitchFamily="34" charset="0"/>
                <a:ea typeface="MiSans" pitchFamily="34" charset="-122"/>
                <a:cs typeface="MiSans" pitchFamily="34" charset="-120"/>
              </a:rPr>
              <a:t>); </a:t>
            </a:r>
            <a:r>
              <a:rPr lang="en-US" sz="831" dirty="0">
                <a:solidFill>
                  <a:srgbClr val="86868B"/>
                </a:solidFill>
                <a:latin typeface="MiSans" pitchFamily="34" charset="0"/>
                <a:ea typeface="MiSans" pitchFamily="34" charset="-122"/>
                <a:cs typeface="MiSans" pitchFamily="34" charset="-120"/>
              </a:rPr>
              <a:t>// Send correct feedback</a:t>
            </a:r>
            <a:endParaRPr lang="en-US" sz="1600" dirty="0"/>
          </a:p>
        </p:txBody>
      </p:sp>
      <p:sp>
        <p:nvSpPr>
          <p:cNvPr id="27" name="Text 25"/>
          <p:cNvSpPr/>
          <p:nvPr/>
        </p:nvSpPr>
        <p:spPr>
          <a:xfrm>
            <a:off x="616905" y="5278401"/>
            <a:ext cx="6319222" cy="162344"/>
          </a:xfrm>
          <a:prstGeom prst="rect">
            <a:avLst/>
          </a:prstGeom>
          <a:noFill/>
          <a:ln/>
        </p:spPr>
        <p:txBody>
          <a:bodyPr wrap="square" lIns="0" tIns="0" rIns="0" bIns="0" rtlCol="0" anchor="ctr"/>
          <a:lstStyle/>
          <a:p>
            <a:pPr>
              <a:lnSpc>
                <a:spcPct val="130000"/>
              </a:lnSpc>
            </a:pPr>
            <a:r>
              <a:rPr lang="en-US" sz="831" dirty="0">
                <a:solidFill>
                  <a:srgbClr val="FFFFFF"/>
                </a:solidFill>
                <a:latin typeface="MiSans" pitchFamily="34" charset="0"/>
                <a:ea typeface="MiSans" pitchFamily="34" charset="-122"/>
                <a:cs typeface="MiSans" pitchFamily="34" charset="-120"/>
              </a:rPr>
              <a:t>passInput = </a:t>
            </a:r>
            <a:r>
              <a:rPr lang="en-US" sz="831" dirty="0">
                <a:solidFill>
                  <a:srgbClr val="34C759"/>
                </a:solidFill>
                <a:latin typeface="MiSans" pitchFamily="34" charset="0"/>
                <a:ea typeface="MiSans" pitchFamily="34" charset="-122"/>
                <a:cs typeface="MiSans" pitchFamily="34" charset="-120"/>
              </a:rPr>
              <a:t>""</a:t>
            </a:r>
            <a:r>
              <a:rPr lang="en-US" sz="831" dirty="0">
                <a:solidFill>
                  <a:srgbClr val="FFFFFF"/>
                </a:solidFill>
                <a:latin typeface="MiSans" pitchFamily="34" charset="0"/>
                <a:ea typeface="MiSans" pitchFamily="34" charset="-122"/>
                <a:cs typeface="MiSans" pitchFamily="34" charset="-120"/>
              </a:rPr>
              <a:t>;</a:t>
            </a:r>
            <a:endParaRPr lang="en-US" sz="1600" dirty="0"/>
          </a:p>
        </p:txBody>
      </p:sp>
      <p:sp>
        <p:nvSpPr>
          <p:cNvPr id="28" name="Text 26"/>
          <p:cNvSpPr/>
          <p:nvPr/>
        </p:nvSpPr>
        <p:spPr>
          <a:xfrm>
            <a:off x="616905" y="5436685"/>
            <a:ext cx="6319222" cy="162344"/>
          </a:xfrm>
          <a:prstGeom prst="rect">
            <a:avLst/>
          </a:prstGeom>
          <a:noFill/>
          <a:ln/>
        </p:spPr>
        <p:txBody>
          <a:bodyPr wrap="square" lIns="0" tIns="0" rIns="0" bIns="0" rtlCol="0" anchor="ctr"/>
          <a:lstStyle/>
          <a:p>
            <a:pPr>
              <a:lnSpc>
                <a:spcPct val="130000"/>
              </a:lnSpc>
            </a:pPr>
            <a:r>
              <a:rPr lang="en-US" sz="831" dirty="0">
                <a:solidFill>
                  <a:srgbClr val="FFFFFF"/>
                </a:solidFill>
                <a:latin typeface="MiSans" pitchFamily="34" charset="0"/>
                <a:ea typeface="MiSans" pitchFamily="34" charset="-122"/>
                <a:cs typeface="MiSans" pitchFamily="34" charset="-120"/>
              </a:rPr>
              <a:t>} </a:t>
            </a:r>
            <a:r>
              <a:rPr lang="en-US" sz="831" dirty="0">
                <a:solidFill>
                  <a:srgbClr val="0071E3"/>
                </a:solidFill>
                <a:latin typeface="MiSans" pitchFamily="34" charset="0"/>
                <a:ea typeface="MiSans" pitchFamily="34" charset="-122"/>
                <a:cs typeface="MiSans" pitchFamily="34" charset="-120"/>
              </a:rPr>
              <a:t>else</a:t>
            </a:r>
            <a:r>
              <a:rPr lang="en-US" sz="831" dirty="0">
                <a:solidFill>
                  <a:srgbClr val="FFFFFF"/>
                </a:solidFill>
                <a:latin typeface="MiSans" pitchFamily="34" charset="0"/>
                <a:ea typeface="MiSans" pitchFamily="34" charset="-122"/>
                <a:cs typeface="MiSans" pitchFamily="34" charset="-120"/>
              </a:rPr>
              <a:t> {</a:t>
            </a:r>
            <a:endParaRPr lang="en-US" sz="1600" dirty="0"/>
          </a:p>
        </p:txBody>
      </p:sp>
      <p:sp>
        <p:nvSpPr>
          <p:cNvPr id="29" name="Text 27"/>
          <p:cNvSpPr/>
          <p:nvPr/>
        </p:nvSpPr>
        <p:spPr>
          <a:xfrm>
            <a:off x="616905" y="5594970"/>
            <a:ext cx="6319222" cy="162344"/>
          </a:xfrm>
          <a:prstGeom prst="rect">
            <a:avLst/>
          </a:prstGeom>
          <a:noFill/>
          <a:ln/>
        </p:spPr>
        <p:txBody>
          <a:bodyPr wrap="square" lIns="0" tIns="0" rIns="0" bIns="0" rtlCol="0" anchor="ctr"/>
          <a:lstStyle/>
          <a:p>
            <a:pPr>
              <a:lnSpc>
                <a:spcPct val="130000"/>
              </a:lnSpc>
            </a:pPr>
            <a:r>
              <a:rPr lang="en-US" sz="831" dirty="0">
                <a:solidFill>
                  <a:srgbClr val="FFFFFF"/>
                </a:solidFill>
                <a:latin typeface="MiSans" pitchFamily="34" charset="0"/>
                <a:ea typeface="MiSans" pitchFamily="34" charset="-122"/>
                <a:cs typeface="MiSans" pitchFamily="34" charset="-120"/>
              </a:rPr>
              <a:t>updateOled(</a:t>
            </a:r>
            <a:r>
              <a:rPr lang="en-US" sz="831" dirty="0">
                <a:solidFill>
                  <a:srgbClr val="34C759"/>
                </a:solidFill>
                <a:latin typeface="MiSans" pitchFamily="34" charset="0"/>
                <a:ea typeface="MiSans" pitchFamily="34" charset="-122"/>
                <a:cs typeface="MiSans" pitchFamily="34" charset="-120"/>
              </a:rPr>
              <a:t>"Access\nDENIED"</a:t>
            </a:r>
            <a:r>
              <a:rPr lang="en-US" sz="831" dirty="0">
                <a:solidFill>
                  <a:srgbClr val="FFFFFF"/>
                </a:solidFill>
                <a:latin typeface="MiSans" pitchFamily="34" charset="0"/>
                <a:ea typeface="MiSans" pitchFamily="34" charset="-122"/>
                <a:cs typeface="MiSans" pitchFamily="34" charset="-120"/>
              </a:rPr>
              <a:t>);</a:t>
            </a:r>
            <a:endParaRPr lang="en-US" sz="1600" dirty="0"/>
          </a:p>
        </p:txBody>
      </p:sp>
      <p:sp>
        <p:nvSpPr>
          <p:cNvPr id="30" name="Text 28"/>
          <p:cNvSpPr/>
          <p:nvPr/>
        </p:nvSpPr>
        <p:spPr>
          <a:xfrm>
            <a:off x="616905" y="5753255"/>
            <a:ext cx="6319222" cy="162344"/>
          </a:xfrm>
          <a:prstGeom prst="rect">
            <a:avLst/>
          </a:prstGeom>
          <a:noFill/>
          <a:ln/>
        </p:spPr>
        <p:txBody>
          <a:bodyPr wrap="square" lIns="0" tIns="0" rIns="0" bIns="0" rtlCol="0" anchor="ctr"/>
          <a:lstStyle/>
          <a:p>
            <a:pPr>
              <a:lnSpc>
                <a:spcPct val="130000"/>
              </a:lnSpc>
            </a:pPr>
            <a:r>
              <a:rPr lang="en-US" sz="831" dirty="0">
                <a:solidFill>
                  <a:srgbClr val="FFFFFF"/>
                </a:solidFill>
                <a:latin typeface="MiSans" pitchFamily="34" charset="0"/>
                <a:ea typeface="MiSans" pitchFamily="34" charset="-122"/>
                <a:cs typeface="MiSans" pitchFamily="34" charset="-120"/>
              </a:rPr>
              <a:t>activeClient.print(</a:t>
            </a:r>
            <a:r>
              <a:rPr lang="en-US" sz="831" dirty="0">
                <a:solidFill>
                  <a:srgbClr val="34C759"/>
                </a:solidFill>
                <a:latin typeface="MiSans" pitchFamily="34" charset="0"/>
                <a:ea typeface="MiSans" pitchFamily="34" charset="-122"/>
                <a:cs typeface="MiSans" pitchFamily="34" charset="-120"/>
              </a:rPr>
              <a:t>'W'</a:t>
            </a:r>
            <a:r>
              <a:rPr lang="en-US" sz="831" dirty="0">
                <a:solidFill>
                  <a:srgbClr val="FFFFFF"/>
                </a:solidFill>
                <a:latin typeface="MiSans" pitchFamily="34" charset="0"/>
                <a:ea typeface="MiSans" pitchFamily="34" charset="-122"/>
                <a:cs typeface="MiSans" pitchFamily="34" charset="-120"/>
              </a:rPr>
              <a:t>); </a:t>
            </a:r>
            <a:r>
              <a:rPr lang="en-US" sz="831" dirty="0">
                <a:solidFill>
                  <a:srgbClr val="86868B"/>
                </a:solidFill>
                <a:latin typeface="MiSans" pitchFamily="34" charset="0"/>
                <a:ea typeface="MiSans" pitchFamily="34" charset="-122"/>
                <a:cs typeface="MiSans" pitchFamily="34" charset="-120"/>
              </a:rPr>
              <a:t>// Send wrong feedback</a:t>
            </a:r>
            <a:endParaRPr lang="en-US" sz="1600" dirty="0"/>
          </a:p>
        </p:txBody>
      </p:sp>
      <p:sp>
        <p:nvSpPr>
          <p:cNvPr id="31" name="Text 29"/>
          <p:cNvSpPr/>
          <p:nvPr/>
        </p:nvSpPr>
        <p:spPr>
          <a:xfrm>
            <a:off x="616905" y="5911540"/>
            <a:ext cx="6319222" cy="162344"/>
          </a:xfrm>
          <a:prstGeom prst="rect">
            <a:avLst/>
          </a:prstGeom>
          <a:noFill/>
          <a:ln/>
        </p:spPr>
        <p:txBody>
          <a:bodyPr wrap="square" lIns="0" tIns="0" rIns="0" bIns="0" rtlCol="0" anchor="ctr"/>
          <a:lstStyle/>
          <a:p>
            <a:pPr>
              <a:lnSpc>
                <a:spcPct val="130000"/>
              </a:lnSpc>
            </a:pPr>
            <a:r>
              <a:rPr lang="en-US" sz="831" dirty="0">
                <a:solidFill>
                  <a:srgbClr val="FFFFFF"/>
                </a:solidFill>
                <a:latin typeface="MiSans" pitchFamily="34" charset="0"/>
                <a:ea typeface="MiSans" pitchFamily="34" charset="-122"/>
                <a:cs typeface="MiSans" pitchFamily="34" charset="-120"/>
              </a:rPr>
              <a:t>passInput = </a:t>
            </a:r>
            <a:r>
              <a:rPr lang="en-US" sz="831" dirty="0">
                <a:solidFill>
                  <a:srgbClr val="34C759"/>
                </a:solidFill>
                <a:latin typeface="MiSans" pitchFamily="34" charset="0"/>
                <a:ea typeface="MiSans" pitchFamily="34" charset="-122"/>
                <a:cs typeface="MiSans" pitchFamily="34" charset="-120"/>
              </a:rPr>
              <a:t>""</a:t>
            </a:r>
            <a:r>
              <a:rPr lang="en-US" sz="831" dirty="0">
                <a:solidFill>
                  <a:srgbClr val="FFFFFF"/>
                </a:solidFill>
                <a:latin typeface="MiSans" pitchFamily="34" charset="0"/>
                <a:ea typeface="MiSans" pitchFamily="34" charset="-122"/>
                <a:cs typeface="MiSans" pitchFamily="34" charset="-120"/>
              </a:rPr>
              <a:t>;</a:t>
            </a:r>
            <a:endParaRPr lang="en-US" sz="1600" dirty="0"/>
          </a:p>
        </p:txBody>
      </p:sp>
      <p:sp>
        <p:nvSpPr>
          <p:cNvPr id="32" name="Text 30"/>
          <p:cNvSpPr/>
          <p:nvPr/>
        </p:nvSpPr>
        <p:spPr>
          <a:xfrm>
            <a:off x="616905" y="6069825"/>
            <a:ext cx="6319222" cy="162344"/>
          </a:xfrm>
          <a:prstGeom prst="rect">
            <a:avLst/>
          </a:prstGeom>
          <a:noFill/>
          <a:ln/>
        </p:spPr>
        <p:txBody>
          <a:bodyPr wrap="square" lIns="0" tIns="0" rIns="0" bIns="0" rtlCol="0" anchor="ctr"/>
          <a:lstStyle/>
          <a:p>
            <a:pPr>
              <a:lnSpc>
                <a:spcPct val="130000"/>
              </a:lnSpc>
            </a:pPr>
            <a:r>
              <a:rPr lang="en-US" sz="831" dirty="0">
                <a:solidFill>
                  <a:srgbClr val="FFFFFF"/>
                </a:solidFill>
                <a:latin typeface="MiSans" pitchFamily="34" charset="0"/>
                <a:ea typeface="MiSans" pitchFamily="34" charset="-122"/>
                <a:cs typeface="MiSans" pitchFamily="34" charset="-120"/>
              </a:rPr>
              <a:t>}</a:t>
            </a:r>
            <a:endParaRPr lang="en-US" sz="1600" dirty="0"/>
          </a:p>
        </p:txBody>
      </p:sp>
      <p:sp>
        <p:nvSpPr>
          <p:cNvPr id="33" name="Shape 31"/>
          <p:cNvSpPr/>
          <p:nvPr/>
        </p:nvSpPr>
        <p:spPr>
          <a:xfrm>
            <a:off x="7371412" y="1042246"/>
            <a:ext cx="4495293" cy="3700421"/>
          </a:xfrm>
          <a:custGeom>
            <a:avLst/>
            <a:gdLst/>
            <a:ahLst/>
            <a:cxnLst/>
            <a:rect l="l" t="t" r="r" b="b"/>
            <a:pathLst>
              <a:path w="4495293" h="3821567">
                <a:moveTo>
                  <a:pt x="97412" y="0"/>
                </a:moveTo>
                <a:lnTo>
                  <a:pt x="4397881" y="0"/>
                </a:lnTo>
                <a:cubicBezTo>
                  <a:pt x="4451680" y="0"/>
                  <a:pt x="4495293" y="43613"/>
                  <a:pt x="4495293" y="97412"/>
                </a:cubicBezTo>
                <a:lnTo>
                  <a:pt x="4495293" y="3724155"/>
                </a:lnTo>
                <a:cubicBezTo>
                  <a:pt x="4495293" y="3777954"/>
                  <a:pt x="4451680" y="3821567"/>
                  <a:pt x="4397881" y="3821567"/>
                </a:cubicBezTo>
                <a:lnTo>
                  <a:pt x="97412" y="3821567"/>
                </a:lnTo>
                <a:cubicBezTo>
                  <a:pt x="43613" y="3821567"/>
                  <a:pt x="0" y="3777954"/>
                  <a:pt x="0" y="3724155"/>
                </a:cubicBezTo>
                <a:lnTo>
                  <a:pt x="0" y="97412"/>
                </a:lnTo>
                <a:cubicBezTo>
                  <a:pt x="0" y="43649"/>
                  <a:pt x="43649" y="0"/>
                  <a:pt x="97412" y="0"/>
                </a:cubicBezTo>
                <a:close/>
              </a:path>
            </a:pathLst>
          </a:custGeom>
          <a:solidFill>
            <a:srgbClr val="FFFFFF"/>
          </a:solidFill>
          <a:ln w="10160">
            <a:solidFill>
              <a:srgbClr val="E5E5E5"/>
            </a:solidFill>
            <a:prstDash val="solid"/>
          </a:ln>
          <a:effectLst>
            <a:outerShdw blurRad="24352" dist="8117" dir="5400000" algn="bl" rotWithShape="0">
              <a:srgbClr val="000000">
                <a:alpha val="10196"/>
              </a:srgbClr>
            </a:outerShdw>
          </a:effectLst>
        </p:spPr>
        <p:txBody>
          <a:bodyPr/>
          <a:lstStyle/>
          <a:p>
            <a:endParaRPr lang="en-IN" dirty="0"/>
          </a:p>
        </p:txBody>
      </p:sp>
      <p:sp>
        <p:nvSpPr>
          <p:cNvPr id="34" name="Shape 32"/>
          <p:cNvSpPr/>
          <p:nvPr/>
        </p:nvSpPr>
        <p:spPr>
          <a:xfrm>
            <a:off x="7589764" y="1272780"/>
            <a:ext cx="162344" cy="162344"/>
          </a:xfrm>
          <a:custGeom>
            <a:avLst/>
            <a:gdLst/>
            <a:ahLst/>
            <a:cxnLst/>
            <a:rect l="l" t="t" r="r" b="b"/>
            <a:pathLst>
              <a:path w="162344" h="162344">
                <a:moveTo>
                  <a:pt x="0" y="22830"/>
                </a:moveTo>
                <a:cubicBezTo>
                  <a:pt x="0" y="18644"/>
                  <a:pt x="3393" y="15220"/>
                  <a:pt x="7610" y="15220"/>
                </a:cubicBezTo>
                <a:lnTo>
                  <a:pt x="22830" y="15220"/>
                </a:lnTo>
                <a:cubicBezTo>
                  <a:pt x="27047" y="15220"/>
                  <a:pt x="30439" y="18612"/>
                  <a:pt x="30439" y="22830"/>
                </a:cubicBezTo>
                <a:lnTo>
                  <a:pt x="30439" y="55806"/>
                </a:lnTo>
                <a:lnTo>
                  <a:pt x="38049" y="55806"/>
                </a:lnTo>
                <a:cubicBezTo>
                  <a:pt x="42266" y="55806"/>
                  <a:pt x="45659" y="59198"/>
                  <a:pt x="45659" y="63415"/>
                </a:cubicBezTo>
                <a:cubicBezTo>
                  <a:pt x="45659" y="67633"/>
                  <a:pt x="42266" y="71025"/>
                  <a:pt x="38049" y="71025"/>
                </a:cubicBezTo>
                <a:lnTo>
                  <a:pt x="7610" y="71025"/>
                </a:lnTo>
                <a:cubicBezTo>
                  <a:pt x="3393" y="71025"/>
                  <a:pt x="0" y="67633"/>
                  <a:pt x="0" y="63415"/>
                </a:cubicBezTo>
                <a:cubicBezTo>
                  <a:pt x="0" y="59198"/>
                  <a:pt x="3393" y="55806"/>
                  <a:pt x="7610" y="55806"/>
                </a:cubicBezTo>
                <a:lnTo>
                  <a:pt x="15220" y="55806"/>
                </a:lnTo>
                <a:lnTo>
                  <a:pt x="15220" y="30439"/>
                </a:lnTo>
                <a:lnTo>
                  <a:pt x="7610" y="30439"/>
                </a:lnTo>
                <a:cubicBezTo>
                  <a:pt x="3393" y="30439"/>
                  <a:pt x="0" y="27047"/>
                  <a:pt x="0" y="22830"/>
                </a:cubicBezTo>
                <a:close/>
                <a:moveTo>
                  <a:pt x="9639" y="95504"/>
                </a:moveTo>
                <a:cubicBezTo>
                  <a:pt x="13254" y="92777"/>
                  <a:pt x="17661" y="91318"/>
                  <a:pt x="22195" y="91318"/>
                </a:cubicBezTo>
                <a:lnTo>
                  <a:pt x="23749" y="91318"/>
                </a:lnTo>
                <a:cubicBezTo>
                  <a:pt x="34435" y="91318"/>
                  <a:pt x="43123" y="100006"/>
                  <a:pt x="43123" y="110692"/>
                </a:cubicBezTo>
                <a:cubicBezTo>
                  <a:pt x="43123" y="116906"/>
                  <a:pt x="40142" y="122709"/>
                  <a:pt x="35132" y="126355"/>
                </a:cubicBezTo>
                <a:lnTo>
                  <a:pt x="27522" y="131904"/>
                </a:lnTo>
                <a:lnTo>
                  <a:pt x="38049" y="131904"/>
                </a:lnTo>
                <a:cubicBezTo>
                  <a:pt x="42266" y="131904"/>
                  <a:pt x="45659" y="135297"/>
                  <a:pt x="45659" y="139514"/>
                </a:cubicBezTo>
                <a:cubicBezTo>
                  <a:pt x="45659" y="143731"/>
                  <a:pt x="42266" y="147124"/>
                  <a:pt x="38049" y="147124"/>
                </a:cubicBezTo>
                <a:lnTo>
                  <a:pt x="9290" y="147124"/>
                </a:lnTo>
                <a:cubicBezTo>
                  <a:pt x="4154" y="147124"/>
                  <a:pt x="0" y="142970"/>
                  <a:pt x="0" y="137833"/>
                </a:cubicBezTo>
                <a:cubicBezTo>
                  <a:pt x="0" y="134853"/>
                  <a:pt x="1427" y="132063"/>
                  <a:pt x="3837" y="130319"/>
                </a:cubicBezTo>
                <a:lnTo>
                  <a:pt x="26191" y="114053"/>
                </a:lnTo>
                <a:cubicBezTo>
                  <a:pt x="27269" y="113260"/>
                  <a:pt x="27903" y="112023"/>
                  <a:pt x="27903" y="110692"/>
                </a:cubicBezTo>
                <a:cubicBezTo>
                  <a:pt x="27903" y="108409"/>
                  <a:pt x="26032" y="106538"/>
                  <a:pt x="23749" y="106538"/>
                </a:cubicBezTo>
                <a:lnTo>
                  <a:pt x="22195" y="106538"/>
                </a:lnTo>
                <a:cubicBezTo>
                  <a:pt x="20959" y="106538"/>
                  <a:pt x="19754" y="106950"/>
                  <a:pt x="18771" y="107679"/>
                </a:cubicBezTo>
                <a:lnTo>
                  <a:pt x="12176" y="112626"/>
                </a:lnTo>
                <a:cubicBezTo>
                  <a:pt x="8815" y="115162"/>
                  <a:pt x="4059" y="114465"/>
                  <a:pt x="1522" y="111104"/>
                </a:cubicBezTo>
                <a:cubicBezTo>
                  <a:pt x="-1015" y="107743"/>
                  <a:pt x="-317" y="102987"/>
                  <a:pt x="3044" y="100450"/>
                </a:cubicBezTo>
                <a:lnTo>
                  <a:pt x="9639" y="95504"/>
                </a:lnTo>
                <a:close/>
                <a:moveTo>
                  <a:pt x="71025" y="20293"/>
                </a:moveTo>
                <a:lnTo>
                  <a:pt x="152197" y="20293"/>
                </a:lnTo>
                <a:cubicBezTo>
                  <a:pt x="157809" y="20293"/>
                  <a:pt x="162344" y="24827"/>
                  <a:pt x="162344" y="30439"/>
                </a:cubicBezTo>
                <a:cubicBezTo>
                  <a:pt x="162344" y="36052"/>
                  <a:pt x="157809" y="40586"/>
                  <a:pt x="152197" y="40586"/>
                </a:cubicBezTo>
                <a:lnTo>
                  <a:pt x="71025" y="40586"/>
                </a:lnTo>
                <a:cubicBezTo>
                  <a:pt x="65413" y="40586"/>
                  <a:pt x="60879" y="36052"/>
                  <a:pt x="60879" y="30439"/>
                </a:cubicBezTo>
                <a:cubicBezTo>
                  <a:pt x="60879" y="24827"/>
                  <a:pt x="65413" y="20293"/>
                  <a:pt x="71025" y="20293"/>
                </a:cubicBezTo>
                <a:close/>
                <a:moveTo>
                  <a:pt x="71025" y="71025"/>
                </a:moveTo>
                <a:lnTo>
                  <a:pt x="152197" y="71025"/>
                </a:lnTo>
                <a:cubicBezTo>
                  <a:pt x="157809" y="71025"/>
                  <a:pt x="162344" y="75560"/>
                  <a:pt x="162344" y="81172"/>
                </a:cubicBezTo>
                <a:cubicBezTo>
                  <a:pt x="162344" y="86784"/>
                  <a:pt x="157809" y="91318"/>
                  <a:pt x="152197" y="91318"/>
                </a:cubicBezTo>
                <a:lnTo>
                  <a:pt x="71025" y="91318"/>
                </a:lnTo>
                <a:cubicBezTo>
                  <a:pt x="65413" y="91318"/>
                  <a:pt x="60879" y="86784"/>
                  <a:pt x="60879" y="81172"/>
                </a:cubicBezTo>
                <a:cubicBezTo>
                  <a:pt x="60879" y="75560"/>
                  <a:pt x="65413" y="71025"/>
                  <a:pt x="71025" y="71025"/>
                </a:cubicBezTo>
                <a:close/>
                <a:moveTo>
                  <a:pt x="71025" y="121758"/>
                </a:moveTo>
                <a:lnTo>
                  <a:pt x="152197" y="121758"/>
                </a:lnTo>
                <a:cubicBezTo>
                  <a:pt x="157809" y="121758"/>
                  <a:pt x="162344" y="126292"/>
                  <a:pt x="162344" y="131904"/>
                </a:cubicBezTo>
                <a:cubicBezTo>
                  <a:pt x="162344" y="137516"/>
                  <a:pt x="157809" y="142051"/>
                  <a:pt x="152197" y="142051"/>
                </a:cubicBezTo>
                <a:lnTo>
                  <a:pt x="71025" y="142051"/>
                </a:lnTo>
                <a:cubicBezTo>
                  <a:pt x="65413" y="142051"/>
                  <a:pt x="60879" y="137516"/>
                  <a:pt x="60879" y="131904"/>
                </a:cubicBezTo>
                <a:cubicBezTo>
                  <a:pt x="60879" y="126292"/>
                  <a:pt x="65413" y="121758"/>
                  <a:pt x="71025" y="121758"/>
                </a:cubicBezTo>
                <a:close/>
              </a:path>
            </a:pathLst>
          </a:custGeom>
          <a:solidFill>
            <a:srgbClr val="0071E3"/>
          </a:solidFill>
          <a:ln/>
        </p:spPr>
      </p:sp>
      <p:sp>
        <p:nvSpPr>
          <p:cNvPr id="35" name="Text 33"/>
          <p:cNvSpPr/>
          <p:nvPr/>
        </p:nvSpPr>
        <p:spPr>
          <a:xfrm>
            <a:off x="7772400" y="1240311"/>
            <a:ext cx="3977417" cy="227281"/>
          </a:xfrm>
          <a:prstGeom prst="rect">
            <a:avLst/>
          </a:prstGeom>
          <a:noFill/>
          <a:ln/>
        </p:spPr>
        <p:txBody>
          <a:bodyPr wrap="square" lIns="0" tIns="0" rIns="0" bIns="0" rtlCol="0" anchor="ctr"/>
          <a:lstStyle/>
          <a:p>
            <a:pPr>
              <a:lnSpc>
                <a:spcPct val="120000"/>
              </a:lnSpc>
            </a:pPr>
            <a:r>
              <a:rPr lang="en-US" sz="1278" b="1" dirty="0">
                <a:solidFill>
                  <a:srgbClr val="1D1D1D"/>
                </a:solidFill>
                <a:latin typeface="Liter" pitchFamily="34" charset="0"/>
                <a:ea typeface="Liter" pitchFamily="34" charset="-122"/>
                <a:cs typeface="Liter" pitchFamily="34" charset="-120"/>
              </a:rPr>
              <a:t>Password Entry Flow</a:t>
            </a:r>
            <a:endParaRPr lang="en-US" sz="1600" dirty="0"/>
          </a:p>
        </p:txBody>
      </p:sp>
      <p:sp>
        <p:nvSpPr>
          <p:cNvPr id="36" name="Shape 34"/>
          <p:cNvSpPr/>
          <p:nvPr/>
        </p:nvSpPr>
        <p:spPr>
          <a:xfrm>
            <a:off x="7569471" y="1711107"/>
            <a:ext cx="324687" cy="324687"/>
          </a:xfrm>
          <a:custGeom>
            <a:avLst/>
            <a:gdLst/>
            <a:ahLst/>
            <a:cxnLst/>
            <a:rect l="l" t="t" r="r" b="b"/>
            <a:pathLst>
              <a:path w="324687" h="324687">
                <a:moveTo>
                  <a:pt x="162344" y="0"/>
                </a:moveTo>
                <a:lnTo>
                  <a:pt x="162344" y="0"/>
                </a:lnTo>
                <a:cubicBezTo>
                  <a:pt x="251943" y="0"/>
                  <a:pt x="324687" y="72744"/>
                  <a:pt x="324687" y="162344"/>
                </a:cubicBezTo>
                <a:lnTo>
                  <a:pt x="324687" y="162344"/>
                </a:lnTo>
                <a:cubicBezTo>
                  <a:pt x="324687" y="251943"/>
                  <a:pt x="251943" y="324687"/>
                  <a:pt x="162344" y="324687"/>
                </a:cubicBezTo>
                <a:lnTo>
                  <a:pt x="162344" y="324687"/>
                </a:lnTo>
                <a:cubicBezTo>
                  <a:pt x="72744" y="324687"/>
                  <a:pt x="0" y="251943"/>
                  <a:pt x="0" y="162344"/>
                </a:cubicBezTo>
                <a:lnTo>
                  <a:pt x="0" y="162344"/>
                </a:lnTo>
                <a:cubicBezTo>
                  <a:pt x="0" y="72744"/>
                  <a:pt x="72744" y="0"/>
                  <a:pt x="162344" y="0"/>
                </a:cubicBezTo>
                <a:close/>
              </a:path>
            </a:pathLst>
          </a:custGeom>
          <a:solidFill>
            <a:srgbClr val="0071E3"/>
          </a:solidFill>
          <a:ln/>
        </p:spPr>
      </p:sp>
      <p:sp>
        <p:nvSpPr>
          <p:cNvPr id="37" name="Text 35"/>
          <p:cNvSpPr/>
          <p:nvPr/>
        </p:nvSpPr>
        <p:spPr>
          <a:xfrm>
            <a:off x="7537002" y="1711107"/>
            <a:ext cx="389625" cy="324687"/>
          </a:xfrm>
          <a:prstGeom prst="rect">
            <a:avLst/>
          </a:prstGeom>
          <a:noFill/>
          <a:ln/>
        </p:spPr>
        <p:txBody>
          <a:bodyPr wrap="square" lIns="0" tIns="0" rIns="0" bIns="0" rtlCol="0" anchor="ctr"/>
          <a:lstStyle/>
          <a:p>
            <a:pPr algn="ctr">
              <a:lnSpc>
                <a:spcPct val="130000"/>
              </a:lnSpc>
            </a:pPr>
            <a:r>
              <a:rPr lang="en-US" sz="1023" b="1" dirty="0">
                <a:solidFill>
                  <a:srgbClr val="FFFFFF"/>
                </a:solidFill>
                <a:latin typeface="Liter" pitchFamily="34" charset="0"/>
                <a:ea typeface="Liter" pitchFamily="34" charset="-122"/>
                <a:cs typeface="Liter" pitchFamily="34" charset="-120"/>
              </a:rPr>
              <a:t>1</a:t>
            </a:r>
            <a:endParaRPr lang="en-US" sz="1600" dirty="0"/>
          </a:p>
        </p:txBody>
      </p:sp>
      <p:sp>
        <p:nvSpPr>
          <p:cNvPr id="38" name="Shape 36"/>
          <p:cNvSpPr/>
          <p:nvPr/>
        </p:nvSpPr>
        <p:spPr>
          <a:xfrm>
            <a:off x="7991564" y="1597467"/>
            <a:ext cx="3677081" cy="551968"/>
          </a:xfrm>
          <a:custGeom>
            <a:avLst/>
            <a:gdLst/>
            <a:ahLst/>
            <a:cxnLst/>
            <a:rect l="l" t="t" r="r" b="b"/>
            <a:pathLst>
              <a:path w="3677081" h="551968">
                <a:moveTo>
                  <a:pt x="64939" y="0"/>
                </a:moveTo>
                <a:lnTo>
                  <a:pt x="3612142" y="0"/>
                </a:lnTo>
                <a:cubicBezTo>
                  <a:pt x="3648007" y="0"/>
                  <a:pt x="3677081" y="29074"/>
                  <a:pt x="3677081" y="64939"/>
                </a:cubicBezTo>
                <a:lnTo>
                  <a:pt x="3677081" y="487029"/>
                </a:lnTo>
                <a:cubicBezTo>
                  <a:pt x="3677081" y="522894"/>
                  <a:pt x="3648007" y="551968"/>
                  <a:pt x="3612142" y="551968"/>
                </a:cubicBezTo>
                <a:lnTo>
                  <a:pt x="64939" y="551968"/>
                </a:lnTo>
                <a:cubicBezTo>
                  <a:pt x="29074" y="551968"/>
                  <a:pt x="0" y="522894"/>
                  <a:pt x="0" y="487029"/>
                </a:cubicBezTo>
                <a:lnTo>
                  <a:pt x="0" y="64939"/>
                </a:lnTo>
                <a:cubicBezTo>
                  <a:pt x="0" y="29074"/>
                  <a:pt x="29074" y="0"/>
                  <a:pt x="64939" y="0"/>
                </a:cubicBezTo>
                <a:close/>
              </a:path>
            </a:pathLst>
          </a:custGeom>
          <a:solidFill>
            <a:srgbClr val="FAFAFA"/>
          </a:solidFill>
          <a:ln/>
        </p:spPr>
      </p:sp>
      <p:sp>
        <p:nvSpPr>
          <p:cNvPr id="39" name="Text 37"/>
          <p:cNvSpPr/>
          <p:nvPr/>
        </p:nvSpPr>
        <p:spPr>
          <a:xfrm>
            <a:off x="8088970" y="1694873"/>
            <a:ext cx="3547206" cy="194812"/>
          </a:xfrm>
          <a:prstGeom prst="rect">
            <a:avLst/>
          </a:prstGeom>
          <a:noFill/>
          <a:ln/>
        </p:spPr>
        <p:txBody>
          <a:bodyPr wrap="square" lIns="0" tIns="0" rIns="0" bIns="0" rtlCol="0" anchor="ctr"/>
          <a:lstStyle/>
          <a:p>
            <a:pPr>
              <a:lnSpc>
                <a:spcPct val="130000"/>
              </a:lnSpc>
            </a:pPr>
            <a:r>
              <a:rPr lang="en-US" sz="1023" b="1" dirty="0">
                <a:solidFill>
                  <a:srgbClr val="1D1D1D"/>
                </a:solidFill>
                <a:latin typeface="Liter" pitchFamily="34" charset="0"/>
                <a:ea typeface="Liter" pitchFamily="34" charset="-122"/>
                <a:cs typeface="Liter" pitchFamily="34" charset="-120"/>
              </a:rPr>
              <a:t>Enter Bit</a:t>
            </a:r>
            <a:endParaRPr lang="en-US" sz="1600" dirty="0"/>
          </a:p>
        </p:txBody>
      </p:sp>
      <p:sp>
        <p:nvSpPr>
          <p:cNvPr id="40" name="Text 38"/>
          <p:cNvSpPr/>
          <p:nvPr/>
        </p:nvSpPr>
        <p:spPr>
          <a:xfrm>
            <a:off x="8088970" y="1889685"/>
            <a:ext cx="3539089" cy="162344"/>
          </a:xfrm>
          <a:prstGeom prst="rect">
            <a:avLst/>
          </a:prstGeom>
          <a:noFill/>
          <a:ln/>
        </p:spPr>
        <p:txBody>
          <a:bodyPr wrap="square" lIns="0" tIns="0" rIns="0" bIns="0" rtlCol="0" anchor="ctr"/>
          <a:lstStyle/>
          <a:p>
            <a:pPr>
              <a:lnSpc>
                <a:spcPct val="120000"/>
              </a:lnSpc>
            </a:pPr>
            <a:r>
              <a:rPr lang="en-US" sz="895" dirty="0">
                <a:solidFill>
                  <a:srgbClr val="86868B"/>
                </a:solidFill>
                <a:latin typeface="Liter" pitchFamily="34" charset="0"/>
                <a:ea typeface="Liter" pitchFamily="34" charset="-122"/>
                <a:cs typeface="Liter" pitchFamily="34" charset="-120"/>
              </a:rPr>
              <a:t>Hold button for '1', release for '0'</a:t>
            </a:r>
            <a:endParaRPr lang="en-US" sz="1600" dirty="0"/>
          </a:p>
        </p:txBody>
      </p:sp>
      <p:sp>
        <p:nvSpPr>
          <p:cNvPr id="41" name="Shape 39"/>
          <p:cNvSpPr/>
          <p:nvPr/>
        </p:nvSpPr>
        <p:spPr>
          <a:xfrm>
            <a:off x="7569471" y="2360481"/>
            <a:ext cx="324687" cy="324687"/>
          </a:xfrm>
          <a:custGeom>
            <a:avLst/>
            <a:gdLst/>
            <a:ahLst/>
            <a:cxnLst/>
            <a:rect l="l" t="t" r="r" b="b"/>
            <a:pathLst>
              <a:path w="324687" h="324687">
                <a:moveTo>
                  <a:pt x="162344" y="0"/>
                </a:moveTo>
                <a:lnTo>
                  <a:pt x="162344" y="0"/>
                </a:lnTo>
                <a:cubicBezTo>
                  <a:pt x="251943" y="0"/>
                  <a:pt x="324687" y="72744"/>
                  <a:pt x="324687" y="162344"/>
                </a:cubicBezTo>
                <a:lnTo>
                  <a:pt x="324687" y="162344"/>
                </a:lnTo>
                <a:cubicBezTo>
                  <a:pt x="324687" y="251943"/>
                  <a:pt x="251943" y="324687"/>
                  <a:pt x="162344" y="324687"/>
                </a:cubicBezTo>
                <a:lnTo>
                  <a:pt x="162344" y="324687"/>
                </a:lnTo>
                <a:cubicBezTo>
                  <a:pt x="72744" y="324687"/>
                  <a:pt x="0" y="251943"/>
                  <a:pt x="0" y="162344"/>
                </a:cubicBezTo>
                <a:lnTo>
                  <a:pt x="0" y="162344"/>
                </a:lnTo>
                <a:cubicBezTo>
                  <a:pt x="0" y="72744"/>
                  <a:pt x="72744" y="0"/>
                  <a:pt x="162344" y="0"/>
                </a:cubicBezTo>
                <a:close/>
              </a:path>
            </a:pathLst>
          </a:custGeom>
          <a:solidFill>
            <a:srgbClr val="0071E3"/>
          </a:solidFill>
          <a:ln/>
        </p:spPr>
      </p:sp>
      <p:sp>
        <p:nvSpPr>
          <p:cNvPr id="42" name="Text 40"/>
          <p:cNvSpPr/>
          <p:nvPr/>
        </p:nvSpPr>
        <p:spPr>
          <a:xfrm>
            <a:off x="7537002" y="2360481"/>
            <a:ext cx="389625" cy="324687"/>
          </a:xfrm>
          <a:prstGeom prst="rect">
            <a:avLst/>
          </a:prstGeom>
          <a:noFill/>
          <a:ln/>
        </p:spPr>
        <p:txBody>
          <a:bodyPr wrap="square" lIns="0" tIns="0" rIns="0" bIns="0" rtlCol="0" anchor="ctr"/>
          <a:lstStyle/>
          <a:p>
            <a:pPr algn="ctr">
              <a:lnSpc>
                <a:spcPct val="130000"/>
              </a:lnSpc>
            </a:pPr>
            <a:r>
              <a:rPr lang="en-US" sz="1023" b="1" dirty="0">
                <a:solidFill>
                  <a:srgbClr val="FFFFFF"/>
                </a:solidFill>
                <a:latin typeface="Liter" pitchFamily="34" charset="0"/>
                <a:ea typeface="Liter" pitchFamily="34" charset="-122"/>
                <a:cs typeface="Liter" pitchFamily="34" charset="-120"/>
              </a:rPr>
              <a:t>2</a:t>
            </a:r>
            <a:endParaRPr lang="en-US" sz="1600" dirty="0"/>
          </a:p>
        </p:txBody>
      </p:sp>
      <p:sp>
        <p:nvSpPr>
          <p:cNvPr id="43" name="Shape 41"/>
          <p:cNvSpPr/>
          <p:nvPr/>
        </p:nvSpPr>
        <p:spPr>
          <a:xfrm>
            <a:off x="7991564" y="2246841"/>
            <a:ext cx="3677081" cy="551968"/>
          </a:xfrm>
          <a:custGeom>
            <a:avLst/>
            <a:gdLst/>
            <a:ahLst/>
            <a:cxnLst/>
            <a:rect l="l" t="t" r="r" b="b"/>
            <a:pathLst>
              <a:path w="3677081" h="551968">
                <a:moveTo>
                  <a:pt x="64939" y="0"/>
                </a:moveTo>
                <a:lnTo>
                  <a:pt x="3612142" y="0"/>
                </a:lnTo>
                <a:cubicBezTo>
                  <a:pt x="3648007" y="0"/>
                  <a:pt x="3677081" y="29074"/>
                  <a:pt x="3677081" y="64939"/>
                </a:cubicBezTo>
                <a:lnTo>
                  <a:pt x="3677081" y="487029"/>
                </a:lnTo>
                <a:cubicBezTo>
                  <a:pt x="3677081" y="522894"/>
                  <a:pt x="3648007" y="551968"/>
                  <a:pt x="3612142" y="551968"/>
                </a:cubicBezTo>
                <a:lnTo>
                  <a:pt x="64939" y="551968"/>
                </a:lnTo>
                <a:cubicBezTo>
                  <a:pt x="29074" y="551968"/>
                  <a:pt x="0" y="522894"/>
                  <a:pt x="0" y="487029"/>
                </a:cubicBezTo>
                <a:lnTo>
                  <a:pt x="0" y="64939"/>
                </a:lnTo>
                <a:cubicBezTo>
                  <a:pt x="0" y="29074"/>
                  <a:pt x="29074" y="0"/>
                  <a:pt x="64939" y="0"/>
                </a:cubicBezTo>
                <a:close/>
              </a:path>
            </a:pathLst>
          </a:custGeom>
          <a:solidFill>
            <a:srgbClr val="FAFAFA"/>
          </a:solidFill>
          <a:ln/>
        </p:spPr>
      </p:sp>
      <p:sp>
        <p:nvSpPr>
          <p:cNvPr id="44" name="Text 42"/>
          <p:cNvSpPr/>
          <p:nvPr/>
        </p:nvSpPr>
        <p:spPr>
          <a:xfrm>
            <a:off x="8088970" y="2344247"/>
            <a:ext cx="3547206" cy="194812"/>
          </a:xfrm>
          <a:prstGeom prst="rect">
            <a:avLst/>
          </a:prstGeom>
          <a:noFill/>
          <a:ln/>
        </p:spPr>
        <p:txBody>
          <a:bodyPr wrap="square" lIns="0" tIns="0" rIns="0" bIns="0" rtlCol="0" anchor="ctr"/>
          <a:lstStyle/>
          <a:p>
            <a:pPr>
              <a:lnSpc>
                <a:spcPct val="130000"/>
              </a:lnSpc>
            </a:pPr>
            <a:r>
              <a:rPr lang="en-US" sz="1023" b="1" dirty="0">
                <a:solidFill>
                  <a:srgbClr val="1D1D1D"/>
                </a:solidFill>
                <a:latin typeface="Liter" pitchFamily="34" charset="0"/>
                <a:ea typeface="Liter" pitchFamily="34" charset="-122"/>
                <a:cs typeface="Liter" pitchFamily="34" charset="-120"/>
              </a:rPr>
              <a:t>Clock Bit</a:t>
            </a:r>
            <a:endParaRPr lang="en-US" sz="1600" dirty="0"/>
          </a:p>
        </p:txBody>
      </p:sp>
      <p:sp>
        <p:nvSpPr>
          <p:cNvPr id="45" name="Text 43"/>
          <p:cNvSpPr/>
          <p:nvPr/>
        </p:nvSpPr>
        <p:spPr>
          <a:xfrm>
            <a:off x="8088970" y="2539059"/>
            <a:ext cx="3539089" cy="162344"/>
          </a:xfrm>
          <a:prstGeom prst="rect">
            <a:avLst/>
          </a:prstGeom>
          <a:noFill/>
          <a:ln/>
        </p:spPr>
        <p:txBody>
          <a:bodyPr wrap="square" lIns="0" tIns="0" rIns="0" bIns="0" rtlCol="0" anchor="ctr"/>
          <a:lstStyle/>
          <a:p>
            <a:pPr>
              <a:lnSpc>
                <a:spcPct val="120000"/>
              </a:lnSpc>
            </a:pPr>
            <a:r>
              <a:rPr lang="en-US" sz="895" dirty="0">
                <a:solidFill>
                  <a:srgbClr val="86868B"/>
                </a:solidFill>
                <a:latin typeface="Liter" pitchFamily="34" charset="0"/>
                <a:ea typeface="Liter" pitchFamily="34" charset="-122"/>
                <a:cs typeface="Liter" pitchFamily="34" charset="-120"/>
              </a:rPr>
              <a:t>Short tap touch sensor (&lt;1s)</a:t>
            </a:r>
            <a:endParaRPr lang="en-US" sz="1600" dirty="0"/>
          </a:p>
        </p:txBody>
      </p:sp>
      <p:sp>
        <p:nvSpPr>
          <p:cNvPr id="46" name="Shape 44"/>
          <p:cNvSpPr/>
          <p:nvPr/>
        </p:nvSpPr>
        <p:spPr>
          <a:xfrm>
            <a:off x="7569471" y="3009856"/>
            <a:ext cx="324687" cy="324687"/>
          </a:xfrm>
          <a:custGeom>
            <a:avLst/>
            <a:gdLst/>
            <a:ahLst/>
            <a:cxnLst/>
            <a:rect l="l" t="t" r="r" b="b"/>
            <a:pathLst>
              <a:path w="324687" h="324687">
                <a:moveTo>
                  <a:pt x="162344" y="0"/>
                </a:moveTo>
                <a:lnTo>
                  <a:pt x="162344" y="0"/>
                </a:lnTo>
                <a:cubicBezTo>
                  <a:pt x="251943" y="0"/>
                  <a:pt x="324687" y="72744"/>
                  <a:pt x="324687" y="162344"/>
                </a:cubicBezTo>
                <a:lnTo>
                  <a:pt x="324687" y="162344"/>
                </a:lnTo>
                <a:cubicBezTo>
                  <a:pt x="324687" y="251943"/>
                  <a:pt x="251943" y="324687"/>
                  <a:pt x="162344" y="324687"/>
                </a:cubicBezTo>
                <a:lnTo>
                  <a:pt x="162344" y="324687"/>
                </a:lnTo>
                <a:cubicBezTo>
                  <a:pt x="72744" y="324687"/>
                  <a:pt x="0" y="251943"/>
                  <a:pt x="0" y="162344"/>
                </a:cubicBezTo>
                <a:lnTo>
                  <a:pt x="0" y="162344"/>
                </a:lnTo>
                <a:cubicBezTo>
                  <a:pt x="0" y="72744"/>
                  <a:pt x="72744" y="0"/>
                  <a:pt x="162344" y="0"/>
                </a:cubicBezTo>
                <a:close/>
              </a:path>
            </a:pathLst>
          </a:custGeom>
          <a:solidFill>
            <a:srgbClr val="0071E3"/>
          </a:solidFill>
          <a:ln/>
        </p:spPr>
      </p:sp>
      <p:sp>
        <p:nvSpPr>
          <p:cNvPr id="47" name="Text 45"/>
          <p:cNvSpPr/>
          <p:nvPr/>
        </p:nvSpPr>
        <p:spPr>
          <a:xfrm>
            <a:off x="7537002" y="3009856"/>
            <a:ext cx="389625" cy="324687"/>
          </a:xfrm>
          <a:prstGeom prst="rect">
            <a:avLst/>
          </a:prstGeom>
          <a:noFill/>
          <a:ln/>
        </p:spPr>
        <p:txBody>
          <a:bodyPr wrap="square" lIns="0" tIns="0" rIns="0" bIns="0" rtlCol="0" anchor="ctr"/>
          <a:lstStyle/>
          <a:p>
            <a:pPr algn="ctr">
              <a:lnSpc>
                <a:spcPct val="130000"/>
              </a:lnSpc>
            </a:pPr>
            <a:r>
              <a:rPr lang="en-US" sz="1023" b="1" dirty="0">
                <a:solidFill>
                  <a:srgbClr val="FFFFFF"/>
                </a:solidFill>
                <a:latin typeface="Liter" pitchFamily="34" charset="0"/>
                <a:ea typeface="Liter" pitchFamily="34" charset="-122"/>
                <a:cs typeface="Liter" pitchFamily="34" charset="-120"/>
              </a:rPr>
              <a:t>3</a:t>
            </a:r>
            <a:endParaRPr lang="en-US" sz="1600" dirty="0"/>
          </a:p>
        </p:txBody>
      </p:sp>
      <p:sp>
        <p:nvSpPr>
          <p:cNvPr id="48" name="Shape 46"/>
          <p:cNvSpPr/>
          <p:nvPr/>
        </p:nvSpPr>
        <p:spPr>
          <a:xfrm>
            <a:off x="7991564" y="2896215"/>
            <a:ext cx="3677081" cy="551968"/>
          </a:xfrm>
          <a:custGeom>
            <a:avLst/>
            <a:gdLst/>
            <a:ahLst/>
            <a:cxnLst/>
            <a:rect l="l" t="t" r="r" b="b"/>
            <a:pathLst>
              <a:path w="3677081" h="551968">
                <a:moveTo>
                  <a:pt x="64939" y="0"/>
                </a:moveTo>
                <a:lnTo>
                  <a:pt x="3612142" y="0"/>
                </a:lnTo>
                <a:cubicBezTo>
                  <a:pt x="3648007" y="0"/>
                  <a:pt x="3677081" y="29074"/>
                  <a:pt x="3677081" y="64939"/>
                </a:cubicBezTo>
                <a:lnTo>
                  <a:pt x="3677081" y="487029"/>
                </a:lnTo>
                <a:cubicBezTo>
                  <a:pt x="3677081" y="522894"/>
                  <a:pt x="3648007" y="551968"/>
                  <a:pt x="3612142" y="551968"/>
                </a:cubicBezTo>
                <a:lnTo>
                  <a:pt x="64939" y="551968"/>
                </a:lnTo>
                <a:cubicBezTo>
                  <a:pt x="29074" y="551968"/>
                  <a:pt x="0" y="522894"/>
                  <a:pt x="0" y="487029"/>
                </a:cubicBezTo>
                <a:lnTo>
                  <a:pt x="0" y="64939"/>
                </a:lnTo>
                <a:cubicBezTo>
                  <a:pt x="0" y="29074"/>
                  <a:pt x="29074" y="0"/>
                  <a:pt x="64939" y="0"/>
                </a:cubicBezTo>
                <a:close/>
              </a:path>
            </a:pathLst>
          </a:custGeom>
          <a:solidFill>
            <a:srgbClr val="FAFAFA"/>
          </a:solidFill>
          <a:ln/>
        </p:spPr>
      </p:sp>
      <p:sp>
        <p:nvSpPr>
          <p:cNvPr id="49" name="Text 47"/>
          <p:cNvSpPr/>
          <p:nvPr/>
        </p:nvSpPr>
        <p:spPr>
          <a:xfrm>
            <a:off x="8088970" y="2993621"/>
            <a:ext cx="3547206" cy="194812"/>
          </a:xfrm>
          <a:prstGeom prst="rect">
            <a:avLst/>
          </a:prstGeom>
          <a:noFill/>
          <a:ln/>
        </p:spPr>
        <p:txBody>
          <a:bodyPr wrap="square" lIns="0" tIns="0" rIns="0" bIns="0" rtlCol="0" anchor="ctr"/>
          <a:lstStyle/>
          <a:p>
            <a:pPr>
              <a:lnSpc>
                <a:spcPct val="130000"/>
              </a:lnSpc>
            </a:pPr>
            <a:r>
              <a:rPr lang="en-US" sz="1023" b="1" dirty="0">
                <a:solidFill>
                  <a:srgbClr val="1D1D1D"/>
                </a:solidFill>
                <a:latin typeface="Liter" pitchFamily="34" charset="0"/>
                <a:ea typeface="Liter" pitchFamily="34" charset="-122"/>
                <a:cs typeface="Liter" pitchFamily="34" charset="-120"/>
              </a:rPr>
              <a:t>Repeat</a:t>
            </a:r>
            <a:endParaRPr lang="en-US" sz="1600" dirty="0"/>
          </a:p>
        </p:txBody>
      </p:sp>
      <p:sp>
        <p:nvSpPr>
          <p:cNvPr id="50" name="Text 48"/>
          <p:cNvSpPr/>
          <p:nvPr/>
        </p:nvSpPr>
        <p:spPr>
          <a:xfrm>
            <a:off x="8088970" y="3188434"/>
            <a:ext cx="3539089" cy="162344"/>
          </a:xfrm>
          <a:prstGeom prst="rect">
            <a:avLst/>
          </a:prstGeom>
          <a:noFill/>
          <a:ln/>
        </p:spPr>
        <p:txBody>
          <a:bodyPr wrap="square" lIns="0" tIns="0" rIns="0" bIns="0" rtlCol="0" anchor="ctr"/>
          <a:lstStyle/>
          <a:p>
            <a:pPr>
              <a:lnSpc>
                <a:spcPct val="120000"/>
              </a:lnSpc>
            </a:pPr>
            <a:r>
              <a:rPr lang="en-US" sz="895" dirty="0">
                <a:solidFill>
                  <a:srgbClr val="86868B"/>
                </a:solidFill>
                <a:latin typeface="Liter" pitchFamily="34" charset="0"/>
                <a:ea typeface="Liter" pitchFamily="34" charset="-122"/>
                <a:cs typeface="Liter" pitchFamily="34" charset="-120"/>
              </a:rPr>
              <a:t>Continue for all 4 bits</a:t>
            </a:r>
            <a:endParaRPr lang="en-US" sz="1600" dirty="0"/>
          </a:p>
        </p:txBody>
      </p:sp>
      <p:sp>
        <p:nvSpPr>
          <p:cNvPr id="51" name="Shape 49"/>
          <p:cNvSpPr/>
          <p:nvPr/>
        </p:nvSpPr>
        <p:spPr>
          <a:xfrm>
            <a:off x="7569471" y="3659230"/>
            <a:ext cx="324687" cy="324687"/>
          </a:xfrm>
          <a:custGeom>
            <a:avLst/>
            <a:gdLst/>
            <a:ahLst/>
            <a:cxnLst/>
            <a:rect l="l" t="t" r="r" b="b"/>
            <a:pathLst>
              <a:path w="324687" h="324687">
                <a:moveTo>
                  <a:pt x="162344" y="0"/>
                </a:moveTo>
                <a:lnTo>
                  <a:pt x="162344" y="0"/>
                </a:lnTo>
                <a:cubicBezTo>
                  <a:pt x="251943" y="0"/>
                  <a:pt x="324687" y="72744"/>
                  <a:pt x="324687" y="162344"/>
                </a:cubicBezTo>
                <a:lnTo>
                  <a:pt x="324687" y="162344"/>
                </a:lnTo>
                <a:cubicBezTo>
                  <a:pt x="324687" y="251943"/>
                  <a:pt x="251943" y="324687"/>
                  <a:pt x="162344" y="324687"/>
                </a:cubicBezTo>
                <a:lnTo>
                  <a:pt x="162344" y="324687"/>
                </a:lnTo>
                <a:cubicBezTo>
                  <a:pt x="72744" y="324687"/>
                  <a:pt x="0" y="251943"/>
                  <a:pt x="0" y="162344"/>
                </a:cubicBezTo>
                <a:lnTo>
                  <a:pt x="0" y="162344"/>
                </a:lnTo>
                <a:cubicBezTo>
                  <a:pt x="0" y="72744"/>
                  <a:pt x="72744" y="0"/>
                  <a:pt x="162344" y="0"/>
                </a:cubicBezTo>
                <a:close/>
              </a:path>
            </a:pathLst>
          </a:custGeom>
          <a:solidFill>
            <a:srgbClr val="34C759"/>
          </a:solidFill>
          <a:ln/>
        </p:spPr>
      </p:sp>
      <p:sp>
        <p:nvSpPr>
          <p:cNvPr id="52" name="Text 50"/>
          <p:cNvSpPr/>
          <p:nvPr/>
        </p:nvSpPr>
        <p:spPr>
          <a:xfrm>
            <a:off x="7537002" y="3659230"/>
            <a:ext cx="389625" cy="324687"/>
          </a:xfrm>
          <a:prstGeom prst="rect">
            <a:avLst/>
          </a:prstGeom>
          <a:noFill/>
          <a:ln/>
        </p:spPr>
        <p:txBody>
          <a:bodyPr wrap="square" lIns="0" tIns="0" rIns="0" bIns="0" rtlCol="0" anchor="ctr"/>
          <a:lstStyle/>
          <a:p>
            <a:pPr algn="ctr">
              <a:lnSpc>
                <a:spcPct val="130000"/>
              </a:lnSpc>
            </a:pPr>
            <a:r>
              <a:rPr lang="en-US" sz="1023" b="1" dirty="0">
                <a:solidFill>
                  <a:srgbClr val="FFFFFF"/>
                </a:solidFill>
                <a:latin typeface="Liter" pitchFamily="34" charset="0"/>
                <a:ea typeface="Liter" pitchFamily="34" charset="-122"/>
                <a:cs typeface="Liter" pitchFamily="34" charset="-120"/>
              </a:rPr>
              <a:t>4</a:t>
            </a:r>
            <a:endParaRPr lang="en-US" sz="1600" dirty="0"/>
          </a:p>
        </p:txBody>
      </p:sp>
      <p:sp>
        <p:nvSpPr>
          <p:cNvPr id="53" name="Shape 51"/>
          <p:cNvSpPr/>
          <p:nvPr/>
        </p:nvSpPr>
        <p:spPr>
          <a:xfrm>
            <a:off x="7991564" y="3545589"/>
            <a:ext cx="3677081" cy="551968"/>
          </a:xfrm>
          <a:custGeom>
            <a:avLst/>
            <a:gdLst/>
            <a:ahLst/>
            <a:cxnLst/>
            <a:rect l="l" t="t" r="r" b="b"/>
            <a:pathLst>
              <a:path w="3677081" h="551968">
                <a:moveTo>
                  <a:pt x="64939" y="0"/>
                </a:moveTo>
                <a:lnTo>
                  <a:pt x="3612142" y="0"/>
                </a:lnTo>
                <a:cubicBezTo>
                  <a:pt x="3648007" y="0"/>
                  <a:pt x="3677081" y="29074"/>
                  <a:pt x="3677081" y="64939"/>
                </a:cubicBezTo>
                <a:lnTo>
                  <a:pt x="3677081" y="487029"/>
                </a:lnTo>
                <a:cubicBezTo>
                  <a:pt x="3677081" y="522894"/>
                  <a:pt x="3648007" y="551968"/>
                  <a:pt x="3612142" y="551968"/>
                </a:cubicBezTo>
                <a:lnTo>
                  <a:pt x="64939" y="551968"/>
                </a:lnTo>
                <a:cubicBezTo>
                  <a:pt x="29074" y="551968"/>
                  <a:pt x="0" y="522894"/>
                  <a:pt x="0" y="487029"/>
                </a:cubicBezTo>
                <a:lnTo>
                  <a:pt x="0" y="64939"/>
                </a:lnTo>
                <a:cubicBezTo>
                  <a:pt x="0" y="29074"/>
                  <a:pt x="29074" y="0"/>
                  <a:pt x="64939" y="0"/>
                </a:cubicBezTo>
                <a:close/>
              </a:path>
            </a:pathLst>
          </a:custGeom>
          <a:solidFill>
            <a:srgbClr val="FAFAFA"/>
          </a:solidFill>
          <a:ln/>
        </p:spPr>
      </p:sp>
      <p:sp>
        <p:nvSpPr>
          <p:cNvPr id="54" name="Text 52"/>
          <p:cNvSpPr/>
          <p:nvPr/>
        </p:nvSpPr>
        <p:spPr>
          <a:xfrm>
            <a:off x="8088970" y="3642995"/>
            <a:ext cx="3547206" cy="194812"/>
          </a:xfrm>
          <a:prstGeom prst="rect">
            <a:avLst/>
          </a:prstGeom>
          <a:noFill/>
          <a:ln/>
        </p:spPr>
        <p:txBody>
          <a:bodyPr wrap="square" lIns="0" tIns="0" rIns="0" bIns="0" rtlCol="0" anchor="ctr"/>
          <a:lstStyle/>
          <a:p>
            <a:pPr>
              <a:lnSpc>
                <a:spcPct val="130000"/>
              </a:lnSpc>
            </a:pPr>
            <a:r>
              <a:rPr lang="en-US" sz="1023" b="1" dirty="0">
                <a:solidFill>
                  <a:srgbClr val="1D1D1D"/>
                </a:solidFill>
                <a:latin typeface="Liter" pitchFamily="34" charset="0"/>
                <a:ea typeface="Liter" pitchFamily="34" charset="-122"/>
                <a:cs typeface="Liter" pitchFamily="34" charset="-120"/>
              </a:rPr>
              <a:t>Submit</a:t>
            </a:r>
            <a:endParaRPr lang="en-US" sz="1600" dirty="0"/>
          </a:p>
        </p:txBody>
      </p:sp>
      <p:sp>
        <p:nvSpPr>
          <p:cNvPr id="55" name="Text 53"/>
          <p:cNvSpPr/>
          <p:nvPr/>
        </p:nvSpPr>
        <p:spPr>
          <a:xfrm>
            <a:off x="8088970" y="3837808"/>
            <a:ext cx="3539089" cy="162344"/>
          </a:xfrm>
          <a:prstGeom prst="rect">
            <a:avLst/>
          </a:prstGeom>
          <a:noFill/>
          <a:ln/>
        </p:spPr>
        <p:txBody>
          <a:bodyPr wrap="square" lIns="0" tIns="0" rIns="0" bIns="0" rtlCol="0" anchor="ctr"/>
          <a:lstStyle/>
          <a:p>
            <a:pPr>
              <a:lnSpc>
                <a:spcPct val="120000"/>
              </a:lnSpc>
            </a:pPr>
            <a:r>
              <a:rPr lang="en-US" sz="895" dirty="0">
                <a:solidFill>
                  <a:srgbClr val="86868B"/>
                </a:solidFill>
                <a:latin typeface="Liter" pitchFamily="34" charset="0"/>
                <a:ea typeface="Liter" pitchFamily="34" charset="-122"/>
                <a:cs typeface="Liter" pitchFamily="34" charset="-120"/>
              </a:rPr>
              <a:t>Long press touch (&gt;2s)</a:t>
            </a:r>
            <a:endParaRPr lang="en-US" sz="1600" dirty="0"/>
          </a:p>
        </p:txBody>
      </p:sp>
      <p:sp>
        <p:nvSpPr>
          <p:cNvPr id="56" name="Shape 54"/>
          <p:cNvSpPr/>
          <p:nvPr/>
        </p:nvSpPr>
        <p:spPr>
          <a:xfrm>
            <a:off x="7572718" y="4230679"/>
            <a:ext cx="4089434" cy="428587"/>
          </a:xfrm>
          <a:custGeom>
            <a:avLst/>
            <a:gdLst/>
            <a:ahLst/>
            <a:cxnLst/>
            <a:rect l="l" t="t" r="r" b="b"/>
            <a:pathLst>
              <a:path w="4089434" h="428587">
                <a:moveTo>
                  <a:pt x="64939" y="0"/>
                </a:moveTo>
                <a:lnTo>
                  <a:pt x="4024494" y="0"/>
                </a:lnTo>
                <a:cubicBezTo>
                  <a:pt x="4060359" y="0"/>
                  <a:pt x="4089434" y="29074"/>
                  <a:pt x="4089434" y="64939"/>
                </a:cubicBezTo>
                <a:lnTo>
                  <a:pt x="4089434" y="363647"/>
                </a:lnTo>
                <a:cubicBezTo>
                  <a:pt x="4089434" y="399513"/>
                  <a:pt x="4060359" y="428587"/>
                  <a:pt x="4024494" y="428587"/>
                </a:cubicBezTo>
                <a:lnTo>
                  <a:pt x="64939" y="428587"/>
                </a:lnTo>
                <a:cubicBezTo>
                  <a:pt x="29098" y="428587"/>
                  <a:pt x="0" y="399489"/>
                  <a:pt x="0" y="363647"/>
                </a:cubicBezTo>
                <a:lnTo>
                  <a:pt x="0" y="64939"/>
                </a:lnTo>
                <a:cubicBezTo>
                  <a:pt x="0" y="29098"/>
                  <a:pt x="29098" y="0"/>
                  <a:pt x="64939" y="0"/>
                </a:cubicBezTo>
                <a:close/>
              </a:path>
            </a:pathLst>
          </a:custGeom>
          <a:solidFill>
            <a:srgbClr val="0071E3">
              <a:alpha val="5098"/>
            </a:srgbClr>
          </a:solidFill>
          <a:ln w="10160">
            <a:solidFill>
              <a:srgbClr val="0071E3">
                <a:alpha val="20000"/>
              </a:srgbClr>
            </a:solidFill>
            <a:prstDash val="solid"/>
          </a:ln>
        </p:spPr>
      </p:sp>
      <p:sp>
        <p:nvSpPr>
          <p:cNvPr id="57" name="Text 55"/>
          <p:cNvSpPr/>
          <p:nvPr/>
        </p:nvSpPr>
        <p:spPr>
          <a:xfrm>
            <a:off x="7677429" y="4363799"/>
            <a:ext cx="3880011" cy="162344"/>
          </a:xfrm>
          <a:prstGeom prst="rect">
            <a:avLst/>
          </a:prstGeom>
          <a:noFill/>
          <a:ln/>
        </p:spPr>
        <p:txBody>
          <a:bodyPr wrap="square" lIns="0" tIns="0" rIns="0" bIns="0" rtlCol="0" anchor="ctr"/>
          <a:lstStyle/>
          <a:p>
            <a:pPr algn="ctr">
              <a:lnSpc>
                <a:spcPct val="120000"/>
              </a:lnSpc>
            </a:pPr>
            <a:r>
              <a:rPr lang="en-US" sz="895" dirty="0">
                <a:solidFill>
                  <a:srgbClr val="1D1D1D"/>
                </a:solidFill>
                <a:latin typeface="MiSans" pitchFamily="34" charset="0"/>
                <a:ea typeface="MiSans" pitchFamily="34" charset="-122"/>
                <a:cs typeface="MiSans" pitchFamily="34" charset="-120"/>
              </a:rPr>
              <a:t>Example: 1-0-1-0 = Access Granted</a:t>
            </a:r>
            <a:endParaRPr lang="en-US" sz="1600" dirty="0"/>
          </a:p>
        </p:txBody>
      </p:sp>
      <p:sp>
        <p:nvSpPr>
          <p:cNvPr id="58" name="Shape 56"/>
          <p:cNvSpPr/>
          <p:nvPr/>
        </p:nvSpPr>
        <p:spPr>
          <a:xfrm>
            <a:off x="7371412" y="4897325"/>
            <a:ext cx="4495293" cy="1824741"/>
          </a:xfrm>
          <a:custGeom>
            <a:avLst/>
            <a:gdLst/>
            <a:ahLst/>
            <a:cxnLst/>
            <a:rect l="l" t="t" r="r" b="b"/>
            <a:pathLst>
              <a:path w="4495293" h="1824741">
                <a:moveTo>
                  <a:pt x="97405" y="0"/>
                </a:moveTo>
                <a:lnTo>
                  <a:pt x="4397888" y="0"/>
                </a:lnTo>
                <a:cubicBezTo>
                  <a:pt x="4451683" y="0"/>
                  <a:pt x="4495293" y="43610"/>
                  <a:pt x="4495293" y="97405"/>
                </a:cubicBezTo>
                <a:lnTo>
                  <a:pt x="4495293" y="1727337"/>
                </a:lnTo>
                <a:cubicBezTo>
                  <a:pt x="4495293" y="1781132"/>
                  <a:pt x="4451683" y="1824741"/>
                  <a:pt x="4397888" y="1824741"/>
                </a:cubicBezTo>
                <a:lnTo>
                  <a:pt x="97405" y="1824741"/>
                </a:lnTo>
                <a:cubicBezTo>
                  <a:pt x="43610" y="1824741"/>
                  <a:pt x="0" y="1781132"/>
                  <a:pt x="0" y="1727337"/>
                </a:cubicBezTo>
                <a:lnTo>
                  <a:pt x="0" y="97405"/>
                </a:lnTo>
                <a:cubicBezTo>
                  <a:pt x="0" y="43646"/>
                  <a:pt x="43646" y="0"/>
                  <a:pt x="97405" y="0"/>
                </a:cubicBezTo>
                <a:close/>
              </a:path>
            </a:pathLst>
          </a:custGeom>
          <a:solidFill>
            <a:srgbClr val="FFFFFF"/>
          </a:solidFill>
          <a:ln w="10160">
            <a:solidFill>
              <a:srgbClr val="E5E5E5"/>
            </a:solidFill>
            <a:prstDash val="solid"/>
          </a:ln>
          <a:effectLst>
            <a:outerShdw blurRad="24352" dist="8117" dir="5400000" algn="bl" rotWithShape="0">
              <a:srgbClr val="000000">
                <a:alpha val="10196"/>
              </a:srgbClr>
            </a:outerShdw>
          </a:effectLst>
        </p:spPr>
      </p:sp>
      <p:sp>
        <p:nvSpPr>
          <p:cNvPr id="59" name="Text 57"/>
          <p:cNvSpPr/>
          <p:nvPr/>
        </p:nvSpPr>
        <p:spPr>
          <a:xfrm>
            <a:off x="7537002" y="5062913"/>
            <a:ext cx="4237166" cy="227281"/>
          </a:xfrm>
          <a:prstGeom prst="rect">
            <a:avLst/>
          </a:prstGeom>
          <a:noFill/>
          <a:ln/>
        </p:spPr>
        <p:txBody>
          <a:bodyPr wrap="square" lIns="0" tIns="0" rIns="0" bIns="0" rtlCol="0" anchor="ctr"/>
          <a:lstStyle/>
          <a:p>
            <a:pPr>
              <a:lnSpc>
                <a:spcPct val="130000"/>
              </a:lnSpc>
            </a:pPr>
            <a:r>
              <a:rPr lang="en-US" sz="1150" b="1" dirty="0">
                <a:solidFill>
                  <a:srgbClr val="1D1D1D"/>
                </a:solidFill>
                <a:latin typeface="Liter" pitchFamily="34" charset="0"/>
                <a:ea typeface="Liter" pitchFamily="34" charset="-122"/>
                <a:cs typeface="Liter" pitchFamily="34" charset="-120"/>
              </a:rPr>
              <a:t>Haptic Feedback Response</a:t>
            </a:r>
            <a:endParaRPr lang="en-US" sz="1600" dirty="0"/>
          </a:p>
        </p:txBody>
      </p:sp>
      <p:sp>
        <p:nvSpPr>
          <p:cNvPr id="60" name="Shape 58"/>
          <p:cNvSpPr/>
          <p:nvPr/>
        </p:nvSpPr>
        <p:spPr>
          <a:xfrm>
            <a:off x="7553236" y="5387600"/>
            <a:ext cx="4147877" cy="551968"/>
          </a:xfrm>
          <a:custGeom>
            <a:avLst/>
            <a:gdLst/>
            <a:ahLst/>
            <a:cxnLst/>
            <a:rect l="l" t="t" r="r" b="b"/>
            <a:pathLst>
              <a:path w="4147877" h="551968">
                <a:moveTo>
                  <a:pt x="32469" y="0"/>
                </a:moveTo>
                <a:lnTo>
                  <a:pt x="4082938" y="0"/>
                </a:lnTo>
                <a:cubicBezTo>
                  <a:pt x="4118803" y="0"/>
                  <a:pt x="4147877" y="29074"/>
                  <a:pt x="4147877" y="64939"/>
                </a:cubicBezTo>
                <a:lnTo>
                  <a:pt x="4147877" y="487029"/>
                </a:lnTo>
                <a:cubicBezTo>
                  <a:pt x="4147877" y="522894"/>
                  <a:pt x="4118803" y="551968"/>
                  <a:pt x="4082938" y="551968"/>
                </a:cubicBezTo>
                <a:lnTo>
                  <a:pt x="32469" y="551968"/>
                </a:lnTo>
                <a:cubicBezTo>
                  <a:pt x="14549" y="551968"/>
                  <a:pt x="0" y="537419"/>
                  <a:pt x="0" y="519499"/>
                </a:cubicBezTo>
                <a:lnTo>
                  <a:pt x="0" y="32469"/>
                </a:lnTo>
                <a:cubicBezTo>
                  <a:pt x="0" y="14549"/>
                  <a:pt x="14549" y="0"/>
                  <a:pt x="32469" y="0"/>
                </a:cubicBezTo>
                <a:close/>
              </a:path>
            </a:pathLst>
          </a:custGeom>
          <a:solidFill>
            <a:srgbClr val="34C759">
              <a:alpha val="5098"/>
            </a:srgbClr>
          </a:solidFill>
          <a:ln/>
        </p:spPr>
      </p:sp>
      <p:sp>
        <p:nvSpPr>
          <p:cNvPr id="61" name="Shape 59"/>
          <p:cNvSpPr/>
          <p:nvPr/>
        </p:nvSpPr>
        <p:spPr>
          <a:xfrm>
            <a:off x="7553236" y="5387600"/>
            <a:ext cx="32469" cy="551968"/>
          </a:xfrm>
          <a:custGeom>
            <a:avLst/>
            <a:gdLst/>
            <a:ahLst/>
            <a:cxnLst/>
            <a:rect l="l" t="t" r="r" b="b"/>
            <a:pathLst>
              <a:path w="32469" h="551968">
                <a:moveTo>
                  <a:pt x="32469" y="0"/>
                </a:moveTo>
                <a:lnTo>
                  <a:pt x="32469" y="0"/>
                </a:lnTo>
                <a:lnTo>
                  <a:pt x="32469" y="551968"/>
                </a:lnTo>
                <a:lnTo>
                  <a:pt x="32469" y="551968"/>
                </a:lnTo>
                <a:cubicBezTo>
                  <a:pt x="14537" y="551968"/>
                  <a:pt x="0" y="537431"/>
                  <a:pt x="0" y="519499"/>
                </a:cubicBezTo>
                <a:lnTo>
                  <a:pt x="0" y="32469"/>
                </a:lnTo>
                <a:cubicBezTo>
                  <a:pt x="0" y="14549"/>
                  <a:pt x="14549" y="0"/>
                  <a:pt x="32469" y="0"/>
                </a:cubicBezTo>
                <a:close/>
              </a:path>
            </a:pathLst>
          </a:custGeom>
          <a:solidFill>
            <a:srgbClr val="34C759"/>
          </a:solidFill>
          <a:ln/>
        </p:spPr>
      </p:sp>
      <p:sp>
        <p:nvSpPr>
          <p:cNvPr id="62" name="Shape 60"/>
          <p:cNvSpPr/>
          <p:nvPr/>
        </p:nvSpPr>
        <p:spPr>
          <a:xfrm>
            <a:off x="7666877" y="5501241"/>
            <a:ext cx="324687" cy="324687"/>
          </a:xfrm>
          <a:custGeom>
            <a:avLst/>
            <a:gdLst/>
            <a:ahLst/>
            <a:cxnLst/>
            <a:rect l="l" t="t" r="r" b="b"/>
            <a:pathLst>
              <a:path w="324687" h="324687">
                <a:moveTo>
                  <a:pt x="32469" y="0"/>
                </a:moveTo>
                <a:lnTo>
                  <a:pt x="292218" y="0"/>
                </a:lnTo>
                <a:cubicBezTo>
                  <a:pt x="310150" y="0"/>
                  <a:pt x="324687" y="14537"/>
                  <a:pt x="324687" y="32469"/>
                </a:cubicBezTo>
                <a:lnTo>
                  <a:pt x="324687" y="292218"/>
                </a:lnTo>
                <a:cubicBezTo>
                  <a:pt x="324687" y="310150"/>
                  <a:pt x="310150" y="324687"/>
                  <a:pt x="292218" y="324687"/>
                </a:cubicBezTo>
                <a:lnTo>
                  <a:pt x="32469" y="324687"/>
                </a:lnTo>
                <a:cubicBezTo>
                  <a:pt x="14537" y="324687"/>
                  <a:pt x="0" y="310150"/>
                  <a:pt x="0" y="292218"/>
                </a:cubicBezTo>
                <a:lnTo>
                  <a:pt x="0" y="32469"/>
                </a:lnTo>
                <a:cubicBezTo>
                  <a:pt x="0" y="14549"/>
                  <a:pt x="14549" y="0"/>
                  <a:pt x="32469" y="0"/>
                </a:cubicBezTo>
                <a:close/>
              </a:path>
            </a:pathLst>
          </a:custGeom>
          <a:solidFill>
            <a:srgbClr val="34C759"/>
          </a:solidFill>
          <a:ln/>
        </p:spPr>
      </p:sp>
      <p:sp>
        <p:nvSpPr>
          <p:cNvPr id="63" name="Text 61"/>
          <p:cNvSpPr/>
          <p:nvPr/>
        </p:nvSpPr>
        <p:spPr>
          <a:xfrm>
            <a:off x="7634408" y="5501241"/>
            <a:ext cx="389625" cy="324687"/>
          </a:xfrm>
          <a:prstGeom prst="rect">
            <a:avLst/>
          </a:prstGeom>
          <a:noFill/>
          <a:ln/>
        </p:spPr>
        <p:txBody>
          <a:bodyPr wrap="square" lIns="0" tIns="0" rIns="0" bIns="0" rtlCol="0" anchor="ctr"/>
          <a:lstStyle/>
          <a:p>
            <a:pPr algn="ctr">
              <a:lnSpc>
                <a:spcPct val="130000"/>
              </a:lnSpc>
            </a:pPr>
            <a:r>
              <a:rPr lang="en-US" sz="1023" b="1" dirty="0">
                <a:solidFill>
                  <a:srgbClr val="FFFFFF"/>
                </a:solidFill>
                <a:latin typeface="Liter" pitchFamily="34" charset="0"/>
                <a:ea typeface="Liter" pitchFamily="34" charset="-122"/>
                <a:cs typeface="Liter" pitchFamily="34" charset="-120"/>
              </a:rPr>
              <a:t>C</a:t>
            </a:r>
            <a:endParaRPr lang="en-US" sz="1600" dirty="0"/>
          </a:p>
        </p:txBody>
      </p:sp>
      <p:sp>
        <p:nvSpPr>
          <p:cNvPr id="64" name="Text 62"/>
          <p:cNvSpPr/>
          <p:nvPr/>
        </p:nvSpPr>
        <p:spPr>
          <a:xfrm>
            <a:off x="8088970" y="5485007"/>
            <a:ext cx="1274397" cy="194812"/>
          </a:xfrm>
          <a:prstGeom prst="rect">
            <a:avLst/>
          </a:prstGeom>
          <a:noFill/>
          <a:ln/>
        </p:spPr>
        <p:txBody>
          <a:bodyPr wrap="square" lIns="0" tIns="0" rIns="0" bIns="0" rtlCol="0" anchor="ctr"/>
          <a:lstStyle/>
          <a:p>
            <a:pPr>
              <a:lnSpc>
                <a:spcPct val="130000"/>
              </a:lnSpc>
            </a:pPr>
            <a:r>
              <a:rPr lang="en-US" sz="1023" b="1" dirty="0">
                <a:solidFill>
                  <a:srgbClr val="1D1D1D"/>
                </a:solidFill>
                <a:latin typeface="Liter" pitchFamily="34" charset="0"/>
                <a:ea typeface="Liter" pitchFamily="34" charset="-122"/>
                <a:cs typeface="Liter" pitchFamily="34" charset="-120"/>
              </a:rPr>
              <a:t>Correct</a:t>
            </a:r>
            <a:endParaRPr lang="en-US" sz="1600" dirty="0"/>
          </a:p>
        </p:txBody>
      </p:sp>
      <p:sp>
        <p:nvSpPr>
          <p:cNvPr id="65" name="Text 63"/>
          <p:cNvSpPr/>
          <p:nvPr/>
        </p:nvSpPr>
        <p:spPr>
          <a:xfrm>
            <a:off x="8088970" y="5679819"/>
            <a:ext cx="1266280" cy="162344"/>
          </a:xfrm>
          <a:prstGeom prst="rect">
            <a:avLst/>
          </a:prstGeom>
          <a:noFill/>
          <a:ln/>
        </p:spPr>
        <p:txBody>
          <a:bodyPr wrap="square" lIns="0" tIns="0" rIns="0" bIns="0" rtlCol="0" anchor="ctr"/>
          <a:lstStyle/>
          <a:p>
            <a:pPr>
              <a:lnSpc>
                <a:spcPct val="120000"/>
              </a:lnSpc>
            </a:pPr>
            <a:r>
              <a:rPr lang="en-US" sz="895" dirty="0">
                <a:solidFill>
                  <a:srgbClr val="86868B"/>
                </a:solidFill>
                <a:latin typeface="Liter" pitchFamily="34" charset="0"/>
                <a:ea typeface="Liter" pitchFamily="34" charset="-122"/>
                <a:cs typeface="Liter" pitchFamily="34" charset="-120"/>
              </a:rPr>
              <a:t>5 short beeps/vibrations</a:t>
            </a:r>
            <a:endParaRPr lang="en-US" sz="1600" dirty="0"/>
          </a:p>
        </p:txBody>
      </p:sp>
      <p:sp>
        <p:nvSpPr>
          <p:cNvPr id="66" name="Shape 64"/>
          <p:cNvSpPr/>
          <p:nvPr/>
        </p:nvSpPr>
        <p:spPr>
          <a:xfrm>
            <a:off x="7553236" y="6004506"/>
            <a:ext cx="4147877" cy="551968"/>
          </a:xfrm>
          <a:custGeom>
            <a:avLst/>
            <a:gdLst/>
            <a:ahLst/>
            <a:cxnLst/>
            <a:rect l="l" t="t" r="r" b="b"/>
            <a:pathLst>
              <a:path w="4147877" h="551968">
                <a:moveTo>
                  <a:pt x="32469" y="0"/>
                </a:moveTo>
                <a:lnTo>
                  <a:pt x="4082938" y="0"/>
                </a:lnTo>
                <a:cubicBezTo>
                  <a:pt x="4118803" y="0"/>
                  <a:pt x="4147877" y="29074"/>
                  <a:pt x="4147877" y="64939"/>
                </a:cubicBezTo>
                <a:lnTo>
                  <a:pt x="4147877" y="487029"/>
                </a:lnTo>
                <a:cubicBezTo>
                  <a:pt x="4147877" y="522894"/>
                  <a:pt x="4118803" y="551968"/>
                  <a:pt x="4082938" y="551968"/>
                </a:cubicBezTo>
                <a:lnTo>
                  <a:pt x="32469" y="551968"/>
                </a:lnTo>
                <a:cubicBezTo>
                  <a:pt x="14549" y="551968"/>
                  <a:pt x="0" y="537419"/>
                  <a:pt x="0" y="519499"/>
                </a:cubicBezTo>
                <a:lnTo>
                  <a:pt x="0" y="32469"/>
                </a:lnTo>
                <a:cubicBezTo>
                  <a:pt x="0" y="14549"/>
                  <a:pt x="14549" y="0"/>
                  <a:pt x="32469" y="0"/>
                </a:cubicBezTo>
                <a:close/>
              </a:path>
            </a:pathLst>
          </a:custGeom>
          <a:solidFill>
            <a:srgbClr val="FF3B30">
              <a:alpha val="5098"/>
            </a:srgbClr>
          </a:solidFill>
          <a:ln/>
        </p:spPr>
      </p:sp>
      <p:sp>
        <p:nvSpPr>
          <p:cNvPr id="67" name="Shape 65"/>
          <p:cNvSpPr/>
          <p:nvPr/>
        </p:nvSpPr>
        <p:spPr>
          <a:xfrm>
            <a:off x="7553236" y="6004506"/>
            <a:ext cx="32469" cy="551968"/>
          </a:xfrm>
          <a:custGeom>
            <a:avLst/>
            <a:gdLst/>
            <a:ahLst/>
            <a:cxnLst/>
            <a:rect l="l" t="t" r="r" b="b"/>
            <a:pathLst>
              <a:path w="32469" h="551968">
                <a:moveTo>
                  <a:pt x="32469" y="0"/>
                </a:moveTo>
                <a:lnTo>
                  <a:pt x="32469" y="0"/>
                </a:lnTo>
                <a:lnTo>
                  <a:pt x="32469" y="551968"/>
                </a:lnTo>
                <a:lnTo>
                  <a:pt x="32469" y="551968"/>
                </a:lnTo>
                <a:cubicBezTo>
                  <a:pt x="14537" y="551968"/>
                  <a:pt x="0" y="537431"/>
                  <a:pt x="0" y="519499"/>
                </a:cubicBezTo>
                <a:lnTo>
                  <a:pt x="0" y="32469"/>
                </a:lnTo>
                <a:cubicBezTo>
                  <a:pt x="0" y="14549"/>
                  <a:pt x="14549" y="0"/>
                  <a:pt x="32469" y="0"/>
                </a:cubicBezTo>
                <a:close/>
              </a:path>
            </a:pathLst>
          </a:custGeom>
          <a:solidFill>
            <a:srgbClr val="FF3B30"/>
          </a:solidFill>
          <a:ln/>
        </p:spPr>
      </p:sp>
      <p:sp>
        <p:nvSpPr>
          <p:cNvPr id="68" name="Shape 66"/>
          <p:cNvSpPr/>
          <p:nvPr/>
        </p:nvSpPr>
        <p:spPr>
          <a:xfrm>
            <a:off x="7666877" y="6118146"/>
            <a:ext cx="324687" cy="324687"/>
          </a:xfrm>
          <a:custGeom>
            <a:avLst/>
            <a:gdLst/>
            <a:ahLst/>
            <a:cxnLst/>
            <a:rect l="l" t="t" r="r" b="b"/>
            <a:pathLst>
              <a:path w="324687" h="324687">
                <a:moveTo>
                  <a:pt x="32469" y="0"/>
                </a:moveTo>
                <a:lnTo>
                  <a:pt x="292218" y="0"/>
                </a:lnTo>
                <a:cubicBezTo>
                  <a:pt x="310150" y="0"/>
                  <a:pt x="324687" y="14537"/>
                  <a:pt x="324687" y="32469"/>
                </a:cubicBezTo>
                <a:lnTo>
                  <a:pt x="324687" y="292218"/>
                </a:lnTo>
                <a:cubicBezTo>
                  <a:pt x="324687" y="310150"/>
                  <a:pt x="310150" y="324687"/>
                  <a:pt x="292218" y="324687"/>
                </a:cubicBezTo>
                <a:lnTo>
                  <a:pt x="32469" y="324687"/>
                </a:lnTo>
                <a:cubicBezTo>
                  <a:pt x="14537" y="324687"/>
                  <a:pt x="0" y="310150"/>
                  <a:pt x="0" y="292218"/>
                </a:cubicBezTo>
                <a:lnTo>
                  <a:pt x="0" y="32469"/>
                </a:lnTo>
                <a:cubicBezTo>
                  <a:pt x="0" y="14549"/>
                  <a:pt x="14549" y="0"/>
                  <a:pt x="32469" y="0"/>
                </a:cubicBezTo>
                <a:close/>
              </a:path>
            </a:pathLst>
          </a:custGeom>
          <a:solidFill>
            <a:srgbClr val="FF3B30"/>
          </a:solidFill>
          <a:ln/>
        </p:spPr>
      </p:sp>
      <p:sp>
        <p:nvSpPr>
          <p:cNvPr id="69" name="Text 67"/>
          <p:cNvSpPr/>
          <p:nvPr/>
        </p:nvSpPr>
        <p:spPr>
          <a:xfrm>
            <a:off x="7634408" y="6118146"/>
            <a:ext cx="389625" cy="324687"/>
          </a:xfrm>
          <a:prstGeom prst="rect">
            <a:avLst/>
          </a:prstGeom>
          <a:noFill/>
          <a:ln/>
        </p:spPr>
        <p:txBody>
          <a:bodyPr wrap="square" lIns="0" tIns="0" rIns="0" bIns="0" rtlCol="0" anchor="ctr"/>
          <a:lstStyle/>
          <a:p>
            <a:pPr algn="ctr">
              <a:lnSpc>
                <a:spcPct val="130000"/>
              </a:lnSpc>
            </a:pPr>
            <a:r>
              <a:rPr lang="en-US" sz="1023" b="1" dirty="0">
                <a:solidFill>
                  <a:srgbClr val="FFFFFF"/>
                </a:solidFill>
                <a:latin typeface="Liter" pitchFamily="34" charset="0"/>
                <a:ea typeface="Liter" pitchFamily="34" charset="-122"/>
                <a:cs typeface="Liter" pitchFamily="34" charset="-120"/>
              </a:rPr>
              <a:t>W</a:t>
            </a:r>
            <a:endParaRPr lang="en-US" sz="1600" dirty="0"/>
          </a:p>
        </p:txBody>
      </p:sp>
      <p:sp>
        <p:nvSpPr>
          <p:cNvPr id="70" name="Text 68"/>
          <p:cNvSpPr/>
          <p:nvPr/>
        </p:nvSpPr>
        <p:spPr>
          <a:xfrm>
            <a:off x="8088970" y="6101912"/>
            <a:ext cx="1233811" cy="194812"/>
          </a:xfrm>
          <a:prstGeom prst="rect">
            <a:avLst/>
          </a:prstGeom>
          <a:noFill/>
          <a:ln/>
        </p:spPr>
        <p:txBody>
          <a:bodyPr wrap="square" lIns="0" tIns="0" rIns="0" bIns="0" rtlCol="0" anchor="ctr"/>
          <a:lstStyle/>
          <a:p>
            <a:pPr>
              <a:lnSpc>
                <a:spcPct val="130000"/>
              </a:lnSpc>
            </a:pPr>
            <a:r>
              <a:rPr lang="en-US" sz="1023" b="1" dirty="0">
                <a:solidFill>
                  <a:srgbClr val="1D1D1D"/>
                </a:solidFill>
                <a:latin typeface="Liter" pitchFamily="34" charset="0"/>
                <a:ea typeface="Liter" pitchFamily="34" charset="-122"/>
                <a:cs typeface="Liter" pitchFamily="34" charset="-120"/>
              </a:rPr>
              <a:t>Wrong</a:t>
            </a:r>
            <a:endParaRPr lang="en-US" sz="1600" dirty="0"/>
          </a:p>
        </p:txBody>
      </p:sp>
      <p:sp>
        <p:nvSpPr>
          <p:cNvPr id="71" name="Text 69"/>
          <p:cNvSpPr/>
          <p:nvPr/>
        </p:nvSpPr>
        <p:spPr>
          <a:xfrm>
            <a:off x="8088970" y="6296724"/>
            <a:ext cx="1225694" cy="162344"/>
          </a:xfrm>
          <a:prstGeom prst="rect">
            <a:avLst/>
          </a:prstGeom>
          <a:noFill/>
          <a:ln/>
        </p:spPr>
        <p:txBody>
          <a:bodyPr wrap="square" lIns="0" tIns="0" rIns="0" bIns="0" rtlCol="0" anchor="ctr"/>
          <a:lstStyle/>
          <a:p>
            <a:pPr>
              <a:lnSpc>
                <a:spcPct val="120000"/>
              </a:lnSpc>
            </a:pPr>
            <a:r>
              <a:rPr lang="en-US" sz="895" dirty="0">
                <a:solidFill>
                  <a:srgbClr val="86868B"/>
                </a:solidFill>
                <a:latin typeface="Liter" pitchFamily="34" charset="0"/>
                <a:ea typeface="Liter" pitchFamily="34" charset="-122"/>
                <a:cs typeface="Liter" pitchFamily="34" charset="-120"/>
              </a:rPr>
              <a:t>5 long beeps/vibrations</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30407" y="330407"/>
            <a:ext cx="11589008" cy="165203"/>
          </a:xfrm>
          <a:prstGeom prst="rect">
            <a:avLst/>
          </a:prstGeom>
          <a:noFill/>
          <a:ln/>
        </p:spPr>
        <p:txBody>
          <a:bodyPr wrap="square" lIns="0" tIns="0" rIns="0" bIns="0" rtlCol="0" anchor="ctr"/>
          <a:lstStyle/>
          <a:p>
            <a:pPr>
              <a:lnSpc>
                <a:spcPct val="120000"/>
              </a:lnSpc>
            </a:pPr>
            <a:r>
              <a:rPr lang="en-US" sz="911" b="1" kern="0" spc="46" dirty="0">
                <a:solidFill>
                  <a:srgbClr val="0071E3"/>
                </a:solidFill>
                <a:latin typeface="Liter" pitchFamily="34" charset="0"/>
                <a:ea typeface="Liter" pitchFamily="34" charset="-122"/>
                <a:cs typeface="Liter" pitchFamily="34" charset="-120"/>
              </a:rPr>
              <a:t>CLOUD CONNECTIVITY</a:t>
            </a:r>
            <a:endParaRPr lang="en-US" sz="1600" dirty="0"/>
          </a:p>
        </p:txBody>
      </p:sp>
      <p:sp>
        <p:nvSpPr>
          <p:cNvPr id="3" name="Text 1"/>
          <p:cNvSpPr/>
          <p:nvPr/>
        </p:nvSpPr>
        <p:spPr>
          <a:xfrm>
            <a:off x="330407" y="561691"/>
            <a:ext cx="11679870" cy="330407"/>
          </a:xfrm>
          <a:prstGeom prst="rect">
            <a:avLst/>
          </a:prstGeom>
          <a:noFill/>
          <a:ln/>
        </p:spPr>
        <p:txBody>
          <a:bodyPr wrap="square" lIns="0" tIns="0" rIns="0" bIns="0" rtlCol="0" anchor="ctr"/>
          <a:lstStyle/>
          <a:p>
            <a:pPr>
              <a:lnSpc>
                <a:spcPct val="90000"/>
              </a:lnSpc>
            </a:pPr>
            <a:r>
              <a:rPr lang="en-US" sz="2341" b="1" dirty="0">
                <a:solidFill>
                  <a:srgbClr val="1D1D1D"/>
                </a:solidFill>
                <a:latin typeface="Liter" pitchFamily="34" charset="0"/>
                <a:ea typeface="Liter" pitchFamily="34" charset="-122"/>
                <a:cs typeface="Liter" pitchFamily="34" charset="-120"/>
              </a:rPr>
              <a:t>IoT Integration (Blynk Cloud)</a:t>
            </a:r>
            <a:endParaRPr lang="en-US" sz="1600" dirty="0"/>
          </a:p>
        </p:txBody>
      </p:sp>
      <p:sp>
        <p:nvSpPr>
          <p:cNvPr id="4" name="Shape 2"/>
          <p:cNvSpPr/>
          <p:nvPr/>
        </p:nvSpPr>
        <p:spPr>
          <a:xfrm>
            <a:off x="333711" y="1060605"/>
            <a:ext cx="5656559" cy="2608559"/>
          </a:xfrm>
          <a:custGeom>
            <a:avLst/>
            <a:gdLst/>
            <a:ahLst/>
            <a:cxnLst/>
            <a:rect l="l" t="t" r="r" b="b"/>
            <a:pathLst>
              <a:path w="5656559" h="2608559">
                <a:moveTo>
                  <a:pt x="99125" y="0"/>
                </a:moveTo>
                <a:lnTo>
                  <a:pt x="5557434" y="0"/>
                </a:lnTo>
                <a:cubicBezTo>
                  <a:pt x="5612179" y="0"/>
                  <a:pt x="5656559" y="44380"/>
                  <a:pt x="5656559" y="99125"/>
                </a:cubicBezTo>
                <a:lnTo>
                  <a:pt x="5656559" y="2509434"/>
                </a:lnTo>
                <a:cubicBezTo>
                  <a:pt x="5656559" y="2564179"/>
                  <a:pt x="5612179" y="2608559"/>
                  <a:pt x="5557434" y="2608559"/>
                </a:cubicBezTo>
                <a:lnTo>
                  <a:pt x="99125" y="2608559"/>
                </a:lnTo>
                <a:cubicBezTo>
                  <a:pt x="44380" y="2608559"/>
                  <a:pt x="0" y="2564179"/>
                  <a:pt x="0" y="2509434"/>
                </a:cubicBezTo>
                <a:lnTo>
                  <a:pt x="0" y="99125"/>
                </a:lnTo>
                <a:cubicBezTo>
                  <a:pt x="0" y="44380"/>
                  <a:pt x="44380" y="0"/>
                  <a:pt x="99125" y="0"/>
                </a:cubicBezTo>
                <a:close/>
              </a:path>
            </a:pathLst>
          </a:custGeom>
          <a:solidFill>
            <a:srgbClr val="FFFFFF"/>
          </a:solidFill>
          <a:ln w="10160">
            <a:solidFill>
              <a:srgbClr val="E5E5E5"/>
            </a:solidFill>
            <a:prstDash val="solid"/>
          </a:ln>
          <a:effectLst>
            <a:outerShdw blurRad="24780" dist="8260" dir="5400000" algn="bl" rotWithShape="0">
              <a:srgbClr val="000000">
                <a:alpha val="10196"/>
              </a:srgbClr>
            </a:outerShdw>
          </a:effectLst>
        </p:spPr>
      </p:sp>
      <p:sp>
        <p:nvSpPr>
          <p:cNvPr id="5" name="Shape 3"/>
          <p:cNvSpPr/>
          <p:nvPr/>
        </p:nvSpPr>
        <p:spPr>
          <a:xfrm>
            <a:off x="545584" y="1295192"/>
            <a:ext cx="185854" cy="165203"/>
          </a:xfrm>
          <a:custGeom>
            <a:avLst/>
            <a:gdLst/>
            <a:ahLst/>
            <a:cxnLst/>
            <a:rect l="l" t="t" r="r" b="b"/>
            <a:pathLst>
              <a:path w="185854" h="165203">
                <a:moveTo>
                  <a:pt x="0" y="108415"/>
                </a:moveTo>
                <a:cubicBezTo>
                  <a:pt x="0" y="134066"/>
                  <a:pt x="20812" y="154878"/>
                  <a:pt x="46463" y="154878"/>
                </a:cubicBezTo>
                <a:lnTo>
                  <a:pt x="144553" y="154878"/>
                </a:lnTo>
                <a:cubicBezTo>
                  <a:pt x="167365" y="154878"/>
                  <a:pt x="185854" y="136389"/>
                  <a:pt x="185854" y="113577"/>
                </a:cubicBezTo>
                <a:cubicBezTo>
                  <a:pt x="185854" y="96928"/>
                  <a:pt x="176012" y="82569"/>
                  <a:pt x="161815" y="76052"/>
                </a:cubicBezTo>
                <a:cubicBezTo>
                  <a:pt x="163977" y="71825"/>
                  <a:pt x="165203" y="67017"/>
                  <a:pt x="165203" y="61951"/>
                </a:cubicBezTo>
                <a:cubicBezTo>
                  <a:pt x="165203" y="44850"/>
                  <a:pt x="151329" y="30976"/>
                  <a:pt x="134228" y="30976"/>
                </a:cubicBezTo>
                <a:cubicBezTo>
                  <a:pt x="128517" y="30976"/>
                  <a:pt x="123193" y="32524"/>
                  <a:pt x="118611" y="35202"/>
                </a:cubicBezTo>
                <a:cubicBezTo>
                  <a:pt x="110835" y="20425"/>
                  <a:pt x="95315" y="10325"/>
                  <a:pt x="77439" y="10325"/>
                </a:cubicBezTo>
                <a:cubicBezTo>
                  <a:pt x="51787" y="10325"/>
                  <a:pt x="30976" y="31137"/>
                  <a:pt x="30976" y="56789"/>
                </a:cubicBezTo>
                <a:cubicBezTo>
                  <a:pt x="30976" y="59370"/>
                  <a:pt x="31201" y="61919"/>
                  <a:pt x="31589" y="64371"/>
                </a:cubicBezTo>
                <a:cubicBezTo>
                  <a:pt x="13229" y="70566"/>
                  <a:pt x="0" y="87958"/>
                  <a:pt x="0" y="108415"/>
                </a:cubicBezTo>
                <a:close/>
              </a:path>
            </a:pathLst>
          </a:custGeom>
          <a:solidFill>
            <a:srgbClr val="0071E3"/>
          </a:solidFill>
          <a:ln/>
        </p:spPr>
      </p:sp>
      <p:sp>
        <p:nvSpPr>
          <p:cNvPr id="6" name="Text 4"/>
          <p:cNvSpPr/>
          <p:nvPr/>
        </p:nvSpPr>
        <p:spPr>
          <a:xfrm>
            <a:off x="741763" y="1262151"/>
            <a:ext cx="5129561" cy="231285"/>
          </a:xfrm>
          <a:prstGeom prst="rect">
            <a:avLst/>
          </a:prstGeom>
          <a:noFill/>
          <a:ln/>
        </p:spPr>
        <p:txBody>
          <a:bodyPr wrap="square" lIns="0" tIns="0" rIns="0" bIns="0" rtlCol="0" anchor="ctr"/>
          <a:lstStyle/>
          <a:p>
            <a:pPr>
              <a:lnSpc>
                <a:spcPct val="120000"/>
              </a:lnSpc>
            </a:pPr>
            <a:r>
              <a:rPr lang="en-US" sz="1301" b="1" dirty="0">
                <a:solidFill>
                  <a:srgbClr val="1D1D1D"/>
                </a:solidFill>
                <a:latin typeface="Liter" pitchFamily="34" charset="0"/>
                <a:ea typeface="Liter" pitchFamily="34" charset="-122"/>
                <a:cs typeface="Liter" pitchFamily="34" charset="-120"/>
              </a:rPr>
              <a:t>Blynk Library Integration</a:t>
            </a:r>
            <a:endParaRPr lang="en-US" sz="1600" dirty="0"/>
          </a:p>
        </p:txBody>
      </p:sp>
      <p:sp>
        <p:nvSpPr>
          <p:cNvPr id="7" name="Shape 5"/>
          <p:cNvSpPr/>
          <p:nvPr/>
        </p:nvSpPr>
        <p:spPr>
          <a:xfrm>
            <a:off x="535259" y="1625598"/>
            <a:ext cx="5253463" cy="1073821"/>
          </a:xfrm>
          <a:custGeom>
            <a:avLst/>
            <a:gdLst/>
            <a:ahLst/>
            <a:cxnLst/>
            <a:rect l="l" t="t" r="r" b="b"/>
            <a:pathLst>
              <a:path w="5253463" h="1073821">
                <a:moveTo>
                  <a:pt x="66083" y="0"/>
                </a:moveTo>
                <a:lnTo>
                  <a:pt x="5187380" y="0"/>
                </a:lnTo>
                <a:cubicBezTo>
                  <a:pt x="5223877" y="0"/>
                  <a:pt x="5253463" y="29586"/>
                  <a:pt x="5253463" y="66083"/>
                </a:cubicBezTo>
                <a:lnTo>
                  <a:pt x="5253463" y="1007738"/>
                </a:lnTo>
                <a:cubicBezTo>
                  <a:pt x="5253463" y="1044235"/>
                  <a:pt x="5223877" y="1073821"/>
                  <a:pt x="5187380" y="1073821"/>
                </a:cubicBezTo>
                <a:lnTo>
                  <a:pt x="66083" y="1073821"/>
                </a:lnTo>
                <a:cubicBezTo>
                  <a:pt x="29586" y="1073821"/>
                  <a:pt x="0" y="1044235"/>
                  <a:pt x="0" y="1007738"/>
                </a:cubicBezTo>
                <a:lnTo>
                  <a:pt x="0" y="66083"/>
                </a:lnTo>
                <a:cubicBezTo>
                  <a:pt x="0" y="29611"/>
                  <a:pt x="29611" y="0"/>
                  <a:pt x="66083" y="0"/>
                </a:cubicBezTo>
                <a:close/>
              </a:path>
            </a:pathLst>
          </a:custGeom>
          <a:solidFill>
            <a:srgbClr val="F5F5F7"/>
          </a:solidFill>
          <a:ln/>
        </p:spPr>
      </p:sp>
      <p:sp>
        <p:nvSpPr>
          <p:cNvPr id="8" name="Text 6"/>
          <p:cNvSpPr/>
          <p:nvPr/>
        </p:nvSpPr>
        <p:spPr>
          <a:xfrm>
            <a:off x="667421" y="1737941"/>
            <a:ext cx="2437987" cy="125554"/>
          </a:xfrm>
          <a:prstGeom prst="rect">
            <a:avLst/>
          </a:prstGeom>
          <a:noFill/>
          <a:ln/>
        </p:spPr>
        <p:txBody>
          <a:bodyPr wrap="square" lIns="0" tIns="0" rIns="0" bIns="0" rtlCol="0" anchor="ctr"/>
          <a:lstStyle/>
          <a:p>
            <a:pPr>
              <a:lnSpc>
                <a:spcPct val="130000"/>
              </a:lnSpc>
            </a:pPr>
            <a:r>
              <a:rPr lang="en-US" sz="846" dirty="0">
                <a:solidFill>
                  <a:srgbClr val="86868B"/>
                </a:solidFill>
                <a:latin typeface="MiSans" pitchFamily="34" charset="0"/>
                <a:ea typeface="MiSans" pitchFamily="34" charset="-122"/>
                <a:cs typeface="MiSans" pitchFamily="34" charset="-120"/>
              </a:rPr>
              <a:t>// Lines 243-245: Blynk configuration</a:t>
            </a:r>
            <a:endParaRPr lang="en-US" sz="1600" dirty="0"/>
          </a:p>
        </p:txBody>
      </p:sp>
      <p:sp>
        <p:nvSpPr>
          <p:cNvPr id="9" name="Text 7"/>
          <p:cNvSpPr/>
          <p:nvPr/>
        </p:nvSpPr>
        <p:spPr>
          <a:xfrm>
            <a:off x="667421" y="1885794"/>
            <a:ext cx="5042829" cy="165203"/>
          </a:xfrm>
          <a:prstGeom prst="rect">
            <a:avLst/>
          </a:prstGeom>
          <a:noFill/>
          <a:ln/>
        </p:spPr>
        <p:txBody>
          <a:bodyPr wrap="square" lIns="0" tIns="0" rIns="0" bIns="0" rtlCol="0" anchor="ctr"/>
          <a:lstStyle/>
          <a:p>
            <a:pPr>
              <a:lnSpc>
                <a:spcPct val="130000"/>
              </a:lnSpc>
            </a:pPr>
            <a:r>
              <a:rPr lang="en-US" sz="846" dirty="0">
                <a:solidFill>
                  <a:srgbClr val="0071E3"/>
                </a:solidFill>
                <a:latin typeface="MiSans" pitchFamily="34" charset="0"/>
                <a:ea typeface="MiSans" pitchFamily="34" charset="-122"/>
                <a:cs typeface="MiSans" pitchFamily="34" charset="-120"/>
              </a:rPr>
              <a:t>#define</a:t>
            </a:r>
            <a:r>
              <a:rPr lang="en-US" sz="846" dirty="0">
                <a:solidFill>
                  <a:srgbClr val="1D1D1D"/>
                </a:solidFill>
                <a:latin typeface="MiSans" pitchFamily="34" charset="0"/>
                <a:ea typeface="MiSans" pitchFamily="34" charset="-122"/>
                <a:cs typeface="MiSans" pitchFamily="34" charset="-120"/>
              </a:rPr>
              <a:t> BLYNK_TEMPLATE_ID </a:t>
            </a:r>
            <a:r>
              <a:rPr lang="en-US" sz="846" dirty="0">
                <a:solidFill>
                  <a:srgbClr val="34C759"/>
                </a:solidFill>
                <a:latin typeface="MiSans" pitchFamily="34" charset="0"/>
                <a:ea typeface="MiSans" pitchFamily="34" charset="-122"/>
                <a:cs typeface="MiSans" pitchFamily="34" charset="-120"/>
              </a:rPr>
              <a:t>"TMPL3VTwLUsho"</a:t>
            </a:r>
            <a:endParaRPr lang="en-US" sz="1600" dirty="0"/>
          </a:p>
        </p:txBody>
      </p:sp>
      <p:sp>
        <p:nvSpPr>
          <p:cNvPr id="10" name="Text 8"/>
          <p:cNvSpPr/>
          <p:nvPr/>
        </p:nvSpPr>
        <p:spPr>
          <a:xfrm>
            <a:off x="667421" y="2046867"/>
            <a:ext cx="5042829" cy="165203"/>
          </a:xfrm>
          <a:prstGeom prst="rect">
            <a:avLst/>
          </a:prstGeom>
          <a:noFill/>
          <a:ln/>
        </p:spPr>
        <p:txBody>
          <a:bodyPr wrap="square" lIns="0" tIns="0" rIns="0" bIns="0" rtlCol="0" anchor="ctr"/>
          <a:lstStyle/>
          <a:p>
            <a:pPr>
              <a:lnSpc>
                <a:spcPct val="130000"/>
              </a:lnSpc>
            </a:pPr>
            <a:r>
              <a:rPr lang="en-US" sz="846" dirty="0">
                <a:solidFill>
                  <a:srgbClr val="0071E3"/>
                </a:solidFill>
                <a:latin typeface="MiSans" pitchFamily="34" charset="0"/>
                <a:ea typeface="MiSans" pitchFamily="34" charset="-122"/>
                <a:cs typeface="MiSans" pitchFamily="34" charset="-120"/>
              </a:rPr>
              <a:t>#define</a:t>
            </a:r>
            <a:r>
              <a:rPr lang="en-US" sz="846" dirty="0">
                <a:solidFill>
                  <a:srgbClr val="1D1D1D"/>
                </a:solidFill>
                <a:latin typeface="MiSans" pitchFamily="34" charset="0"/>
                <a:ea typeface="MiSans" pitchFamily="34" charset="-122"/>
                <a:cs typeface="MiSans" pitchFamily="34" charset="-120"/>
              </a:rPr>
              <a:t> BLYNK_TEMPLATE_NAME </a:t>
            </a:r>
            <a:r>
              <a:rPr lang="en-US" sz="846" dirty="0">
                <a:solidFill>
                  <a:srgbClr val="34C759"/>
                </a:solidFill>
                <a:latin typeface="MiSans" pitchFamily="34" charset="0"/>
                <a:ea typeface="MiSans" pitchFamily="34" charset="-122"/>
                <a:cs typeface="MiSans" pitchFamily="34" charset="-120"/>
              </a:rPr>
              <a:t>"BRAILLE ASSISTIVE HOME"</a:t>
            </a:r>
            <a:endParaRPr lang="en-US" sz="1600" dirty="0"/>
          </a:p>
        </p:txBody>
      </p:sp>
      <p:sp>
        <p:nvSpPr>
          <p:cNvPr id="11" name="Text 9"/>
          <p:cNvSpPr/>
          <p:nvPr/>
        </p:nvSpPr>
        <p:spPr>
          <a:xfrm>
            <a:off x="667421" y="2207940"/>
            <a:ext cx="5042829" cy="165203"/>
          </a:xfrm>
          <a:prstGeom prst="rect">
            <a:avLst/>
          </a:prstGeom>
          <a:noFill/>
          <a:ln/>
        </p:spPr>
        <p:txBody>
          <a:bodyPr wrap="square" lIns="0" tIns="0" rIns="0" bIns="0" rtlCol="0" anchor="ctr"/>
          <a:lstStyle/>
          <a:p>
            <a:pPr>
              <a:lnSpc>
                <a:spcPct val="130000"/>
              </a:lnSpc>
            </a:pPr>
            <a:r>
              <a:rPr lang="en-US" sz="846" dirty="0">
                <a:solidFill>
                  <a:srgbClr val="0071E3"/>
                </a:solidFill>
                <a:latin typeface="MiSans" pitchFamily="34" charset="0"/>
                <a:ea typeface="MiSans" pitchFamily="34" charset="-122"/>
                <a:cs typeface="MiSans" pitchFamily="34" charset="-120"/>
              </a:rPr>
              <a:t>#define</a:t>
            </a:r>
            <a:r>
              <a:rPr lang="en-US" sz="846" dirty="0">
                <a:solidFill>
                  <a:srgbClr val="1D1D1D"/>
                </a:solidFill>
                <a:latin typeface="MiSans" pitchFamily="34" charset="0"/>
                <a:ea typeface="MiSans" pitchFamily="34" charset="-122"/>
                <a:cs typeface="MiSans" pitchFamily="34" charset="-120"/>
              </a:rPr>
              <a:t> BLYNK_AUTH_TOKEN </a:t>
            </a:r>
            <a:r>
              <a:rPr lang="en-US" sz="846" dirty="0">
                <a:solidFill>
                  <a:srgbClr val="34C759"/>
                </a:solidFill>
                <a:latin typeface="MiSans" pitchFamily="34" charset="0"/>
                <a:ea typeface="MiSans" pitchFamily="34" charset="-122"/>
                <a:cs typeface="MiSans" pitchFamily="34" charset="-120"/>
              </a:rPr>
              <a:t>"xFRDYtkIVA-pcnq9-d_y8FMOUg57N_j2"</a:t>
            </a:r>
            <a:endParaRPr lang="en-US" sz="1600" dirty="0"/>
          </a:p>
        </p:txBody>
      </p:sp>
      <p:sp>
        <p:nvSpPr>
          <p:cNvPr id="12" name="Text 10"/>
          <p:cNvSpPr/>
          <p:nvPr/>
        </p:nvSpPr>
        <p:spPr>
          <a:xfrm>
            <a:off x="667421" y="2435094"/>
            <a:ext cx="5042829" cy="165203"/>
          </a:xfrm>
          <a:prstGeom prst="rect">
            <a:avLst/>
          </a:prstGeom>
          <a:noFill/>
          <a:ln/>
        </p:spPr>
        <p:txBody>
          <a:bodyPr wrap="square" lIns="0" tIns="0" rIns="0" bIns="0" rtlCol="0" anchor="ctr"/>
          <a:lstStyle/>
          <a:p>
            <a:pPr>
              <a:lnSpc>
                <a:spcPct val="130000"/>
              </a:lnSpc>
            </a:pPr>
            <a:r>
              <a:rPr lang="en-US" sz="846" dirty="0">
                <a:solidFill>
                  <a:srgbClr val="0071E3"/>
                </a:solidFill>
                <a:latin typeface="MiSans" pitchFamily="34" charset="0"/>
                <a:ea typeface="MiSans" pitchFamily="34" charset="-122"/>
                <a:cs typeface="MiSans" pitchFamily="34" charset="-120"/>
              </a:rPr>
              <a:t>#include</a:t>
            </a:r>
            <a:endParaRPr lang="en-US" sz="1600" dirty="0"/>
          </a:p>
        </p:txBody>
      </p:sp>
      <p:sp>
        <p:nvSpPr>
          <p:cNvPr id="13" name="Shape 11"/>
          <p:cNvSpPr/>
          <p:nvPr/>
        </p:nvSpPr>
        <p:spPr>
          <a:xfrm>
            <a:off x="535259" y="2827452"/>
            <a:ext cx="5253463" cy="644293"/>
          </a:xfrm>
          <a:custGeom>
            <a:avLst/>
            <a:gdLst/>
            <a:ahLst/>
            <a:cxnLst/>
            <a:rect l="l" t="t" r="r" b="b"/>
            <a:pathLst>
              <a:path w="5253463" h="644293">
                <a:moveTo>
                  <a:pt x="66079" y="0"/>
                </a:moveTo>
                <a:lnTo>
                  <a:pt x="5187385" y="0"/>
                </a:lnTo>
                <a:cubicBezTo>
                  <a:pt x="5223879" y="0"/>
                  <a:pt x="5253463" y="29584"/>
                  <a:pt x="5253463" y="66079"/>
                </a:cubicBezTo>
                <a:lnTo>
                  <a:pt x="5253463" y="578214"/>
                </a:lnTo>
                <a:cubicBezTo>
                  <a:pt x="5253463" y="614708"/>
                  <a:pt x="5223879" y="644293"/>
                  <a:pt x="5187385" y="644293"/>
                </a:cubicBezTo>
                <a:lnTo>
                  <a:pt x="66079" y="644293"/>
                </a:lnTo>
                <a:cubicBezTo>
                  <a:pt x="29584" y="644293"/>
                  <a:pt x="0" y="614708"/>
                  <a:pt x="0" y="578214"/>
                </a:cubicBezTo>
                <a:lnTo>
                  <a:pt x="0" y="66079"/>
                </a:lnTo>
                <a:cubicBezTo>
                  <a:pt x="0" y="29609"/>
                  <a:pt x="29609" y="0"/>
                  <a:pt x="66079" y="0"/>
                </a:cubicBezTo>
                <a:close/>
              </a:path>
            </a:pathLst>
          </a:custGeom>
          <a:solidFill>
            <a:srgbClr val="0071E3">
              <a:alpha val="5098"/>
            </a:srgbClr>
          </a:solidFill>
          <a:ln/>
        </p:spPr>
      </p:sp>
      <p:sp>
        <p:nvSpPr>
          <p:cNvPr id="14" name="Shape 12"/>
          <p:cNvSpPr/>
          <p:nvPr/>
        </p:nvSpPr>
        <p:spPr>
          <a:xfrm>
            <a:off x="683941" y="2992655"/>
            <a:ext cx="115642" cy="115642"/>
          </a:xfrm>
          <a:custGeom>
            <a:avLst/>
            <a:gdLst/>
            <a:ahLst/>
            <a:cxnLst/>
            <a:rect l="l" t="t" r="r" b="b"/>
            <a:pathLst>
              <a:path w="115642" h="115642">
                <a:moveTo>
                  <a:pt x="57821" y="115642"/>
                </a:moveTo>
                <a:cubicBezTo>
                  <a:pt x="89733" y="115642"/>
                  <a:pt x="115642" y="89733"/>
                  <a:pt x="115642" y="57821"/>
                </a:cubicBezTo>
                <a:cubicBezTo>
                  <a:pt x="115642" y="25909"/>
                  <a:pt x="89733" y="0"/>
                  <a:pt x="57821" y="0"/>
                </a:cubicBezTo>
                <a:cubicBezTo>
                  <a:pt x="25909" y="0"/>
                  <a:pt x="0" y="25909"/>
                  <a:pt x="0" y="57821"/>
                </a:cubicBezTo>
                <a:cubicBezTo>
                  <a:pt x="0" y="89733"/>
                  <a:pt x="25909" y="115642"/>
                  <a:pt x="57821" y="115642"/>
                </a:cubicBezTo>
                <a:close/>
                <a:moveTo>
                  <a:pt x="50593" y="36138"/>
                </a:moveTo>
                <a:cubicBezTo>
                  <a:pt x="50593" y="32149"/>
                  <a:pt x="53832" y="28911"/>
                  <a:pt x="57821" y="28911"/>
                </a:cubicBezTo>
                <a:cubicBezTo>
                  <a:pt x="61810" y="28911"/>
                  <a:pt x="65049" y="32149"/>
                  <a:pt x="65049" y="36138"/>
                </a:cubicBezTo>
                <a:cubicBezTo>
                  <a:pt x="65049" y="40127"/>
                  <a:pt x="61810" y="43366"/>
                  <a:pt x="57821" y="43366"/>
                </a:cubicBezTo>
                <a:cubicBezTo>
                  <a:pt x="53832" y="43366"/>
                  <a:pt x="50593" y="40127"/>
                  <a:pt x="50593" y="36138"/>
                </a:cubicBezTo>
                <a:close/>
                <a:moveTo>
                  <a:pt x="48787" y="50593"/>
                </a:moveTo>
                <a:lnTo>
                  <a:pt x="59628" y="50593"/>
                </a:lnTo>
                <a:cubicBezTo>
                  <a:pt x="62632" y="50593"/>
                  <a:pt x="65049" y="53010"/>
                  <a:pt x="65049" y="56014"/>
                </a:cubicBezTo>
                <a:lnTo>
                  <a:pt x="65049" y="75890"/>
                </a:lnTo>
                <a:lnTo>
                  <a:pt x="66856" y="75890"/>
                </a:lnTo>
                <a:cubicBezTo>
                  <a:pt x="69860" y="75890"/>
                  <a:pt x="72276" y="78307"/>
                  <a:pt x="72276" y="81311"/>
                </a:cubicBezTo>
                <a:cubicBezTo>
                  <a:pt x="72276" y="84315"/>
                  <a:pt x="69860" y="86732"/>
                  <a:pt x="66856" y="86732"/>
                </a:cubicBezTo>
                <a:lnTo>
                  <a:pt x="48787" y="86732"/>
                </a:lnTo>
                <a:cubicBezTo>
                  <a:pt x="45783" y="86732"/>
                  <a:pt x="43366" y="84315"/>
                  <a:pt x="43366" y="81311"/>
                </a:cubicBezTo>
                <a:cubicBezTo>
                  <a:pt x="43366" y="78307"/>
                  <a:pt x="45783" y="75890"/>
                  <a:pt x="48787" y="75890"/>
                </a:cubicBezTo>
                <a:lnTo>
                  <a:pt x="54207" y="75890"/>
                </a:lnTo>
                <a:lnTo>
                  <a:pt x="54207" y="61435"/>
                </a:lnTo>
                <a:lnTo>
                  <a:pt x="48787" y="61435"/>
                </a:lnTo>
                <a:cubicBezTo>
                  <a:pt x="45783" y="61435"/>
                  <a:pt x="43366" y="59018"/>
                  <a:pt x="43366" y="56014"/>
                </a:cubicBezTo>
                <a:cubicBezTo>
                  <a:pt x="43366" y="53010"/>
                  <a:pt x="45783" y="50593"/>
                  <a:pt x="48787" y="50593"/>
                </a:cubicBezTo>
                <a:close/>
              </a:path>
            </a:pathLst>
          </a:custGeom>
          <a:solidFill>
            <a:srgbClr val="0071E3"/>
          </a:solidFill>
          <a:ln/>
        </p:spPr>
      </p:sp>
      <p:sp>
        <p:nvSpPr>
          <p:cNvPr id="15" name="Text 13"/>
          <p:cNvSpPr/>
          <p:nvPr/>
        </p:nvSpPr>
        <p:spPr>
          <a:xfrm>
            <a:off x="859084" y="2959615"/>
            <a:ext cx="4855297" cy="379967"/>
          </a:xfrm>
          <a:prstGeom prst="rect">
            <a:avLst/>
          </a:prstGeom>
          <a:noFill/>
          <a:ln/>
        </p:spPr>
        <p:txBody>
          <a:bodyPr wrap="square" lIns="0" tIns="0" rIns="0" bIns="0" rtlCol="0" anchor="ctr"/>
          <a:lstStyle/>
          <a:p>
            <a:pPr>
              <a:lnSpc>
                <a:spcPct val="140000"/>
              </a:lnSpc>
            </a:pPr>
            <a:r>
              <a:rPr lang="en-US" sz="911" dirty="0">
                <a:solidFill>
                  <a:srgbClr val="86868B"/>
                </a:solidFill>
                <a:latin typeface="Liter" pitchFamily="34" charset="0"/>
                <a:ea typeface="Liter" pitchFamily="34" charset="-122"/>
                <a:cs typeface="Liter" pitchFamily="34" charset="-120"/>
              </a:rPr>
              <a:t>Blynk is a low-code IoT platform trusted by 5,000+ companies and over 1 million developers worldwide.</a:t>
            </a:r>
            <a:endParaRPr lang="en-US" sz="1600" dirty="0"/>
          </a:p>
        </p:txBody>
      </p:sp>
      <p:sp>
        <p:nvSpPr>
          <p:cNvPr id="16" name="Shape 14"/>
          <p:cNvSpPr/>
          <p:nvPr/>
        </p:nvSpPr>
        <p:spPr>
          <a:xfrm>
            <a:off x="330407" y="3837676"/>
            <a:ext cx="5666472" cy="2213724"/>
          </a:xfrm>
          <a:custGeom>
            <a:avLst/>
            <a:gdLst/>
            <a:ahLst/>
            <a:cxnLst/>
            <a:rect l="l" t="t" r="r" b="b"/>
            <a:pathLst>
              <a:path w="5666472" h="2213724">
                <a:moveTo>
                  <a:pt x="99131" y="0"/>
                </a:moveTo>
                <a:lnTo>
                  <a:pt x="5567341" y="0"/>
                </a:lnTo>
                <a:cubicBezTo>
                  <a:pt x="5622089" y="0"/>
                  <a:pt x="5666472" y="44382"/>
                  <a:pt x="5666472" y="99131"/>
                </a:cubicBezTo>
                <a:lnTo>
                  <a:pt x="5666472" y="2114593"/>
                </a:lnTo>
                <a:cubicBezTo>
                  <a:pt x="5666472" y="2169341"/>
                  <a:pt x="5622089" y="2213724"/>
                  <a:pt x="5567341" y="2213724"/>
                </a:cubicBezTo>
                <a:lnTo>
                  <a:pt x="99131" y="2213724"/>
                </a:lnTo>
                <a:cubicBezTo>
                  <a:pt x="44382" y="2213724"/>
                  <a:pt x="0" y="2169341"/>
                  <a:pt x="0" y="2114593"/>
                </a:cubicBezTo>
                <a:lnTo>
                  <a:pt x="0" y="99131"/>
                </a:lnTo>
                <a:cubicBezTo>
                  <a:pt x="0" y="44419"/>
                  <a:pt x="44419" y="0"/>
                  <a:pt x="99131" y="0"/>
                </a:cubicBezTo>
                <a:close/>
              </a:path>
            </a:pathLst>
          </a:custGeom>
          <a:solidFill>
            <a:srgbClr val="1D1D1D"/>
          </a:solidFill>
          <a:ln/>
        </p:spPr>
      </p:sp>
      <p:sp>
        <p:nvSpPr>
          <p:cNvPr id="17" name="Shape 15"/>
          <p:cNvSpPr/>
          <p:nvPr/>
        </p:nvSpPr>
        <p:spPr>
          <a:xfrm>
            <a:off x="516260" y="4044180"/>
            <a:ext cx="148683" cy="148683"/>
          </a:xfrm>
          <a:custGeom>
            <a:avLst/>
            <a:gdLst/>
            <a:ahLst/>
            <a:cxnLst/>
            <a:rect l="l" t="t" r="r" b="b"/>
            <a:pathLst>
              <a:path w="148683" h="148683">
                <a:moveTo>
                  <a:pt x="139419" y="55756"/>
                </a:moveTo>
                <a:lnTo>
                  <a:pt x="141713" y="55756"/>
                </a:lnTo>
                <a:cubicBezTo>
                  <a:pt x="145576" y="55756"/>
                  <a:pt x="148683" y="52649"/>
                  <a:pt x="148683" y="48787"/>
                </a:cubicBezTo>
                <a:lnTo>
                  <a:pt x="148683" y="6970"/>
                </a:lnTo>
                <a:cubicBezTo>
                  <a:pt x="148683" y="4153"/>
                  <a:pt x="146999" y="1597"/>
                  <a:pt x="144385" y="523"/>
                </a:cubicBezTo>
                <a:cubicBezTo>
                  <a:pt x="141771" y="-552"/>
                  <a:pt x="138780" y="58"/>
                  <a:pt x="136777" y="2033"/>
                </a:cubicBezTo>
                <a:lnTo>
                  <a:pt x="121763" y="17075"/>
                </a:lnTo>
                <a:cubicBezTo>
                  <a:pt x="108899" y="6418"/>
                  <a:pt x="92346" y="0"/>
                  <a:pt x="74341" y="0"/>
                </a:cubicBezTo>
                <a:cubicBezTo>
                  <a:pt x="36880" y="0"/>
                  <a:pt x="5895" y="27704"/>
                  <a:pt x="755" y="63742"/>
                </a:cubicBezTo>
                <a:cubicBezTo>
                  <a:pt x="29" y="68824"/>
                  <a:pt x="3543" y="73528"/>
                  <a:pt x="8625" y="74254"/>
                </a:cubicBezTo>
                <a:cubicBezTo>
                  <a:pt x="13707" y="74980"/>
                  <a:pt x="18411" y="71438"/>
                  <a:pt x="19137" y="66385"/>
                </a:cubicBezTo>
                <a:cubicBezTo>
                  <a:pt x="22999" y="39349"/>
                  <a:pt x="46260" y="18585"/>
                  <a:pt x="74341" y="18585"/>
                </a:cubicBezTo>
                <a:cubicBezTo>
                  <a:pt x="87235" y="18585"/>
                  <a:pt x="99083" y="22941"/>
                  <a:pt x="108521" y="30288"/>
                </a:cubicBezTo>
                <a:lnTo>
                  <a:pt x="94960" y="43850"/>
                </a:lnTo>
                <a:cubicBezTo>
                  <a:pt x="92956" y="45854"/>
                  <a:pt x="92375" y="48845"/>
                  <a:pt x="93450" y="51458"/>
                </a:cubicBezTo>
                <a:cubicBezTo>
                  <a:pt x="94524" y="54072"/>
                  <a:pt x="97079" y="55756"/>
                  <a:pt x="99896" y="55756"/>
                </a:cubicBezTo>
                <a:lnTo>
                  <a:pt x="139419" y="55756"/>
                </a:lnTo>
                <a:close/>
                <a:moveTo>
                  <a:pt x="147957" y="84941"/>
                </a:moveTo>
                <a:cubicBezTo>
                  <a:pt x="148683" y="79859"/>
                  <a:pt x="145140" y="75155"/>
                  <a:pt x="140087" y="74429"/>
                </a:cubicBezTo>
                <a:cubicBezTo>
                  <a:pt x="135034" y="73703"/>
                  <a:pt x="130301" y="77245"/>
                  <a:pt x="129575" y="82298"/>
                </a:cubicBezTo>
                <a:cubicBezTo>
                  <a:pt x="125713" y="109305"/>
                  <a:pt x="102452" y="130069"/>
                  <a:pt x="74371" y="130069"/>
                </a:cubicBezTo>
                <a:cubicBezTo>
                  <a:pt x="61477" y="130069"/>
                  <a:pt x="49629" y="125713"/>
                  <a:pt x="40191" y="118366"/>
                </a:cubicBezTo>
                <a:lnTo>
                  <a:pt x="53723" y="104833"/>
                </a:lnTo>
                <a:cubicBezTo>
                  <a:pt x="55727" y="102829"/>
                  <a:pt x="56308" y="99838"/>
                  <a:pt x="55233" y="97225"/>
                </a:cubicBezTo>
                <a:cubicBezTo>
                  <a:pt x="54159" y="94611"/>
                  <a:pt x="51603" y="92927"/>
                  <a:pt x="48787" y="92927"/>
                </a:cubicBezTo>
                <a:lnTo>
                  <a:pt x="6970" y="92927"/>
                </a:lnTo>
                <a:cubicBezTo>
                  <a:pt x="3107" y="92927"/>
                  <a:pt x="0" y="96034"/>
                  <a:pt x="0" y="99896"/>
                </a:cubicBezTo>
                <a:lnTo>
                  <a:pt x="0" y="141713"/>
                </a:lnTo>
                <a:cubicBezTo>
                  <a:pt x="0" y="144530"/>
                  <a:pt x="1684" y="147086"/>
                  <a:pt x="4298" y="148160"/>
                </a:cubicBezTo>
                <a:cubicBezTo>
                  <a:pt x="6911" y="149235"/>
                  <a:pt x="9903" y="148625"/>
                  <a:pt x="11906" y="146650"/>
                </a:cubicBezTo>
                <a:lnTo>
                  <a:pt x="26949" y="131608"/>
                </a:lnTo>
                <a:cubicBezTo>
                  <a:pt x="39784" y="142265"/>
                  <a:pt x="56337" y="148683"/>
                  <a:pt x="74341" y="148683"/>
                </a:cubicBezTo>
                <a:cubicBezTo>
                  <a:pt x="111803" y="148683"/>
                  <a:pt x="142788" y="120979"/>
                  <a:pt x="147928" y="84941"/>
                </a:cubicBezTo>
                <a:close/>
              </a:path>
            </a:pathLst>
          </a:custGeom>
          <a:solidFill>
            <a:srgbClr val="0071E3"/>
          </a:solidFill>
          <a:ln/>
        </p:spPr>
      </p:sp>
      <p:sp>
        <p:nvSpPr>
          <p:cNvPr id="18" name="Text 16"/>
          <p:cNvSpPr/>
          <p:nvPr/>
        </p:nvSpPr>
        <p:spPr>
          <a:xfrm>
            <a:off x="685593" y="4002880"/>
            <a:ext cx="5220423" cy="231285"/>
          </a:xfrm>
          <a:prstGeom prst="rect">
            <a:avLst/>
          </a:prstGeom>
          <a:noFill/>
          <a:ln/>
        </p:spPr>
        <p:txBody>
          <a:bodyPr wrap="square" lIns="0" tIns="0" rIns="0" bIns="0" rtlCol="0" anchor="ctr"/>
          <a:lstStyle/>
          <a:p>
            <a:pPr>
              <a:lnSpc>
                <a:spcPct val="130000"/>
              </a:lnSpc>
            </a:pPr>
            <a:r>
              <a:rPr lang="en-US" sz="1171" b="1" dirty="0">
                <a:solidFill>
                  <a:srgbClr val="FFFFFF"/>
                </a:solidFill>
                <a:latin typeface="Liter" pitchFamily="34" charset="0"/>
                <a:ea typeface="Liter" pitchFamily="34" charset="-122"/>
                <a:cs typeface="Liter" pitchFamily="34" charset="-120"/>
              </a:rPr>
              <a:t>Bidirectional Data Sync</a:t>
            </a:r>
            <a:endParaRPr lang="en-US" sz="1600" dirty="0"/>
          </a:p>
        </p:txBody>
      </p:sp>
      <p:sp>
        <p:nvSpPr>
          <p:cNvPr id="19" name="Shape 17"/>
          <p:cNvSpPr/>
          <p:nvPr/>
        </p:nvSpPr>
        <p:spPr>
          <a:xfrm>
            <a:off x="495610" y="4333286"/>
            <a:ext cx="5336065" cy="1552911"/>
          </a:xfrm>
          <a:custGeom>
            <a:avLst/>
            <a:gdLst/>
            <a:ahLst/>
            <a:cxnLst/>
            <a:rect l="l" t="t" r="r" b="b"/>
            <a:pathLst>
              <a:path w="5336065" h="1552911">
                <a:moveTo>
                  <a:pt x="66076" y="0"/>
                </a:moveTo>
                <a:lnTo>
                  <a:pt x="5269989" y="0"/>
                </a:lnTo>
                <a:cubicBezTo>
                  <a:pt x="5306482" y="0"/>
                  <a:pt x="5336065" y="29583"/>
                  <a:pt x="5336065" y="66076"/>
                </a:cubicBezTo>
                <a:lnTo>
                  <a:pt x="5336065" y="1486834"/>
                </a:lnTo>
                <a:cubicBezTo>
                  <a:pt x="5336065" y="1523327"/>
                  <a:pt x="5306482" y="1552911"/>
                  <a:pt x="5269989" y="1552911"/>
                </a:cubicBezTo>
                <a:lnTo>
                  <a:pt x="66076" y="1552911"/>
                </a:lnTo>
                <a:cubicBezTo>
                  <a:pt x="29583" y="1552911"/>
                  <a:pt x="0" y="1523327"/>
                  <a:pt x="0" y="1486834"/>
                </a:cubicBezTo>
                <a:lnTo>
                  <a:pt x="0" y="66076"/>
                </a:lnTo>
                <a:cubicBezTo>
                  <a:pt x="0" y="29608"/>
                  <a:pt x="29608" y="0"/>
                  <a:pt x="66076" y="0"/>
                </a:cubicBezTo>
                <a:close/>
              </a:path>
            </a:pathLst>
          </a:custGeom>
          <a:solidFill>
            <a:srgbClr val="2D2D2D"/>
          </a:solidFill>
          <a:ln/>
        </p:spPr>
      </p:sp>
      <p:sp>
        <p:nvSpPr>
          <p:cNvPr id="20" name="Text 18"/>
          <p:cNvSpPr/>
          <p:nvPr/>
        </p:nvSpPr>
        <p:spPr>
          <a:xfrm>
            <a:off x="627772" y="4445621"/>
            <a:ext cx="2566846" cy="125554"/>
          </a:xfrm>
          <a:prstGeom prst="rect">
            <a:avLst/>
          </a:prstGeom>
          <a:noFill/>
          <a:ln/>
        </p:spPr>
        <p:txBody>
          <a:bodyPr wrap="square" lIns="0" tIns="0" rIns="0" bIns="0" rtlCol="0" anchor="ctr"/>
          <a:lstStyle/>
          <a:p>
            <a:pPr>
              <a:lnSpc>
                <a:spcPct val="130000"/>
              </a:lnSpc>
            </a:pPr>
            <a:r>
              <a:rPr lang="en-US" sz="846" dirty="0">
                <a:solidFill>
                  <a:srgbClr val="86868B"/>
                </a:solidFill>
                <a:latin typeface="MiSans" pitchFamily="34" charset="0"/>
                <a:ea typeface="MiSans" pitchFamily="34" charset="-122"/>
                <a:cs typeface="MiSans" pitchFamily="34" charset="-120"/>
              </a:rPr>
              <a:t>// Hardware → App (Lines 361, 469, 477)</a:t>
            </a:r>
            <a:endParaRPr lang="en-US" sz="1600" dirty="0"/>
          </a:p>
        </p:txBody>
      </p:sp>
      <p:sp>
        <p:nvSpPr>
          <p:cNvPr id="21" name="Text 19"/>
          <p:cNvSpPr/>
          <p:nvPr/>
        </p:nvSpPr>
        <p:spPr>
          <a:xfrm>
            <a:off x="627772" y="4593481"/>
            <a:ext cx="5125431" cy="165203"/>
          </a:xfrm>
          <a:prstGeom prst="rect">
            <a:avLst/>
          </a:prstGeom>
          <a:noFill/>
          <a:ln/>
        </p:spPr>
        <p:txBody>
          <a:bodyPr wrap="square" lIns="0" tIns="0" rIns="0" bIns="0" rtlCol="0" anchor="ctr"/>
          <a:lstStyle/>
          <a:p>
            <a:pPr>
              <a:lnSpc>
                <a:spcPct val="130000"/>
              </a:lnSpc>
            </a:pPr>
            <a:r>
              <a:rPr lang="en-US" sz="846" dirty="0">
                <a:solidFill>
                  <a:srgbClr val="FFFFFF"/>
                </a:solidFill>
                <a:latin typeface="MiSans" pitchFamily="34" charset="0"/>
                <a:ea typeface="MiSans" pitchFamily="34" charset="-122"/>
                <a:cs typeface="MiSans" pitchFamily="34" charset="-120"/>
              </a:rPr>
              <a:t>Blynk.virtualWrite(V1, l1State);</a:t>
            </a:r>
            <a:endParaRPr lang="en-US" sz="1600" dirty="0"/>
          </a:p>
        </p:txBody>
      </p:sp>
      <p:sp>
        <p:nvSpPr>
          <p:cNvPr id="22" name="Text 20"/>
          <p:cNvSpPr/>
          <p:nvPr/>
        </p:nvSpPr>
        <p:spPr>
          <a:xfrm>
            <a:off x="627772" y="4754554"/>
            <a:ext cx="5125431" cy="165203"/>
          </a:xfrm>
          <a:prstGeom prst="rect">
            <a:avLst/>
          </a:prstGeom>
          <a:noFill/>
          <a:ln/>
        </p:spPr>
        <p:txBody>
          <a:bodyPr wrap="square" lIns="0" tIns="0" rIns="0" bIns="0" rtlCol="0" anchor="ctr"/>
          <a:lstStyle/>
          <a:p>
            <a:pPr>
              <a:lnSpc>
                <a:spcPct val="130000"/>
              </a:lnSpc>
            </a:pPr>
            <a:r>
              <a:rPr lang="en-US" sz="846" dirty="0">
                <a:solidFill>
                  <a:srgbClr val="FFFFFF"/>
                </a:solidFill>
                <a:latin typeface="MiSans" pitchFamily="34" charset="0"/>
                <a:ea typeface="MiSans" pitchFamily="34" charset="-122"/>
                <a:cs typeface="MiSans" pitchFamily="34" charset="-120"/>
              </a:rPr>
              <a:t>Blynk.virtualWrite(V3, fan1State);</a:t>
            </a:r>
            <a:endParaRPr lang="en-US" sz="1600" dirty="0"/>
          </a:p>
        </p:txBody>
      </p:sp>
      <p:sp>
        <p:nvSpPr>
          <p:cNvPr id="23" name="Text 21"/>
          <p:cNvSpPr/>
          <p:nvPr/>
        </p:nvSpPr>
        <p:spPr>
          <a:xfrm>
            <a:off x="627772" y="4994922"/>
            <a:ext cx="2244699" cy="125554"/>
          </a:xfrm>
          <a:prstGeom prst="rect">
            <a:avLst/>
          </a:prstGeom>
          <a:noFill/>
          <a:ln/>
        </p:spPr>
        <p:txBody>
          <a:bodyPr wrap="square" lIns="0" tIns="0" rIns="0" bIns="0" rtlCol="0" anchor="ctr"/>
          <a:lstStyle/>
          <a:p>
            <a:pPr>
              <a:lnSpc>
                <a:spcPct val="130000"/>
              </a:lnSpc>
            </a:pPr>
            <a:r>
              <a:rPr lang="en-US" sz="846" dirty="0">
                <a:solidFill>
                  <a:srgbClr val="86868B"/>
                </a:solidFill>
                <a:latin typeface="MiSans" pitchFamily="34" charset="0"/>
                <a:ea typeface="MiSans" pitchFamily="34" charset="-122"/>
                <a:cs typeface="MiSans" pitchFamily="34" charset="-120"/>
              </a:rPr>
              <a:t>// App → Hardware (Blynk handlers)</a:t>
            </a:r>
            <a:endParaRPr lang="en-US" sz="1600" dirty="0"/>
          </a:p>
        </p:txBody>
      </p:sp>
      <p:sp>
        <p:nvSpPr>
          <p:cNvPr id="24" name="Text 22"/>
          <p:cNvSpPr/>
          <p:nvPr/>
        </p:nvSpPr>
        <p:spPr>
          <a:xfrm>
            <a:off x="627772" y="5142782"/>
            <a:ext cx="5125431" cy="165203"/>
          </a:xfrm>
          <a:prstGeom prst="rect">
            <a:avLst/>
          </a:prstGeom>
          <a:noFill/>
          <a:ln/>
        </p:spPr>
        <p:txBody>
          <a:bodyPr wrap="square" lIns="0" tIns="0" rIns="0" bIns="0" rtlCol="0" anchor="ctr"/>
          <a:lstStyle/>
          <a:p>
            <a:pPr>
              <a:lnSpc>
                <a:spcPct val="130000"/>
              </a:lnSpc>
            </a:pPr>
            <a:r>
              <a:rPr lang="en-US" sz="846" dirty="0">
                <a:solidFill>
                  <a:srgbClr val="FFFFFF"/>
                </a:solidFill>
                <a:latin typeface="MiSans" pitchFamily="34" charset="0"/>
                <a:ea typeface="MiSans" pitchFamily="34" charset="-122"/>
                <a:cs typeface="MiSans" pitchFamily="34" charset="-120"/>
              </a:rPr>
              <a:t>BLYNK_WRITE(V1) {</a:t>
            </a:r>
            <a:endParaRPr lang="en-US" sz="1600" dirty="0"/>
          </a:p>
        </p:txBody>
      </p:sp>
      <p:sp>
        <p:nvSpPr>
          <p:cNvPr id="25" name="Text 23"/>
          <p:cNvSpPr/>
          <p:nvPr/>
        </p:nvSpPr>
        <p:spPr>
          <a:xfrm>
            <a:off x="627772" y="5303855"/>
            <a:ext cx="5125431" cy="165203"/>
          </a:xfrm>
          <a:prstGeom prst="rect">
            <a:avLst/>
          </a:prstGeom>
          <a:noFill/>
          <a:ln/>
        </p:spPr>
        <p:txBody>
          <a:bodyPr wrap="square" lIns="0" tIns="0" rIns="0" bIns="0" rtlCol="0" anchor="ctr"/>
          <a:lstStyle/>
          <a:p>
            <a:pPr>
              <a:lnSpc>
                <a:spcPct val="130000"/>
              </a:lnSpc>
            </a:pPr>
            <a:r>
              <a:rPr lang="en-US" sz="846" dirty="0">
                <a:solidFill>
                  <a:srgbClr val="FFFFFF"/>
                </a:solidFill>
                <a:latin typeface="MiSans" pitchFamily="34" charset="0"/>
                <a:ea typeface="MiSans" pitchFamily="34" charset="-122"/>
                <a:cs typeface="MiSans" pitchFamily="34" charset="-120"/>
              </a:rPr>
              <a:t>l1State = param.asInt();</a:t>
            </a:r>
            <a:endParaRPr lang="en-US" sz="1600" dirty="0"/>
          </a:p>
        </p:txBody>
      </p:sp>
      <p:sp>
        <p:nvSpPr>
          <p:cNvPr id="26" name="Text 24"/>
          <p:cNvSpPr/>
          <p:nvPr/>
        </p:nvSpPr>
        <p:spPr>
          <a:xfrm>
            <a:off x="627772" y="5464928"/>
            <a:ext cx="5125431" cy="165203"/>
          </a:xfrm>
          <a:prstGeom prst="rect">
            <a:avLst/>
          </a:prstGeom>
          <a:noFill/>
          <a:ln/>
        </p:spPr>
        <p:txBody>
          <a:bodyPr wrap="square" lIns="0" tIns="0" rIns="0" bIns="0" rtlCol="0" anchor="ctr"/>
          <a:lstStyle/>
          <a:p>
            <a:pPr>
              <a:lnSpc>
                <a:spcPct val="130000"/>
              </a:lnSpc>
            </a:pPr>
            <a:r>
              <a:rPr lang="en-US" sz="846" dirty="0">
                <a:solidFill>
                  <a:srgbClr val="FFFFFF"/>
                </a:solidFill>
                <a:latin typeface="MiSans" pitchFamily="34" charset="0"/>
                <a:ea typeface="MiSans" pitchFamily="34" charset="-122"/>
                <a:cs typeface="MiSans" pitchFamily="34" charset="-120"/>
              </a:rPr>
              <a:t>digitalWrite(RELAY_L1, l1State);</a:t>
            </a:r>
            <a:endParaRPr lang="en-US" sz="1600" dirty="0"/>
          </a:p>
        </p:txBody>
      </p:sp>
      <p:sp>
        <p:nvSpPr>
          <p:cNvPr id="27" name="Text 25"/>
          <p:cNvSpPr/>
          <p:nvPr/>
        </p:nvSpPr>
        <p:spPr>
          <a:xfrm>
            <a:off x="627772" y="5626002"/>
            <a:ext cx="5125431" cy="165203"/>
          </a:xfrm>
          <a:prstGeom prst="rect">
            <a:avLst/>
          </a:prstGeom>
          <a:noFill/>
          <a:ln/>
        </p:spPr>
        <p:txBody>
          <a:bodyPr wrap="square" lIns="0" tIns="0" rIns="0" bIns="0" rtlCol="0" anchor="ctr"/>
          <a:lstStyle/>
          <a:p>
            <a:pPr>
              <a:lnSpc>
                <a:spcPct val="130000"/>
              </a:lnSpc>
            </a:pPr>
            <a:r>
              <a:rPr lang="en-US" sz="846" dirty="0">
                <a:solidFill>
                  <a:srgbClr val="FFFFFF"/>
                </a:solidFill>
                <a:latin typeface="MiSans" pitchFamily="34" charset="0"/>
                <a:ea typeface="MiSans" pitchFamily="34" charset="-122"/>
                <a:cs typeface="MiSans" pitchFamily="34" charset="-120"/>
              </a:rPr>
              <a:t>}</a:t>
            </a:r>
            <a:endParaRPr lang="en-US" sz="1600" dirty="0"/>
          </a:p>
        </p:txBody>
      </p:sp>
      <p:sp>
        <p:nvSpPr>
          <p:cNvPr id="28" name="Shape 26"/>
          <p:cNvSpPr/>
          <p:nvPr/>
        </p:nvSpPr>
        <p:spPr>
          <a:xfrm>
            <a:off x="6196568" y="1060605"/>
            <a:ext cx="5656559" cy="3310673"/>
          </a:xfrm>
          <a:custGeom>
            <a:avLst/>
            <a:gdLst/>
            <a:ahLst/>
            <a:cxnLst/>
            <a:rect l="l" t="t" r="r" b="b"/>
            <a:pathLst>
              <a:path w="5656559" h="3310673">
                <a:moveTo>
                  <a:pt x="99122" y="0"/>
                </a:moveTo>
                <a:lnTo>
                  <a:pt x="5557438" y="0"/>
                </a:lnTo>
                <a:cubicBezTo>
                  <a:pt x="5612181" y="0"/>
                  <a:pt x="5656559" y="44378"/>
                  <a:pt x="5656559" y="99122"/>
                </a:cubicBezTo>
                <a:lnTo>
                  <a:pt x="5656559" y="3211552"/>
                </a:lnTo>
                <a:cubicBezTo>
                  <a:pt x="5656559" y="3266295"/>
                  <a:pt x="5612181" y="3310673"/>
                  <a:pt x="5557438" y="3310673"/>
                </a:cubicBezTo>
                <a:lnTo>
                  <a:pt x="99122" y="3310673"/>
                </a:lnTo>
                <a:cubicBezTo>
                  <a:pt x="44378" y="3310673"/>
                  <a:pt x="0" y="3266295"/>
                  <a:pt x="0" y="3211552"/>
                </a:cubicBezTo>
                <a:lnTo>
                  <a:pt x="0" y="99122"/>
                </a:lnTo>
                <a:cubicBezTo>
                  <a:pt x="0" y="44378"/>
                  <a:pt x="44378" y="0"/>
                  <a:pt x="99122" y="0"/>
                </a:cubicBezTo>
                <a:close/>
              </a:path>
            </a:pathLst>
          </a:custGeom>
          <a:solidFill>
            <a:srgbClr val="FFFFFF"/>
          </a:solidFill>
          <a:ln w="10160">
            <a:solidFill>
              <a:srgbClr val="E5E5E5"/>
            </a:solidFill>
            <a:prstDash val="solid"/>
          </a:ln>
          <a:effectLst>
            <a:outerShdw blurRad="24780" dist="8260" dir="5400000" algn="bl" rotWithShape="0">
              <a:srgbClr val="000000">
                <a:alpha val="10196"/>
              </a:srgbClr>
            </a:outerShdw>
          </a:effectLst>
        </p:spPr>
      </p:sp>
      <p:sp>
        <p:nvSpPr>
          <p:cNvPr id="29" name="Shape 27"/>
          <p:cNvSpPr/>
          <p:nvPr/>
        </p:nvSpPr>
        <p:spPr>
          <a:xfrm>
            <a:off x="6429091" y="1295192"/>
            <a:ext cx="144553" cy="165203"/>
          </a:xfrm>
          <a:custGeom>
            <a:avLst/>
            <a:gdLst/>
            <a:ahLst/>
            <a:cxnLst/>
            <a:rect l="l" t="t" r="r" b="b"/>
            <a:pathLst>
              <a:path w="144553" h="165203">
                <a:moveTo>
                  <a:pt x="82602" y="51626"/>
                </a:moveTo>
                <a:lnTo>
                  <a:pt x="82602" y="82602"/>
                </a:lnTo>
                <a:lnTo>
                  <a:pt x="123902" y="82602"/>
                </a:lnTo>
                <a:lnTo>
                  <a:pt x="123902" y="51626"/>
                </a:lnTo>
                <a:lnTo>
                  <a:pt x="82602" y="51626"/>
                </a:lnTo>
                <a:close/>
                <a:moveTo>
                  <a:pt x="61951" y="51626"/>
                </a:moveTo>
                <a:lnTo>
                  <a:pt x="20650" y="51626"/>
                </a:lnTo>
                <a:lnTo>
                  <a:pt x="20650" y="82602"/>
                </a:lnTo>
                <a:lnTo>
                  <a:pt x="61951" y="82602"/>
                </a:lnTo>
                <a:lnTo>
                  <a:pt x="61951" y="51626"/>
                </a:lnTo>
                <a:close/>
                <a:moveTo>
                  <a:pt x="0" y="103252"/>
                </a:moveTo>
                <a:lnTo>
                  <a:pt x="0" y="30976"/>
                </a:lnTo>
                <a:cubicBezTo>
                  <a:pt x="0" y="19586"/>
                  <a:pt x="9260" y="10325"/>
                  <a:pt x="20650" y="10325"/>
                </a:cubicBezTo>
                <a:lnTo>
                  <a:pt x="123902" y="10325"/>
                </a:lnTo>
                <a:cubicBezTo>
                  <a:pt x="135292" y="10325"/>
                  <a:pt x="144553" y="19586"/>
                  <a:pt x="144553" y="30976"/>
                </a:cubicBezTo>
                <a:lnTo>
                  <a:pt x="144553" y="134228"/>
                </a:lnTo>
                <a:cubicBezTo>
                  <a:pt x="144553" y="145618"/>
                  <a:pt x="135292" y="154878"/>
                  <a:pt x="123902" y="154878"/>
                </a:cubicBezTo>
                <a:lnTo>
                  <a:pt x="20650" y="154878"/>
                </a:lnTo>
                <a:cubicBezTo>
                  <a:pt x="9260" y="154878"/>
                  <a:pt x="0" y="145618"/>
                  <a:pt x="0" y="134228"/>
                </a:cubicBezTo>
                <a:lnTo>
                  <a:pt x="0" y="103252"/>
                </a:lnTo>
                <a:close/>
                <a:moveTo>
                  <a:pt x="123902" y="103252"/>
                </a:moveTo>
                <a:lnTo>
                  <a:pt x="82602" y="103252"/>
                </a:lnTo>
                <a:lnTo>
                  <a:pt x="82602" y="134228"/>
                </a:lnTo>
                <a:lnTo>
                  <a:pt x="123902" y="134228"/>
                </a:lnTo>
                <a:lnTo>
                  <a:pt x="123902" y="103252"/>
                </a:lnTo>
                <a:close/>
                <a:moveTo>
                  <a:pt x="61951" y="134228"/>
                </a:moveTo>
                <a:lnTo>
                  <a:pt x="61951" y="103252"/>
                </a:lnTo>
                <a:lnTo>
                  <a:pt x="20650" y="103252"/>
                </a:lnTo>
                <a:lnTo>
                  <a:pt x="20650" y="134228"/>
                </a:lnTo>
                <a:lnTo>
                  <a:pt x="61951" y="134228"/>
                </a:lnTo>
                <a:close/>
              </a:path>
            </a:pathLst>
          </a:custGeom>
          <a:solidFill>
            <a:srgbClr val="0071E3"/>
          </a:solidFill>
          <a:ln/>
        </p:spPr>
      </p:sp>
      <p:sp>
        <p:nvSpPr>
          <p:cNvPr id="30" name="Text 28"/>
          <p:cNvSpPr/>
          <p:nvPr/>
        </p:nvSpPr>
        <p:spPr>
          <a:xfrm>
            <a:off x="6604620" y="1262151"/>
            <a:ext cx="5129561" cy="231285"/>
          </a:xfrm>
          <a:prstGeom prst="rect">
            <a:avLst/>
          </a:prstGeom>
          <a:noFill/>
          <a:ln/>
        </p:spPr>
        <p:txBody>
          <a:bodyPr wrap="square" lIns="0" tIns="0" rIns="0" bIns="0" rtlCol="0" anchor="ctr"/>
          <a:lstStyle/>
          <a:p>
            <a:pPr>
              <a:lnSpc>
                <a:spcPct val="120000"/>
              </a:lnSpc>
            </a:pPr>
            <a:r>
              <a:rPr lang="en-US" sz="1301" b="1" dirty="0">
                <a:solidFill>
                  <a:srgbClr val="1D1D1D"/>
                </a:solidFill>
                <a:latin typeface="Liter" pitchFamily="34" charset="0"/>
                <a:ea typeface="Liter" pitchFamily="34" charset="-122"/>
                <a:cs typeface="Liter" pitchFamily="34" charset="-120"/>
              </a:rPr>
              <a:t>Virtual Pin Mapping</a:t>
            </a:r>
            <a:endParaRPr lang="en-US" sz="1600" dirty="0"/>
          </a:p>
        </p:txBody>
      </p:sp>
      <p:sp>
        <p:nvSpPr>
          <p:cNvPr id="31" name="Shape 29"/>
          <p:cNvSpPr/>
          <p:nvPr/>
        </p:nvSpPr>
        <p:spPr>
          <a:xfrm>
            <a:off x="6398116" y="1625598"/>
            <a:ext cx="5253463" cy="561691"/>
          </a:xfrm>
          <a:custGeom>
            <a:avLst/>
            <a:gdLst/>
            <a:ahLst/>
            <a:cxnLst/>
            <a:rect l="l" t="t" r="r" b="b"/>
            <a:pathLst>
              <a:path w="5253463" h="561691">
                <a:moveTo>
                  <a:pt x="66083" y="0"/>
                </a:moveTo>
                <a:lnTo>
                  <a:pt x="5187380" y="0"/>
                </a:lnTo>
                <a:cubicBezTo>
                  <a:pt x="5223877" y="0"/>
                  <a:pt x="5253463" y="29586"/>
                  <a:pt x="5253463" y="66083"/>
                </a:cubicBezTo>
                <a:lnTo>
                  <a:pt x="5253463" y="495608"/>
                </a:lnTo>
                <a:cubicBezTo>
                  <a:pt x="5253463" y="532105"/>
                  <a:pt x="5223877" y="561691"/>
                  <a:pt x="5187380" y="561691"/>
                </a:cubicBezTo>
                <a:lnTo>
                  <a:pt x="66083" y="561691"/>
                </a:lnTo>
                <a:cubicBezTo>
                  <a:pt x="29586" y="561691"/>
                  <a:pt x="0" y="532105"/>
                  <a:pt x="0" y="495608"/>
                </a:cubicBezTo>
                <a:lnTo>
                  <a:pt x="0" y="66083"/>
                </a:lnTo>
                <a:cubicBezTo>
                  <a:pt x="0" y="29611"/>
                  <a:pt x="29611" y="0"/>
                  <a:pt x="66083" y="0"/>
                </a:cubicBezTo>
                <a:close/>
              </a:path>
            </a:pathLst>
          </a:custGeom>
          <a:solidFill>
            <a:srgbClr val="FAFAFA"/>
          </a:solidFill>
          <a:ln/>
        </p:spPr>
      </p:sp>
      <p:sp>
        <p:nvSpPr>
          <p:cNvPr id="32" name="Shape 30"/>
          <p:cNvSpPr/>
          <p:nvPr/>
        </p:nvSpPr>
        <p:spPr>
          <a:xfrm>
            <a:off x="6497237" y="1741241"/>
            <a:ext cx="462569" cy="330407"/>
          </a:xfrm>
          <a:custGeom>
            <a:avLst/>
            <a:gdLst/>
            <a:ahLst/>
            <a:cxnLst/>
            <a:rect l="l" t="t" r="r" b="b"/>
            <a:pathLst>
              <a:path w="462569" h="330407">
                <a:moveTo>
                  <a:pt x="33041" y="0"/>
                </a:moveTo>
                <a:lnTo>
                  <a:pt x="429528" y="0"/>
                </a:lnTo>
                <a:cubicBezTo>
                  <a:pt x="447764" y="0"/>
                  <a:pt x="462569" y="14805"/>
                  <a:pt x="462569" y="33041"/>
                </a:cubicBezTo>
                <a:lnTo>
                  <a:pt x="462569" y="297366"/>
                </a:lnTo>
                <a:cubicBezTo>
                  <a:pt x="462569" y="315601"/>
                  <a:pt x="447764" y="330407"/>
                  <a:pt x="429528" y="330407"/>
                </a:cubicBezTo>
                <a:lnTo>
                  <a:pt x="33041" y="330407"/>
                </a:lnTo>
                <a:cubicBezTo>
                  <a:pt x="14805" y="330407"/>
                  <a:pt x="0" y="315601"/>
                  <a:pt x="0" y="297366"/>
                </a:cubicBezTo>
                <a:lnTo>
                  <a:pt x="0" y="33041"/>
                </a:lnTo>
                <a:cubicBezTo>
                  <a:pt x="0" y="14805"/>
                  <a:pt x="14805" y="0"/>
                  <a:pt x="33041" y="0"/>
                </a:cubicBezTo>
                <a:close/>
              </a:path>
            </a:pathLst>
          </a:custGeom>
          <a:solidFill>
            <a:srgbClr val="0071E3"/>
          </a:solidFill>
          <a:ln/>
        </p:spPr>
      </p:sp>
      <p:sp>
        <p:nvSpPr>
          <p:cNvPr id="33" name="Text 31"/>
          <p:cNvSpPr/>
          <p:nvPr/>
        </p:nvSpPr>
        <p:spPr>
          <a:xfrm>
            <a:off x="6464197" y="1741241"/>
            <a:ext cx="528650" cy="330407"/>
          </a:xfrm>
          <a:prstGeom prst="rect">
            <a:avLst/>
          </a:prstGeom>
          <a:noFill/>
          <a:ln/>
        </p:spPr>
        <p:txBody>
          <a:bodyPr wrap="square" lIns="0" tIns="0" rIns="0" bIns="0" rtlCol="0" anchor="ctr"/>
          <a:lstStyle/>
          <a:p>
            <a:pPr algn="ctr">
              <a:lnSpc>
                <a:spcPct val="130000"/>
              </a:lnSpc>
            </a:pPr>
            <a:r>
              <a:rPr lang="en-US" sz="1041" b="1" dirty="0">
                <a:solidFill>
                  <a:srgbClr val="FFFFFF"/>
                </a:solidFill>
                <a:latin typeface="MiSans" pitchFamily="34" charset="0"/>
                <a:ea typeface="MiSans" pitchFamily="34" charset="-122"/>
                <a:cs typeface="MiSans" pitchFamily="34" charset="-120"/>
              </a:rPr>
              <a:t>V1</a:t>
            </a:r>
            <a:endParaRPr lang="en-US" sz="1600" dirty="0"/>
          </a:p>
        </p:txBody>
      </p:sp>
      <p:sp>
        <p:nvSpPr>
          <p:cNvPr id="34" name="Text 32"/>
          <p:cNvSpPr/>
          <p:nvPr/>
        </p:nvSpPr>
        <p:spPr>
          <a:xfrm>
            <a:off x="7058929" y="1724720"/>
            <a:ext cx="4559610" cy="198244"/>
          </a:xfrm>
          <a:prstGeom prst="rect">
            <a:avLst/>
          </a:prstGeom>
          <a:noFill/>
          <a:ln/>
        </p:spPr>
        <p:txBody>
          <a:bodyPr wrap="square" lIns="0" tIns="0" rIns="0" bIns="0" rtlCol="0" anchor="ctr"/>
          <a:lstStyle/>
          <a:p>
            <a:pPr>
              <a:lnSpc>
                <a:spcPct val="130000"/>
              </a:lnSpc>
            </a:pPr>
            <a:r>
              <a:rPr lang="en-US" sz="1041" b="1" dirty="0">
                <a:solidFill>
                  <a:srgbClr val="1D1D1D"/>
                </a:solidFill>
                <a:latin typeface="Liter" pitchFamily="34" charset="0"/>
                <a:ea typeface="Liter" pitchFamily="34" charset="-122"/>
                <a:cs typeface="Liter" pitchFamily="34" charset="-120"/>
              </a:rPr>
              <a:t>Light 1 State</a:t>
            </a:r>
            <a:endParaRPr lang="en-US" sz="1600" dirty="0"/>
          </a:p>
        </p:txBody>
      </p:sp>
      <p:sp>
        <p:nvSpPr>
          <p:cNvPr id="35" name="Text 33"/>
          <p:cNvSpPr/>
          <p:nvPr/>
        </p:nvSpPr>
        <p:spPr>
          <a:xfrm>
            <a:off x="7058929" y="1922964"/>
            <a:ext cx="4551350" cy="165203"/>
          </a:xfrm>
          <a:prstGeom prst="rect">
            <a:avLst/>
          </a:prstGeom>
          <a:noFill/>
          <a:ln/>
        </p:spPr>
        <p:txBody>
          <a:bodyPr wrap="square" lIns="0" tIns="0" rIns="0" bIns="0" rtlCol="0" anchor="ctr"/>
          <a:lstStyle/>
          <a:p>
            <a:pPr>
              <a:lnSpc>
                <a:spcPct val="120000"/>
              </a:lnSpc>
            </a:pPr>
            <a:r>
              <a:rPr lang="en-US" sz="911" dirty="0">
                <a:solidFill>
                  <a:srgbClr val="86868B"/>
                </a:solidFill>
                <a:latin typeface="Liter" pitchFamily="34" charset="0"/>
                <a:ea typeface="Liter" pitchFamily="34" charset="-122"/>
                <a:cs typeface="Liter" pitchFamily="34" charset="-120"/>
              </a:rPr>
              <a:t>Boolean (0/1)</a:t>
            </a:r>
            <a:endParaRPr lang="en-US" sz="1600" dirty="0"/>
          </a:p>
        </p:txBody>
      </p:sp>
      <p:sp>
        <p:nvSpPr>
          <p:cNvPr id="36" name="Shape 34"/>
          <p:cNvSpPr/>
          <p:nvPr/>
        </p:nvSpPr>
        <p:spPr>
          <a:xfrm>
            <a:off x="6398116" y="2286411"/>
            <a:ext cx="5253463" cy="561691"/>
          </a:xfrm>
          <a:custGeom>
            <a:avLst/>
            <a:gdLst/>
            <a:ahLst/>
            <a:cxnLst/>
            <a:rect l="l" t="t" r="r" b="b"/>
            <a:pathLst>
              <a:path w="5253463" h="561691">
                <a:moveTo>
                  <a:pt x="66083" y="0"/>
                </a:moveTo>
                <a:lnTo>
                  <a:pt x="5187380" y="0"/>
                </a:lnTo>
                <a:cubicBezTo>
                  <a:pt x="5223877" y="0"/>
                  <a:pt x="5253463" y="29586"/>
                  <a:pt x="5253463" y="66083"/>
                </a:cubicBezTo>
                <a:lnTo>
                  <a:pt x="5253463" y="495608"/>
                </a:lnTo>
                <a:cubicBezTo>
                  <a:pt x="5253463" y="532105"/>
                  <a:pt x="5223877" y="561691"/>
                  <a:pt x="5187380" y="561691"/>
                </a:cubicBezTo>
                <a:lnTo>
                  <a:pt x="66083" y="561691"/>
                </a:lnTo>
                <a:cubicBezTo>
                  <a:pt x="29586" y="561691"/>
                  <a:pt x="0" y="532105"/>
                  <a:pt x="0" y="495608"/>
                </a:cubicBezTo>
                <a:lnTo>
                  <a:pt x="0" y="66083"/>
                </a:lnTo>
                <a:cubicBezTo>
                  <a:pt x="0" y="29611"/>
                  <a:pt x="29611" y="0"/>
                  <a:pt x="66083" y="0"/>
                </a:cubicBezTo>
                <a:close/>
              </a:path>
            </a:pathLst>
          </a:custGeom>
          <a:solidFill>
            <a:srgbClr val="FAFAFA"/>
          </a:solidFill>
          <a:ln/>
        </p:spPr>
      </p:sp>
      <p:sp>
        <p:nvSpPr>
          <p:cNvPr id="37" name="Shape 35"/>
          <p:cNvSpPr/>
          <p:nvPr/>
        </p:nvSpPr>
        <p:spPr>
          <a:xfrm>
            <a:off x="6497237" y="2402054"/>
            <a:ext cx="462569" cy="330407"/>
          </a:xfrm>
          <a:custGeom>
            <a:avLst/>
            <a:gdLst/>
            <a:ahLst/>
            <a:cxnLst/>
            <a:rect l="l" t="t" r="r" b="b"/>
            <a:pathLst>
              <a:path w="462569" h="330407">
                <a:moveTo>
                  <a:pt x="33041" y="0"/>
                </a:moveTo>
                <a:lnTo>
                  <a:pt x="429528" y="0"/>
                </a:lnTo>
                <a:cubicBezTo>
                  <a:pt x="447764" y="0"/>
                  <a:pt x="462569" y="14805"/>
                  <a:pt x="462569" y="33041"/>
                </a:cubicBezTo>
                <a:lnTo>
                  <a:pt x="462569" y="297366"/>
                </a:lnTo>
                <a:cubicBezTo>
                  <a:pt x="462569" y="315601"/>
                  <a:pt x="447764" y="330407"/>
                  <a:pt x="429528" y="330407"/>
                </a:cubicBezTo>
                <a:lnTo>
                  <a:pt x="33041" y="330407"/>
                </a:lnTo>
                <a:cubicBezTo>
                  <a:pt x="14805" y="330407"/>
                  <a:pt x="0" y="315601"/>
                  <a:pt x="0" y="297366"/>
                </a:cubicBezTo>
                <a:lnTo>
                  <a:pt x="0" y="33041"/>
                </a:lnTo>
                <a:cubicBezTo>
                  <a:pt x="0" y="14805"/>
                  <a:pt x="14805" y="0"/>
                  <a:pt x="33041" y="0"/>
                </a:cubicBezTo>
                <a:close/>
              </a:path>
            </a:pathLst>
          </a:custGeom>
          <a:solidFill>
            <a:srgbClr val="0071E3"/>
          </a:solidFill>
          <a:ln/>
        </p:spPr>
      </p:sp>
      <p:sp>
        <p:nvSpPr>
          <p:cNvPr id="38" name="Text 36"/>
          <p:cNvSpPr/>
          <p:nvPr/>
        </p:nvSpPr>
        <p:spPr>
          <a:xfrm>
            <a:off x="6464197" y="2402054"/>
            <a:ext cx="528650" cy="330407"/>
          </a:xfrm>
          <a:prstGeom prst="rect">
            <a:avLst/>
          </a:prstGeom>
          <a:noFill/>
          <a:ln/>
        </p:spPr>
        <p:txBody>
          <a:bodyPr wrap="square" lIns="0" tIns="0" rIns="0" bIns="0" rtlCol="0" anchor="ctr"/>
          <a:lstStyle/>
          <a:p>
            <a:pPr algn="ctr">
              <a:lnSpc>
                <a:spcPct val="130000"/>
              </a:lnSpc>
            </a:pPr>
            <a:r>
              <a:rPr lang="en-US" sz="1041" b="1" dirty="0">
                <a:solidFill>
                  <a:srgbClr val="FFFFFF"/>
                </a:solidFill>
                <a:latin typeface="MiSans" pitchFamily="34" charset="0"/>
                <a:ea typeface="MiSans" pitchFamily="34" charset="-122"/>
                <a:cs typeface="MiSans" pitchFamily="34" charset="-120"/>
              </a:rPr>
              <a:t>V2</a:t>
            </a:r>
            <a:endParaRPr lang="en-US" sz="1600" dirty="0"/>
          </a:p>
        </p:txBody>
      </p:sp>
      <p:sp>
        <p:nvSpPr>
          <p:cNvPr id="39" name="Text 37"/>
          <p:cNvSpPr/>
          <p:nvPr/>
        </p:nvSpPr>
        <p:spPr>
          <a:xfrm>
            <a:off x="7058929" y="2385533"/>
            <a:ext cx="4559610" cy="198244"/>
          </a:xfrm>
          <a:prstGeom prst="rect">
            <a:avLst/>
          </a:prstGeom>
          <a:noFill/>
          <a:ln/>
        </p:spPr>
        <p:txBody>
          <a:bodyPr wrap="square" lIns="0" tIns="0" rIns="0" bIns="0" rtlCol="0" anchor="ctr"/>
          <a:lstStyle/>
          <a:p>
            <a:pPr>
              <a:lnSpc>
                <a:spcPct val="130000"/>
              </a:lnSpc>
            </a:pPr>
            <a:r>
              <a:rPr lang="en-US" sz="1041" b="1" dirty="0">
                <a:solidFill>
                  <a:srgbClr val="1D1D1D"/>
                </a:solidFill>
                <a:latin typeface="Liter" pitchFamily="34" charset="0"/>
                <a:ea typeface="Liter" pitchFamily="34" charset="-122"/>
                <a:cs typeface="Liter" pitchFamily="34" charset="-120"/>
              </a:rPr>
              <a:t>Light 2 State</a:t>
            </a:r>
            <a:endParaRPr lang="en-US" sz="1600" dirty="0"/>
          </a:p>
        </p:txBody>
      </p:sp>
      <p:sp>
        <p:nvSpPr>
          <p:cNvPr id="40" name="Text 38"/>
          <p:cNvSpPr/>
          <p:nvPr/>
        </p:nvSpPr>
        <p:spPr>
          <a:xfrm>
            <a:off x="7058929" y="2583777"/>
            <a:ext cx="4551350" cy="165203"/>
          </a:xfrm>
          <a:prstGeom prst="rect">
            <a:avLst/>
          </a:prstGeom>
          <a:noFill/>
          <a:ln/>
        </p:spPr>
        <p:txBody>
          <a:bodyPr wrap="square" lIns="0" tIns="0" rIns="0" bIns="0" rtlCol="0" anchor="ctr"/>
          <a:lstStyle/>
          <a:p>
            <a:pPr>
              <a:lnSpc>
                <a:spcPct val="120000"/>
              </a:lnSpc>
            </a:pPr>
            <a:r>
              <a:rPr lang="en-US" sz="911" dirty="0">
                <a:solidFill>
                  <a:srgbClr val="86868B"/>
                </a:solidFill>
                <a:latin typeface="Liter" pitchFamily="34" charset="0"/>
                <a:ea typeface="Liter" pitchFamily="34" charset="-122"/>
                <a:cs typeface="Liter" pitchFamily="34" charset="-120"/>
              </a:rPr>
              <a:t>Boolean (0/1)</a:t>
            </a:r>
            <a:endParaRPr lang="en-US" sz="1600" dirty="0"/>
          </a:p>
        </p:txBody>
      </p:sp>
      <p:sp>
        <p:nvSpPr>
          <p:cNvPr id="41" name="Shape 39"/>
          <p:cNvSpPr/>
          <p:nvPr/>
        </p:nvSpPr>
        <p:spPr>
          <a:xfrm>
            <a:off x="6398116" y="2947224"/>
            <a:ext cx="5253463" cy="561691"/>
          </a:xfrm>
          <a:custGeom>
            <a:avLst/>
            <a:gdLst/>
            <a:ahLst/>
            <a:cxnLst/>
            <a:rect l="l" t="t" r="r" b="b"/>
            <a:pathLst>
              <a:path w="5253463" h="561691">
                <a:moveTo>
                  <a:pt x="66083" y="0"/>
                </a:moveTo>
                <a:lnTo>
                  <a:pt x="5187380" y="0"/>
                </a:lnTo>
                <a:cubicBezTo>
                  <a:pt x="5223877" y="0"/>
                  <a:pt x="5253463" y="29586"/>
                  <a:pt x="5253463" y="66083"/>
                </a:cubicBezTo>
                <a:lnTo>
                  <a:pt x="5253463" y="495608"/>
                </a:lnTo>
                <a:cubicBezTo>
                  <a:pt x="5253463" y="532105"/>
                  <a:pt x="5223877" y="561691"/>
                  <a:pt x="5187380" y="561691"/>
                </a:cubicBezTo>
                <a:lnTo>
                  <a:pt x="66083" y="561691"/>
                </a:lnTo>
                <a:cubicBezTo>
                  <a:pt x="29586" y="561691"/>
                  <a:pt x="0" y="532105"/>
                  <a:pt x="0" y="495608"/>
                </a:cubicBezTo>
                <a:lnTo>
                  <a:pt x="0" y="66083"/>
                </a:lnTo>
                <a:cubicBezTo>
                  <a:pt x="0" y="29611"/>
                  <a:pt x="29611" y="0"/>
                  <a:pt x="66083" y="0"/>
                </a:cubicBezTo>
                <a:close/>
              </a:path>
            </a:pathLst>
          </a:custGeom>
          <a:solidFill>
            <a:srgbClr val="FAFAFA"/>
          </a:solidFill>
          <a:ln/>
        </p:spPr>
      </p:sp>
      <p:sp>
        <p:nvSpPr>
          <p:cNvPr id="42" name="Shape 40"/>
          <p:cNvSpPr/>
          <p:nvPr/>
        </p:nvSpPr>
        <p:spPr>
          <a:xfrm>
            <a:off x="6497237" y="3062867"/>
            <a:ext cx="462569" cy="330407"/>
          </a:xfrm>
          <a:custGeom>
            <a:avLst/>
            <a:gdLst/>
            <a:ahLst/>
            <a:cxnLst/>
            <a:rect l="l" t="t" r="r" b="b"/>
            <a:pathLst>
              <a:path w="462569" h="330407">
                <a:moveTo>
                  <a:pt x="33041" y="0"/>
                </a:moveTo>
                <a:lnTo>
                  <a:pt x="429528" y="0"/>
                </a:lnTo>
                <a:cubicBezTo>
                  <a:pt x="447764" y="0"/>
                  <a:pt x="462569" y="14805"/>
                  <a:pt x="462569" y="33041"/>
                </a:cubicBezTo>
                <a:lnTo>
                  <a:pt x="462569" y="297366"/>
                </a:lnTo>
                <a:cubicBezTo>
                  <a:pt x="462569" y="315601"/>
                  <a:pt x="447764" y="330407"/>
                  <a:pt x="429528" y="330407"/>
                </a:cubicBezTo>
                <a:lnTo>
                  <a:pt x="33041" y="330407"/>
                </a:lnTo>
                <a:cubicBezTo>
                  <a:pt x="14805" y="330407"/>
                  <a:pt x="0" y="315601"/>
                  <a:pt x="0" y="297366"/>
                </a:cubicBezTo>
                <a:lnTo>
                  <a:pt x="0" y="33041"/>
                </a:lnTo>
                <a:cubicBezTo>
                  <a:pt x="0" y="14805"/>
                  <a:pt x="14805" y="0"/>
                  <a:pt x="33041" y="0"/>
                </a:cubicBezTo>
                <a:close/>
              </a:path>
            </a:pathLst>
          </a:custGeom>
          <a:solidFill>
            <a:srgbClr val="34C759"/>
          </a:solidFill>
          <a:ln/>
        </p:spPr>
      </p:sp>
      <p:sp>
        <p:nvSpPr>
          <p:cNvPr id="43" name="Text 41"/>
          <p:cNvSpPr/>
          <p:nvPr/>
        </p:nvSpPr>
        <p:spPr>
          <a:xfrm>
            <a:off x="6464197" y="3062867"/>
            <a:ext cx="528650" cy="330407"/>
          </a:xfrm>
          <a:prstGeom prst="rect">
            <a:avLst/>
          </a:prstGeom>
          <a:noFill/>
          <a:ln/>
        </p:spPr>
        <p:txBody>
          <a:bodyPr wrap="square" lIns="0" tIns="0" rIns="0" bIns="0" rtlCol="0" anchor="ctr"/>
          <a:lstStyle/>
          <a:p>
            <a:pPr algn="ctr">
              <a:lnSpc>
                <a:spcPct val="130000"/>
              </a:lnSpc>
            </a:pPr>
            <a:r>
              <a:rPr lang="en-US" sz="1041" b="1" dirty="0">
                <a:solidFill>
                  <a:srgbClr val="FFFFFF"/>
                </a:solidFill>
                <a:latin typeface="MiSans" pitchFamily="34" charset="0"/>
                <a:ea typeface="MiSans" pitchFamily="34" charset="-122"/>
                <a:cs typeface="MiSans" pitchFamily="34" charset="-120"/>
              </a:rPr>
              <a:t>V3</a:t>
            </a:r>
            <a:endParaRPr lang="en-US" sz="1600" dirty="0"/>
          </a:p>
        </p:txBody>
      </p:sp>
      <p:sp>
        <p:nvSpPr>
          <p:cNvPr id="44" name="Text 42"/>
          <p:cNvSpPr/>
          <p:nvPr/>
        </p:nvSpPr>
        <p:spPr>
          <a:xfrm>
            <a:off x="7058929" y="3046346"/>
            <a:ext cx="4559610" cy="198244"/>
          </a:xfrm>
          <a:prstGeom prst="rect">
            <a:avLst/>
          </a:prstGeom>
          <a:noFill/>
          <a:ln/>
        </p:spPr>
        <p:txBody>
          <a:bodyPr wrap="square" lIns="0" tIns="0" rIns="0" bIns="0" rtlCol="0" anchor="ctr"/>
          <a:lstStyle/>
          <a:p>
            <a:pPr>
              <a:lnSpc>
                <a:spcPct val="130000"/>
              </a:lnSpc>
            </a:pPr>
            <a:r>
              <a:rPr lang="en-US" sz="1041" b="1" dirty="0">
                <a:solidFill>
                  <a:srgbClr val="1D1D1D"/>
                </a:solidFill>
                <a:latin typeface="Liter" pitchFamily="34" charset="0"/>
                <a:ea typeface="Liter" pitchFamily="34" charset="-122"/>
                <a:cs typeface="Liter" pitchFamily="34" charset="-120"/>
              </a:rPr>
              <a:t>Fan 1 Speed</a:t>
            </a:r>
            <a:endParaRPr lang="en-US" sz="1600" dirty="0"/>
          </a:p>
        </p:txBody>
      </p:sp>
      <p:sp>
        <p:nvSpPr>
          <p:cNvPr id="45" name="Text 43"/>
          <p:cNvSpPr/>
          <p:nvPr/>
        </p:nvSpPr>
        <p:spPr>
          <a:xfrm>
            <a:off x="7058929" y="3244590"/>
            <a:ext cx="4551350" cy="165203"/>
          </a:xfrm>
          <a:prstGeom prst="rect">
            <a:avLst/>
          </a:prstGeom>
          <a:noFill/>
          <a:ln/>
        </p:spPr>
        <p:txBody>
          <a:bodyPr wrap="square" lIns="0" tIns="0" rIns="0" bIns="0" rtlCol="0" anchor="ctr"/>
          <a:lstStyle/>
          <a:p>
            <a:pPr>
              <a:lnSpc>
                <a:spcPct val="120000"/>
              </a:lnSpc>
            </a:pPr>
            <a:r>
              <a:rPr lang="en-US" sz="911" dirty="0">
                <a:solidFill>
                  <a:srgbClr val="86868B"/>
                </a:solidFill>
                <a:latin typeface="Liter" pitchFamily="34" charset="0"/>
                <a:ea typeface="Liter" pitchFamily="34" charset="-122"/>
                <a:cs typeface="Liter" pitchFamily="34" charset="-120"/>
              </a:rPr>
              <a:t>Integer (0-4)</a:t>
            </a:r>
            <a:endParaRPr lang="en-US" sz="1600" dirty="0"/>
          </a:p>
        </p:txBody>
      </p:sp>
      <p:sp>
        <p:nvSpPr>
          <p:cNvPr id="46" name="Shape 44"/>
          <p:cNvSpPr/>
          <p:nvPr/>
        </p:nvSpPr>
        <p:spPr>
          <a:xfrm>
            <a:off x="6398116" y="3608037"/>
            <a:ext cx="5253463" cy="561691"/>
          </a:xfrm>
          <a:custGeom>
            <a:avLst/>
            <a:gdLst/>
            <a:ahLst/>
            <a:cxnLst/>
            <a:rect l="l" t="t" r="r" b="b"/>
            <a:pathLst>
              <a:path w="5253463" h="561691">
                <a:moveTo>
                  <a:pt x="66083" y="0"/>
                </a:moveTo>
                <a:lnTo>
                  <a:pt x="5187380" y="0"/>
                </a:lnTo>
                <a:cubicBezTo>
                  <a:pt x="5223877" y="0"/>
                  <a:pt x="5253463" y="29586"/>
                  <a:pt x="5253463" y="66083"/>
                </a:cubicBezTo>
                <a:lnTo>
                  <a:pt x="5253463" y="495608"/>
                </a:lnTo>
                <a:cubicBezTo>
                  <a:pt x="5253463" y="532105"/>
                  <a:pt x="5223877" y="561691"/>
                  <a:pt x="5187380" y="561691"/>
                </a:cubicBezTo>
                <a:lnTo>
                  <a:pt x="66083" y="561691"/>
                </a:lnTo>
                <a:cubicBezTo>
                  <a:pt x="29586" y="561691"/>
                  <a:pt x="0" y="532105"/>
                  <a:pt x="0" y="495608"/>
                </a:cubicBezTo>
                <a:lnTo>
                  <a:pt x="0" y="66083"/>
                </a:lnTo>
                <a:cubicBezTo>
                  <a:pt x="0" y="29611"/>
                  <a:pt x="29611" y="0"/>
                  <a:pt x="66083" y="0"/>
                </a:cubicBezTo>
                <a:close/>
              </a:path>
            </a:pathLst>
          </a:custGeom>
          <a:solidFill>
            <a:srgbClr val="FAFAFA"/>
          </a:solidFill>
          <a:ln/>
        </p:spPr>
      </p:sp>
      <p:sp>
        <p:nvSpPr>
          <p:cNvPr id="47" name="Shape 45"/>
          <p:cNvSpPr/>
          <p:nvPr/>
        </p:nvSpPr>
        <p:spPr>
          <a:xfrm>
            <a:off x="6497237" y="3723680"/>
            <a:ext cx="462569" cy="330407"/>
          </a:xfrm>
          <a:custGeom>
            <a:avLst/>
            <a:gdLst/>
            <a:ahLst/>
            <a:cxnLst/>
            <a:rect l="l" t="t" r="r" b="b"/>
            <a:pathLst>
              <a:path w="462569" h="330407">
                <a:moveTo>
                  <a:pt x="33041" y="0"/>
                </a:moveTo>
                <a:lnTo>
                  <a:pt x="429528" y="0"/>
                </a:lnTo>
                <a:cubicBezTo>
                  <a:pt x="447764" y="0"/>
                  <a:pt x="462569" y="14805"/>
                  <a:pt x="462569" y="33041"/>
                </a:cubicBezTo>
                <a:lnTo>
                  <a:pt x="462569" y="297366"/>
                </a:lnTo>
                <a:cubicBezTo>
                  <a:pt x="462569" y="315601"/>
                  <a:pt x="447764" y="330407"/>
                  <a:pt x="429528" y="330407"/>
                </a:cubicBezTo>
                <a:lnTo>
                  <a:pt x="33041" y="330407"/>
                </a:lnTo>
                <a:cubicBezTo>
                  <a:pt x="14805" y="330407"/>
                  <a:pt x="0" y="315601"/>
                  <a:pt x="0" y="297366"/>
                </a:cubicBezTo>
                <a:lnTo>
                  <a:pt x="0" y="33041"/>
                </a:lnTo>
                <a:cubicBezTo>
                  <a:pt x="0" y="14805"/>
                  <a:pt x="14805" y="0"/>
                  <a:pt x="33041" y="0"/>
                </a:cubicBezTo>
                <a:close/>
              </a:path>
            </a:pathLst>
          </a:custGeom>
          <a:solidFill>
            <a:srgbClr val="34C759"/>
          </a:solidFill>
          <a:ln/>
        </p:spPr>
      </p:sp>
      <p:sp>
        <p:nvSpPr>
          <p:cNvPr id="48" name="Text 46"/>
          <p:cNvSpPr/>
          <p:nvPr/>
        </p:nvSpPr>
        <p:spPr>
          <a:xfrm>
            <a:off x="6464197" y="3723680"/>
            <a:ext cx="528650" cy="330407"/>
          </a:xfrm>
          <a:prstGeom prst="rect">
            <a:avLst/>
          </a:prstGeom>
          <a:noFill/>
          <a:ln/>
        </p:spPr>
        <p:txBody>
          <a:bodyPr wrap="square" lIns="0" tIns="0" rIns="0" bIns="0" rtlCol="0" anchor="ctr"/>
          <a:lstStyle/>
          <a:p>
            <a:pPr algn="ctr">
              <a:lnSpc>
                <a:spcPct val="130000"/>
              </a:lnSpc>
            </a:pPr>
            <a:r>
              <a:rPr lang="en-US" sz="1041" b="1" dirty="0">
                <a:solidFill>
                  <a:srgbClr val="FFFFFF"/>
                </a:solidFill>
                <a:latin typeface="MiSans" pitchFamily="34" charset="0"/>
                <a:ea typeface="MiSans" pitchFamily="34" charset="-122"/>
                <a:cs typeface="MiSans" pitchFamily="34" charset="-120"/>
              </a:rPr>
              <a:t>V4</a:t>
            </a:r>
            <a:endParaRPr lang="en-US" sz="1600" dirty="0"/>
          </a:p>
        </p:txBody>
      </p:sp>
      <p:sp>
        <p:nvSpPr>
          <p:cNvPr id="49" name="Text 47"/>
          <p:cNvSpPr/>
          <p:nvPr/>
        </p:nvSpPr>
        <p:spPr>
          <a:xfrm>
            <a:off x="7058929" y="3707159"/>
            <a:ext cx="4559610" cy="198244"/>
          </a:xfrm>
          <a:prstGeom prst="rect">
            <a:avLst/>
          </a:prstGeom>
          <a:noFill/>
          <a:ln/>
        </p:spPr>
        <p:txBody>
          <a:bodyPr wrap="square" lIns="0" tIns="0" rIns="0" bIns="0" rtlCol="0" anchor="ctr"/>
          <a:lstStyle/>
          <a:p>
            <a:pPr>
              <a:lnSpc>
                <a:spcPct val="130000"/>
              </a:lnSpc>
            </a:pPr>
            <a:r>
              <a:rPr lang="en-US" sz="1041" b="1" dirty="0">
                <a:solidFill>
                  <a:srgbClr val="1D1D1D"/>
                </a:solidFill>
                <a:latin typeface="Liter" pitchFamily="34" charset="0"/>
                <a:ea typeface="Liter" pitchFamily="34" charset="-122"/>
                <a:cs typeface="Liter" pitchFamily="34" charset="-120"/>
              </a:rPr>
              <a:t>Fan 2 Speed</a:t>
            </a:r>
            <a:endParaRPr lang="en-US" sz="1600" dirty="0"/>
          </a:p>
        </p:txBody>
      </p:sp>
      <p:sp>
        <p:nvSpPr>
          <p:cNvPr id="50" name="Text 48"/>
          <p:cNvSpPr/>
          <p:nvPr/>
        </p:nvSpPr>
        <p:spPr>
          <a:xfrm>
            <a:off x="7058929" y="3905403"/>
            <a:ext cx="4551350" cy="165203"/>
          </a:xfrm>
          <a:prstGeom prst="rect">
            <a:avLst/>
          </a:prstGeom>
          <a:noFill/>
          <a:ln/>
        </p:spPr>
        <p:txBody>
          <a:bodyPr wrap="square" lIns="0" tIns="0" rIns="0" bIns="0" rtlCol="0" anchor="ctr"/>
          <a:lstStyle/>
          <a:p>
            <a:pPr>
              <a:lnSpc>
                <a:spcPct val="120000"/>
              </a:lnSpc>
            </a:pPr>
            <a:r>
              <a:rPr lang="en-US" sz="911" dirty="0">
                <a:solidFill>
                  <a:srgbClr val="86868B"/>
                </a:solidFill>
                <a:latin typeface="Liter" pitchFamily="34" charset="0"/>
                <a:ea typeface="Liter" pitchFamily="34" charset="-122"/>
                <a:cs typeface="Liter" pitchFamily="34" charset="-120"/>
              </a:rPr>
              <a:t>Integer (0-4)</a:t>
            </a:r>
            <a:endParaRPr lang="en-US" sz="1600" dirty="0"/>
          </a:p>
        </p:txBody>
      </p:sp>
      <p:sp>
        <p:nvSpPr>
          <p:cNvPr id="51" name="Shape 49"/>
          <p:cNvSpPr/>
          <p:nvPr/>
        </p:nvSpPr>
        <p:spPr>
          <a:xfrm>
            <a:off x="6196568" y="4482134"/>
            <a:ext cx="5656559" cy="2311193"/>
          </a:xfrm>
          <a:custGeom>
            <a:avLst/>
            <a:gdLst/>
            <a:ahLst/>
            <a:cxnLst/>
            <a:rect l="l" t="t" r="r" b="b"/>
            <a:pathLst>
              <a:path w="5656559" h="2311193">
                <a:moveTo>
                  <a:pt x="99127" y="0"/>
                </a:moveTo>
                <a:lnTo>
                  <a:pt x="5557432" y="0"/>
                </a:lnTo>
                <a:cubicBezTo>
                  <a:pt x="5612179" y="0"/>
                  <a:pt x="5656559" y="44381"/>
                  <a:pt x="5656559" y="99127"/>
                </a:cubicBezTo>
                <a:lnTo>
                  <a:pt x="5656559" y="2212066"/>
                </a:lnTo>
                <a:cubicBezTo>
                  <a:pt x="5656559" y="2266813"/>
                  <a:pt x="5612179" y="2311193"/>
                  <a:pt x="5557432" y="2311193"/>
                </a:cubicBezTo>
                <a:lnTo>
                  <a:pt x="99127" y="2311193"/>
                </a:lnTo>
                <a:cubicBezTo>
                  <a:pt x="44381" y="2311193"/>
                  <a:pt x="0" y="2266813"/>
                  <a:pt x="0" y="2212066"/>
                </a:cubicBezTo>
                <a:lnTo>
                  <a:pt x="0" y="99127"/>
                </a:lnTo>
                <a:cubicBezTo>
                  <a:pt x="0" y="44381"/>
                  <a:pt x="44381" y="0"/>
                  <a:pt x="99127" y="0"/>
                </a:cubicBezTo>
                <a:close/>
              </a:path>
            </a:pathLst>
          </a:custGeom>
          <a:solidFill>
            <a:srgbClr val="FFFFFF"/>
          </a:solidFill>
          <a:ln w="10160">
            <a:solidFill>
              <a:srgbClr val="E5E5E5"/>
            </a:solidFill>
            <a:prstDash val="solid"/>
          </a:ln>
          <a:effectLst>
            <a:outerShdw blurRad="24780" dist="8260" dir="5400000" algn="bl" rotWithShape="0">
              <a:srgbClr val="000000">
                <a:alpha val="10196"/>
              </a:srgbClr>
            </a:outerShdw>
          </a:effectLst>
        </p:spPr>
      </p:sp>
      <p:sp>
        <p:nvSpPr>
          <p:cNvPr id="52" name="Shape 50"/>
          <p:cNvSpPr/>
          <p:nvPr/>
        </p:nvSpPr>
        <p:spPr>
          <a:xfrm>
            <a:off x="6395018" y="4691941"/>
            <a:ext cx="130098" cy="148683"/>
          </a:xfrm>
          <a:custGeom>
            <a:avLst/>
            <a:gdLst/>
            <a:ahLst/>
            <a:cxnLst/>
            <a:rect l="l" t="t" r="r" b="b"/>
            <a:pathLst>
              <a:path w="130098" h="148683">
                <a:moveTo>
                  <a:pt x="65049" y="0"/>
                </a:moveTo>
                <a:cubicBezTo>
                  <a:pt x="59909" y="0"/>
                  <a:pt x="55756" y="4153"/>
                  <a:pt x="55756" y="9293"/>
                </a:cubicBezTo>
                <a:lnTo>
                  <a:pt x="55756" y="10222"/>
                </a:lnTo>
                <a:cubicBezTo>
                  <a:pt x="34557" y="14520"/>
                  <a:pt x="18585" y="33279"/>
                  <a:pt x="18585" y="55756"/>
                </a:cubicBezTo>
                <a:lnTo>
                  <a:pt x="18585" y="62058"/>
                </a:lnTo>
                <a:cubicBezTo>
                  <a:pt x="18585" y="76026"/>
                  <a:pt x="13823" y="89587"/>
                  <a:pt x="5111" y="100506"/>
                </a:cubicBezTo>
                <a:lnTo>
                  <a:pt x="2265" y="104049"/>
                </a:lnTo>
                <a:cubicBezTo>
                  <a:pt x="784" y="105879"/>
                  <a:pt x="0" y="108144"/>
                  <a:pt x="0" y="110496"/>
                </a:cubicBezTo>
                <a:cubicBezTo>
                  <a:pt x="0" y="116188"/>
                  <a:pt x="4617" y="120805"/>
                  <a:pt x="10309" y="120805"/>
                </a:cubicBezTo>
                <a:lnTo>
                  <a:pt x="119759" y="120805"/>
                </a:lnTo>
                <a:cubicBezTo>
                  <a:pt x="125451" y="120805"/>
                  <a:pt x="130069" y="116188"/>
                  <a:pt x="130069" y="110496"/>
                </a:cubicBezTo>
                <a:cubicBezTo>
                  <a:pt x="130069" y="108144"/>
                  <a:pt x="129284" y="105879"/>
                  <a:pt x="127803" y="104049"/>
                </a:cubicBezTo>
                <a:lnTo>
                  <a:pt x="124958" y="100506"/>
                </a:lnTo>
                <a:cubicBezTo>
                  <a:pt x="116275" y="89587"/>
                  <a:pt x="111512" y="76026"/>
                  <a:pt x="111512" y="62058"/>
                </a:cubicBezTo>
                <a:lnTo>
                  <a:pt x="111512" y="55756"/>
                </a:lnTo>
                <a:cubicBezTo>
                  <a:pt x="111512" y="33279"/>
                  <a:pt x="95540" y="14520"/>
                  <a:pt x="74341" y="10222"/>
                </a:cubicBezTo>
                <a:lnTo>
                  <a:pt x="74341" y="9293"/>
                </a:lnTo>
                <a:cubicBezTo>
                  <a:pt x="74341" y="4153"/>
                  <a:pt x="70189" y="0"/>
                  <a:pt x="65049" y="0"/>
                </a:cubicBezTo>
                <a:close/>
                <a:moveTo>
                  <a:pt x="47044" y="134744"/>
                </a:moveTo>
                <a:cubicBezTo>
                  <a:pt x="49106" y="142759"/>
                  <a:pt x="56395" y="148683"/>
                  <a:pt x="65049" y="148683"/>
                </a:cubicBezTo>
                <a:cubicBezTo>
                  <a:pt x="73703" y="148683"/>
                  <a:pt x="80992" y="142759"/>
                  <a:pt x="83053" y="134744"/>
                </a:cubicBezTo>
                <a:lnTo>
                  <a:pt x="47044" y="134744"/>
                </a:lnTo>
                <a:close/>
              </a:path>
            </a:pathLst>
          </a:custGeom>
          <a:solidFill>
            <a:srgbClr val="FF3B30"/>
          </a:solidFill>
          <a:ln/>
        </p:spPr>
      </p:sp>
      <p:sp>
        <p:nvSpPr>
          <p:cNvPr id="53" name="Text 51"/>
          <p:cNvSpPr/>
          <p:nvPr/>
        </p:nvSpPr>
        <p:spPr>
          <a:xfrm>
            <a:off x="6555059" y="4650640"/>
            <a:ext cx="5203902" cy="231285"/>
          </a:xfrm>
          <a:prstGeom prst="rect">
            <a:avLst/>
          </a:prstGeom>
          <a:noFill/>
          <a:ln/>
        </p:spPr>
        <p:txBody>
          <a:bodyPr wrap="square" lIns="0" tIns="0" rIns="0" bIns="0" rtlCol="0" anchor="ctr"/>
          <a:lstStyle/>
          <a:p>
            <a:pPr>
              <a:lnSpc>
                <a:spcPct val="130000"/>
              </a:lnSpc>
            </a:pPr>
            <a:r>
              <a:rPr lang="en-US" sz="1171" b="1" dirty="0">
                <a:solidFill>
                  <a:srgbClr val="1D1D1D"/>
                </a:solidFill>
                <a:latin typeface="Liter" pitchFamily="34" charset="0"/>
                <a:ea typeface="Liter" pitchFamily="34" charset="-122"/>
                <a:cs typeface="Liter" pitchFamily="34" charset="-120"/>
              </a:rPr>
              <a:t>Critical Push Notification</a:t>
            </a:r>
            <a:endParaRPr lang="en-US" sz="1600" dirty="0"/>
          </a:p>
        </p:txBody>
      </p:sp>
      <p:sp>
        <p:nvSpPr>
          <p:cNvPr id="54" name="Shape 52"/>
          <p:cNvSpPr/>
          <p:nvPr/>
        </p:nvSpPr>
        <p:spPr>
          <a:xfrm>
            <a:off x="6365075" y="4981046"/>
            <a:ext cx="5319545" cy="1007740"/>
          </a:xfrm>
          <a:custGeom>
            <a:avLst/>
            <a:gdLst/>
            <a:ahLst/>
            <a:cxnLst/>
            <a:rect l="l" t="t" r="r" b="b"/>
            <a:pathLst>
              <a:path w="5319545" h="1007740">
                <a:moveTo>
                  <a:pt x="66078" y="0"/>
                </a:moveTo>
                <a:lnTo>
                  <a:pt x="5253467" y="0"/>
                </a:lnTo>
                <a:cubicBezTo>
                  <a:pt x="5289961" y="0"/>
                  <a:pt x="5319545" y="29584"/>
                  <a:pt x="5319545" y="66078"/>
                </a:cubicBezTo>
                <a:lnTo>
                  <a:pt x="5319545" y="941662"/>
                </a:lnTo>
                <a:cubicBezTo>
                  <a:pt x="5319545" y="978156"/>
                  <a:pt x="5289961" y="1007740"/>
                  <a:pt x="5253467" y="1007740"/>
                </a:cubicBezTo>
                <a:lnTo>
                  <a:pt x="66078" y="1007740"/>
                </a:lnTo>
                <a:cubicBezTo>
                  <a:pt x="29584" y="1007740"/>
                  <a:pt x="0" y="978156"/>
                  <a:pt x="0" y="941662"/>
                </a:cubicBezTo>
                <a:lnTo>
                  <a:pt x="0" y="66078"/>
                </a:lnTo>
                <a:cubicBezTo>
                  <a:pt x="0" y="29584"/>
                  <a:pt x="29584" y="0"/>
                  <a:pt x="66077" y="0"/>
                </a:cubicBezTo>
                <a:close/>
              </a:path>
            </a:pathLst>
          </a:custGeom>
          <a:solidFill>
            <a:srgbClr val="F5F5F7"/>
          </a:solidFill>
          <a:ln/>
        </p:spPr>
      </p:sp>
      <p:sp>
        <p:nvSpPr>
          <p:cNvPr id="55" name="Text 53"/>
          <p:cNvSpPr/>
          <p:nvPr/>
        </p:nvSpPr>
        <p:spPr>
          <a:xfrm>
            <a:off x="6497237" y="5093381"/>
            <a:ext cx="2373558" cy="125554"/>
          </a:xfrm>
          <a:prstGeom prst="rect">
            <a:avLst/>
          </a:prstGeom>
          <a:noFill/>
          <a:ln/>
        </p:spPr>
        <p:txBody>
          <a:bodyPr wrap="square" lIns="0" tIns="0" rIns="0" bIns="0" rtlCol="0" anchor="ctr"/>
          <a:lstStyle/>
          <a:p>
            <a:pPr>
              <a:lnSpc>
                <a:spcPct val="130000"/>
              </a:lnSpc>
            </a:pPr>
            <a:r>
              <a:rPr lang="en-US" sz="846" dirty="0">
                <a:solidFill>
                  <a:srgbClr val="86868B"/>
                </a:solidFill>
                <a:latin typeface="MiSans" pitchFamily="34" charset="0"/>
                <a:ea typeface="MiSans" pitchFamily="34" charset="-122"/>
                <a:cs typeface="MiSans" pitchFamily="34" charset="-120"/>
              </a:rPr>
              <a:t>// Line 717: Fire alert notification</a:t>
            </a:r>
            <a:endParaRPr lang="en-US" sz="1600" dirty="0"/>
          </a:p>
        </p:txBody>
      </p:sp>
      <p:sp>
        <p:nvSpPr>
          <p:cNvPr id="56" name="Text 54"/>
          <p:cNvSpPr/>
          <p:nvPr/>
        </p:nvSpPr>
        <p:spPr>
          <a:xfrm>
            <a:off x="6497237" y="5241242"/>
            <a:ext cx="5108911" cy="165203"/>
          </a:xfrm>
          <a:prstGeom prst="rect">
            <a:avLst/>
          </a:prstGeom>
          <a:noFill/>
          <a:ln/>
        </p:spPr>
        <p:txBody>
          <a:bodyPr wrap="square" lIns="0" tIns="0" rIns="0" bIns="0" rtlCol="0" anchor="ctr"/>
          <a:lstStyle/>
          <a:p>
            <a:pPr>
              <a:lnSpc>
                <a:spcPct val="130000"/>
              </a:lnSpc>
            </a:pPr>
            <a:r>
              <a:rPr lang="en-US" sz="846" dirty="0">
                <a:solidFill>
                  <a:srgbClr val="0071E3"/>
                </a:solidFill>
                <a:latin typeface="MiSans" pitchFamily="34" charset="0"/>
                <a:ea typeface="MiSans" pitchFamily="34" charset="-122"/>
                <a:cs typeface="MiSans" pitchFamily="34" charset="-120"/>
              </a:rPr>
              <a:t>if</a:t>
            </a:r>
            <a:r>
              <a:rPr lang="en-US" sz="846" dirty="0">
                <a:solidFill>
                  <a:srgbClr val="1D1D1D"/>
                </a:solidFill>
                <a:latin typeface="MiSans" pitchFamily="34" charset="0"/>
                <a:ea typeface="MiSans" pitchFamily="34" charset="-122"/>
                <a:cs typeface="MiSans" pitchFamily="34" charset="-120"/>
              </a:rPr>
              <a:t>(Blynk.connected()) {</a:t>
            </a:r>
            <a:endParaRPr lang="en-US" sz="1600" dirty="0"/>
          </a:p>
        </p:txBody>
      </p:sp>
      <p:sp>
        <p:nvSpPr>
          <p:cNvPr id="57" name="Text 55"/>
          <p:cNvSpPr/>
          <p:nvPr/>
        </p:nvSpPr>
        <p:spPr>
          <a:xfrm>
            <a:off x="6497237" y="5402315"/>
            <a:ext cx="5108911" cy="165203"/>
          </a:xfrm>
          <a:prstGeom prst="rect">
            <a:avLst/>
          </a:prstGeom>
          <a:noFill/>
          <a:ln/>
        </p:spPr>
        <p:txBody>
          <a:bodyPr wrap="square" lIns="0" tIns="0" rIns="0" bIns="0" rtlCol="0" anchor="ctr"/>
          <a:lstStyle/>
          <a:p>
            <a:pPr>
              <a:lnSpc>
                <a:spcPct val="130000"/>
              </a:lnSpc>
            </a:pPr>
            <a:r>
              <a:rPr lang="en-US" sz="846" dirty="0">
                <a:solidFill>
                  <a:srgbClr val="1D1D1D"/>
                </a:solidFill>
                <a:latin typeface="MiSans" pitchFamily="34" charset="0"/>
                <a:ea typeface="MiSans" pitchFamily="34" charset="-122"/>
                <a:cs typeface="MiSans" pitchFamily="34" charset="-120"/>
              </a:rPr>
              <a:t>Blynk.logEvent(</a:t>
            </a:r>
            <a:r>
              <a:rPr lang="en-US" sz="846" dirty="0">
                <a:solidFill>
                  <a:srgbClr val="34C759"/>
                </a:solidFill>
                <a:latin typeface="MiSans" pitchFamily="34" charset="0"/>
                <a:ea typeface="MiSans" pitchFamily="34" charset="-122"/>
                <a:cs typeface="MiSans" pitchFamily="34" charset="-120"/>
              </a:rPr>
              <a:t>"fire_alert"</a:t>
            </a:r>
            <a:r>
              <a:rPr lang="en-US" sz="846" dirty="0">
                <a:solidFill>
                  <a:srgbClr val="1D1D1D"/>
                </a:solidFill>
                <a:latin typeface="MiSans" pitchFamily="34" charset="0"/>
                <a:ea typeface="MiSans" pitchFamily="34" charset="-122"/>
                <a:cs typeface="MiSans" pitchFamily="34" charset="-120"/>
              </a:rPr>
              <a:t>,</a:t>
            </a:r>
            <a:endParaRPr lang="en-US" sz="1600" dirty="0"/>
          </a:p>
        </p:txBody>
      </p:sp>
      <p:sp>
        <p:nvSpPr>
          <p:cNvPr id="58" name="Text 56"/>
          <p:cNvSpPr/>
          <p:nvPr/>
        </p:nvSpPr>
        <p:spPr>
          <a:xfrm>
            <a:off x="6497237" y="5563388"/>
            <a:ext cx="5108911" cy="165203"/>
          </a:xfrm>
          <a:prstGeom prst="rect">
            <a:avLst/>
          </a:prstGeom>
          <a:noFill/>
          <a:ln/>
        </p:spPr>
        <p:txBody>
          <a:bodyPr wrap="square" lIns="0" tIns="0" rIns="0" bIns="0" rtlCol="0" anchor="ctr"/>
          <a:lstStyle/>
          <a:p>
            <a:pPr>
              <a:lnSpc>
                <a:spcPct val="130000"/>
              </a:lnSpc>
            </a:pPr>
            <a:r>
              <a:rPr lang="en-US" sz="846" dirty="0">
                <a:solidFill>
                  <a:srgbClr val="34C759"/>
                </a:solidFill>
                <a:latin typeface="MiSans" pitchFamily="34" charset="0"/>
                <a:ea typeface="MiSans" pitchFamily="34" charset="-122"/>
                <a:cs typeface="MiSans" pitchFamily="34" charset="-120"/>
              </a:rPr>
              <a:t>"Fire Alarm Confirmed by User!"</a:t>
            </a:r>
            <a:r>
              <a:rPr lang="en-US" sz="846" dirty="0">
                <a:solidFill>
                  <a:srgbClr val="1D1D1D"/>
                </a:solidFill>
                <a:latin typeface="MiSans" pitchFamily="34" charset="0"/>
                <a:ea typeface="MiSans" pitchFamily="34" charset="-122"/>
                <a:cs typeface="MiSans" pitchFamily="34" charset="-120"/>
              </a:rPr>
              <a:t>);</a:t>
            </a:r>
            <a:endParaRPr lang="en-US" sz="1600" dirty="0"/>
          </a:p>
        </p:txBody>
      </p:sp>
      <p:sp>
        <p:nvSpPr>
          <p:cNvPr id="59" name="Text 57"/>
          <p:cNvSpPr/>
          <p:nvPr/>
        </p:nvSpPr>
        <p:spPr>
          <a:xfrm>
            <a:off x="6497237" y="5724461"/>
            <a:ext cx="5108911" cy="165203"/>
          </a:xfrm>
          <a:prstGeom prst="rect">
            <a:avLst/>
          </a:prstGeom>
          <a:noFill/>
          <a:ln/>
        </p:spPr>
        <p:txBody>
          <a:bodyPr wrap="square" lIns="0" tIns="0" rIns="0" bIns="0" rtlCol="0" anchor="ctr"/>
          <a:lstStyle/>
          <a:p>
            <a:pPr>
              <a:lnSpc>
                <a:spcPct val="130000"/>
              </a:lnSpc>
            </a:pPr>
            <a:r>
              <a:rPr lang="en-US" sz="846" dirty="0">
                <a:solidFill>
                  <a:srgbClr val="1D1D1D"/>
                </a:solidFill>
                <a:latin typeface="MiSans" pitchFamily="34" charset="0"/>
                <a:ea typeface="MiSans" pitchFamily="34" charset="-122"/>
                <a:cs typeface="MiSans" pitchFamily="34" charset="-120"/>
              </a:rPr>
              <a:t>}</a:t>
            </a:r>
            <a:endParaRPr lang="en-US" sz="1600" dirty="0"/>
          </a:p>
        </p:txBody>
      </p:sp>
      <p:sp>
        <p:nvSpPr>
          <p:cNvPr id="60" name="Shape 58"/>
          <p:cNvSpPr/>
          <p:nvPr/>
        </p:nvSpPr>
        <p:spPr>
          <a:xfrm>
            <a:off x="6368379" y="6087082"/>
            <a:ext cx="5317893" cy="535259"/>
          </a:xfrm>
          <a:custGeom>
            <a:avLst/>
            <a:gdLst/>
            <a:ahLst/>
            <a:cxnLst/>
            <a:rect l="l" t="t" r="r" b="b"/>
            <a:pathLst>
              <a:path w="5317893" h="535259">
                <a:moveTo>
                  <a:pt x="66083" y="0"/>
                </a:moveTo>
                <a:lnTo>
                  <a:pt x="5251810" y="0"/>
                </a:lnTo>
                <a:cubicBezTo>
                  <a:pt x="5288306" y="0"/>
                  <a:pt x="5317893" y="29586"/>
                  <a:pt x="5317893" y="66083"/>
                </a:cubicBezTo>
                <a:lnTo>
                  <a:pt x="5317893" y="469176"/>
                </a:lnTo>
                <a:cubicBezTo>
                  <a:pt x="5317893" y="505672"/>
                  <a:pt x="5288306" y="535259"/>
                  <a:pt x="5251810" y="535259"/>
                </a:cubicBezTo>
                <a:lnTo>
                  <a:pt x="66083" y="535259"/>
                </a:lnTo>
                <a:cubicBezTo>
                  <a:pt x="29586" y="535259"/>
                  <a:pt x="0" y="505672"/>
                  <a:pt x="0" y="469176"/>
                </a:cubicBezTo>
                <a:lnTo>
                  <a:pt x="0" y="66083"/>
                </a:lnTo>
                <a:cubicBezTo>
                  <a:pt x="0" y="29611"/>
                  <a:pt x="29611" y="0"/>
                  <a:pt x="66083" y="0"/>
                </a:cubicBezTo>
                <a:close/>
              </a:path>
            </a:pathLst>
          </a:custGeom>
          <a:solidFill>
            <a:srgbClr val="FF3B30">
              <a:alpha val="5098"/>
            </a:srgbClr>
          </a:solidFill>
          <a:ln w="10160">
            <a:solidFill>
              <a:srgbClr val="FF3B30">
                <a:alpha val="20000"/>
              </a:srgbClr>
            </a:solidFill>
            <a:prstDash val="solid"/>
          </a:ln>
        </p:spPr>
      </p:sp>
      <p:sp>
        <p:nvSpPr>
          <p:cNvPr id="61" name="Shape 59"/>
          <p:cNvSpPr/>
          <p:nvPr/>
        </p:nvSpPr>
        <p:spPr>
          <a:xfrm>
            <a:off x="6487325" y="6215941"/>
            <a:ext cx="115642" cy="115642"/>
          </a:xfrm>
          <a:custGeom>
            <a:avLst/>
            <a:gdLst/>
            <a:ahLst/>
            <a:cxnLst/>
            <a:rect l="l" t="t" r="r" b="b"/>
            <a:pathLst>
              <a:path w="115642" h="115642">
                <a:moveTo>
                  <a:pt x="57821" y="0"/>
                </a:moveTo>
                <a:cubicBezTo>
                  <a:pt x="61141" y="0"/>
                  <a:pt x="64190" y="1829"/>
                  <a:pt x="65772" y="4743"/>
                </a:cubicBezTo>
                <a:lnTo>
                  <a:pt x="114558" y="95089"/>
                </a:lnTo>
                <a:cubicBezTo>
                  <a:pt x="116071" y="97889"/>
                  <a:pt x="116004" y="101277"/>
                  <a:pt x="114377" y="104010"/>
                </a:cubicBezTo>
                <a:cubicBezTo>
                  <a:pt x="112751" y="106743"/>
                  <a:pt x="109792" y="108415"/>
                  <a:pt x="106608" y="108415"/>
                </a:cubicBezTo>
                <a:lnTo>
                  <a:pt x="9035" y="108415"/>
                </a:lnTo>
                <a:cubicBezTo>
                  <a:pt x="5850" y="108415"/>
                  <a:pt x="2914" y="106743"/>
                  <a:pt x="1265" y="104010"/>
                </a:cubicBezTo>
                <a:cubicBezTo>
                  <a:pt x="-384" y="101277"/>
                  <a:pt x="-429" y="97889"/>
                  <a:pt x="1084" y="95089"/>
                </a:cubicBezTo>
                <a:lnTo>
                  <a:pt x="49871" y="4743"/>
                </a:lnTo>
                <a:cubicBezTo>
                  <a:pt x="51452" y="1829"/>
                  <a:pt x="54501" y="0"/>
                  <a:pt x="57821" y="0"/>
                </a:cubicBezTo>
                <a:close/>
                <a:moveTo>
                  <a:pt x="57821" y="37945"/>
                </a:moveTo>
                <a:cubicBezTo>
                  <a:pt x="54817" y="37945"/>
                  <a:pt x="52400" y="40362"/>
                  <a:pt x="52400" y="43366"/>
                </a:cubicBezTo>
                <a:lnTo>
                  <a:pt x="52400" y="68663"/>
                </a:lnTo>
                <a:cubicBezTo>
                  <a:pt x="52400" y="71667"/>
                  <a:pt x="54817" y="74083"/>
                  <a:pt x="57821" y="74083"/>
                </a:cubicBezTo>
                <a:cubicBezTo>
                  <a:pt x="60825" y="74083"/>
                  <a:pt x="63242" y="71667"/>
                  <a:pt x="63242" y="68663"/>
                </a:cubicBezTo>
                <a:lnTo>
                  <a:pt x="63242" y="43366"/>
                </a:lnTo>
                <a:cubicBezTo>
                  <a:pt x="63242" y="40362"/>
                  <a:pt x="60825" y="37945"/>
                  <a:pt x="57821" y="37945"/>
                </a:cubicBezTo>
                <a:close/>
                <a:moveTo>
                  <a:pt x="63852" y="86732"/>
                </a:moveTo>
                <a:cubicBezTo>
                  <a:pt x="63989" y="84493"/>
                  <a:pt x="62873" y="82364"/>
                  <a:pt x="60954" y="81203"/>
                </a:cubicBezTo>
                <a:cubicBezTo>
                  <a:pt x="59035" y="80042"/>
                  <a:pt x="56630" y="80042"/>
                  <a:pt x="54711" y="81203"/>
                </a:cubicBezTo>
                <a:cubicBezTo>
                  <a:pt x="52792" y="82364"/>
                  <a:pt x="51676" y="84493"/>
                  <a:pt x="51813" y="86732"/>
                </a:cubicBezTo>
                <a:cubicBezTo>
                  <a:pt x="51676" y="88970"/>
                  <a:pt x="52792" y="91100"/>
                  <a:pt x="54711" y="92261"/>
                </a:cubicBezTo>
                <a:cubicBezTo>
                  <a:pt x="56630" y="93421"/>
                  <a:pt x="59035" y="93421"/>
                  <a:pt x="60954" y="92261"/>
                </a:cubicBezTo>
                <a:cubicBezTo>
                  <a:pt x="62873" y="91100"/>
                  <a:pt x="63989" y="88970"/>
                  <a:pt x="63852" y="86732"/>
                </a:cubicBezTo>
                <a:close/>
              </a:path>
            </a:pathLst>
          </a:custGeom>
          <a:solidFill>
            <a:srgbClr val="FF3B30"/>
          </a:solidFill>
          <a:ln/>
        </p:spPr>
      </p:sp>
      <p:sp>
        <p:nvSpPr>
          <p:cNvPr id="62" name="Text 60"/>
          <p:cNvSpPr/>
          <p:nvPr/>
        </p:nvSpPr>
        <p:spPr>
          <a:xfrm>
            <a:off x="6662468" y="6189507"/>
            <a:ext cx="4979199" cy="330407"/>
          </a:xfrm>
          <a:prstGeom prst="rect">
            <a:avLst/>
          </a:prstGeom>
          <a:noFill/>
          <a:ln/>
        </p:spPr>
        <p:txBody>
          <a:bodyPr wrap="square" lIns="0" tIns="0" rIns="0" bIns="0" rtlCol="0" anchor="ctr"/>
          <a:lstStyle/>
          <a:p>
            <a:pPr>
              <a:lnSpc>
                <a:spcPct val="120000"/>
              </a:lnSpc>
            </a:pPr>
            <a:r>
              <a:rPr lang="en-US" sz="911" b="1" dirty="0">
                <a:solidFill>
                  <a:srgbClr val="86868B"/>
                </a:solidFill>
                <a:latin typeface="Liter" pitchFamily="34" charset="0"/>
                <a:ea typeface="Liter" pitchFamily="34" charset="-122"/>
                <a:cs typeface="Liter" pitchFamily="34" charset="-120"/>
              </a:rPr>
              <a:t>Safety Feature:</a:t>
            </a:r>
            <a:r>
              <a:rPr lang="en-US" sz="911" dirty="0">
                <a:solidFill>
                  <a:srgbClr val="86868B"/>
                </a:solidFill>
                <a:latin typeface="Liter" pitchFamily="34" charset="0"/>
                <a:ea typeface="Liter" pitchFamily="34" charset="-122"/>
                <a:cs typeface="Liter" pitchFamily="34" charset="-120"/>
              </a:rPr>
              <a:t> Notification only triggers on user-confirmed emergency (ACK), preventing false alarms.</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DDF48FED-36B6-C50D-0D83-E65E25B70CF6}"/>
              </a:ext>
            </a:extLst>
          </p:cNvPr>
          <p:cNvSpPr/>
          <p:nvPr/>
        </p:nvSpPr>
        <p:spPr>
          <a:xfrm>
            <a:off x="7546975" y="1540516"/>
            <a:ext cx="993520" cy="10596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Liter" pitchFamily="34" charset="0"/>
                <a:ea typeface="Liter" pitchFamily="34" charset="-122"/>
                <a:cs typeface="Liter" pitchFamily="34" charset="-120"/>
              </a:rPr>
              <a:t>USER INTERFACE</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Liter" pitchFamily="34" charset="0"/>
                <a:ea typeface="Liter" pitchFamily="34" charset="-122"/>
                <a:cs typeface="Liter" pitchFamily="34" charset="-120"/>
              </a:rPr>
              <a:t>OLED Display Management</a:t>
            </a:r>
            <a:endParaRPr lang="en-US" sz="1600" dirty="0"/>
          </a:p>
        </p:txBody>
      </p:sp>
      <p:sp>
        <p:nvSpPr>
          <p:cNvPr id="4" name="Shape 2"/>
          <p:cNvSpPr/>
          <p:nvPr/>
        </p:nvSpPr>
        <p:spPr>
          <a:xfrm>
            <a:off x="320675" y="1019175"/>
            <a:ext cx="6848475" cy="2333628"/>
          </a:xfrm>
          <a:custGeom>
            <a:avLst/>
            <a:gdLst/>
            <a:ahLst/>
            <a:cxnLst/>
            <a:rect l="l" t="t" r="r" b="b"/>
            <a:pathLst>
              <a:path w="6848475" h="2546350">
                <a:moveTo>
                  <a:pt x="95259" y="0"/>
                </a:moveTo>
                <a:lnTo>
                  <a:pt x="6753216" y="0"/>
                </a:lnTo>
                <a:cubicBezTo>
                  <a:pt x="6805826" y="0"/>
                  <a:pt x="6848475" y="42649"/>
                  <a:pt x="6848475" y="95259"/>
                </a:cubicBezTo>
                <a:lnTo>
                  <a:pt x="6848475" y="2451091"/>
                </a:lnTo>
                <a:cubicBezTo>
                  <a:pt x="6848475" y="2503701"/>
                  <a:pt x="6805826" y="2546350"/>
                  <a:pt x="6753216" y="2546350"/>
                </a:cubicBezTo>
                <a:lnTo>
                  <a:pt x="95259" y="2546350"/>
                </a:lnTo>
                <a:cubicBezTo>
                  <a:pt x="42649" y="2546350"/>
                  <a:pt x="0" y="2503701"/>
                  <a:pt x="0" y="2451091"/>
                </a:cubicBezTo>
                <a:lnTo>
                  <a:pt x="0" y="95259"/>
                </a:lnTo>
                <a:cubicBezTo>
                  <a:pt x="0" y="42649"/>
                  <a:pt x="42649" y="0"/>
                  <a:pt x="95259"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5" name="Shape 3"/>
          <p:cNvSpPr/>
          <p:nvPr/>
        </p:nvSpPr>
        <p:spPr>
          <a:xfrm>
            <a:off x="524272" y="1127766"/>
            <a:ext cx="178594" cy="158750"/>
          </a:xfrm>
          <a:custGeom>
            <a:avLst/>
            <a:gdLst/>
            <a:ahLst/>
            <a:cxnLst/>
            <a:rect l="l" t="t" r="r" b="b"/>
            <a:pathLst>
              <a:path w="178594" h="158750">
                <a:moveTo>
                  <a:pt x="19844" y="29766"/>
                </a:moveTo>
                <a:lnTo>
                  <a:pt x="19844" y="104180"/>
                </a:lnTo>
                <a:lnTo>
                  <a:pt x="158750" y="104180"/>
                </a:lnTo>
                <a:lnTo>
                  <a:pt x="158750" y="29766"/>
                </a:lnTo>
                <a:lnTo>
                  <a:pt x="19844" y="29766"/>
                </a:lnTo>
                <a:close/>
                <a:moveTo>
                  <a:pt x="0" y="29766"/>
                </a:moveTo>
                <a:cubicBezTo>
                  <a:pt x="0" y="18821"/>
                  <a:pt x="8899" y="9922"/>
                  <a:pt x="19844" y="9922"/>
                </a:cubicBezTo>
                <a:lnTo>
                  <a:pt x="158750" y="9922"/>
                </a:lnTo>
                <a:cubicBezTo>
                  <a:pt x="169695" y="9922"/>
                  <a:pt x="178594" y="18821"/>
                  <a:pt x="178594" y="29766"/>
                </a:cubicBezTo>
                <a:lnTo>
                  <a:pt x="178594" y="104180"/>
                </a:lnTo>
                <a:cubicBezTo>
                  <a:pt x="178594" y="115125"/>
                  <a:pt x="169695" y="124023"/>
                  <a:pt x="158750" y="124023"/>
                </a:cubicBezTo>
                <a:lnTo>
                  <a:pt x="19844" y="124023"/>
                </a:lnTo>
                <a:cubicBezTo>
                  <a:pt x="8899" y="124023"/>
                  <a:pt x="0" y="115125"/>
                  <a:pt x="0" y="104180"/>
                </a:cubicBezTo>
                <a:lnTo>
                  <a:pt x="0" y="29766"/>
                </a:lnTo>
                <a:close/>
                <a:moveTo>
                  <a:pt x="49609" y="138906"/>
                </a:moveTo>
                <a:lnTo>
                  <a:pt x="128984" y="138906"/>
                </a:lnTo>
                <a:cubicBezTo>
                  <a:pt x="134472" y="138906"/>
                  <a:pt x="138906" y="143340"/>
                  <a:pt x="138906" y="148828"/>
                </a:cubicBezTo>
                <a:cubicBezTo>
                  <a:pt x="138906" y="154316"/>
                  <a:pt x="134472" y="158750"/>
                  <a:pt x="128984" y="158750"/>
                </a:cubicBezTo>
                <a:lnTo>
                  <a:pt x="49609" y="158750"/>
                </a:lnTo>
                <a:cubicBezTo>
                  <a:pt x="44121" y="158750"/>
                  <a:pt x="39688" y="154316"/>
                  <a:pt x="39688" y="148828"/>
                </a:cubicBezTo>
                <a:cubicBezTo>
                  <a:pt x="39688" y="143340"/>
                  <a:pt x="44121" y="138906"/>
                  <a:pt x="49609" y="138906"/>
                </a:cubicBezTo>
                <a:close/>
              </a:path>
            </a:pathLst>
          </a:custGeom>
          <a:solidFill>
            <a:srgbClr val="0071E3"/>
          </a:solidFill>
          <a:ln/>
        </p:spPr>
      </p:sp>
      <p:sp>
        <p:nvSpPr>
          <p:cNvPr id="6" name="Text 4"/>
          <p:cNvSpPr/>
          <p:nvPr/>
        </p:nvSpPr>
        <p:spPr>
          <a:xfrm>
            <a:off x="712788" y="1096016"/>
            <a:ext cx="634206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Adafruit SSD1306 Library</a:t>
            </a:r>
            <a:endParaRPr lang="en-US" sz="1600" dirty="0"/>
          </a:p>
        </p:txBody>
      </p:sp>
      <p:sp>
        <p:nvSpPr>
          <p:cNvPr id="7" name="Shape 5"/>
          <p:cNvSpPr/>
          <p:nvPr/>
        </p:nvSpPr>
        <p:spPr>
          <a:xfrm>
            <a:off x="514350" y="1445266"/>
            <a:ext cx="6461125" cy="1246188"/>
          </a:xfrm>
          <a:custGeom>
            <a:avLst/>
            <a:gdLst/>
            <a:ahLst/>
            <a:cxnLst/>
            <a:rect l="l" t="t" r="r" b="b"/>
            <a:pathLst>
              <a:path w="6461125" h="1246188">
                <a:moveTo>
                  <a:pt x="63506" y="0"/>
                </a:moveTo>
                <a:lnTo>
                  <a:pt x="6397619" y="0"/>
                </a:lnTo>
                <a:cubicBezTo>
                  <a:pt x="6432693" y="0"/>
                  <a:pt x="6461125" y="28432"/>
                  <a:pt x="6461125" y="63506"/>
                </a:cubicBezTo>
                <a:lnTo>
                  <a:pt x="6461125" y="1182682"/>
                </a:lnTo>
                <a:cubicBezTo>
                  <a:pt x="6461125" y="1217755"/>
                  <a:pt x="6432693" y="1246187"/>
                  <a:pt x="6397619" y="1246188"/>
                </a:cubicBezTo>
                <a:lnTo>
                  <a:pt x="63506" y="1246188"/>
                </a:lnTo>
                <a:cubicBezTo>
                  <a:pt x="28432" y="1246188"/>
                  <a:pt x="0" y="1217755"/>
                  <a:pt x="0" y="1182682"/>
                </a:cubicBezTo>
                <a:lnTo>
                  <a:pt x="0" y="63506"/>
                </a:lnTo>
                <a:cubicBezTo>
                  <a:pt x="0" y="28456"/>
                  <a:pt x="28456" y="0"/>
                  <a:pt x="63506" y="0"/>
                </a:cubicBezTo>
                <a:close/>
              </a:path>
            </a:pathLst>
          </a:custGeom>
          <a:solidFill>
            <a:srgbClr val="F5F5F7"/>
          </a:solidFill>
          <a:ln/>
        </p:spPr>
      </p:sp>
      <p:sp>
        <p:nvSpPr>
          <p:cNvPr id="8" name="Text 6"/>
          <p:cNvSpPr/>
          <p:nvPr/>
        </p:nvSpPr>
        <p:spPr>
          <a:xfrm>
            <a:off x="641350" y="1540516"/>
            <a:ext cx="62587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#include</a:t>
            </a:r>
            <a:endParaRPr lang="en-US" sz="1600" dirty="0"/>
          </a:p>
        </p:txBody>
      </p:sp>
      <p:sp>
        <p:nvSpPr>
          <p:cNvPr id="9" name="Text 7"/>
          <p:cNvSpPr/>
          <p:nvPr/>
        </p:nvSpPr>
        <p:spPr>
          <a:xfrm>
            <a:off x="641350" y="1771494"/>
            <a:ext cx="2280841"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Display initialization (Line 281)</a:t>
            </a:r>
            <a:endParaRPr lang="en-US" sz="1600" dirty="0"/>
          </a:p>
        </p:txBody>
      </p:sp>
      <p:sp>
        <p:nvSpPr>
          <p:cNvPr id="10" name="Text 8"/>
          <p:cNvSpPr/>
          <p:nvPr/>
        </p:nvSpPr>
        <p:spPr>
          <a:xfrm>
            <a:off x="641350" y="1913579"/>
            <a:ext cx="6258719" cy="158750"/>
          </a:xfrm>
          <a:prstGeom prst="rect">
            <a:avLst/>
          </a:prstGeom>
          <a:noFill/>
          <a:ln/>
        </p:spPr>
        <p:txBody>
          <a:bodyPr wrap="square" lIns="0" tIns="0" rIns="0" bIns="0" rtlCol="0" anchor="ctr"/>
          <a:lstStyle/>
          <a:p>
            <a:pPr>
              <a:lnSpc>
                <a:spcPct val="130000"/>
              </a:lnSpc>
            </a:pPr>
            <a:r>
              <a:rPr lang="en-US" sz="813" dirty="0">
                <a:solidFill>
                  <a:srgbClr val="1D1D1D"/>
                </a:solidFill>
                <a:latin typeface="MiSans" pitchFamily="34" charset="0"/>
                <a:ea typeface="MiSans" pitchFamily="34" charset="-122"/>
                <a:cs typeface="MiSans" pitchFamily="34" charset="-120"/>
              </a:rPr>
              <a:t>Adafruit_SSD1306 display(</a:t>
            </a:r>
            <a:r>
              <a:rPr lang="en-US" sz="813" dirty="0">
                <a:solidFill>
                  <a:srgbClr val="FF9500"/>
                </a:solidFill>
                <a:latin typeface="MiSans" pitchFamily="34" charset="0"/>
                <a:ea typeface="MiSans" pitchFamily="34" charset="-122"/>
                <a:cs typeface="MiSans" pitchFamily="34" charset="-120"/>
              </a:rPr>
              <a:t>128</a:t>
            </a:r>
            <a:r>
              <a:rPr lang="en-US" sz="813" dirty="0">
                <a:solidFill>
                  <a:srgbClr val="1D1D1D"/>
                </a:solidFill>
                <a:latin typeface="MiSans" pitchFamily="34" charset="0"/>
                <a:ea typeface="MiSans" pitchFamily="34" charset="-122"/>
                <a:cs typeface="MiSans" pitchFamily="34" charset="-120"/>
              </a:rPr>
              <a:t>, </a:t>
            </a:r>
            <a:r>
              <a:rPr lang="en-US" sz="813" dirty="0">
                <a:solidFill>
                  <a:srgbClr val="FF9500"/>
                </a:solidFill>
                <a:latin typeface="MiSans" pitchFamily="34" charset="0"/>
                <a:ea typeface="MiSans" pitchFamily="34" charset="-122"/>
                <a:cs typeface="MiSans" pitchFamily="34" charset="-120"/>
              </a:rPr>
              <a:t>64</a:t>
            </a:r>
            <a:r>
              <a:rPr lang="en-US" sz="813" dirty="0">
                <a:solidFill>
                  <a:srgbClr val="1D1D1D"/>
                </a:solidFill>
                <a:latin typeface="MiSans" pitchFamily="34" charset="0"/>
                <a:ea typeface="MiSans" pitchFamily="34" charset="-122"/>
                <a:cs typeface="MiSans" pitchFamily="34" charset="-120"/>
              </a:rPr>
              <a:t>, &amp;Wire, -</a:t>
            </a:r>
            <a:r>
              <a:rPr lang="en-US" sz="813" dirty="0">
                <a:solidFill>
                  <a:srgbClr val="FF9500"/>
                </a:solidFill>
                <a:latin typeface="MiSans" pitchFamily="34" charset="0"/>
                <a:ea typeface="MiSans" pitchFamily="34" charset="-122"/>
                <a:cs typeface="MiSans" pitchFamily="34" charset="-120"/>
              </a:rPr>
              <a:t>1</a:t>
            </a:r>
            <a:r>
              <a:rPr lang="en-US" sz="813" dirty="0">
                <a:solidFill>
                  <a:srgbClr val="1D1D1D"/>
                </a:solidFill>
                <a:latin typeface="MiSans" pitchFamily="34" charset="0"/>
                <a:ea typeface="MiSans" pitchFamily="34" charset="-122"/>
                <a:cs typeface="MiSans" pitchFamily="34" charset="-120"/>
              </a:rPr>
              <a:t>);</a:t>
            </a:r>
            <a:endParaRPr lang="en-US" sz="1600" dirty="0"/>
          </a:p>
        </p:txBody>
      </p:sp>
      <p:sp>
        <p:nvSpPr>
          <p:cNvPr id="11" name="Text 9"/>
          <p:cNvSpPr/>
          <p:nvPr/>
        </p:nvSpPr>
        <p:spPr>
          <a:xfrm>
            <a:off x="641350" y="2144557"/>
            <a:ext cx="1723529"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I2C pins (Lines 265-266)</a:t>
            </a:r>
            <a:endParaRPr lang="en-US" sz="1600" dirty="0"/>
          </a:p>
        </p:txBody>
      </p:sp>
      <p:sp>
        <p:nvSpPr>
          <p:cNvPr id="12" name="Text 10"/>
          <p:cNvSpPr/>
          <p:nvPr/>
        </p:nvSpPr>
        <p:spPr>
          <a:xfrm>
            <a:off x="641350" y="2286641"/>
            <a:ext cx="62587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#define</a:t>
            </a:r>
            <a:r>
              <a:rPr lang="en-US" sz="813" dirty="0">
                <a:solidFill>
                  <a:srgbClr val="1D1D1D"/>
                </a:solidFill>
                <a:latin typeface="MiSans" pitchFamily="34" charset="0"/>
                <a:ea typeface="MiSans" pitchFamily="34" charset="-122"/>
                <a:cs typeface="MiSans" pitchFamily="34" charset="-120"/>
              </a:rPr>
              <a:t> OLED_SDA </a:t>
            </a:r>
            <a:r>
              <a:rPr lang="en-US" sz="813" dirty="0">
                <a:solidFill>
                  <a:srgbClr val="FF9500"/>
                </a:solidFill>
                <a:latin typeface="MiSans" pitchFamily="34" charset="0"/>
                <a:ea typeface="MiSans" pitchFamily="34" charset="-122"/>
                <a:cs typeface="MiSans" pitchFamily="34" charset="-120"/>
              </a:rPr>
              <a:t>21</a:t>
            </a:r>
            <a:endParaRPr lang="en-US" sz="1600" dirty="0"/>
          </a:p>
        </p:txBody>
      </p:sp>
      <p:sp>
        <p:nvSpPr>
          <p:cNvPr id="13" name="Text 11"/>
          <p:cNvSpPr/>
          <p:nvPr/>
        </p:nvSpPr>
        <p:spPr>
          <a:xfrm>
            <a:off x="641350" y="2441422"/>
            <a:ext cx="6258719"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#define</a:t>
            </a:r>
            <a:r>
              <a:rPr lang="en-US" sz="813" dirty="0">
                <a:solidFill>
                  <a:srgbClr val="1D1D1D"/>
                </a:solidFill>
                <a:latin typeface="MiSans" pitchFamily="34" charset="0"/>
                <a:ea typeface="MiSans" pitchFamily="34" charset="-122"/>
                <a:cs typeface="MiSans" pitchFamily="34" charset="-120"/>
              </a:rPr>
              <a:t> OLED_SCL </a:t>
            </a:r>
            <a:r>
              <a:rPr lang="en-US" sz="813" dirty="0">
                <a:solidFill>
                  <a:srgbClr val="FF9500"/>
                </a:solidFill>
                <a:latin typeface="MiSans" pitchFamily="34" charset="0"/>
                <a:ea typeface="MiSans" pitchFamily="34" charset="-122"/>
                <a:cs typeface="MiSans" pitchFamily="34" charset="-120"/>
              </a:rPr>
              <a:t>22</a:t>
            </a:r>
            <a:endParaRPr lang="en-US" sz="1600" dirty="0"/>
          </a:p>
        </p:txBody>
      </p:sp>
      <p:sp>
        <p:nvSpPr>
          <p:cNvPr id="14" name="Shape 12"/>
          <p:cNvSpPr/>
          <p:nvPr/>
        </p:nvSpPr>
        <p:spPr>
          <a:xfrm>
            <a:off x="514350" y="2818454"/>
            <a:ext cx="6461125" cy="436563"/>
          </a:xfrm>
          <a:custGeom>
            <a:avLst/>
            <a:gdLst/>
            <a:ahLst/>
            <a:cxnLst/>
            <a:rect l="l" t="t" r="r" b="b"/>
            <a:pathLst>
              <a:path w="6461125" h="436563">
                <a:moveTo>
                  <a:pt x="63498" y="0"/>
                </a:moveTo>
                <a:lnTo>
                  <a:pt x="6397627" y="0"/>
                </a:lnTo>
                <a:cubicBezTo>
                  <a:pt x="6432696" y="0"/>
                  <a:pt x="6461125" y="28429"/>
                  <a:pt x="6461125" y="63498"/>
                </a:cubicBezTo>
                <a:lnTo>
                  <a:pt x="6461125" y="373064"/>
                </a:lnTo>
                <a:cubicBezTo>
                  <a:pt x="6461125" y="408133"/>
                  <a:pt x="6432696" y="436563"/>
                  <a:pt x="6397627" y="436563"/>
                </a:cubicBezTo>
                <a:lnTo>
                  <a:pt x="63498" y="436563"/>
                </a:lnTo>
                <a:cubicBezTo>
                  <a:pt x="28453" y="436563"/>
                  <a:pt x="0" y="408110"/>
                  <a:pt x="0" y="373064"/>
                </a:cubicBezTo>
                <a:lnTo>
                  <a:pt x="0" y="63498"/>
                </a:lnTo>
                <a:cubicBezTo>
                  <a:pt x="0" y="28453"/>
                  <a:pt x="28453" y="0"/>
                  <a:pt x="63498" y="0"/>
                </a:cubicBezTo>
                <a:close/>
              </a:path>
            </a:pathLst>
          </a:custGeom>
          <a:solidFill>
            <a:srgbClr val="0071E3">
              <a:alpha val="5098"/>
            </a:srgbClr>
          </a:solidFill>
          <a:ln/>
        </p:spPr>
      </p:sp>
      <p:sp>
        <p:nvSpPr>
          <p:cNvPr id="15" name="Shape 13"/>
          <p:cNvSpPr/>
          <p:nvPr/>
        </p:nvSpPr>
        <p:spPr>
          <a:xfrm>
            <a:off x="657225" y="2977204"/>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48617" y="34727"/>
                </a:moveTo>
                <a:cubicBezTo>
                  <a:pt x="48617" y="30893"/>
                  <a:pt x="51729" y="27781"/>
                  <a:pt x="55563" y="27781"/>
                </a:cubicBezTo>
                <a:cubicBezTo>
                  <a:pt x="59396" y="27781"/>
                  <a:pt x="62508" y="30893"/>
                  <a:pt x="62508" y="34727"/>
                </a:cubicBezTo>
                <a:cubicBezTo>
                  <a:pt x="62508" y="38560"/>
                  <a:pt x="59396" y="41672"/>
                  <a:pt x="55563" y="41672"/>
                </a:cubicBezTo>
                <a:cubicBezTo>
                  <a:pt x="51729" y="41672"/>
                  <a:pt x="48617" y="38560"/>
                  <a:pt x="48617" y="34727"/>
                </a:cubicBezTo>
                <a:close/>
                <a:moveTo>
                  <a:pt x="46881" y="48617"/>
                </a:moveTo>
                <a:lnTo>
                  <a:pt x="57299" y="48617"/>
                </a:lnTo>
                <a:cubicBezTo>
                  <a:pt x="60185" y="48617"/>
                  <a:pt x="62508" y="50940"/>
                  <a:pt x="62508" y="53826"/>
                </a:cubicBezTo>
                <a:lnTo>
                  <a:pt x="62508" y="72926"/>
                </a:lnTo>
                <a:lnTo>
                  <a:pt x="64244" y="72926"/>
                </a:lnTo>
                <a:cubicBezTo>
                  <a:pt x="67131" y="72926"/>
                  <a:pt x="69453" y="75248"/>
                  <a:pt x="69453" y="78135"/>
                </a:cubicBezTo>
                <a:cubicBezTo>
                  <a:pt x="69453" y="81021"/>
                  <a:pt x="67131" y="83344"/>
                  <a:pt x="64244" y="83344"/>
                </a:cubicBezTo>
                <a:lnTo>
                  <a:pt x="46881" y="83344"/>
                </a:lnTo>
                <a:cubicBezTo>
                  <a:pt x="43994" y="83344"/>
                  <a:pt x="41672" y="81021"/>
                  <a:pt x="41672" y="78135"/>
                </a:cubicBezTo>
                <a:cubicBezTo>
                  <a:pt x="41672" y="75248"/>
                  <a:pt x="43994" y="72926"/>
                  <a:pt x="46881" y="72926"/>
                </a:cubicBezTo>
                <a:lnTo>
                  <a:pt x="52090" y="72926"/>
                </a:lnTo>
                <a:lnTo>
                  <a:pt x="52090" y="59035"/>
                </a:lnTo>
                <a:lnTo>
                  <a:pt x="46881" y="59035"/>
                </a:lnTo>
                <a:cubicBezTo>
                  <a:pt x="43994" y="59035"/>
                  <a:pt x="41672" y="56713"/>
                  <a:pt x="41672" y="53826"/>
                </a:cubicBezTo>
                <a:cubicBezTo>
                  <a:pt x="41672" y="50940"/>
                  <a:pt x="43994" y="48617"/>
                  <a:pt x="46881" y="48617"/>
                </a:cubicBezTo>
                <a:close/>
              </a:path>
            </a:pathLst>
          </a:custGeom>
          <a:solidFill>
            <a:srgbClr val="0071E3"/>
          </a:solidFill>
          <a:ln/>
        </p:spPr>
      </p:sp>
      <p:sp>
        <p:nvSpPr>
          <p:cNvPr id="16" name="Text 14"/>
          <p:cNvSpPr/>
          <p:nvPr/>
        </p:nvSpPr>
        <p:spPr>
          <a:xfrm>
            <a:off x="823913" y="2945454"/>
            <a:ext cx="6080125" cy="182563"/>
          </a:xfrm>
          <a:prstGeom prst="rect">
            <a:avLst/>
          </a:prstGeom>
          <a:noFill/>
          <a:ln/>
        </p:spPr>
        <p:txBody>
          <a:bodyPr wrap="square" lIns="0" tIns="0" rIns="0" bIns="0" rtlCol="0" anchor="ctr"/>
          <a:lstStyle/>
          <a:p>
            <a:pPr>
              <a:lnSpc>
                <a:spcPct val="140000"/>
              </a:lnSpc>
            </a:pPr>
            <a:r>
              <a:rPr lang="en-US" sz="875" dirty="0">
                <a:solidFill>
                  <a:srgbClr val="86868B"/>
                </a:solidFill>
                <a:latin typeface="Liter" pitchFamily="34" charset="0"/>
                <a:ea typeface="Liter" pitchFamily="34" charset="-122"/>
                <a:cs typeface="Liter" pitchFamily="34" charset="-120"/>
              </a:rPr>
              <a:t>128×64 pixel monochrome OLED display provides visual feedback for sighted caregivers and debugging information.</a:t>
            </a:r>
            <a:endParaRPr lang="en-US" sz="1600" dirty="0"/>
          </a:p>
        </p:txBody>
      </p:sp>
      <p:sp>
        <p:nvSpPr>
          <p:cNvPr id="17" name="Shape 15"/>
          <p:cNvSpPr/>
          <p:nvPr/>
        </p:nvSpPr>
        <p:spPr>
          <a:xfrm>
            <a:off x="317500" y="3459998"/>
            <a:ext cx="6858000" cy="3302000"/>
          </a:xfrm>
          <a:custGeom>
            <a:avLst/>
            <a:gdLst/>
            <a:ahLst/>
            <a:cxnLst/>
            <a:rect l="l" t="t" r="r" b="b"/>
            <a:pathLst>
              <a:path w="6858000" h="3302000">
                <a:moveTo>
                  <a:pt x="95263" y="0"/>
                </a:moveTo>
                <a:lnTo>
                  <a:pt x="6762737" y="0"/>
                </a:lnTo>
                <a:cubicBezTo>
                  <a:pt x="6815349" y="0"/>
                  <a:pt x="6858000" y="42651"/>
                  <a:pt x="6858000" y="95263"/>
                </a:cubicBezTo>
                <a:lnTo>
                  <a:pt x="6858000" y="3206737"/>
                </a:lnTo>
                <a:cubicBezTo>
                  <a:pt x="6858000" y="3259349"/>
                  <a:pt x="6815349" y="3302000"/>
                  <a:pt x="6762737" y="3302000"/>
                </a:cubicBezTo>
                <a:lnTo>
                  <a:pt x="95263" y="3302000"/>
                </a:lnTo>
                <a:cubicBezTo>
                  <a:pt x="42651" y="3302000"/>
                  <a:pt x="0" y="3259349"/>
                  <a:pt x="0" y="3206737"/>
                </a:cubicBezTo>
                <a:lnTo>
                  <a:pt x="0" y="95263"/>
                </a:lnTo>
                <a:cubicBezTo>
                  <a:pt x="0" y="42651"/>
                  <a:pt x="42651" y="0"/>
                  <a:pt x="95263" y="0"/>
                </a:cubicBezTo>
                <a:close/>
              </a:path>
            </a:pathLst>
          </a:custGeom>
          <a:solidFill>
            <a:srgbClr val="1D1D1D"/>
          </a:solidFill>
          <a:ln/>
        </p:spPr>
      </p:sp>
      <p:sp>
        <p:nvSpPr>
          <p:cNvPr id="18" name="Shape 16"/>
          <p:cNvSpPr/>
          <p:nvPr/>
        </p:nvSpPr>
        <p:spPr>
          <a:xfrm>
            <a:off x="487164" y="3658436"/>
            <a:ext cx="160734" cy="142875"/>
          </a:xfrm>
          <a:custGeom>
            <a:avLst/>
            <a:gdLst/>
            <a:ahLst/>
            <a:cxnLst/>
            <a:rect l="l" t="t" r="r" b="b"/>
            <a:pathLst>
              <a:path w="160734" h="142875">
                <a:moveTo>
                  <a:pt x="100682" y="335"/>
                </a:moveTo>
                <a:cubicBezTo>
                  <a:pt x="95938" y="-1032"/>
                  <a:pt x="90999" y="1730"/>
                  <a:pt x="89632" y="6474"/>
                </a:cubicBezTo>
                <a:lnTo>
                  <a:pt x="53913" y="131490"/>
                </a:lnTo>
                <a:cubicBezTo>
                  <a:pt x="52546" y="136234"/>
                  <a:pt x="55308" y="141173"/>
                  <a:pt x="60052" y="142540"/>
                </a:cubicBezTo>
                <a:cubicBezTo>
                  <a:pt x="64796" y="143907"/>
                  <a:pt x="69735" y="141145"/>
                  <a:pt x="71103" y="136401"/>
                </a:cubicBezTo>
                <a:lnTo>
                  <a:pt x="106821" y="11385"/>
                </a:lnTo>
                <a:cubicBezTo>
                  <a:pt x="108189" y="6641"/>
                  <a:pt x="105426" y="1702"/>
                  <a:pt x="100682" y="335"/>
                </a:cubicBezTo>
                <a:close/>
                <a:moveTo>
                  <a:pt x="118709" y="38314"/>
                </a:moveTo>
                <a:cubicBezTo>
                  <a:pt x="115221" y="41802"/>
                  <a:pt x="115221" y="47467"/>
                  <a:pt x="118709" y="50955"/>
                </a:cubicBezTo>
                <a:lnTo>
                  <a:pt x="139192" y="71438"/>
                </a:lnTo>
                <a:lnTo>
                  <a:pt x="118709" y="91920"/>
                </a:lnTo>
                <a:cubicBezTo>
                  <a:pt x="115221" y="95408"/>
                  <a:pt x="115221" y="101073"/>
                  <a:pt x="118709" y="104561"/>
                </a:cubicBezTo>
                <a:cubicBezTo>
                  <a:pt x="122197" y="108049"/>
                  <a:pt x="127862" y="108049"/>
                  <a:pt x="131350" y="104561"/>
                </a:cubicBezTo>
                <a:lnTo>
                  <a:pt x="158139" y="77772"/>
                </a:lnTo>
                <a:cubicBezTo>
                  <a:pt x="161627" y="74284"/>
                  <a:pt x="161627" y="68619"/>
                  <a:pt x="158139" y="65131"/>
                </a:cubicBezTo>
                <a:lnTo>
                  <a:pt x="131350" y="38342"/>
                </a:lnTo>
                <a:cubicBezTo>
                  <a:pt x="127862" y="34854"/>
                  <a:pt x="122197" y="34854"/>
                  <a:pt x="118709" y="38342"/>
                </a:cubicBezTo>
                <a:close/>
                <a:moveTo>
                  <a:pt x="42053" y="38314"/>
                </a:moveTo>
                <a:cubicBezTo>
                  <a:pt x="38565" y="34826"/>
                  <a:pt x="32900" y="34826"/>
                  <a:pt x="29412" y="38314"/>
                </a:cubicBezTo>
                <a:lnTo>
                  <a:pt x="2623" y="65103"/>
                </a:lnTo>
                <a:cubicBezTo>
                  <a:pt x="-865" y="68591"/>
                  <a:pt x="-865" y="74256"/>
                  <a:pt x="2623" y="77744"/>
                </a:cubicBezTo>
                <a:lnTo>
                  <a:pt x="29412" y="104533"/>
                </a:lnTo>
                <a:cubicBezTo>
                  <a:pt x="32900" y="108021"/>
                  <a:pt x="38565" y="108021"/>
                  <a:pt x="42053" y="104533"/>
                </a:cubicBezTo>
                <a:cubicBezTo>
                  <a:pt x="45541" y="101045"/>
                  <a:pt x="45541" y="95380"/>
                  <a:pt x="42053" y="91892"/>
                </a:cubicBezTo>
                <a:lnTo>
                  <a:pt x="21571" y="71438"/>
                </a:lnTo>
                <a:lnTo>
                  <a:pt x="42025" y="50955"/>
                </a:lnTo>
                <a:cubicBezTo>
                  <a:pt x="45514" y="47467"/>
                  <a:pt x="45514" y="41802"/>
                  <a:pt x="42025" y="38314"/>
                </a:cubicBezTo>
                <a:close/>
              </a:path>
            </a:pathLst>
          </a:custGeom>
          <a:solidFill>
            <a:srgbClr val="0071E3"/>
          </a:solidFill>
          <a:ln/>
        </p:spPr>
      </p:sp>
      <p:sp>
        <p:nvSpPr>
          <p:cNvPr id="19" name="Text 17"/>
          <p:cNvSpPr/>
          <p:nvPr/>
        </p:nvSpPr>
        <p:spPr>
          <a:xfrm>
            <a:off x="658813" y="3618748"/>
            <a:ext cx="642937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showStatus Function (Lines 328-348)</a:t>
            </a:r>
            <a:endParaRPr lang="en-US" sz="1600" dirty="0"/>
          </a:p>
        </p:txBody>
      </p:sp>
      <p:sp>
        <p:nvSpPr>
          <p:cNvPr id="20" name="Shape 18"/>
          <p:cNvSpPr/>
          <p:nvPr/>
        </p:nvSpPr>
        <p:spPr>
          <a:xfrm>
            <a:off x="476250" y="3936248"/>
            <a:ext cx="6540500" cy="2667000"/>
          </a:xfrm>
          <a:custGeom>
            <a:avLst/>
            <a:gdLst/>
            <a:ahLst/>
            <a:cxnLst/>
            <a:rect l="l" t="t" r="r" b="b"/>
            <a:pathLst>
              <a:path w="6540500" h="2667000">
                <a:moveTo>
                  <a:pt x="63501" y="0"/>
                </a:moveTo>
                <a:lnTo>
                  <a:pt x="6476999" y="0"/>
                </a:lnTo>
                <a:cubicBezTo>
                  <a:pt x="6512070" y="0"/>
                  <a:pt x="6540500" y="28430"/>
                  <a:pt x="6540500" y="63501"/>
                </a:cubicBezTo>
                <a:lnTo>
                  <a:pt x="6540500" y="2603499"/>
                </a:lnTo>
                <a:cubicBezTo>
                  <a:pt x="6540500" y="2638570"/>
                  <a:pt x="6512070" y="2667000"/>
                  <a:pt x="6476999" y="2667000"/>
                </a:cubicBezTo>
                <a:lnTo>
                  <a:pt x="63501" y="2667000"/>
                </a:lnTo>
                <a:cubicBezTo>
                  <a:pt x="28430" y="2667000"/>
                  <a:pt x="0" y="2638570"/>
                  <a:pt x="0" y="2603499"/>
                </a:cubicBezTo>
                <a:lnTo>
                  <a:pt x="0" y="63501"/>
                </a:lnTo>
                <a:cubicBezTo>
                  <a:pt x="0" y="28454"/>
                  <a:pt x="28454" y="0"/>
                  <a:pt x="63501" y="0"/>
                </a:cubicBezTo>
                <a:close/>
              </a:path>
            </a:pathLst>
          </a:custGeom>
          <a:solidFill>
            <a:srgbClr val="2D2D2D"/>
          </a:solidFill>
          <a:ln/>
        </p:spPr>
      </p:sp>
      <p:sp>
        <p:nvSpPr>
          <p:cNvPr id="21" name="Text 19"/>
          <p:cNvSpPr/>
          <p:nvPr/>
        </p:nvSpPr>
        <p:spPr>
          <a:xfrm>
            <a:off x="603250" y="4031498"/>
            <a:ext cx="6338094" cy="158750"/>
          </a:xfrm>
          <a:prstGeom prst="rect">
            <a:avLst/>
          </a:prstGeom>
          <a:noFill/>
          <a:ln/>
        </p:spPr>
        <p:txBody>
          <a:bodyPr wrap="square" lIns="0" tIns="0" rIns="0" bIns="0" rtlCol="0" anchor="ctr"/>
          <a:lstStyle/>
          <a:p>
            <a:pPr>
              <a:lnSpc>
                <a:spcPct val="130000"/>
              </a:lnSpc>
            </a:pPr>
            <a:r>
              <a:rPr lang="en-US" sz="813" dirty="0">
                <a:solidFill>
                  <a:srgbClr val="0071E3"/>
                </a:solidFill>
                <a:latin typeface="MiSans" pitchFamily="34" charset="0"/>
                <a:ea typeface="MiSans" pitchFamily="34" charset="-122"/>
                <a:cs typeface="MiSans" pitchFamily="34" charset="-120"/>
              </a:rPr>
              <a:t>voidshowStatus</a:t>
            </a:r>
            <a:r>
              <a:rPr lang="en-US" sz="813" dirty="0">
                <a:solidFill>
                  <a:srgbClr val="FFFFFF"/>
                </a:solidFill>
                <a:latin typeface="MiSans" pitchFamily="34" charset="0"/>
                <a:ea typeface="MiSans" pitchFamily="34" charset="-122"/>
                <a:cs typeface="MiSans" pitchFamily="34" charset="-120"/>
              </a:rPr>
              <a:t>() {</a:t>
            </a:r>
            <a:endParaRPr lang="en-US" sz="1600" dirty="0"/>
          </a:p>
        </p:txBody>
      </p:sp>
      <p:sp>
        <p:nvSpPr>
          <p:cNvPr id="22" name="Text 20"/>
          <p:cNvSpPr/>
          <p:nvPr/>
        </p:nvSpPr>
        <p:spPr>
          <a:xfrm>
            <a:off x="603250" y="4186280"/>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display.clearDisplay();</a:t>
            </a:r>
            <a:endParaRPr lang="en-US" sz="1600" dirty="0"/>
          </a:p>
        </p:txBody>
      </p:sp>
      <p:sp>
        <p:nvSpPr>
          <p:cNvPr id="23" name="Text 21"/>
          <p:cNvSpPr/>
          <p:nvPr/>
        </p:nvSpPr>
        <p:spPr>
          <a:xfrm>
            <a:off x="603250" y="4341061"/>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display.setTextSize(</a:t>
            </a:r>
            <a:r>
              <a:rPr lang="en-US" sz="813" dirty="0">
                <a:solidFill>
                  <a:srgbClr val="FF9500"/>
                </a:solidFill>
                <a:latin typeface="MiSans" pitchFamily="34" charset="0"/>
                <a:ea typeface="MiSans" pitchFamily="34" charset="-122"/>
                <a:cs typeface="MiSans" pitchFamily="34" charset="-120"/>
              </a:rPr>
              <a:t>2</a:t>
            </a: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24" name="Text 22"/>
          <p:cNvSpPr/>
          <p:nvPr/>
        </p:nvSpPr>
        <p:spPr>
          <a:xfrm>
            <a:off x="603250" y="4495842"/>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display.setTextColor(WHITE);</a:t>
            </a:r>
            <a:endParaRPr lang="en-US" sz="1600" dirty="0"/>
          </a:p>
        </p:txBody>
      </p:sp>
      <p:sp>
        <p:nvSpPr>
          <p:cNvPr id="25" name="Text 23"/>
          <p:cNvSpPr/>
          <p:nvPr/>
        </p:nvSpPr>
        <p:spPr>
          <a:xfrm>
            <a:off x="727174" y="4663320"/>
            <a:ext cx="1475879"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 1: Last Command</a:t>
            </a:r>
            <a:endParaRPr lang="en-US" sz="1600" dirty="0"/>
          </a:p>
        </p:txBody>
      </p:sp>
      <p:sp>
        <p:nvSpPr>
          <p:cNvPr id="26" name="Text 24"/>
          <p:cNvSpPr/>
          <p:nvPr/>
        </p:nvSpPr>
        <p:spPr>
          <a:xfrm>
            <a:off x="603250" y="4805405"/>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display.setCursor(</a:t>
            </a:r>
            <a:r>
              <a:rPr lang="en-US" sz="813" dirty="0">
                <a:solidFill>
                  <a:srgbClr val="FF9500"/>
                </a:solidFill>
                <a:latin typeface="MiSans" pitchFamily="34" charset="0"/>
                <a:ea typeface="MiSans" pitchFamily="34" charset="-122"/>
                <a:cs typeface="MiSans" pitchFamily="34" charset="-120"/>
              </a:rPr>
              <a:t>0</a:t>
            </a:r>
            <a:r>
              <a:rPr lang="en-US" sz="813" dirty="0">
                <a:solidFill>
                  <a:srgbClr val="FFFFFF"/>
                </a:solidFill>
                <a:latin typeface="MiSans" pitchFamily="34" charset="0"/>
                <a:ea typeface="MiSans" pitchFamily="34" charset="-122"/>
                <a:cs typeface="MiSans" pitchFamily="34" charset="-120"/>
              </a:rPr>
              <a:t>, </a:t>
            </a:r>
            <a:r>
              <a:rPr lang="en-US" sz="813" dirty="0">
                <a:solidFill>
                  <a:srgbClr val="FF9500"/>
                </a:solidFill>
                <a:latin typeface="MiSans" pitchFamily="34" charset="0"/>
                <a:ea typeface="MiSans" pitchFamily="34" charset="-122"/>
                <a:cs typeface="MiSans" pitchFamily="34" charset="-120"/>
              </a:rPr>
              <a:t>0</a:t>
            </a: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27" name="Text 25"/>
          <p:cNvSpPr/>
          <p:nvPr/>
        </p:nvSpPr>
        <p:spPr>
          <a:xfrm>
            <a:off x="603250" y="4960186"/>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display.print(</a:t>
            </a:r>
            <a:r>
              <a:rPr lang="en-US" sz="813" dirty="0">
                <a:solidFill>
                  <a:srgbClr val="34C759"/>
                </a:solidFill>
                <a:latin typeface="MiSans" pitchFamily="34" charset="0"/>
                <a:ea typeface="MiSans" pitchFamily="34" charset="-122"/>
                <a:cs typeface="MiSans" pitchFamily="34" charset="-120"/>
              </a:rPr>
              <a:t>"CMD:"</a:t>
            </a: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28" name="Text 26"/>
          <p:cNvSpPr/>
          <p:nvPr/>
        </p:nvSpPr>
        <p:spPr>
          <a:xfrm>
            <a:off x="603250" y="5114967"/>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display.println(lastCommand.substring(</a:t>
            </a:r>
            <a:r>
              <a:rPr lang="en-US" sz="813" dirty="0">
                <a:solidFill>
                  <a:srgbClr val="FF9500"/>
                </a:solidFill>
                <a:latin typeface="MiSans" pitchFamily="34" charset="0"/>
                <a:ea typeface="MiSans" pitchFamily="34" charset="-122"/>
                <a:cs typeface="MiSans" pitchFamily="34" charset="-120"/>
              </a:rPr>
              <a:t>0</a:t>
            </a:r>
            <a:r>
              <a:rPr lang="en-US" sz="813" dirty="0">
                <a:solidFill>
                  <a:srgbClr val="FFFFFF"/>
                </a:solidFill>
                <a:latin typeface="MiSans" pitchFamily="34" charset="0"/>
                <a:ea typeface="MiSans" pitchFamily="34" charset="-122"/>
                <a:cs typeface="MiSans" pitchFamily="34" charset="-120"/>
              </a:rPr>
              <a:t>,</a:t>
            </a:r>
            <a:r>
              <a:rPr lang="en-US" sz="813" dirty="0">
                <a:solidFill>
                  <a:srgbClr val="FF9500"/>
                </a:solidFill>
                <a:latin typeface="MiSans" pitchFamily="34" charset="0"/>
                <a:ea typeface="MiSans" pitchFamily="34" charset="-122"/>
                <a:cs typeface="MiSans" pitchFamily="34" charset="-120"/>
              </a:rPr>
              <a:t>5</a:t>
            </a: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29" name="Text 27"/>
          <p:cNvSpPr/>
          <p:nvPr/>
        </p:nvSpPr>
        <p:spPr>
          <a:xfrm>
            <a:off x="727174" y="5282445"/>
            <a:ext cx="1475879"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 2: Light Status</a:t>
            </a:r>
            <a:endParaRPr lang="en-US" sz="1600" dirty="0"/>
          </a:p>
        </p:txBody>
      </p:sp>
      <p:sp>
        <p:nvSpPr>
          <p:cNvPr id="30" name="Text 28"/>
          <p:cNvSpPr/>
          <p:nvPr/>
        </p:nvSpPr>
        <p:spPr>
          <a:xfrm>
            <a:off x="603250" y="5424530"/>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display.print(</a:t>
            </a:r>
            <a:r>
              <a:rPr lang="en-US" sz="813" dirty="0">
                <a:solidFill>
                  <a:srgbClr val="34C759"/>
                </a:solidFill>
                <a:latin typeface="MiSans" pitchFamily="34" charset="0"/>
                <a:ea typeface="MiSans" pitchFamily="34" charset="-122"/>
                <a:cs typeface="MiSans" pitchFamily="34" charset="-120"/>
              </a:rPr>
              <a:t>"L1:"</a:t>
            </a:r>
            <a:r>
              <a:rPr lang="en-US" sz="813" dirty="0">
                <a:solidFill>
                  <a:srgbClr val="FFFFFF"/>
                </a:solidFill>
                <a:latin typeface="MiSans" pitchFamily="34" charset="0"/>
                <a:ea typeface="MiSans" pitchFamily="34" charset="-122"/>
                <a:cs typeface="MiSans" pitchFamily="34" charset="-120"/>
              </a:rPr>
              <a:t>); display.print(l1State);</a:t>
            </a:r>
            <a:endParaRPr lang="en-US" sz="1600" dirty="0"/>
          </a:p>
        </p:txBody>
      </p:sp>
      <p:sp>
        <p:nvSpPr>
          <p:cNvPr id="31" name="Text 29"/>
          <p:cNvSpPr/>
          <p:nvPr/>
        </p:nvSpPr>
        <p:spPr>
          <a:xfrm>
            <a:off x="603250" y="5579311"/>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display.print(</a:t>
            </a:r>
            <a:r>
              <a:rPr lang="en-US" sz="813" dirty="0">
                <a:solidFill>
                  <a:srgbClr val="34C759"/>
                </a:solidFill>
                <a:latin typeface="MiSans" pitchFamily="34" charset="0"/>
                <a:ea typeface="MiSans" pitchFamily="34" charset="-122"/>
                <a:cs typeface="MiSans" pitchFamily="34" charset="-120"/>
              </a:rPr>
              <a:t>" L2:"</a:t>
            </a:r>
            <a:r>
              <a:rPr lang="en-US" sz="813" dirty="0">
                <a:solidFill>
                  <a:srgbClr val="FFFFFF"/>
                </a:solidFill>
                <a:latin typeface="MiSans" pitchFamily="34" charset="0"/>
                <a:ea typeface="MiSans" pitchFamily="34" charset="-122"/>
                <a:cs typeface="MiSans" pitchFamily="34" charset="-120"/>
              </a:rPr>
              <a:t>); display.println(l2State);</a:t>
            </a:r>
            <a:endParaRPr lang="en-US" sz="1600" dirty="0"/>
          </a:p>
        </p:txBody>
      </p:sp>
      <p:sp>
        <p:nvSpPr>
          <p:cNvPr id="32" name="Text 30"/>
          <p:cNvSpPr/>
          <p:nvPr/>
        </p:nvSpPr>
        <p:spPr>
          <a:xfrm>
            <a:off x="727174" y="5746789"/>
            <a:ext cx="1352054" cy="120650"/>
          </a:xfrm>
          <a:prstGeom prst="rect">
            <a:avLst/>
          </a:prstGeom>
          <a:noFill/>
          <a:ln/>
        </p:spPr>
        <p:txBody>
          <a:bodyPr wrap="square" lIns="0" tIns="0" rIns="0" bIns="0" rtlCol="0" anchor="ctr"/>
          <a:lstStyle/>
          <a:p>
            <a:pPr>
              <a:lnSpc>
                <a:spcPct val="130000"/>
              </a:lnSpc>
            </a:pPr>
            <a:r>
              <a:rPr lang="en-US" sz="813" dirty="0">
                <a:solidFill>
                  <a:srgbClr val="86868B"/>
                </a:solidFill>
                <a:latin typeface="MiSans" pitchFamily="34" charset="0"/>
                <a:ea typeface="MiSans" pitchFamily="34" charset="-122"/>
                <a:cs typeface="MiSans" pitchFamily="34" charset="-120"/>
              </a:rPr>
              <a:t>// Line 3: Fan Status</a:t>
            </a:r>
            <a:endParaRPr lang="en-US" sz="1600" dirty="0"/>
          </a:p>
        </p:txBody>
      </p:sp>
      <p:sp>
        <p:nvSpPr>
          <p:cNvPr id="33" name="Text 31"/>
          <p:cNvSpPr/>
          <p:nvPr/>
        </p:nvSpPr>
        <p:spPr>
          <a:xfrm>
            <a:off x="603250" y="5888873"/>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display.print(</a:t>
            </a:r>
            <a:r>
              <a:rPr lang="en-US" sz="813" dirty="0">
                <a:solidFill>
                  <a:srgbClr val="34C759"/>
                </a:solidFill>
                <a:latin typeface="MiSans" pitchFamily="34" charset="0"/>
                <a:ea typeface="MiSans" pitchFamily="34" charset="-122"/>
                <a:cs typeface="MiSans" pitchFamily="34" charset="-120"/>
              </a:rPr>
              <a:t>"F1:"</a:t>
            </a:r>
            <a:r>
              <a:rPr lang="en-US" sz="813" dirty="0">
                <a:solidFill>
                  <a:srgbClr val="FFFFFF"/>
                </a:solidFill>
                <a:latin typeface="MiSans" pitchFamily="34" charset="0"/>
                <a:ea typeface="MiSans" pitchFamily="34" charset="-122"/>
                <a:cs typeface="MiSans" pitchFamily="34" charset="-120"/>
              </a:rPr>
              <a:t>); display.print(fan1State);</a:t>
            </a:r>
            <a:endParaRPr lang="en-US" sz="1600" dirty="0"/>
          </a:p>
        </p:txBody>
      </p:sp>
      <p:sp>
        <p:nvSpPr>
          <p:cNvPr id="34" name="Text 32"/>
          <p:cNvSpPr/>
          <p:nvPr/>
        </p:nvSpPr>
        <p:spPr>
          <a:xfrm>
            <a:off x="603250" y="6043655"/>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display.print(</a:t>
            </a:r>
            <a:r>
              <a:rPr lang="en-US" sz="813" dirty="0">
                <a:solidFill>
                  <a:srgbClr val="34C759"/>
                </a:solidFill>
                <a:latin typeface="MiSans" pitchFamily="34" charset="0"/>
                <a:ea typeface="MiSans" pitchFamily="34" charset="-122"/>
                <a:cs typeface="MiSans" pitchFamily="34" charset="-120"/>
              </a:rPr>
              <a:t>" F2:"</a:t>
            </a:r>
            <a:r>
              <a:rPr lang="en-US" sz="813" dirty="0">
                <a:solidFill>
                  <a:srgbClr val="FFFFFF"/>
                </a:solidFill>
                <a:latin typeface="MiSans" pitchFamily="34" charset="0"/>
                <a:ea typeface="MiSans" pitchFamily="34" charset="-122"/>
                <a:cs typeface="MiSans" pitchFamily="34" charset="-120"/>
              </a:rPr>
              <a:t>); display.println(fan2State);</a:t>
            </a:r>
            <a:endParaRPr lang="en-US" sz="1600" dirty="0"/>
          </a:p>
        </p:txBody>
      </p:sp>
      <p:sp>
        <p:nvSpPr>
          <p:cNvPr id="35" name="Text 33"/>
          <p:cNvSpPr/>
          <p:nvPr/>
        </p:nvSpPr>
        <p:spPr>
          <a:xfrm>
            <a:off x="603250" y="6198436"/>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display.display();</a:t>
            </a:r>
            <a:endParaRPr lang="en-US" sz="1600" dirty="0"/>
          </a:p>
        </p:txBody>
      </p:sp>
      <p:sp>
        <p:nvSpPr>
          <p:cNvPr id="36" name="Text 34"/>
          <p:cNvSpPr/>
          <p:nvPr/>
        </p:nvSpPr>
        <p:spPr>
          <a:xfrm>
            <a:off x="603250" y="6353217"/>
            <a:ext cx="6338094" cy="158750"/>
          </a:xfrm>
          <a:prstGeom prst="rect">
            <a:avLst/>
          </a:prstGeom>
          <a:noFill/>
          <a:ln/>
        </p:spPr>
        <p:txBody>
          <a:bodyPr wrap="square" lIns="0" tIns="0" rIns="0" bIns="0" rtlCol="0" anchor="ctr"/>
          <a:lstStyle/>
          <a:p>
            <a:pPr>
              <a:lnSpc>
                <a:spcPct val="130000"/>
              </a:lnSpc>
            </a:pPr>
            <a:r>
              <a:rPr lang="en-US" sz="813" dirty="0">
                <a:solidFill>
                  <a:srgbClr val="FFFFFF"/>
                </a:solidFill>
                <a:latin typeface="MiSans" pitchFamily="34" charset="0"/>
                <a:ea typeface="MiSans" pitchFamily="34" charset="-122"/>
                <a:cs typeface="MiSans" pitchFamily="34" charset="-120"/>
              </a:rPr>
              <a:t>}</a:t>
            </a:r>
            <a:endParaRPr lang="en-US" sz="1600" dirty="0"/>
          </a:p>
        </p:txBody>
      </p:sp>
      <p:sp>
        <p:nvSpPr>
          <p:cNvPr id="37" name="Shape 35"/>
          <p:cNvSpPr/>
          <p:nvPr/>
        </p:nvSpPr>
        <p:spPr>
          <a:xfrm>
            <a:off x="7369175" y="1019175"/>
            <a:ext cx="4498975" cy="3302001"/>
          </a:xfrm>
          <a:custGeom>
            <a:avLst/>
            <a:gdLst/>
            <a:ahLst/>
            <a:cxnLst/>
            <a:rect l="l" t="t" r="r" b="b"/>
            <a:pathLst>
              <a:path w="4498975" h="4054475">
                <a:moveTo>
                  <a:pt x="95240" y="0"/>
                </a:moveTo>
                <a:lnTo>
                  <a:pt x="4403735" y="0"/>
                </a:lnTo>
                <a:cubicBezTo>
                  <a:pt x="4456335" y="0"/>
                  <a:pt x="4498975" y="42640"/>
                  <a:pt x="4498975" y="95240"/>
                </a:cubicBezTo>
                <a:lnTo>
                  <a:pt x="4498975" y="3959235"/>
                </a:lnTo>
                <a:cubicBezTo>
                  <a:pt x="4498975" y="4011835"/>
                  <a:pt x="4456335" y="4054475"/>
                  <a:pt x="4403735" y="4054475"/>
                </a:cubicBezTo>
                <a:lnTo>
                  <a:pt x="95240" y="4054475"/>
                </a:lnTo>
                <a:cubicBezTo>
                  <a:pt x="42640" y="4054475"/>
                  <a:pt x="0" y="4011835"/>
                  <a:pt x="0" y="3959235"/>
                </a:cubicBezTo>
                <a:lnTo>
                  <a:pt x="0" y="95240"/>
                </a:lnTo>
                <a:cubicBezTo>
                  <a:pt x="0" y="42640"/>
                  <a:pt x="42640" y="0"/>
                  <a:pt x="95240"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38" name="Shape 36"/>
          <p:cNvSpPr/>
          <p:nvPr/>
        </p:nvSpPr>
        <p:spPr>
          <a:xfrm>
            <a:off x="7582694" y="1244606"/>
            <a:ext cx="158750" cy="158750"/>
          </a:xfrm>
          <a:custGeom>
            <a:avLst/>
            <a:gdLst/>
            <a:ahLst/>
            <a:cxnLst/>
            <a:rect l="l" t="t" r="r" b="b"/>
            <a:pathLst>
              <a:path w="158750" h="158750">
                <a:moveTo>
                  <a:pt x="19844" y="9922"/>
                </a:moveTo>
                <a:cubicBezTo>
                  <a:pt x="8899" y="9922"/>
                  <a:pt x="0" y="18821"/>
                  <a:pt x="0" y="29766"/>
                </a:cubicBezTo>
                <a:lnTo>
                  <a:pt x="0" y="109141"/>
                </a:lnTo>
                <a:cubicBezTo>
                  <a:pt x="0" y="120086"/>
                  <a:pt x="8899" y="128984"/>
                  <a:pt x="19844" y="128984"/>
                </a:cubicBezTo>
                <a:lnTo>
                  <a:pt x="64492" y="128984"/>
                </a:lnTo>
                <a:lnTo>
                  <a:pt x="59531" y="143867"/>
                </a:lnTo>
                <a:lnTo>
                  <a:pt x="37207" y="143867"/>
                </a:lnTo>
                <a:cubicBezTo>
                  <a:pt x="33083" y="143867"/>
                  <a:pt x="29766" y="147185"/>
                  <a:pt x="29766" y="151309"/>
                </a:cubicBezTo>
                <a:cubicBezTo>
                  <a:pt x="29766" y="155432"/>
                  <a:pt x="33083" y="158750"/>
                  <a:pt x="37207" y="158750"/>
                </a:cubicBezTo>
                <a:lnTo>
                  <a:pt x="121543" y="158750"/>
                </a:lnTo>
                <a:cubicBezTo>
                  <a:pt x="125667" y="158750"/>
                  <a:pt x="128984" y="155432"/>
                  <a:pt x="128984" y="151309"/>
                </a:cubicBezTo>
                <a:cubicBezTo>
                  <a:pt x="128984" y="147185"/>
                  <a:pt x="125667" y="143867"/>
                  <a:pt x="121543" y="143867"/>
                </a:cubicBezTo>
                <a:lnTo>
                  <a:pt x="99219" y="143867"/>
                </a:lnTo>
                <a:lnTo>
                  <a:pt x="94258" y="128984"/>
                </a:lnTo>
                <a:lnTo>
                  <a:pt x="138906" y="128984"/>
                </a:lnTo>
                <a:cubicBezTo>
                  <a:pt x="149851" y="128984"/>
                  <a:pt x="158750" y="120086"/>
                  <a:pt x="158750" y="109141"/>
                </a:cubicBezTo>
                <a:lnTo>
                  <a:pt x="158750" y="29766"/>
                </a:lnTo>
                <a:cubicBezTo>
                  <a:pt x="158750" y="18821"/>
                  <a:pt x="149851" y="9922"/>
                  <a:pt x="138906" y="9922"/>
                </a:cubicBezTo>
                <a:lnTo>
                  <a:pt x="19844" y="9922"/>
                </a:lnTo>
                <a:close/>
                <a:moveTo>
                  <a:pt x="29766" y="29766"/>
                </a:moveTo>
                <a:lnTo>
                  <a:pt x="128984" y="29766"/>
                </a:lnTo>
                <a:cubicBezTo>
                  <a:pt x="134472" y="29766"/>
                  <a:pt x="138906" y="34199"/>
                  <a:pt x="138906" y="39688"/>
                </a:cubicBezTo>
                <a:lnTo>
                  <a:pt x="138906" y="89297"/>
                </a:lnTo>
                <a:cubicBezTo>
                  <a:pt x="138906" y="94785"/>
                  <a:pt x="134472" y="99219"/>
                  <a:pt x="128984" y="99219"/>
                </a:cubicBezTo>
                <a:lnTo>
                  <a:pt x="29766" y="99219"/>
                </a:lnTo>
                <a:cubicBezTo>
                  <a:pt x="24278" y="99219"/>
                  <a:pt x="19844" y="94785"/>
                  <a:pt x="19844" y="89297"/>
                </a:cubicBezTo>
                <a:lnTo>
                  <a:pt x="19844" y="39688"/>
                </a:lnTo>
                <a:cubicBezTo>
                  <a:pt x="19844" y="34199"/>
                  <a:pt x="24278" y="29766"/>
                  <a:pt x="29766" y="29766"/>
                </a:cubicBezTo>
                <a:close/>
              </a:path>
            </a:pathLst>
          </a:custGeom>
          <a:solidFill>
            <a:srgbClr val="0071E3"/>
          </a:solidFill>
          <a:ln/>
        </p:spPr>
      </p:sp>
      <p:sp>
        <p:nvSpPr>
          <p:cNvPr id="39" name="Text 37"/>
          <p:cNvSpPr/>
          <p:nvPr/>
        </p:nvSpPr>
        <p:spPr>
          <a:xfrm>
            <a:off x="7761287" y="1212856"/>
            <a:ext cx="3992563"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Liter" pitchFamily="34" charset="0"/>
                <a:ea typeface="Liter" pitchFamily="34" charset="-122"/>
                <a:cs typeface="Liter" pitchFamily="34" charset="-120"/>
              </a:rPr>
              <a:t>Dynamic UI Layout</a:t>
            </a:r>
            <a:endParaRPr lang="en-US" sz="1600" dirty="0"/>
          </a:p>
        </p:txBody>
      </p:sp>
      <p:sp>
        <p:nvSpPr>
          <p:cNvPr id="46" name="Shape 44"/>
          <p:cNvSpPr/>
          <p:nvPr/>
        </p:nvSpPr>
        <p:spPr>
          <a:xfrm>
            <a:off x="7562850" y="2749553"/>
            <a:ext cx="4111625" cy="444500"/>
          </a:xfrm>
          <a:custGeom>
            <a:avLst/>
            <a:gdLst/>
            <a:ahLst/>
            <a:cxnLst/>
            <a:rect l="l" t="t" r="r" b="b"/>
            <a:pathLst>
              <a:path w="4111625" h="444500">
                <a:moveTo>
                  <a:pt x="63501" y="0"/>
                </a:moveTo>
                <a:lnTo>
                  <a:pt x="4048124" y="0"/>
                </a:lnTo>
                <a:cubicBezTo>
                  <a:pt x="4083195" y="0"/>
                  <a:pt x="4111625" y="28430"/>
                  <a:pt x="4111625" y="63501"/>
                </a:cubicBezTo>
                <a:lnTo>
                  <a:pt x="4111625" y="380999"/>
                </a:lnTo>
                <a:cubicBezTo>
                  <a:pt x="4111625" y="416070"/>
                  <a:pt x="4083195" y="444500"/>
                  <a:pt x="4048124" y="444500"/>
                </a:cubicBezTo>
                <a:lnTo>
                  <a:pt x="63501" y="444500"/>
                </a:lnTo>
                <a:cubicBezTo>
                  <a:pt x="28454" y="444500"/>
                  <a:pt x="0" y="416046"/>
                  <a:pt x="0" y="380999"/>
                </a:cubicBezTo>
                <a:lnTo>
                  <a:pt x="0" y="63501"/>
                </a:lnTo>
                <a:cubicBezTo>
                  <a:pt x="0" y="28454"/>
                  <a:pt x="28454" y="0"/>
                  <a:pt x="63501" y="0"/>
                </a:cubicBezTo>
                <a:close/>
              </a:path>
            </a:pathLst>
          </a:custGeom>
          <a:solidFill>
            <a:srgbClr val="0071E3">
              <a:alpha val="5098"/>
            </a:srgbClr>
          </a:solidFill>
          <a:ln/>
        </p:spPr>
      </p:sp>
      <p:sp>
        <p:nvSpPr>
          <p:cNvPr id="47" name="Shape 45"/>
          <p:cNvSpPr/>
          <p:nvPr/>
        </p:nvSpPr>
        <p:spPr>
          <a:xfrm>
            <a:off x="7658100" y="2844803"/>
            <a:ext cx="254000" cy="254000"/>
          </a:xfrm>
          <a:custGeom>
            <a:avLst/>
            <a:gdLst/>
            <a:ahLst/>
            <a:cxnLst/>
            <a:rect l="l" t="t" r="r" b="b"/>
            <a:pathLst>
              <a:path w="254000" h="254000">
                <a:moveTo>
                  <a:pt x="31750" y="0"/>
                </a:moveTo>
                <a:lnTo>
                  <a:pt x="222250" y="0"/>
                </a:lnTo>
                <a:cubicBezTo>
                  <a:pt x="239773" y="0"/>
                  <a:pt x="254000" y="14227"/>
                  <a:pt x="254000" y="31750"/>
                </a:cubicBezTo>
                <a:lnTo>
                  <a:pt x="254000" y="222250"/>
                </a:lnTo>
                <a:cubicBezTo>
                  <a:pt x="254000" y="239773"/>
                  <a:pt x="239773" y="254000"/>
                  <a:pt x="222250" y="254000"/>
                </a:cubicBezTo>
                <a:lnTo>
                  <a:pt x="31750" y="254000"/>
                </a:lnTo>
                <a:cubicBezTo>
                  <a:pt x="14227" y="254000"/>
                  <a:pt x="0" y="239773"/>
                  <a:pt x="0" y="222250"/>
                </a:cubicBezTo>
                <a:lnTo>
                  <a:pt x="0" y="31750"/>
                </a:lnTo>
                <a:cubicBezTo>
                  <a:pt x="0" y="14227"/>
                  <a:pt x="14227" y="0"/>
                  <a:pt x="31750" y="0"/>
                </a:cubicBezTo>
                <a:close/>
              </a:path>
            </a:pathLst>
          </a:custGeom>
          <a:solidFill>
            <a:srgbClr val="0071E3"/>
          </a:solidFill>
          <a:ln/>
        </p:spPr>
      </p:sp>
      <p:sp>
        <p:nvSpPr>
          <p:cNvPr id="48" name="Text 46"/>
          <p:cNvSpPr/>
          <p:nvPr/>
        </p:nvSpPr>
        <p:spPr>
          <a:xfrm>
            <a:off x="7634287" y="2844803"/>
            <a:ext cx="301625" cy="254000"/>
          </a:xfrm>
          <a:prstGeom prst="rect">
            <a:avLst/>
          </a:prstGeom>
          <a:noFill/>
          <a:ln/>
        </p:spPr>
        <p:txBody>
          <a:bodyPr wrap="square" lIns="0" tIns="0" rIns="0" bIns="0" rtlCol="0" anchor="ctr"/>
          <a:lstStyle/>
          <a:p>
            <a:pPr algn="ctr">
              <a:lnSpc>
                <a:spcPct val="110000"/>
              </a:lnSpc>
            </a:pPr>
            <a:r>
              <a:rPr lang="en-US" sz="750" b="1" dirty="0">
                <a:solidFill>
                  <a:srgbClr val="FFFFFF"/>
                </a:solidFill>
                <a:latin typeface="Liter" pitchFamily="34" charset="0"/>
                <a:ea typeface="Liter" pitchFamily="34" charset="-122"/>
                <a:cs typeface="Liter" pitchFamily="34" charset="-120"/>
              </a:rPr>
              <a:t>1</a:t>
            </a:r>
            <a:endParaRPr lang="en-US" sz="1600" dirty="0"/>
          </a:p>
        </p:txBody>
      </p:sp>
      <p:sp>
        <p:nvSpPr>
          <p:cNvPr id="49" name="Text 47"/>
          <p:cNvSpPr/>
          <p:nvPr/>
        </p:nvSpPr>
        <p:spPr>
          <a:xfrm>
            <a:off x="8007350" y="2892428"/>
            <a:ext cx="2674938" cy="158750"/>
          </a:xfrm>
          <a:prstGeom prst="rect">
            <a:avLst/>
          </a:prstGeom>
          <a:noFill/>
          <a:ln/>
        </p:spPr>
        <p:txBody>
          <a:bodyPr wrap="square" lIns="0" tIns="0" rIns="0" bIns="0" rtlCol="0" anchor="ctr"/>
          <a:lstStyle/>
          <a:p>
            <a:pPr>
              <a:lnSpc>
                <a:spcPct val="120000"/>
              </a:lnSpc>
            </a:pPr>
            <a:r>
              <a:rPr lang="en-US" sz="875" b="1" dirty="0">
                <a:solidFill>
                  <a:srgbClr val="86868B"/>
                </a:solidFill>
                <a:latin typeface="Liter" pitchFamily="34" charset="0"/>
                <a:ea typeface="Liter" pitchFamily="34" charset="-122"/>
                <a:cs typeface="Liter" pitchFamily="34" charset="-120"/>
              </a:rPr>
              <a:t>Line 1:</a:t>
            </a:r>
            <a:r>
              <a:rPr lang="en-US" sz="875" dirty="0">
                <a:solidFill>
                  <a:srgbClr val="86868B"/>
                </a:solidFill>
                <a:latin typeface="Liter" pitchFamily="34" charset="0"/>
                <a:ea typeface="Liter" pitchFamily="34" charset="-122"/>
                <a:cs typeface="Liter" pitchFamily="34" charset="-120"/>
              </a:rPr>
              <a:t> Last Received Command (truncated to 5 chars)</a:t>
            </a:r>
            <a:endParaRPr lang="en-US" sz="1600" dirty="0"/>
          </a:p>
        </p:txBody>
      </p:sp>
      <p:sp>
        <p:nvSpPr>
          <p:cNvPr id="50" name="Shape 48"/>
          <p:cNvSpPr/>
          <p:nvPr/>
        </p:nvSpPr>
        <p:spPr>
          <a:xfrm>
            <a:off x="7562850" y="3257553"/>
            <a:ext cx="4111625" cy="444500"/>
          </a:xfrm>
          <a:custGeom>
            <a:avLst/>
            <a:gdLst/>
            <a:ahLst/>
            <a:cxnLst/>
            <a:rect l="l" t="t" r="r" b="b"/>
            <a:pathLst>
              <a:path w="4111625" h="444500">
                <a:moveTo>
                  <a:pt x="63501" y="0"/>
                </a:moveTo>
                <a:lnTo>
                  <a:pt x="4048124" y="0"/>
                </a:lnTo>
                <a:cubicBezTo>
                  <a:pt x="4083195" y="0"/>
                  <a:pt x="4111625" y="28430"/>
                  <a:pt x="4111625" y="63501"/>
                </a:cubicBezTo>
                <a:lnTo>
                  <a:pt x="4111625" y="380999"/>
                </a:lnTo>
                <a:cubicBezTo>
                  <a:pt x="4111625" y="416070"/>
                  <a:pt x="4083195" y="444500"/>
                  <a:pt x="4048124" y="444500"/>
                </a:cubicBezTo>
                <a:lnTo>
                  <a:pt x="63501" y="444500"/>
                </a:lnTo>
                <a:cubicBezTo>
                  <a:pt x="28454" y="444500"/>
                  <a:pt x="0" y="416046"/>
                  <a:pt x="0" y="380999"/>
                </a:cubicBezTo>
                <a:lnTo>
                  <a:pt x="0" y="63501"/>
                </a:lnTo>
                <a:cubicBezTo>
                  <a:pt x="0" y="28454"/>
                  <a:pt x="28454" y="0"/>
                  <a:pt x="63501" y="0"/>
                </a:cubicBezTo>
                <a:close/>
              </a:path>
            </a:pathLst>
          </a:custGeom>
          <a:solidFill>
            <a:srgbClr val="34C759">
              <a:alpha val="5098"/>
            </a:srgbClr>
          </a:solidFill>
          <a:ln/>
        </p:spPr>
      </p:sp>
      <p:sp>
        <p:nvSpPr>
          <p:cNvPr id="51" name="Shape 49"/>
          <p:cNvSpPr/>
          <p:nvPr/>
        </p:nvSpPr>
        <p:spPr>
          <a:xfrm>
            <a:off x="7658100" y="3352803"/>
            <a:ext cx="254000" cy="254000"/>
          </a:xfrm>
          <a:custGeom>
            <a:avLst/>
            <a:gdLst/>
            <a:ahLst/>
            <a:cxnLst/>
            <a:rect l="l" t="t" r="r" b="b"/>
            <a:pathLst>
              <a:path w="254000" h="254000">
                <a:moveTo>
                  <a:pt x="31750" y="0"/>
                </a:moveTo>
                <a:lnTo>
                  <a:pt x="222250" y="0"/>
                </a:lnTo>
                <a:cubicBezTo>
                  <a:pt x="239773" y="0"/>
                  <a:pt x="254000" y="14227"/>
                  <a:pt x="254000" y="31750"/>
                </a:cubicBezTo>
                <a:lnTo>
                  <a:pt x="254000" y="222250"/>
                </a:lnTo>
                <a:cubicBezTo>
                  <a:pt x="254000" y="239773"/>
                  <a:pt x="239773" y="254000"/>
                  <a:pt x="222250" y="254000"/>
                </a:cubicBezTo>
                <a:lnTo>
                  <a:pt x="31750" y="254000"/>
                </a:lnTo>
                <a:cubicBezTo>
                  <a:pt x="14227" y="254000"/>
                  <a:pt x="0" y="239773"/>
                  <a:pt x="0" y="222250"/>
                </a:cubicBezTo>
                <a:lnTo>
                  <a:pt x="0" y="31750"/>
                </a:lnTo>
                <a:cubicBezTo>
                  <a:pt x="0" y="14227"/>
                  <a:pt x="14227" y="0"/>
                  <a:pt x="31750" y="0"/>
                </a:cubicBezTo>
                <a:close/>
              </a:path>
            </a:pathLst>
          </a:custGeom>
          <a:solidFill>
            <a:srgbClr val="34C759"/>
          </a:solidFill>
          <a:ln/>
        </p:spPr>
      </p:sp>
      <p:sp>
        <p:nvSpPr>
          <p:cNvPr id="52" name="Text 50"/>
          <p:cNvSpPr/>
          <p:nvPr/>
        </p:nvSpPr>
        <p:spPr>
          <a:xfrm>
            <a:off x="7634287" y="3352803"/>
            <a:ext cx="301625" cy="254000"/>
          </a:xfrm>
          <a:prstGeom prst="rect">
            <a:avLst/>
          </a:prstGeom>
          <a:noFill/>
          <a:ln/>
        </p:spPr>
        <p:txBody>
          <a:bodyPr wrap="square" lIns="0" tIns="0" rIns="0" bIns="0" rtlCol="0" anchor="ctr"/>
          <a:lstStyle/>
          <a:p>
            <a:pPr algn="ctr">
              <a:lnSpc>
                <a:spcPct val="110000"/>
              </a:lnSpc>
            </a:pPr>
            <a:r>
              <a:rPr lang="en-US" sz="750" b="1" dirty="0">
                <a:solidFill>
                  <a:srgbClr val="FFFFFF"/>
                </a:solidFill>
                <a:latin typeface="Liter" pitchFamily="34" charset="0"/>
                <a:ea typeface="Liter" pitchFamily="34" charset="-122"/>
                <a:cs typeface="Liter" pitchFamily="34" charset="-120"/>
              </a:rPr>
              <a:t>2</a:t>
            </a:r>
            <a:endParaRPr lang="en-US" sz="1600" dirty="0"/>
          </a:p>
        </p:txBody>
      </p:sp>
      <p:sp>
        <p:nvSpPr>
          <p:cNvPr id="53" name="Text 51"/>
          <p:cNvSpPr/>
          <p:nvPr/>
        </p:nvSpPr>
        <p:spPr>
          <a:xfrm>
            <a:off x="8007350" y="3400428"/>
            <a:ext cx="2079625" cy="158750"/>
          </a:xfrm>
          <a:prstGeom prst="rect">
            <a:avLst/>
          </a:prstGeom>
          <a:noFill/>
          <a:ln/>
        </p:spPr>
        <p:txBody>
          <a:bodyPr wrap="square" lIns="0" tIns="0" rIns="0" bIns="0" rtlCol="0" anchor="ctr"/>
          <a:lstStyle/>
          <a:p>
            <a:pPr>
              <a:lnSpc>
                <a:spcPct val="120000"/>
              </a:lnSpc>
            </a:pPr>
            <a:r>
              <a:rPr lang="en-US" sz="875" b="1" dirty="0">
                <a:solidFill>
                  <a:srgbClr val="86868B"/>
                </a:solidFill>
                <a:latin typeface="Liter" pitchFamily="34" charset="0"/>
                <a:ea typeface="Liter" pitchFamily="34" charset="-122"/>
                <a:cs typeface="Liter" pitchFamily="34" charset="-120"/>
              </a:rPr>
              <a:t>Line 2:</a:t>
            </a:r>
            <a:r>
              <a:rPr lang="en-US" sz="875" dirty="0">
                <a:solidFill>
                  <a:srgbClr val="86868B"/>
                </a:solidFill>
                <a:latin typeface="Liter" pitchFamily="34" charset="0"/>
                <a:ea typeface="Liter" pitchFamily="34" charset="-122"/>
                <a:cs typeface="Liter" pitchFamily="34" charset="-120"/>
              </a:rPr>
              <a:t> Light States (L1, L2: 0=OFF, 1=ON)</a:t>
            </a:r>
            <a:endParaRPr lang="en-US" sz="1600" dirty="0"/>
          </a:p>
        </p:txBody>
      </p:sp>
      <p:sp>
        <p:nvSpPr>
          <p:cNvPr id="54" name="Shape 52"/>
          <p:cNvSpPr/>
          <p:nvPr/>
        </p:nvSpPr>
        <p:spPr>
          <a:xfrm>
            <a:off x="7562850" y="3765553"/>
            <a:ext cx="4111625" cy="444500"/>
          </a:xfrm>
          <a:custGeom>
            <a:avLst/>
            <a:gdLst/>
            <a:ahLst/>
            <a:cxnLst/>
            <a:rect l="l" t="t" r="r" b="b"/>
            <a:pathLst>
              <a:path w="4111625" h="444500">
                <a:moveTo>
                  <a:pt x="63501" y="0"/>
                </a:moveTo>
                <a:lnTo>
                  <a:pt x="4048124" y="0"/>
                </a:lnTo>
                <a:cubicBezTo>
                  <a:pt x="4083195" y="0"/>
                  <a:pt x="4111625" y="28430"/>
                  <a:pt x="4111625" y="63501"/>
                </a:cubicBezTo>
                <a:lnTo>
                  <a:pt x="4111625" y="380999"/>
                </a:lnTo>
                <a:cubicBezTo>
                  <a:pt x="4111625" y="416070"/>
                  <a:pt x="4083195" y="444500"/>
                  <a:pt x="4048124" y="444500"/>
                </a:cubicBezTo>
                <a:lnTo>
                  <a:pt x="63501" y="444500"/>
                </a:lnTo>
                <a:cubicBezTo>
                  <a:pt x="28454" y="444500"/>
                  <a:pt x="0" y="416046"/>
                  <a:pt x="0" y="380999"/>
                </a:cubicBezTo>
                <a:lnTo>
                  <a:pt x="0" y="63501"/>
                </a:lnTo>
                <a:cubicBezTo>
                  <a:pt x="0" y="28454"/>
                  <a:pt x="28454" y="0"/>
                  <a:pt x="63501" y="0"/>
                </a:cubicBezTo>
                <a:close/>
              </a:path>
            </a:pathLst>
          </a:custGeom>
          <a:solidFill>
            <a:srgbClr val="FF9500">
              <a:alpha val="5098"/>
            </a:srgbClr>
          </a:solidFill>
          <a:ln/>
        </p:spPr>
      </p:sp>
      <p:sp>
        <p:nvSpPr>
          <p:cNvPr id="55" name="Shape 53"/>
          <p:cNvSpPr/>
          <p:nvPr/>
        </p:nvSpPr>
        <p:spPr>
          <a:xfrm>
            <a:off x="7658100" y="3860803"/>
            <a:ext cx="254000" cy="254000"/>
          </a:xfrm>
          <a:custGeom>
            <a:avLst/>
            <a:gdLst/>
            <a:ahLst/>
            <a:cxnLst/>
            <a:rect l="l" t="t" r="r" b="b"/>
            <a:pathLst>
              <a:path w="254000" h="254000">
                <a:moveTo>
                  <a:pt x="31750" y="0"/>
                </a:moveTo>
                <a:lnTo>
                  <a:pt x="222250" y="0"/>
                </a:lnTo>
                <a:cubicBezTo>
                  <a:pt x="239773" y="0"/>
                  <a:pt x="254000" y="14227"/>
                  <a:pt x="254000" y="31750"/>
                </a:cubicBezTo>
                <a:lnTo>
                  <a:pt x="254000" y="222250"/>
                </a:lnTo>
                <a:cubicBezTo>
                  <a:pt x="254000" y="239773"/>
                  <a:pt x="239773" y="254000"/>
                  <a:pt x="222250" y="254000"/>
                </a:cubicBezTo>
                <a:lnTo>
                  <a:pt x="31750" y="254000"/>
                </a:lnTo>
                <a:cubicBezTo>
                  <a:pt x="14227" y="254000"/>
                  <a:pt x="0" y="239773"/>
                  <a:pt x="0" y="222250"/>
                </a:cubicBezTo>
                <a:lnTo>
                  <a:pt x="0" y="31750"/>
                </a:lnTo>
                <a:cubicBezTo>
                  <a:pt x="0" y="14227"/>
                  <a:pt x="14227" y="0"/>
                  <a:pt x="31750" y="0"/>
                </a:cubicBezTo>
                <a:close/>
              </a:path>
            </a:pathLst>
          </a:custGeom>
          <a:solidFill>
            <a:srgbClr val="FF9500"/>
          </a:solidFill>
          <a:ln/>
        </p:spPr>
      </p:sp>
      <p:sp>
        <p:nvSpPr>
          <p:cNvPr id="56" name="Text 54"/>
          <p:cNvSpPr/>
          <p:nvPr/>
        </p:nvSpPr>
        <p:spPr>
          <a:xfrm>
            <a:off x="7634287" y="3860803"/>
            <a:ext cx="301625" cy="254000"/>
          </a:xfrm>
          <a:prstGeom prst="rect">
            <a:avLst/>
          </a:prstGeom>
          <a:noFill/>
          <a:ln/>
        </p:spPr>
        <p:txBody>
          <a:bodyPr wrap="square" lIns="0" tIns="0" rIns="0" bIns="0" rtlCol="0" anchor="ctr"/>
          <a:lstStyle/>
          <a:p>
            <a:pPr algn="ctr">
              <a:lnSpc>
                <a:spcPct val="110000"/>
              </a:lnSpc>
            </a:pPr>
            <a:r>
              <a:rPr lang="en-US" sz="750" b="1" dirty="0">
                <a:solidFill>
                  <a:srgbClr val="FFFFFF"/>
                </a:solidFill>
                <a:latin typeface="Liter" pitchFamily="34" charset="0"/>
                <a:ea typeface="Liter" pitchFamily="34" charset="-122"/>
                <a:cs typeface="Liter" pitchFamily="34" charset="-120"/>
              </a:rPr>
              <a:t>3</a:t>
            </a:r>
            <a:endParaRPr lang="en-US" sz="1600" dirty="0"/>
          </a:p>
        </p:txBody>
      </p:sp>
      <p:sp>
        <p:nvSpPr>
          <p:cNvPr id="57" name="Text 55"/>
          <p:cNvSpPr/>
          <p:nvPr/>
        </p:nvSpPr>
        <p:spPr>
          <a:xfrm>
            <a:off x="8007350" y="3908428"/>
            <a:ext cx="1587500" cy="158750"/>
          </a:xfrm>
          <a:prstGeom prst="rect">
            <a:avLst/>
          </a:prstGeom>
          <a:noFill/>
          <a:ln/>
        </p:spPr>
        <p:txBody>
          <a:bodyPr wrap="square" lIns="0" tIns="0" rIns="0" bIns="0" rtlCol="0" anchor="ctr"/>
          <a:lstStyle/>
          <a:p>
            <a:pPr>
              <a:lnSpc>
                <a:spcPct val="120000"/>
              </a:lnSpc>
            </a:pPr>
            <a:r>
              <a:rPr lang="en-US" sz="875" b="1" dirty="0">
                <a:solidFill>
                  <a:srgbClr val="86868B"/>
                </a:solidFill>
                <a:latin typeface="Liter" pitchFamily="34" charset="0"/>
                <a:ea typeface="Liter" pitchFamily="34" charset="-122"/>
                <a:cs typeface="Liter" pitchFamily="34" charset="-120"/>
              </a:rPr>
              <a:t>Line 3:</a:t>
            </a:r>
            <a:r>
              <a:rPr lang="en-US" sz="875" dirty="0">
                <a:solidFill>
                  <a:srgbClr val="86868B"/>
                </a:solidFill>
                <a:latin typeface="Liter" pitchFamily="34" charset="0"/>
                <a:ea typeface="Liter" pitchFamily="34" charset="-122"/>
                <a:cs typeface="Liter" pitchFamily="34" charset="-120"/>
              </a:rPr>
              <a:t> Fan Speeds (F1, F2: 0-4)</a:t>
            </a:r>
            <a:endParaRPr lang="en-US" sz="1600" dirty="0"/>
          </a:p>
        </p:txBody>
      </p:sp>
      <p:sp>
        <p:nvSpPr>
          <p:cNvPr id="58" name="Shape 56"/>
          <p:cNvSpPr/>
          <p:nvPr/>
        </p:nvSpPr>
        <p:spPr>
          <a:xfrm>
            <a:off x="7369175" y="4772581"/>
            <a:ext cx="4498975" cy="1784350"/>
          </a:xfrm>
          <a:custGeom>
            <a:avLst/>
            <a:gdLst/>
            <a:ahLst/>
            <a:cxnLst/>
            <a:rect l="l" t="t" r="r" b="b"/>
            <a:pathLst>
              <a:path w="4498975" h="1784350">
                <a:moveTo>
                  <a:pt x="95249" y="0"/>
                </a:moveTo>
                <a:lnTo>
                  <a:pt x="4403726" y="0"/>
                </a:lnTo>
                <a:cubicBezTo>
                  <a:pt x="4456331" y="0"/>
                  <a:pt x="4498975" y="42644"/>
                  <a:pt x="4498975" y="95249"/>
                </a:cubicBezTo>
                <a:lnTo>
                  <a:pt x="4498975" y="1689101"/>
                </a:lnTo>
                <a:cubicBezTo>
                  <a:pt x="4498975" y="1741706"/>
                  <a:pt x="4456331" y="1784350"/>
                  <a:pt x="4403726" y="1784350"/>
                </a:cubicBezTo>
                <a:lnTo>
                  <a:pt x="95249" y="1784350"/>
                </a:lnTo>
                <a:cubicBezTo>
                  <a:pt x="42644" y="1784350"/>
                  <a:pt x="0" y="1741706"/>
                  <a:pt x="0" y="1689101"/>
                </a:cubicBezTo>
                <a:lnTo>
                  <a:pt x="0" y="95249"/>
                </a:lnTo>
                <a:cubicBezTo>
                  <a:pt x="0" y="42679"/>
                  <a:pt x="42679" y="0"/>
                  <a:pt x="95249" y="0"/>
                </a:cubicBezTo>
                <a:close/>
              </a:path>
            </a:pathLst>
          </a:custGeom>
          <a:solidFill>
            <a:srgbClr val="FFFFFF"/>
          </a:solidFill>
          <a:ln w="10160">
            <a:solidFill>
              <a:srgbClr val="E5E5E5"/>
            </a:solidFill>
            <a:prstDash val="solid"/>
          </a:ln>
          <a:effectLst>
            <a:outerShdw blurRad="23813" dist="7938" dir="5400000" algn="bl" rotWithShape="0">
              <a:srgbClr val="000000">
                <a:alpha val="10196"/>
              </a:srgbClr>
            </a:outerShdw>
          </a:effectLst>
        </p:spPr>
      </p:sp>
      <p:sp>
        <p:nvSpPr>
          <p:cNvPr id="59" name="Text 57"/>
          <p:cNvSpPr/>
          <p:nvPr/>
        </p:nvSpPr>
        <p:spPr>
          <a:xfrm>
            <a:off x="7531100" y="4934512"/>
            <a:ext cx="4246563"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Liter" pitchFamily="34" charset="0"/>
                <a:ea typeface="Liter" pitchFamily="34" charset="-122"/>
                <a:cs typeface="Liter" pitchFamily="34" charset="-120"/>
              </a:rPr>
              <a:t>Special Display Modes</a:t>
            </a:r>
            <a:endParaRPr lang="en-US" sz="1600" dirty="0"/>
          </a:p>
        </p:txBody>
      </p:sp>
      <p:sp>
        <p:nvSpPr>
          <p:cNvPr id="60" name="Shape 58"/>
          <p:cNvSpPr/>
          <p:nvPr/>
        </p:nvSpPr>
        <p:spPr>
          <a:xfrm>
            <a:off x="7546975" y="5252012"/>
            <a:ext cx="4159250" cy="539750"/>
          </a:xfrm>
          <a:custGeom>
            <a:avLst/>
            <a:gdLst/>
            <a:ahLst/>
            <a:cxnLst/>
            <a:rect l="l" t="t" r="r" b="b"/>
            <a:pathLst>
              <a:path w="4159250" h="539750">
                <a:moveTo>
                  <a:pt x="31750" y="0"/>
                </a:moveTo>
                <a:lnTo>
                  <a:pt x="4095748" y="0"/>
                </a:lnTo>
                <a:cubicBezTo>
                  <a:pt x="4130819" y="0"/>
                  <a:pt x="4159250" y="28431"/>
                  <a:pt x="4159250" y="63502"/>
                </a:cubicBezTo>
                <a:lnTo>
                  <a:pt x="4159250" y="476248"/>
                </a:lnTo>
                <a:cubicBezTo>
                  <a:pt x="4159250" y="511319"/>
                  <a:pt x="4130819" y="539750"/>
                  <a:pt x="4095748" y="539750"/>
                </a:cubicBezTo>
                <a:lnTo>
                  <a:pt x="31750" y="539750"/>
                </a:lnTo>
                <a:cubicBezTo>
                  <a:pt x="14227" y="539750"/>
                  <a:pt x="0" y="525523"/>
                  <a:pt x="0" y="508000"/>
                </a:cubicBezTo>
                <a:lnTo>
                  <a:pt x="0" y="31750"/>
                </a:lnTo>
                <a:cubicBezTo>
                  <a:pt x="0" y="14227"/>
                  <a:pt x="14227" y="0"/>
                  <a:pt x="31750" y="0"/>
                </a:cubicBezTo>
                <a:close/>
              </a:path>
            </a:pathLst>
          </a:custGeom>
          <a:solidFill>
            <a:srgbClr val="FF3B30">
              <a:alpha val="5098"/>
            </a:srgbClr>
          </a:solidFill>
          <a:ln/>
        </p:spPr>
      </p:sp>
      <p:sp>
        <p:nvSpPr>
          <p:cNvPr id="61" name="Shape 59"/>
          <p:cNvSpPr/>
          <p:nvPr/>
        </p:nvSpPr>
        <p:spPr>
          <a:xfrm>
            <a:off x="7546975" y="5252012"/>
            <a:ext cx="31750" cy="539750"/>
          </a:xfrm>
          <a:custGeom>
            <a:avLst/>
            <a:gdLst/>
            <a:ahLst/>
            <a:cxnLst/>
            <a:rect l="l" t="t" r="r" b="b"/>
            <a:pathLst>
              <a:path w="31750" h="539750">
                <a:moveTo>
                  <a:pt x="31750" y="0"/>
                </a:moveTo>
                <a:lnTo>
                  <a:pt x="31750" y="0"/>
                </a:lnTo>
                <a:lnTo>
                  <a:pt x="31750" y="539750"/>
                </a:lnTo>
                <a:lnTo>
                  <a:pt x="31750" y="539750"/>
                </a:lnTo>
                <a:cubicBezTo>
                  <a:pt x="14227" y="539750"/>
                  <a:pt x="0" y="525523"/>
                  <a:pt x="0" y="508000"/>
                </a:cubicBezTo>
                <a:lnTo>
                  <a:pt x="0" y="31750"/>
                </a:lnTo>
                <a:cubicBezTo>
                  <a:pt x="0" y="14227"/>
                  <a:pt x="14227" y="0"/>
                  <a:pt x="31750" y="0"/>
                </a:cubicBezTo>
                <a:close/>
              </a:path>
            </a:pathLst>
          </a:custGeom>
          <a:solidFill>
            <a:srgbClr val="FF3B30"/>
          </a:solidFill>
          <a:ln/>
        </p:spPr>
      </p:sp>
      <p:sp>
        <p:nvSpPr>
          <p:cNvPr id="62" name="Shape 60"/>
          <p:cNvSpPr/>
          <p:nvPr/>
        </p:nvSpPr>
        <p:spPr>
          <a:xfrm>
            <a:off x="7681912" y="5458387"/>
            <a:ext cx="111125" cy="127000"/>
          </a:xfrm>
          <a:custGeom>
            <a:avLst/>
            <a:gdLst/>
            <a:ahLst/>
            <a:cxn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FF3B30"/>
          </a:solidFill>
          <a:ln/>
        </p:spPr>
      </p:sp>
      <p:sp>
        <p:nvSpPr>
          <p:cNvPr id="63" name="Text 61"/>
          <p:cNvSpPr/>
          <p:nvPr/>
        </p:nvSpPr>
        <p:spPr>
          <a:xfrm>
            <a:off x="7912100" y="5347262"/>
            <a:ext cx="99218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Liter" pitchFamily="34" charset="0"/>
                <a:ea typeface="Liter" pitchFamily="34" charset="-122"/>
                <a:cs typeface="Liter" pitchFamily="34" charset="-120"/>
              </a:rPr>
              <a:t>Fire Emergency</a:t>
            </a:r>
            <a:endParaRPr lang="en-US" sz="1600" dirty="0"/>
          </a:p>
        </p:txBody>
      </p:sp>
      <p:sp>
        <p:nvSpPr>
          <p:cNvPr id="64" name="Text 62"/>
          <p:cNvSpPr/>
          <p:nvPr/>
        </p:nvSpPr>
        <p:spPr>
          <a:xfrm>
            <a:off x="7912100" y="5537762"/>
            <a:ext cx="98425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Displays "!! FIRE !!"</a:t>
            </a:r>
            <a:endParaRPr lang="en-US" sz="1600" dirty="0"/>
          </a:p>
        </p:txBody>
      </p:sp>
      <p:sp>
        <p:nvSpPr>
          <p:cNvPr id="65" name="Shape 63"/>
          <p:cNvSpPr/>
          <p:nvPr/>
        </p:nvSpPr>
        <p:spPr>
          <a:xfrm>
            <a:off x="7546975" y="5855262"/>
            <a:ext cx="4159250" cy="539750"/>
          </a:xfrm>
          <a:custGeom>
            <a:avLst/>
            <a:gdLst/>
            <a:ahLst/>
            <a:cxnLst/>
            <a:rect l="l" t="t" r="r" b="b"/>
            <a:pathLst>
              <a:path w="4159250" h="539750">
                <a:moveTo>
                  <a:pt x="31750" y="0"/>
                </a:moveTo>
                <a:lnTo>
                  <a:pt x="4095748" y="0"/>
                </a:lnTo>
                <a:cubicBezTo>
                  <a:pt x="4130819" y="0"/>
                  <a:pt x="4159250" y="28431"/>
                  <a:pt x="4159250" y="63502"/>
                </a:cubicBezTo>
                <a:lnTo>
                  <a:pt x="4159250" y="476248"/>
                </a:lnTo>
                <a:cubicBezTo>
                  <a:pt x="4159250" y="511319"/>
                  <a:pt x="4130819" y="539750"/>
                  <a:pt x="4095748" y="539750"/>
                </a:cubicBezTo>
                <a:lnTo>
                  <a:pt x="31750" y="539750"/>
                </a:lnTo>
                <a:cubicBezTo>
                  <a:pt x="14227" y="539750"/>
                  <a:pt x="0" y="525523"/>
                  <a:pt x="0" y="508000"/>
                </a:cubicBezTo>
                <a:lnTo>
                  <a:pt x="0" y="31750"/>
                </a:lnTo>
                <a:cubicBezTo>
                  <a:pt x="0" y="14227"/>
                  <a:pt x="14227" y="0"/>
                  <a:pt x="31750" y="0"/>
                </a:cubicBezTo>
                <a:close/>
              </a:path>
            </a:pathLst>
          </a:custGeom>
          <a:solidFill>
            <a:srgbClr val="0071E3">
              <a:alpha val="5098"/>
            </a:srgbClr>
          </a:solidFill>
          <a:ln/>
        </p:spPr>
      </p:sp>
      <p:sp>
        <p:nvSpPr>
          <p:cNvPr id="66" name="Shape 64"/>
          <p:cNvSpPr/>
          <p:nvPr/>
        </p:nvSpPr>
        <p:spPr>
          <a:xfrm>
            <a:off x="7546975" y="5855262"/>
            <a:ext cx="31750" cy="539750"/>
          </a:xfrm>
          <a:custGeom>
            <a:avLst/>
            <a:gdLst/>
            <a:ahLst/>
            <a:cxnLst/>
            <a:rect l="l" t="t" r="r" b="b"/>
            <a:pathLst>
              <a:path w="31750" h="539750">
                <a:moveTo>
                  <a:pt x="31750" y="0"/>
                </a:moveTo>
                <a:lnTo>
                  <a:pt x="31750" y="0"/>
                </a:lnTo>
                <a:lnTo>
                  <a:pt x="31750" y="539750"/>
                </a:lnTo>
                <a:lnTo>
                  <a:pt x="31750" y="539750"/>
                </a:lnTo>
                <a:cubicBezTo>
                  <a:pt x="14227" y="539750"/>
                  <a:pt x="0" y="525523"/>
                  <a:pt x="0" y="508000"/>
                </a:cubicBezTo>
                <a:lnTo>
                  <a:pt x="0" y="31750"/>
                </a:lnTo>
                <a:cubicBezTo>
                  <a:pt x="0" y="14227"/>
                  <a:pt x="14227" y="0"/>
                  <a:pt x="31750" y="0"/>
                </a:cubicBezTo>
                <a:close/>
              </a:path>
            </a:pathLst>
          </a:custGeom>
          <a:solidFill>
            <a:srgbClr val="0071E3"/>
          </a:solidFill>
          <a:ln/>
        </p:spPr>
      </p:sp>
      <p:sp>
        <p:nvSpPr>
          <p:cNvPr id="67" name="Shape 65"/>
          <p:cNvSpPr/>
          <p:nvPr/>
        </p:nvSpPr>
        <p:spPr>
          <a:xfrm>
            <a:off x="7673975" y="6061637"/>
            <a:ext cx="127000" cy="127000"/>
          </a:xfrm>
          <a:custGeom>
            <a:avLst/>
            <a:gdLst/>
            <a:ahLst/>
            <a:cxnLst/>
            <a:rect l="l" t="t" r="r" b="b"/>
            <a:pathLst>
              <a:path w="127000" h="127000">
                <a:moveTo>
                  <a:pt x="83344" y="87313"/>
                </a:moveTo>
                <a:cubicBezTo>
                  <a:pt x="107454" y="87313"/>
                  <a:pt x="127000" y="67766"/>
                  <a:pt x="127000" y="43656"/>
                </a:cubicBezTo>
                <a:cubicBezTo>
                  <a:pt x="127000" y="19546"/>
                  <a:pt x="107454" y="0"/>
                  <a:pt x="83344" y="0"/>
                </a:cubicBezTo>
                <a:cubicBezTo>
                  <a:pt x="59234" y="0"/>
                  <a:pt x="39688" y="19546"/>
                  <a:pt x="39688" y="43656"/>
                </a:cubicBezTo>
                <a:cubicBezTo>
                  <a:pt x="39688" y="48295"/>
                  <a:pt x="40407" y="52784"/>
                  <a:pt x="41746" y="56976"/>
                </a:cubicBezTo>
                <a:lnTo>
                  <a:pt x="1736" y="96986"/>
                </a:lnTo>
                <a:cubicBezTo>
                  <a:pt x="620" y="98103"/>
                  <a:pt x="0" y="99616"/>
                  <a:pt x="0" y="101203"/>
                </a:cubicBezTo>
                <a:lnTo>
                  <a:pt x="0" y="121047"/>
                </a:lnTo>
                <a:cubicBezTo>
                  <a:pt x="0" y="124346"/>
                  <a:pt x="2654" y="127000"/>
                  <a:pt x="5953" y="127000"/>
                </a:cubicBezTo>
                <a:lnTo>
                  <a:pt x="25797" y="127000"/>
                </a:lnTo>
                <a:cubicBezTo>
                  <a:pt x="29096" y="127000"/>
                  <a:pt x="31750" y="124346"/>
                  <a:pt x="31750" y="121047"/>
                </a:cubicBezTo>
                <a:lnTo>
                  <a:pt x="31750" y="111125"/>
                </a:lnTo>
                <a:lnTo>
                  <a:pt x="41672" y="111125"/>
                </a:lnTo>
                <a:cubicBezTo>
                  <a:pt x="44971" y="111125"/>
                  <a:pt x="47625" y="108471"/>
                  <a:pt x="47625" y="105172"/>
                </a:cubicBezTo>
                <a:lnTo>
                  <a:pt x="47625" y="95250"/>
                </a:lnTo>
                <a:lnTo>
                  <a:pt x="57547" y="95250"/>
                </a:lnTo>
                <a:cubicBezTo>
                  <a:pt x="59134" y="95250"/>
                  <a:pt x="60647" y="94630"/>
                  <a:pt x="61764" y="93514"/>
                </a:cubicBezTo>
                <a:lnTo>
                  <a:pt x="70024" y="85254"/>
                </a:lnTo>
                <a:cubicBezTo>
                  <a:pt x="74216" y="86593"/>
                  <a:pt x="78705" y="87313"/>
                  <a:pt x="83344" y="87313"/>
                </a:cubicBezTo>
                <a:close/>
                <a:moveTo>
                  <a:pt x="93266" y="23812"/>
                </a:moveTo>
                <a:cubicBezTo>
                  <a:pt x="98742" y="23812"/>
                  <a:pt x="103188" y="28258"/>
                  <a:pt x="103188" y="33734"/>
                </a:cubicBezTo>
                <a:cubicBezTo>
                  <a:pt x="103188" y="39210"/>
                  <a:pt x="98742" y="43656"/>
                  <a:pt x="93266" y="43656"/>
                </a:cubicBezTo>
                <a:cubicBezTo>
                  <a:pt x="87790" y="43656"/>
                  <a:pt x="83344" y="39210"/>
                  <a:pt x="83344" y="33734"/>
                </a:cubicBezTo>
                <a:cubicBezTo>
                  <a:pt x="83344" y="28258"/>
                  <a:pt x="87790" y="23812"/>
                  <a:pt x="93266" y="23812"/>
                </a:cubicBezTo>
                <a:close/>
              </a:path>
            </a:pathLst>
          </a:custGeom>
          <a:solidFill>
            <a:srgbClr val="0071E3"/>
          </a:solidFill>
          <a:ln/>
        </p:spPr>
      </p:sp>
      <p:sp>
        <p:nvSpPr>
          <p:cNvPr id="68" name="Text 66"/>
          <p:cNvSpPr/>
          <p:nvPr/>
        </p:nvSpPr>
        <p:spPr>
          <a:xfrm>
            <a:off x="7912100" y="5950512"/>
            <a:ext cx="130968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Liter" pitchFamily="34" charset="0"/>
                <a:ea typeface="Liter" pitchFamily="34" charset="-122"/>
                <a:cs typeface="Liter" pitchFamily="34" charset="-120"/>
              </a:rPr>
              <a:t>Password Entry</a:t>
            </a:r>
            <a:endParaRPr lang="en-US" sz="1600" dirty="0"/>
          </a:p>
        </p:txBody>
      </p:sp>
      <p:sp>
        <p:nvSpPr>
          <p:cNvPr id="69" name="Text 67"/>
          <p:cNvSpPr/>
          <p:nvPr/>
        </p:nvSpPr>
        <p:spPr>
          <a:xfrm>
            <a:off x="7912100" y="6141012"/>
            <a:ext cx="130175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Shows "PW: 101" as typed</a:t>
            </a:r>
            <a:endParaRPr lang="en-US" sz="1600" dirty="0"/>
          </a:p>
        </p:txBody>
      </p:sp>
      <p:sp>
        <p:nvSpPr>
          <p:cNvPr id="75" name="Rectangle: Rounded Corners 74">
            <a:extLst>
              <a:ext uri="{FF2B5EF4-FFF2-40B4-BE49-F238E27FC236}">
                <a16:creationId xmlns:a16="http://schemas.microsoft.com/office/drawing/2014/main" id="{4CF6933B-8EA8-E841-74B9-9D1EEFD2DAFB}"/>
              </a:ext>
            </a:extLst>
          </p:cNvPr>
          <p:cNvSpPr/>
          <p:nvPr/>
        </p:nvSpPr>
        <p:spPr>
          <a:xfrm>
            <a:off x="9033764" y="1699266"/>
            <a:ext cx="961770" cy="859786"/>
          </a:xfrm>
          <a:prstGeom prst="roundRect">
            <a:avLst>
              <a:gd name="adj" fmla="val 603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2" name="Text 40"/>
          <p:cNvSpPr/>
          <p:nvPr/>
        </p:nvSpPr>
        <p:spPr>
          <a:xfrm>
            <a:off x="9064879" y="1713115"/>
            <a:ext cx="944752" cy="158750"/>
          </a:xfrm>
          <a:prstGeom prst="rect">
            <a:avLst/>
          </a:prstGeom>
          <a:noFill/>
          <a:ln>
            <a:noFill/>
          </a:ln>
        </p:spPr>
        <p:txBody>
          <a:bodyPr wrap="square" lIns="0" tIns="0" rIns="0" bIns="0" rtlCol="0" anchor="ctr"/>
          <a:lstStyle/>
          <a:p>
            <a:pPr>
              <a:lnSpc>
                <a:spcPct val="120000"/>
              </a:lnSpc>
            </a:pPr>
            <a:r>
              <a:rPr lang="en-US" sz="875" dirty="0">
                <a:solidFill>
                  <a:srgbClr val="00B0F0"/>
                </a:solidFill>
                <a:latin typeface="MiSans" pitchFamily="34" charset="0"/>
                <a:ea typeface="MiSans" pitchFamily="34" charset="-122"/>
                <a:cs typeface="MiSans" pitchFamily="34" charset="-120"/>
              </a:rPr>
              <a:t>CMD: L1</a:t>
            </a:r>
            <a:endParaRPr lang="en-US" sz="1600" dirty="0">
              <a:solidFill>
                <a:srgbClr val="00B0F0"/>
              </a:solidFill>
            </a:endParaRPr>
          </a:p>
        </p:txBody>
      </p:sp>
      <p:sp>
        <p:nvSpPr>
          <p:cNvPr id="44" name="Text 42"/>
          <p:cNvSpPr/>
          <p:nvPr/>
        </p:nvSpPr>
        <p:spPr>
          <a:xfrm>
            <a:off x="9190736" y="2012955"/>
            <a:ext cx="3849688" cy="158750"/>
          </a:xfrm>
          <a:prstGeom prst="rect">
            <a:avLst/>
          </a:prstGeom>
          <a:noFill/>
          <a:ln/>
        </p:spPr>
        <p:txBody>
          <a:bodyPr wrap="square" lIns="0" tIns="0" rIns="0" bIns="0" rtlCol="0" anchor="ctr"/>
          <a:lstStyle/>
          <a:p>
            <a:pPr>
              <a:lnSpc>
                <a:spcPct val="120000"/>
              </a:lnSpc>
            </a:pPr>
            <a:r>
              <a:rPr lang="en-US" sz="875" dirty="0">
                <a:solidFill>
                  <a:srgbClr val="00B0F0"/>
                </a:solidFill>
                <a:latin typeface="MiSans" pitchFamily="34" charset="0"/>
                <a:ea typeface="MiSans" pitchFamily="34" charset="-122"/>
                <a:cs typeface="MiSans" pitchFamily="34" charset="-120"/>
              </a:rPr>
              <a:t>L1: 1    L2: 0</a:t>
            </a:r>
            <a:endParaRPr lang="en-US" sz="1600" dirty="0">
              <a:solidFill>
                <a:srgbClr val="00B0F0"/>
              </a:solidFill>
            </a:endParaRPr>
          </a:p>
        </p:txBody>
      </p:sp>
      <p:sp>
        <p:nvSpPr>
          <p:cNvPr id="45" name="Text 43"/>
          <p:cNvSpPr/>
          <p:nvPr/>
        </p:nvSpPr>
        <p:spPr>
          <a:xfrm>
            <a:off x="9190736" y="2305053"/>
            <a:ext cx="3849688" cy="158750"/>
          </a:xfrm>
          <a:prstGeom prst="rect">
            <a:avLst/>
          </a:prstGeom>
          <a:noFill/>
          <a:ln/>
        </p:spPr>
        <p:txBody>
          <a:bodyPr wrap="square" lIns="0" tIns="0" rIns="0" bIns="0" rtlCol="0" anchor="ctr"/>
          <a:lstStyle/>
          <a:p>
            <a:pPr>
              <a:lnSpc>
                <a:spcPct val="120000"/>
              </a:lnSpc>
            </a:pPr>
            <a:r>
              <a:rPr lang="en-US" sz="875" dirty="0">
                <a:solidFill>
                  <a:srgbClr val="00B0F0"/>
                </a:solidFill>
                <a:latin typeface="MiSans" pitchFamily="34" charset="0"/>
                <a:ea typeface="MiSans" pitchFamily="34" charset="-122"/>
                <a:cs typeface="MiSans" pitchFamily="34" charset="-120"/>
              </a:rPr>
              <a:t>F1: 4    F2: 2</a:t>
            </a:r>
            <a:endParaRPr lang="en-US" sz="1600" dirty="0">
              <a:solidFill>
                <a:srgbClr val="00B0F0"/>
              </a:solidFill>
            </a:endParaRPr>
          </a:p>
        </p:txBody>
      </p:sp>
      <p:cxnSp>
        <p:nvCxnSpPr>
          <p:cNvPr id="71" name="Straight Connector 70">
            <a:extLst>
              <a:ext uri="{FF2B5EF4-FFF2-40B4-BE49-F238E27FC236}">
                <a16:creationId xmlns:a16="http://schemas.microsoft.com/office/drawing/2014/main" id="{F9914F02-902A-D8CA-BA02-E70166D1EE6C}"/>
              </a:ext>
            </a:extLst>
          </p:cNvPr>
          <p:cNvCxnSpPr>
            <a:cxnSpLocks/>
          </p:cNvCxnSpPr>
          <p:nvPr/>
        </p:nvCxnSpPr>
        <p:spPr>
          <a:xfrm>
            <a:off x="9040241" y="1941195"/>
            <a:ext cx="96177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28625" y="328625"/>
            <a:ext cx="11592259" cy="164313"/>
          </a:xfrm>
          <a:prstGeom prst="rect">
            <a:avLst/>
          </a:prstGeom>
          <a:noFill/>
          <a:ln/>
        </p:spPr>
        <p:txBody>
          <a:bodyPr wrap="square" lIns="0" tIns="0" rIns="0" bIns="0" rtlCol="0" anchor="ctr"/>
          <a:lstStyle/>
          <a:p>
            <a:pPr>
              <a:lnSpc>
                <a:spcPct val="120000"/>
              </a:lnSpc>
            </a:pPr>
            <a:r>
              <a:rPr lang="en-US" sz="906" b="1" kern="0" spc="45" dirty="0">
                <a:solidFill>
                  <a:srgbClr val="0071E3"/>
                </a:solidFill>
                <a:latin typeface="Liter" pitchFamily="34" charset="0"/>
                <a:ea typeface="Liter" pitchFamily="34" charset="-122"/>
                <a:cs typeface="Liter" pitchFamily="34" charset="-120"/>
              </a:rPr>
              <a:t>FLASH STORAGE</a:t>
            </a:r>
            <a:endParaRPr lang="en-US" sz="1600" dirty="0"/>
          </a:p>
        </p:txBody>
      </p:sp>
      <p:sp>
        <p:nvSpPr>
          <p:cNvPr id="3" name="Text 1"/>
          <p:cNvSpPr/>
          <p:nvPr/>
        </p:nvSpPr>
        <p:spPr>
          <a:xfrm>
            <a:off x="328625" y="558663"/>
            <a:ext cx="11682631" cy="328625"/>
          </a:xfrm>
          <a:prstGeom prst="rect">
            <a:avLst/>
          </a:prstGeom>
          <a:noFill/>
          <a:ln/>
        </p:spPr>
        <p:txBody>
          <a:bodyPr wrap="square" lIns="0" tIns="0" rIns="0" bIns="0" rtlCol="0" anchor="ctr"/>
          <a:lstStyle/>
          <a:p>
            <a:pPr>
              <a:lnSpc>
                <a:spcPct val="90000"/>
              </a:lnSpc>
            </a:pPr>
            <a:r>
              <a:rPr lang="en-US" sz="2329" b="1" dirty="0">
                <a:solidFill>
                  <a:srgbClr val="1D1D1D"/>
                </a:solidFill>
                <a:latin typeface="Liter" pitchFamily="34" charset="0"/>
                <a:ea typeface="Liter" pitchFamily="34" charset="-122"/>
                <a:cs typeface="Liter" pitchFamily="34" charset="-120"/>
              </a:rPr>
              <a:t>Data Persistence (Preferences)</a:t>
            </a:r>
            <a:endParaRPr lang="en-US" sz="1600" dirty="0"/>
          </a:p>
        </p:txBody>
      </p:sp>
      <p:sp>
        <p:nvSpPr>
          <p:cNvPr id="4" name="Shape 2"/>
          <p:cNvSpPr/>
          <p:nvPr/>
        </p:nvSpPr>
        <p:spPr>
          <a:xfrm>
            <a:off x="331912" y="1054887"/>
            <a:ext cx="5667144" cy="2553419"/>
          </a:xfrm>
          <a:custGeom>
            <a:avLst/>
            <a:gdLst/>
            <a:ahLst/>
            <a:cxnLst/>
            <a:rect l="l" t="t" r="r" b="b"/>
            <a:pathLst>
              <a:path w="5667144" h="2553419">
                <a:moveTo>
                  <a:pt x="98588" y="0"/>
                </a:moveTo>
                <a:lnTo>
                  <a:pt x="5568556" y="0"/>
                </a:lnTo>
                <a:cubicBezTo>
                  <a:pt x="5623005" y="0"/>
                  <a:pt x="5667144" y="44139"/>
                  <a:pt x="5667144" y="98588"/>
                </a:cubicBezTo>
                <a:lnTo>
                  <a:pt x="5667144" y="2454831"/>
                </a:lnTo>
                <a:cubicBezTo>
                  <a:pt x="5667144" y="2509280"/>
                  <a:pt x="5623005" y="2553419"/>
                  <a:pt x="5568556" y="2553419"/>
                </a:cubicBezTo>
                <a:lnTo>
                  <a:pt x="98588" y="2553419"/>
                </a:lnTo>
                <a:cubicBezTo>
                  <a:pt x="44139" y="2553419"/>
                  <a:pt x="0" y="2509280"/>
                  <a:pt x="0" y="2454831"/>
                </a:cubicBezTo>
                <a:lnTo>
                  <a:pt x="0" y="98588"/>
                </a:lnTo>
                <a:cubicBezTo>
                  <a:pt x="0" y="44139"/>
                  <a:pt x="44139" y="0"/>
                  <a:pt x="98588" y="0"/>
                </a:cubicBezTo>
                <a:close/>
              </a:path>
            </a:pathLst>
          </a:custGeom>
          <a:solidFill>
            <a:srgbClr val="FFFFFF"/>
          </a:solidFill>
          <a:ln w="10160">
            <a:solidFill>
              <a:srgbClr val="E5E5E5"/>
            </a:solidFill>
            <a:prstDash val="solid"/>
          </a:ln>
          <a:effectLst>
            <a:outerShdw blurRad="24647" dist="8216" dir="5400000" algn="bl" rotWithShape="0">
              <a:srgbClr val="000000">
                <a:alpha val="10196"/>
              </a:srgbClr>
            </a:outerShdw>
          </a:effectLst>
        </p:spPr>
      </p:sp>
      <p:sp>
        <p:nvSpPr>
          <p:cNvPr id="5" name="Shape 3"/>
          <p:cNvSpPr/>
          <p:nvPr/>
        </p:nvSpPr>
        <p:spPr>
          <a:xfrm>
            <a:off x="552912" y="1288218"/>
            <a:ext cx="164313" cy="164313"/>
          </a:xfrm>
          <a:custGeom>
            <a:avLst/>
            <a:gdLst/>
            <a:ahLst/>
            <a:cxnLst/>
            <a:rect l="l" t="t" r="r" b="b"/>
            <a:pathLst>
              <a:path w="164313" h="164313">
                <a:moveTo>
                  <a:pt x="82156" y="164313"/>
                </a:moveTo>
                <a:cubicBezTo>
                  <a:pt x="127500" y="164313"/>
                  <a:pt x="164313" y="127500"/>
                  <a:pt x="164313" y="82156"/>
                </a:cubicBezTo>
                <a:cubicBezTo>
                  <a:pt x="164313" y="36813"/>
                  <a:pt x="127500" y="0"/>
                  <a:pt x="82156" y="0"/>
                </a:cubicBezTo>
                <a:cubicBezTo>
                  <a:pt x="36813" y="0"/>
                  <a:pt x="0" y="36813"/>
                  <a:pt x="0" y="82156"/>
                </a:cubicBezTo>
                <a:cubicBezTo>
                  <a:pt x="0" y="127500"/>
                  <a:pt x="36813" y="164313"/>
                  <a:pt x="82156" y="164313"/>
                </a:cubicBezTo>
                <a:close/>
                <a:moveTo>
                  <a:pt x="82156" y="43646"/>
                </a:moveTo>
                <a:cubicBezTo>
                  <a:pt x="86425" y="43646"/>
                  <a:pt x="89858" y="47079"/>
                  <a:pt x="89858" y="51348"/>
                </a:cubicBezTo>
                <a:lnTo>
                  <a:pt x="89858" y="87291"/>
                </a:lnTo>
                <a:cubicBezTo>
                  <a:pt x="89858" y="91559"/>
                  <a:pt x="86425" y="94993"/>
                  <a:pt x="82156" y="94993"/>
                </a:cubicBezTo>
                <a:cubicBezTo>
                  <a:pt x="77888" y="94993"/>
                  <a:pt x="74454" y="91559"/>
                  <a:pt x="74454" y="87291"/>
                </a:cubicBezTo>
                <a:lnTo>
                  <a:pt x="74454" y="51348"/>
                </a:lnTo>
                <a:cubicBezTo>
                  <a:pt x="74454" y="47079"/>
                  <a:pt x="77888" y="43646"/>
                  <a:pt x="82156" y="43646"/>
                </a:cubicBezTo>
                <a:close/>
                <a:moveTo>
                  <a:pt x="73588" y="112965"/>
                </a:moveTo>
                <a:cubicBezTo>
                  <a:pt x="73393" y="109784"/>
                  <a:pt x="74979" y="106758"/>
                  <a:pt x="77705" y="105109"/>
                </a:cubicBezTo>
                <a:cubicBezTo>
                  <a:pt x="80432" y="103460"/>
                  <a:pt x="83849" y="103460"/>
                  <a:pt x="86575" y="105109"/>
                </a:cubicBezTo>
                <a:cubicBezTo>
                  <a:pt x="89302" y="106758"/>
                  <a:pt x="90888" y="109784"/>
                  <a:pt x="90693" y="112965"/>
                </a:cubicBezTo>
                <a:cubicBezTo>
                  <a:pt x="90888" y="116146"/>
                  <a:pt x="89302" y="119172"/>
                  <a:pt x="86575" y="120821"/>
                </a:cubicBezTo>
                <a:cubicBezTo>
                  <a:pt x="83849" y="122470"/>
                  <a:pt x="80432" y="122470"/>
                  <a:pt x="77705" y="120821"/>
                </a:cubicBezTo>
                <a:cubicBezTo>
                  <a:pt x="74979" y="119172"/>
                  <a:pt x="73393" y="116146"/>
                  <a:pt x="73588" y="112965"/>
                </a:cubicBezTo>
                <a:close/>
              </a:path>
            </a:pathLst>
          </a:custGeom>
          <a:solidFill>
            <a:srgbClr val="FF3B30"/>
          </a:solidFill>
          <a:ln/>
        </p:spPr>
      </p:sp>
      <p:sp>
        <p:nvSpPr>
          <p:cNvPr id="6" name="Text 4"/>
          <p:cNvSpPr/>
          <p:nvPr/>
        </p:nvSpPr>
        <p:spPr>
          <a:xfrm>
            <a:off x="737764" y="1255355"/>
            <a:ext cx="5142987" cy="230038"/>
          </a:xfrm>
          <a:prstGeom prst="rect">
            <a:avLst/>
          </a:prstGeom>
          <a:noFill/>
          <a:ln/>
        </p:spPr>
        <p:txBody>
          <a:bodyPr wrap="square" lIns="0" tIns="0" rIns="0" bIns="0" rtlCol="0" anchor="ctr"/>
          <a:lstStyle/>
          <a:p>
            <a:pPr>
              <a:lnSpc>
                <a:spcPct val="120000"/>
              </a:lnSpc>
            </a:pPr>
            <a:r>
              <a:rPr lang="en-US" sz="1294" b="1" dirty="0">
                <a:solidFill>
                  <a:srgbClr val="1D1D1D"/>
                </a:solidFill>
                <a:latin typeface="Liter" pitchFamily="34" charset="0"/>
                <a:ea typeface="Liter" pitchFamily="34" charset="-122"/>
                <a:cs typeface="Liter" pitchFamily="34" charset="-120"/>
              </a:rPr>
              <a:t>The Problem</a:t>
            </a:r>
            <a:endParaRPr lang="en-US" sz="1600" dirty="0"/>
          </a:p>
        </p:txBody>
      </p:sp>
      <p:sp>
        <p:nvSpPr>
          <p:cNvPr id="7" name="Shape 5"/>
          <p:cNvSpPr/>
          <p:nvPr/>
        </p:nvSpPr>
        <p:spPr>
          <a:xfrm>
            <a:off x="548804" y="1616843"/>
            <a:ext cx="5249790" cy="903720"/>
          </a:xfrm>
          <a:custGeom>
            <a:avLst/>
            <a:gdLst/>
            <a:ahLst/>
            <a:cxnLst/>
            <a:rect l="l" t="t" r="r" b="b"/>
            <a:pathLst>
              <a:path w="5249790" h="903720">
                <a:moveTo>
                  <a:pt x="32863" y="0"/>
                </a:moveTo>
                <a:lnTo>
                  <a:pt x="5184062" y="0"/>
                </a:lnTo>
                <a:cubicBezTo>
                  <a:pt x="5220363" y="0"/>
                  <a:pt x="5249790" y="29427"/>
                  <a:pt x="5249790" y="65728"/>
                </a:cubicBezTo>
                <a:lnTo>
                  <a:pt x="5249790" y="837992"/>
                </a:lnTo>
                <a:cubicBezTo>
                  <a:pt x="5249790" y="874292"/>
                  <a:pt x="5220363" y="903720"/>
                  <a:pt x="5184062" y="903720"/>
                </a:cubicBezTo>
                <a:lnTo>
                  <a:pt x="32863" y="903720"/>
                </a:lnTo>
                <a:cubicBezTo>
                  <a:pt x="14713" y="903720"/>
                  <a:pt x="0" y="889007"/>
                  <a:pt x="0" y="870857"/>
                </a:cubicBezTo>
                <a:lnTo>
                  <a:pt x="0" y="32863"/>
                </a:lnTo>
                <a:cubicBezTo>
                  <a:pt x="0" y="14713"/>
                  <a:pt x="14713" y="0"/>
                  <a:pt x="32863" y="0"/>
                </a:cubicBezTo>
                <a:close/>
              </a:path>
            </a:pathLst>
          </a:custGeom>
          <a:solidFill>
            <a:srgbClr val="FF3B30">
              <a:alpha val="5098"/>
            </a:srgbClr>
          </a:solidFill>
          <a:ln/>
        </p:spPr>
      </p:sp>
      <p:sp>
        <p:nvSpPr>
          <p:cNvPr id="8" name="Shape 6"/>
          <p:cNvSpPr/>
          <p:nvPr/>
        </p:nvSpPr>
        <p:spPr>
          <a:xfrm>
            <a:off x="548804" y="1616843"/>
            <a:ext cx="32863" cy="903720"/>
          </a:xfrm>
          <a:custGeom>
            <a:avLst/>
            <a:gdLst/>
            <a:ahLst/>
            <a:cxnLst/>
            <a:rect l="l" t="t" r="r" b="b"/>
            <a:pathLst>
              <a:path w="32863" h="903720">
                <a:moveTo>
                  <a:pt x="32863" y="0"/>
                </a:moveTo>
                <a:lnTo>
                  <a:pt x="32863" y="0"/>
                </a:lnTo>
                <a:lnTo>
                  <a:pt x="32863" y="903720"/>
                </a:lnTo>
                <a:lnTo>
                  <a:pt x="32863" y="903720"/>
                </a:lnTo>
                <a:cubicBezTo>
                  <a:pt x="14713" y="903720"/>
                  <a:pt x="0" y="889007"/>
                  <a:pt x="0" y="870857"/>
                </a:cubicBezTo>
                <a:lnTo>
                  <a:pt x="0" y="32863"/>
                </a:lnTo>
                <a:cubicBezTo>
                  <a:pt x="0" y="14725"/>
                  <a:pt x="14725" y="0"/>
                  <a:pt x="32863" y="0"/>
                </a:cubicBezTo>
                <a:close/>
              </a:path>
            </a:pathLst>
          </a:custGeom>
          <a:solidFill>
            <a:srgbClr val="FF3B30"/>
          </a:solidFill>
          <a:ln/>
        </p:spPr>
      </p:sp>
      <p:sp>
        <p:nvSpPr>
          <p:cNvPr id="9" name="Text 7"/>
          <p:cNvSpPr/>
          <p:nvPr/>
        </p:nvSpPr>
        <p:spPr>
          <a:xfrm>
            <a:off x="696686" y="1748293"/>
            <a:ext cx="5036183" cy="640819"/>
          </a:xfrm>
          <a:prstGeom prst="rect">
            <a:avLst/>
          </a:prstGeom>
          <a:noFill/>
          <a:ln/>
        </p:spPr>
        <p:txBody>
          <a:bodyPr wrap="square" lIns="0" tIns="0" rIns="0" bIns="0" rtlCol="0" anchor="ctr"/>
          <a:lstStyle/>
          <a:p>
            <a:pPr>
              <a:lnSpc>
                <a:spcPct val="140000"/>
              </a:lnSpc>
            </a:pPr>
            <a:r>
              <a:rPr lang="en-US" sz="1035" b="1" dirty="0">
                <a:solidFill>
                  <a:srgbClr val="1D1D1D"/>
                </a:solidFill>
                <a:latin typeface="Liter" pitchFamily="34" charset="0"/>
                <a:ea typeface="Liter" pitchFamily="34" charset="-122"/>
                <a:cs typeface="Liter" pitchFamily="34" charset="-120"/>
              </a:rPr>
              <a:t>Power loss resets all relay states.</a:t>
            </a:r>
            <a:r>
              <a:rPr lang="en-US" sz="1035" dirty="0">
                <a:solidFill>
                  <a:srgbClr val="1D1D1D"/>
                </a:solidFill>
                <a:latin typeface="Liter" pitchFamily="34" charset="0"/>
                <a:ea typeface="Liter" pitchFamily="34" charset="-122"/>
                <a:cs typeface="Liter" pitchFamily="34" charset="-120"/>
              </a:rPr>
              <a:t> Without persistence, all lights and fans return to OFF after power restoration, disrupting user experience and requiring manual reconfiguration.</a:t>
            </a:r>
            <a:endParaRPr lang="en-US" sz="1600" dirty="0"/>
          </a:p>
        </p:txBody>
      </p:sp>
      <p:sp>
        <p:nvSpPr>
          <p:cNvPr id="10" name="Shape 8"/>
          <p:cNvSpPr/>
          <p:nvPr/>
        </p:nvSpPr>
        <p:spPr>
          <a:xfrm>
            <a:off x="532373" y="2652013"/>
            <a:ext cx="2579709" cy="755838"/>
          </a:xfrm>
          <a:custGeom>
            <a:avLst/>
            <a:gdLst/>
            <a:ahLst/>
            <a:cxnLst/>
            <a:rect l="l" t="t" r="r" b="b"/>
            <a:pathLst>
              <a:path w="2579709" h="755838">
                <a:moveTo>
                  <a:pt x="65728" y="0"/>
                </a:moveTo>
                <a:lnTo>
                  <a:pt x="2513981" y="0"/>
                </a:lnTo>
                <a:cubicBezTo>
                  <a:pt x="2550282" y="0"/>
                  <a:pt x="2579709" y="29427"/>
                  <a:pt x="2579709" y="65728"/>
                </a:cubicBezTo>
                <a:lnTo>
                  <a:pt x="2579709" y="690111"/>
                </a:lnTo>
                <a:cubicBezTo>
                  <a:pt x="2579709" y="726411"/>
                  <a:pt x="2550282" y="755838"/>
                  <a:pt x="2513981" y="755838"/>
                </a:cubicBezTo>
                <a:lnTo>
                  <a:pt x="65728" y="755838"/>
                </a:lnTo>
                <a:cubicBezTo>
                  <a:pt x="29427" y="755838"/>
                  <a:pt x="0" y="726411"/>
                  <a:pt x="0" y="690111"/>
                </a:cubicBezTo>
                <a:lnTo>
                  <a:pt x="0" y="65728"/>
                </a:lnTo>
                <a:cubicBezTo>
                  <a:pt x="0" y="29452"/>
                  <a:pt x="29452" y="0"/>
                  <a:pt x="65728" y="0"/>
                </a:cubicBezTo>
                <a:close/>
              </a:path>
            </a:pathLst>
          </a:custGeom>
          <a:solidFill>
            <a:srgbClr val="FAFAFA"/>
          </a:solidFill>
          <a:ln/>
        </p:spPr>
      </p:sp>
      <p:sp>
        <p:nvSpPr>
          <p:cNvPr id="11" name="Shape 9"/>
          <p:cNvSpPr/>
          <p:nvPr/>
        </p:nvSpPr>
        <p:spPr>
          <a:xfrm>
            <a:off x="1724872" y="2750600"/>
            <a:ext cx="197175" cy="197175"/>
          </a:xfrm>
          <a:custGeom>
            <a:avLst/>
            <a:gdLst/>
            <a:ahLst/>
            <a:cxnLst/>
            <a:rect l="l" t="t" r="r" b="b"/>
            <a:pathLst>
              <a:path w="197175" h="197175">
                <a:moveTo>
                  <a:pt x="110911" y="0"/>
                </a:moveTo>
                <a:cubicBezTo>
                  <a:pt x="110911" y="-6816"/>
                  <a:pt x="105404" y="-12323"/>
                  <a:pt x="98588" y="-12323"/>
                </a:cubicBezTo>
                <a:cubicBezTo>
                  <a:pt x="91771" y="-12323"/>
                  <a:pt x="86264" y="-6816"/>
                  <a:pt x="86264" y="0"/>
                </a:cubicBezTo>
                <a:lnTo>
                  <a:pt x="86264" y="98588"/>
                </a:lnTo>
                <a:cubicBezTo>
                  <a:pt x="86264" y="105404"/>
                  <a:pt x="91771" y="110911"/>
                  <a:pt x="98588" y="110911"/>
                </a:cubicBezTo>
                <a:cubicBezTo>
                  <a:pt x="105404" y="110911"/>
                  <a:pt x="110911" y="105404"/>
                  <a:pt x="110911" y="98588"/>
                </a:cubicBezTo>
                <a:lnTo>
                  <a:pt x="110911" y="0"/>
                </a:lnTo>
                <a:close/>
                <a:moveTo>
                  <a:pt x="56341" y="37895"/>
                </a:moveTo>
                <a:cubicBezTo>
                  <a:pt x="61925" y="34005"/>
                  <a:pt x="63273" y="26303"/>
                  <a:pt x="59384" y="20719"/>
                </a:cubicBezTo>
                <a:cubicBezTo>
                  <a:pt x="55494" y="15135"/>
                  <a:pt x="47792" y="13787"/>
                  <a:pt x="42208" y="17676"/>
                </a:cubicBezTo>
                <a:cubicBezTo>
                  <a:pt x="16714" y="35468"/>
                  <a:pt x="0" y="65083"/>
                  <a:pt x="0" y="98588"/>
                </a:cubicBezTo>
                <a:cubicBezTo>
                  <a:pt x="0" y="153042"/>
                  <a:pt x="44133" y="197175"/>
                  <a:pt x="98588" y="197175"/>
                </a:cubicBezTo>
                <a:cubicBezTo>
                  <a:pt x="153042" y="197175"/>
                  <a:pt x="197175" y="153042"/>
                  <a:pt x="197175" y="98588"/>
                </a:cubicBezTo>
                <a:cubicBezTo>
                  <a:pt x="197175" y="65083"/>
                  <a:pt x="180462" y="35468"/>
                  <a:pt x="154929" y="17676"/>
                </a:cubicBezTo>
                <a:cubicBezTo>
                  <a:pt x="149345" y="13787"/>
                  <a:pt x="141681" y="15135"/>
                  <a:pt x="137753" y="20719"/>
                </a:cubicBezTo>
                <a:cubicBezTo>
                  <a:pt x="133825" y="26303"/>
                  <a:pt x="135211" y="33967"/>
                  <a:pt x="140795" y="37895"/>
                </a:cubicBezTo>
                <a:cubicBezTo>
                  <a:pt x="159974" y="51296"/>
                  <a:pt x="172490" y="73479"/>
                  <a:pt x="172490" y="98588"/>
                </a:cubicBezTo>
                <a:cubicBezTo>
                  <a:pt x="172490" y="139409"/>
                  <a:pt x="139371" y="172528"/>
                  <a:pt x="98549" y="172528"/>
                </a:cubicBezTo>
                <a:cubicBezTo>
                  <a:pt x="57728" y="172528"/>
                  <a:pt x="24647" y="139409"/>
                  <a:pt x="24647" y="98588"/>
                </a:cubicBezTo>
                <a:cubicBezTo>
                  <a:pt x="24647" y="73479"/>
                  <a:pt x="37163" y="51258"/>
                  <a:pt x="56341" y="37895"/>
                </a:cubicBezTo>
                <a:close/>
              </a:path>
            </a:pathLst>
          </a:custGeom>
          <a:solidFill>
            <a:srgbClr val="FF3B30"/>
          </a:solidFill>
          <a:ln/>
        </p:spPr>
      </p:sp>
      <p:sp>
        <p:nvSpPr>
          <p:cNvPr id="12" name="Text 10"/>
          <p:cNvSpPr/>
          <p:nvPr/>
        </p:nvSpPr>
        <p:spPr>
          <a:xfrm>
            <a:off x="602206" y="3013501"/>
            <a:ext cx="2440043" cy="164313"/>
          </a:xfrm>
          <a:prstGeom prst="rect">
            <a:avLst/>
          </a:prstGeom>
          <a:noFill/>
          <a:ln/>
        </p:spPr>
        <p:txBody>
          <a:bodyPr wrap="square" lIns="0" tIns="0" rIns="0" bIns="0" rtlCol="0" anchor="ctr"/>
          <a:lstStyle/>
          <a:p>
            <a:pPr algn="ctr">
              <a:lnSpc>
                <a:spcPct val="120000"/>
              </a:lnSpc>
            </a:pPr>
            <a:r>
              <a:rPr lang="en-US" sz="906" b="1" dirty="0">
                <a:solidFill>
                  <a:srgbClr val="1D1D1D"/>
                </a:solidFill>
                <a:latin typeface="Liter" pitchFamily="34" charset="0"/>
                <a:ea typeface="Liter" pitchFamily="34" charset="-122"/>
                <a:cs typeface="Liter" pitchFamily="34" charset="-120"/>
              </a:rPr>
              <a:t>Power Loss</a:t>
            </a:r>
            <a:endParaRPr lang="en-US" sz="1600" dirty="0"/>
          </a:p>
        </p:txBody>
      </p:sp>
      <p:sp>
        <p:nvSpPr>
          <p:cNvPr id="13" name="Text 11"/>
          <p:cNvSpPr/>
          <p:nvPr/>
        </p:nvSpPr>
        <p:spPr>
          <a:xfrm>
            <a:off x="606314" y="3177813"/>
            <a:ext cx="2431827" cy="131450"/>
          </a:xfrm>
          <a:prstGeom prst="rect">
            <a:avLst/>
          </a:prstGeom>
          <a:noFill/>
          <a:ln/>
        </p:spPr>
        <p:txBody>
          <a:bodyPr wrap="square" lIns="0" tIns="0" rIns="0" bIns="0" rtlCol="0" anchor="ctr"/>
          <a:lstStyle/>
          <a:p>
            <a:pPr algn="ctr">
              <a:lnSpc>
                <a:spcPct val="110000"/>
              </a:lnSpc>
            </a:pPr>
            <a:r>
              <a:rPr lang="en-US" sz="776" dirty="0">
                <a:solidFill>
                  <a:srgbClr val="86868B"/>
                </a:solidFill>
                <a:latin typeface="Liter" pitchFamily="34" charset="0"/>
                <a:ea typeface="Liter" pitchFamily="34" charset="-122"/>
                <a:cs typeface="Liter" pitchFamily="34" charset="-120"/>
              </a:rPr>
              <a:t>All states lost</a:t>
            </a:r>
            <a:endParaRPr lang="en-US" sz="1600" dirty="0"/>
          </a:p>
        </p:txBody>
      </p:sp>
      <p:sp>
        <p:nvSpPr>
          <p:cNvPr id="14" name="Shape 12"/>
          <p:cNvSpPr/>
          <p:nvPr/>
        </p:nvSpPr>
        <p:spPr>
          <a:xfrm>
            <a:off x="3213134" y="2652013"/>
            <a:ext cx="2579709" cy="755838"/>
          </a:xfrm>
          <a:custGeom>
            <a:avLst/>
            <a:gdLst/>
            <a:ahLst/>
            <a:cxnLst/>
            <a:rect l="l" t="t" r="r" b="b"/>
            <a:pathLst>
              <a:path w="2579709" h="755838">
                <a:moveTo>
                  <a:pt x="65728" y="0"/>
                </a:moveTo>
                <a:lnTo>
                  <a:pt x="2513981" y="0"/>
                </a:lnTo>
                <a:cubicBezTo>
                  <a:pt x="2550282" y="0"/>
                  <a:pt x="2579709" y="29427"/>
                  <a:pt x="2579709" y="65728"/>
                </a:cubicBezTo>
                <a:lnTo>
                  <a:pt x="2579709" y="690111"/>
                </a:lnTo>
                <a:cubicBezTo>
                  <a:pt x="2579709" y="726411"/>
                  <a:pt x="2550282" y="755838"/>
                  <a:pt x="2513981" y="755838"/>
                </a:cubicBezTo>
                <a:lnTo>
                  <a:pt x="65728" y="755838"/>
                </a:lnTo>
                <a:cubicBezTo>
                  <a:pt x="29427" y="755838"/>
                  <a:pt x="0" y="726411"/>
                  <a:pt x="0" y="690111"/>
                </a:cubicBezTo>
                <a:lnTo>
                  <a:pt x="0" y="65728"/>
                </a:lnTo>
                <a:cubicBezTo>
                  <a:pt x="0" y="29452"/>
                  <a:pt x="29452" y="0"/>
                  <a:pt x="65728" y="0"/>
                </a:cubicBezTo>
                <a:close/>
              </a:path>
            </a:pathLst>
          </a:custGeom>
          <a:solidFill>
            <a:srgbClr val="FAFAFA"/>
          </a:solidFill>
          <a:ln/>
        </p:spPr>
      </p:sp>
      <p:sp>
        <p:nvSpPr>
          <p:cNvPr id="15" name="Shape 13"/>
          <p:cNvSpPr/>
          <p:nvPr/>
        </p:nvSpPr>
        <p:spPr>
          <a:xfrm>
            <a:off x="4405633" y="2750600"/>
            <a:ext cx="197175" cy="197175"/>
          </a:xfrm>
          <a:custGeom>
            <a:avLst/>
            <a:gdLst/>
            <a:ahLst/>
            <a:cxnLst/>
            <a:rect l="l" t="t" r="r" b="b"/>
            <a:pathLst>
              <a:path w="197175" h="197175">
                <a:moveTo>
                  <a:pt x="168177" y="28768"/>
                </a:moveTo>
                <a:lnTo>
                  <a:pt x="172528" y="32888"/>
                </a:lnTo>
                <a:lnTo>
                  <a:pt x="172528" y="12323"/>
                </a:lnTo>
                <a:cubicBezTo>
                  <a:pt x="172528" y="5507"/>
                  <a:pt x="178035" y="0"/>
                  <a:pt x="184852" y="0"/>
                </a:cubicBezTo>
                <a:cubicBezTo>
                  <a:pt x="191668" y="0"/>
                  <a:pt x="197175" y="5507"/>
                  <a:pt x="197175" y="12323"/>
                </a:cubicBezTo>
                <a:lnTo>
                  <a:pt x="197175" y="61617"/>
                </a:lnTo>
                <a:cubicBezTo>
                  <a:pt x="197175" y="68434"/>
                  <a:pt x="191668" y="73941"/>
                  <a:pt x="184852" y="73941"/>
                </a:cubicBezTo>
                <a:lnTo>
                  <a:pt x="135558" y="73941"/>
                </a:lnTo>
                <a:cubicBezTo>
                  <a:pt x="128742" y="73941"/>
                  <a:pt x="123235" y="68434"/>
                  <a:pt x="123235" y="61617"/>
                </a:cubicBezTo>
                <a:cubicBezTo>
                  <a:pt x="123235" y="54801"/>
                  <a:pt x="128742" y="49294"/>
                  <a:pt x="135558" y="49294"/>
                </a:cubicBezTo>
                <a:lnTo>
                  <a:pt x="154005" y="49294"/>
                </a:lnTo>
                <a:lnTo>
                  <a:pt x="151078" y="46521"/>
                </a:lnTo>
                <a:cubicBezTo>
                  <a:pt x="151001" y="46444"/>
                  <a:pt x="150924" y="46367"/>
                  <a:pt x="150847" y="46290"/>
                </a:cubicBezTo>
                <a:cubicBezTo>
                  <a:pt x="121964" y="17407"/>
                  <a:pt x="75173" y="17407"/>
                  <a:pt x="46290" y="46290"/>
                </a:cubicBezTo>
                <a:cubicBezTo>
                  <a:pt x="17407" y="75173"/>
                  <a:pt x="17407" y="121964"/>
                  <a:pt x="46290" y="150847"/>
                </a:cubicBezTo>
                <a:cubicBezTo>
                  <a:pt x="75173" y="179730"/>
                  <a:pt x="121964" y="179730"/>
                  <a:pt x="150847" y="150847"/>
                </a:cubicBezTo>
                <a:cubicBezTo>
                  <a:pt x="154005" y="147689"/>
                  <a:pt x="156816" y="144338"/>
                  <a:pt x="159281" y="140795"/>
                </a:cubicBezTo>
                <a:cubicBezTo>
                  <a:pt x="163170" y="135211"/>
                  <a:pt x="170872" y="133863"/>
                  <a:pt x="176456" y="137753"/>
                </a:cubicBezTo>
                <a:cubicBezTo>
                  <a:pt x="182040" y="141643"/>
                  <a:pt x="183388" y="149345"/>
                  <a:pt x="179499" y="154929"/>
                </a:cubicBezTo>
                <a:cubicBezTo>
                  <a:pt x="176225" y="159627"/>
                  <a:pt x="172490" y="164094"/>
                  <a:pt x="168292" y="168292"/>
                </a:cubicBezTo>
                <a:cubicBezTo>
                  <a:pt x="129781" y="206803"/>
                  <a:pt x="67355" y="206803"/>
                  <a:pt x="28883" y="168292"/>
                </a:cubicBezTo>
                <a:cubicBezTo>
                  <a:pt x="-9589" y="129781"/>
                  <a:pt x="-9628" y="67394"/>
                  <a:pt x="28883" y="28883"/>
                </a:cubicBezTo>
                <a:cubicBezTo>
                  <a:pt x="67355" y="-9589"/>
                  <a:pt x="129666" y="-9628"/>
                  <a:pt x="168177" y="28768"/>
                </a:cubicBezTo>
                <a:close/>
              </a:path>
            </a:pathLst>
          </a:custGeom>
          <a:solidFill>
            <a:srgbClr val="FF3B30"/>
          </a:solidFill>
          <a:ln/>
        </p:spPr>
      </p:sp>
      <p:sp>
        <p:nvSpPr>
          <p:cNvPr id="16" name="Text 14"/>
          <p:cNvSpPr/>
          <p:nvPr/>
        </p:nvSpPr>
        <p:spPr>
          <a:xfrm>
            <a:off x="3282967" y="3013501"/>
            <a:ext cx="2440043" cy="164313"/>
          </a:xfrm>
          <a:prstGeom prst="rect">
            <a:avLst/>
          </a:prstGeom>
          <a:noFill/>
          <a:ln/>
        </p:spPr>
        <p:txBody>
          <a:bodyPr wrap="square" lIns="0" tIns="0" rIns="0" bIns="0" rtlCol="0" anchor="ctr"/>
          <a:lstStyle/>
          <a:p>
            <a:pPr algn="ctr">
              <a:lnSpc>
                <a:spcPct val="120000"/>
              </a:lnSpc>
            </a:pPr>
            <a:r>
              <a:rPr lang="en-US" sz="906" b="1" dirty="0">
                <a:solidFill>
                  <a:srgbClr val="1D1D1D"/>
                </a:solidFill>
                <a:latin typeface="Liter" pitchFamily="34" charset="0"/>
                <a:ea typeface="Liter" pitchFamily="34" charset="-122"/>
                <a:cs typeface="Liter" pitchFamily="34" charset="-120"/>
              </a:rPr>
              <a:t>After Reset</a:t>
            </a:r>
            <a:endParaRPr lang="en-US" sz="1600" dirty="0"/>
          </a:p>
        </p:txBody>
      </p:sp>
      <p:sp>
        <p:nvSpPr>
          <p:cNvPr id="17" name="Text 15"/>
          <p:cNvSpPr/>
          <p:nvPr/>
        </p:nvSpPr>
        <p:spPr>
          <a:xfrm>
            <a:off x="3287075" y="3177813"/>
            <a:ext cx="2431827" cy="131450"/>
          </a:xfrm>
          <a:prstGeom prst="rect">
            <a:avLst/>
          </a:prstGeom>
          <a:noFill/>
          <a:ln/>
        </p:spPr>
        <p:txBody>
          <a:bodyPr wrap="square" lIns="0" tIns="0" rIns="0" bIns="0" rtlCol="0" anchor="ctr"/>
          <a:lstStyle/>
          <a:p>
            <a:pPr algn="ctr">
              <a:lnSpc>
                <a:spcPct val="110000"/>
              </a:lnSpc>
            </a:pPr>
            <a:r>
              <a:rPr lang="en-US" sz="776" dirty="0">
                <a:solidFill>
                  <a:srgbClr val="86868B"/>
                </a:solidFill>
                <a:latin typeface="Liter" pitchFamily="34" charset="0"/>
                <a:ea typeface="Liter" pitchFamily="34" charset="-122"/>
                <a:cs typeface="Liter" pitchFamily="34" charset="-120"/>
              </a:rPr>
              <a:t>Defaults restored</a:t>
            </a:r>
            <a:endParaRPr lang="en-US" sz="1600" dirty="0"/>
          </a:p>
        </p:txBody>
      </p:sp>
      <p:sp>
        <p:nvSpPr>
          <p:cNvPr id="18" name="Shape 16"/>
          <p:cNvSpPr/>
          <p:nvPr/>
        </p:nvSpPr>
        <p:spPr>
          <a:xfrm>
            <a:off x="328625" y="3775806"/>
            <a:ext cx="5668787" cy="1881380"/>
          </a:xfrm>
          <a:custGeom>
            <a:avLst/>
            <a:gdLst/>
            <a:ahLst/>
            <a:cxnLst/>
            <a:rect l="l" t="t" r="r" b="b"/>
            <a:pathLst>
              <a:path w="5668787" h="1881380">
                <a:moveTo>
                  <a:pt x="98584" y="0"/>
                </a:moveTo>
                <a:lnTo>
                  <a:pt x="5570203" y="0"/>
                </a:lnTo>
                <a:cubicBezTo>
                  <a:pt x="5624649" y="0"/>
                  <a:pt x="5668787" y="44138"/>
                  <a:pt x="5668787" y="98584"/>
                </a:cubicBezTo>
                <a:lnTo>
                  <a:pt x="5668787" y="1782796"/>
                </a:lnTo>
                <a:cubicBezTo>
                  <a:pt x="5668787" y="1837242"/>
                  <a:pt x="5624649" y="1881380"/>
                  <a:pt x="5570203" y="1881380"/>
                </a:cubicBezTo>
                <a:lnTo>
                  <a:pt x="98584" y="1881380"/>
                </a:lnTo>
                <a:cubicBezTo>
                  <a:pt x="44138" y="1881380"/>
                  <a:pt x="0" y="1837242"/>
                  <a:pt x="0" y="1782796"/>
                </a:cubicBezTo>
                <a:lnTo>
                  <a:pt x="0" y="98584"/>
                </a:lnTo>
                <a:cubicBezTo>
                  <a:pt x="0" y="44138"/>
                  <a:pt x="44138" y="0"/>
                  <a:pt x="98584" y="0"/>
                </a:cubicBezTo>
                <a:close/>
              </a:path>
            </a:pathLst>
          </a:custGeom>
          <a:solidFill>
            <a:srgbClr val="1D1D1D"/>
          </a:solidFill>
          <a:ln/>
        </p:spPr>
      </p:sp>
      <p:sp>
        <p:nvSpPr>
          <p:cNvPr id="19" name="Shape 17"/>
          <p:cNvSpPr/>
          <p:nvPr/>
        </p:nvSpPr>
        <p:spPr>
          <a:xfrm>
            <a:off x="522720" y="3981196"/>
            <a:ext cx="129396" cy="147881"/>
          </a:xfrm>
          <a:custGeom>
            <a:avLst/>
            <a:gdLst/>
            <a:ahLst/>
            <a:cxnLst/>
            <a:rect l="l" t="t" r="r" b="b"/>
            <a:pathLst>
              <a:path w="129396" h="147881">
                <a:moveTo>
                  <a:pt x="18485" y="9243"/>
                </a:moveTo>
                <a:cubicBezTo>
                  <a:pt x="8289" y="9243"/>
                  <a:pt x="0" y="17532"/>
                  <a:pt x="0" y="27728"/>
                </a:cubicBezTo>
                <a:lnTo>
                  <a:pt x="0" y="120154"/>
                </a:lnTo>
                <a:cubicBezTo>
                  <a:pt x="0" y="130349"/>
                  <a:pt x="8289" y="138639"/>
                  <a:pt x="18485" y="138639"/>
                </a:cubicBezTo>
                <a:lnTo>
                  <a:pt x="110911" y="138639"/>
                </a:lnTo>
                <a:cubicBezTo>
                  <a:pt x="121107" y="138639"/>
                  <a:pt x="129396" y="130349"/>
                  <a:pt x="129396" y="120154"/>
                </a:cubicBezTo>
                <a:lnTo>
                  <a:pt x="129396" y="50054"/>
                </a:lnTo>
                <a:cubicBezTo>
                  <a:pt x="129396" y="45144"/>
                  <a:pt x="127461" y="40436"/>
                  <a:pt x="123995" y="36970"/>
                </a:cubicBezTo>
                <a:lnTo>
                  <a:pt x="101668" y="14644"/>
                </a:lnTo>
                <a:cubicBezTo>
                  <a:pt x="98202" y="11178"/>
                  <a:pt x="93495" y="9243"/>
                  <a:pt x="88584" y="9243"/>
                </a:cubicBezTo>
                <a:lnTo>
                  <a:pt x="18485" y="9243"/>
                </a:lnTo>
                <a:close/>
                <a:moveTo>
                  <a:pt x="27728" y="36970"/>
                </a:moveTo>
                <a:cubicBezTo>
                  <a:pt x="27728" y="31858"/>
                  <a:pt x="31858" y="27728"/>
                  <a:pt x="36970" y="27728"/>
                </a:cubicBezTo>
                <a:lnTo>
                  <a:pt x="83183" y="27728"/>
                </a:lnTo>
                <a:cubicBezTo>
                  <a:pt x="88296" y="27728"/>
                  <a:pt x="92426" y="31858"/>
                  <a:pt x="92426" y="36970"/>
                </a:cubicBezTo>
                <a:lnTo>
                  <a:pt x="92426" y="55456"/>
                </a:lnTo>
                <a:cubicBezTo>
                  <a:pt x="92426" y="60568"/>
                  <a:pt x="88296" y="64698"/>
                  <a:pt x="83183" y="64698"/>
                </a:cubicBezTo>
                <a:lnTo>
                  <a:pt x="36970" y="64698"/>
                </a:lnTo>
                <a:cubicBezTo>
                  <a:pt x="31858" y="64698"/>
                  <a:pt x="27728" y="60568"/>
                  <a:pt x="27728" y="55456"/>
                </a:cubicBezTo>
                <a:lnTo>
                  <a:pt x="27728" y="36970"/>
                </a:lnTo>
                <a:close/>
                <a:moveTo>
                  <a:pt x="64698" y="83183"/>
                </a:moveTo>
                <a:cubicBezTo>
                  <a:pt x="74900" y="83183"/>
                  <a:pt x="83183" y="91466"/>
                  <a:pt x="83183" y="101668"/>
                </a:cubicBezTo>
                <a:cubicBezTo>
                  <a:pt x="83183" y="111871"/>
                  <a:pt x="74900" y="120154"/>
                  <a:pt x="64698" y="120154"/>
                </a:cubicBezTo>
                <a:cubicBezTo>
                  <a:pt x="54496" y="120154"/>
                  <a:pt x="46213" y="111871"/>
                  <a:pt x="46213" y="101668"/>
                </a:cubicBezTo>
                <a:cubicBezTo>
                  <a:pt x="46213" y="91466"/>
                  <a:pt x="54496" y="83183"/>
                  <a:pt x="64698" y="83183"/>
                </a:cubicBezTo>
                <a:close/>
              </a:path>
            </a:pathLst>
          </a:custGeom>
          <a:solidFill>
            <a:srgbClr val="0071E3"/>
          </a:solidFill>
          <a:ln/>
        </p:spPr>
      </p:sp>
      <p:sp>
        <p:nvSpPr>
          <p:cNvPr id="20" name="Text 18"/>
          <p:cNvSpPr/>
          <p:nvPr/>
        </p:nvSpPr>
        <p:spPr>
          <a:xfrm>
            <a:off x="681898" y="3940118"/>
            <a:ext cx="5225143" cy="230038"/>
          </a:xfrm>
          <a:prstGeom prst="rect">
            <a:avLst/>
          </a:prstGeom>
          <a:noFill/>
          <a:ln/>
        </p:spPr>
        <p:txBody>
          <a:bodyPr wrap="square" lIns="0" tIns="0" rIns="0" bIns="0" rtlCol="0" anchor="ctr"/>
          <a:lstStyle/>
          <a:p>
            <a:pPr>
              <a:lnSpc>
                <a:spcPct val="130000"/>
              </a:lnSpc>
            </a:pPr>
            <a:r>
              <a:rPr lang="en-US" sz="1164" b="1" dirty="0">
                <a:solidFill>
                  <a:srgbClr val="FFFFFF"/>
                </a:solidFill>
                <a:latin typeface="Liter" pitchFamily="34" charset="0"/>
                <a:ea typeface="Liter" pitchFamily="34" charset="-122"/>
                <a:cs typeface="Liter" pitchFamily="34" charset="-120"/>
              </a:rPr>
              <a:t>Save State (On Change)</a:t>
            </a:r>
            <a:endParaRPr lang="en-US" sz="1600" dirty="0"/>
          </a:p>
        </p:txBody>
      </p:sp>
      <p:sp>
        <p:nvSpPr>
          <p:cNvPr id="21" name="Shape 19"/>
          <p:cNvSpPr/>
          <p:nvPr/>
        </p:nvSpPr>
        <p:spPr>
          <a:xfrm>
            <a:off x="492938" y="4268744"/>
            <a:ext cx="5340162" cy="1224129"/>
          </a:xfrm>
          <a:custGeom>
            <a:avLst/>
            <a:gdLst/>
            <a:ahLst/>
            <a:cxnLst/>
            <a:rect l="l" t="t" r="r" b="b"/>
            <a:pathLst>
              <a:path w="5340162" h="1224129">
                <a:moveTo>
                  <a:pt x="65724" y="0"/>
                </a:moveTo>
                <a:lnTo>
                  <a:pt x="5274438" y="0"/>
                </a:lnTo>
                <a:cubicBezTo>
                  <a:pt x="5310736" y="0"/>
                  <a:pt x="5340162" y="29425"/>
                  <a:pt x="5340162" y="65724"/>
                </a:cubicBezTo>
                <a:lnTo>
                  <a:pt x="5340162" y="1158406"/>
                </a:lnTo>
                <a:cubicBezTo>
                  <a:pt x="5340162" y="1194704"/>
                  <a:pt x="5310736" y="1224129"/>
                  <a:pt x="5274438" y="1224129"/>
                </a:cubicBezTo>
                <a:lnTo>
                  <a:pt x="65724" y="1224129"/>
                </a:lnTo>
                <a:cubicBezTo>
                  <a:pt x="29425" y="1224129"/>
                  <a:pt x="0" y="1194704"/>
                  <a:pt x="0" y="1158406"/>
                </a:cubicBezTo>
                <a:lnTo>
                  <a:pt x="0" y="65724"/>
                </a:lnTo>
                <a:cubicBezTo>
                  <a:pt x="0" y="29425"/>
                  <a:pt x="29425" y="0"/>
                  <a:pt x="65724" y="0"/>
                </a:cubicBezTo>
                <a:close/>
              </a:path>
            </a:pathLst>
          </a:custGeom>
          <a:solidFill>
            <a:srgbClr val="2D2D2D"/>
          </a:solidFill>
          <a:ln/>
        </p:spPr>
      </p:sp>
      <p:sp>
        <p:nvSpPr>
          <p:cNvPr id="22" name="Text 20"/>
          <p:cNvSpPr/>
          <p:nvPr/>
        </p:nvSpPr>
        <p:spPr>
          <a:xfrm>
            <a:off x="624388" y="4380473"/>
            <a:ext cx="2360762" cy="124878"/>
          </a:xfrm>
          <a:prstGeom prst="rect">
            <a:avLst/>
          </a:prstGeom>
          <a:noFill/>
          <a:ln/>
        </p:spPr>
        <p:txBody>
          <a:bodyPr wrap="square" lIns="0" tIns="0" rIns="0" bIns="0" rtlCol="0" anchor="ctr"/>
          <a:lstStyle/>
          <a:p>
            <a:pPr>
              <a:lnSpc>
                <a:spcPct val="130000"/>
              </a:lnSpc>
            </a:pPr>
            <a:r>
              <a:rPr lang="en-US" sz="841" dirty="0">
                <a:solidFill>
                  <a:srgbClr val="86868B"/>
                </a:solidFill>
                <a:latin typeface="MiSans" pitchFamily="34" charset="0"/>
                <a:ea typeface="MiSans" pitchFamily="34" charset="-122"/>
                <a:cs typeface="MiSans" pitchFamily="34" charset="-120"/>
              </a:rPr>
              <a:t>// Lines 468, 476: Save light states</a:t>
            </a:r>
            <a:endParaRPr lang="en-US" sz="1600" dirty="0"/>
          </a:p>
        </p:txBody>
      </p:sp>
      <p:sp>
        <p:nvSpPr>
          <p:cNvPr id="23" name="Text 21"/>
          <p:cNvSpPr/>
          <p:nvPr/>
        </p:nvSpPr>
        <p:spPr>
          <a:xfrm>
            <a:off x="624388" y="4527536"/>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preferences.putBool(</a:t>
            </a:r>
            <a:r>
              <a:rPr lang="en-US" sz="841" dirty="0">
                <a:solidFill>
                  <a:srgbClr val="34C759"/>
                </a:solidFill>
                <a:latin typeface="MiSans" pitchFamily="34" charset="0"/>
                <a:ea typeface="MiSans" pitchFamily="34" charset="-122"/>
                <a:cs typeface="MiSans" pitchFamily="34" charset="-120"/>
              </a:rPr>
              <a:t>"l1"</a:t>
            </a:r>
            <a:r>
              <a:rPr lang="en-US" sz="841" dirty="0">
                <a:solidFill>
                  <a:srgbClr val="FFFFFF"/>
                </a:solidFill>
                <a:latin typeface="MiSans" pitchFamily="34" charset="0"/>
                <a:ea typeface="MiSans" pitchFamily="34" charset="-122"/>
                <a:cs typeface="MiSans" pitchFamily="34" charset="-120"/>
              </a:rPr>
              <a:t>, l1State);</a:t>
            </a:r>
            <a:endParaRPr lang="en-US" sz="1600" dirty="0"/>
          </a:p>
        </p:txBody>
      </p:sp>
      <p:sp>
        <p:nvSpPr>
          <p:cNvPr id="24" name="Text 22"/>
          <p:cNvSpPr/>
          <p:nvPr/>
        </p:nvSpPr>
        <p:spPr>
          <a:xfrm>
            <a:off x="624388" y="4687741"/>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preferences.putBool(</a:t>
            </a:r>
            <a:r>
              <a:rPr lang="en-US" sz="841" dirty="0">
                <a:solidFill>
                  <a:srgbClr val="34C759"/>
                </a:solidFill>
                <a:latin typeface="MiSans" pitchFamily="34" charset="0"/>
                <a:ea typeface="MiSans" pitchFamily="34" charset="-122"/>
                <a:cs typeface="MiSans" pitchFamily="34" charset="-120"/>
              </a:rPr>
              <a:t>"l2"</a:t>
            </a:r>
            <a:r>
              <a:rPr lang="en-US" sz="841" dirty="0">
                <a:solidFill>
                  <a:srgbClr val="FFFFFF"/>
                </a:solidFill>
                <a:latin typeface="MiSans" pitchFamily="34" charset="0"/>
                <a:ea typeface="MiSans" pitchFamily="34" charset="-122"/>
                <a:cs typeface="MiSans" pitchFamily="34" charset="-120"/>
              </a:rPr>
              <a:t>, l2State);</a:t>
            </a:r>
            <a:endParaRPr lang="en-US" sz="1600" dirty="0"/>
          </a:p>
        </p:txBody>
      </p:sp>
      <p:sp>
        <p:nvSpPr>
          <p:cNvPr id="25" name="Text 23"/>
          <p:cNvSpPr/>
          <p:nvPr/>
        </p:nvSpPr>
        <p:spPr>
          <a:xfrm>
            <a:off x="624388" y="4926813"/>
            <a:ext cx="2232598" cy="124878"/>
          </a:xfrm>
          <a:prstGeom prst="rect">
            <a:avLst/>
          </a:prstGeom>
          <a:noFill/>
          <a:ln/>
        </p:spPr>
        <p:txBody>
          <a:bodyPr wrap="square" lIns="0" tIns="0" rIns="0" bIns="0" rtlCol="0" anchor="ctr"/>
          <a:lstStyle/>
          <a:p>
            <a:pPr>
              <a:lnSpc>
                <a:spcPct val="130000"/>
              </a:lnSpc>
            </a:pPr>
            <a:r>
              <a:rPr lang="en-US" sz="841" dirty="0">
                <a:solidFill>
                  <a:srgbClr val="86868B"/>
                </a:solidFill>
                <a:latin typeface="MiSans" pitchFamily="34" charset="0"/>
                <a:ea typeface="MiSans" pitchFamily="34" charset="-122"/>
                <a:cs typeface="MiSans" pitchFamily="34" charset="-120"/>
              </a:rPr>
              <a:t>// Lines 485, 490: Save fan states</a:t>
            </a:r>
            <a:endParaRPr lang="en-US" sz="1600" dirty="0"/>
          </a:p>
        </p:txBody>
      </p:sp>
      <p:sp>
        <p:nvSpPr>
          <p:cNvPr id="26" name="Text 24"/>
          <p:cNvSpPr/>
          <p:nvPr/>
        </p:nvSpPr>
        <p:spPr>
          <a:xfrm>
            <a:off x="624388" y="5073876"/>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preferences.putInt(</a:t>
            </a:r>
            <a:r>
              <a:rPr lang="en-US" sz="841" dirty="0">
                <a:solidFill>
                  <a:srgbClr val="34C759"/>
                </a:solidFill>
                <a:latin typeface="MiSans" pitchFamily="34" charset="0"/>
                <a:ea typeface="MiSans" pitchFamily="34" charset="-122"/>
                <a:cs typeface="MiSans" pitchFamily="34" charset="-120"/>
              </a:rPr>
              <a:t>"f1"</a:t>
            </a:r>
            <a:r>
              <a:rPr lang="en-US" sz="841" dirty="0">
                <a:solidFill>
                  <a:srgbClr val="FFFFFF"/>
                </a:solidFill>
                <a:latin typeface="MiSans" pitchFamily="34" charset="0"/>
                <a:ea typeface="MiSans" pitchFamily="34" charset="-122"/>
                <a:cs typeface="MiSans" pitchFamily="34" charset="-120"/>
              </a:rPr>
              <a:t>, fan1State);</a:t>
            </a:r>
            <a:endParaRPr lang="en-US" sz="1600" dirty="0"/>
          </a:p>
        </p:txBody>
      </p:sp>
      <p:sp>
        <p:nvSpPr>
          <p:cNvPr id="27" name="Text 25"/>
          <p:cNvSpPr/>
          <p:nvPr/>
        </p:nvSpPr>
        <p:spPr>
          <a:xfrm>
            <a:off x="624388" y="5234081"/>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preferences.putInt(</a:t>
            </a:r>
            <a:r>
              <a:rPr lang="en-US" sz="841" dirty="0">
                <a:solidFill>
                  <a:srgbClr val="34C759"/>
                </a:solidFill>
                <a:latin typeface="MiSans" pitchFamily="34" charset="0"/>
                <a:ea typeface="MiSans" pitchFamily="34" charset="-122"/>
                <a:cs typeface="MiSans" pitchFamily="34" charset="-120"/>
              </a:rPr>
              <a:t>"f2"</a:t>
            </a:r>
            <a:r>
              <a:rPr lang="en-US" sz="841" dirty="0">
                <a:solidFill>
                  <a:srgbClr val="FFFFFF"/>
                </a:solidFill>
                <a:latin typeface="MiSans" pitchFamily="34" charset="0"/>
                <a:ea typeface="MiSans" pitchFamily="34" charset="-122"/>
                <a:cs typeface="MiSans" pitchFamily="34" charset="-120"/>
              </a:rPr>
              <a:t>, fan2State);</a:t>
            </a:r>
            <a:endParaRPr lang="en-US" sz="1600" dirty="0"/>
          </a:p>
        </p:txBody>
      </p:sp>
      <p:sp>
        <p:nvSpPr>
          <p:cNvPr id="28" name="Shape 26"/>
          <p:cNvSpPr/>
          <p:nvPr/>
        </p:nvSpPr>
        <p:spPr>
          <a:xfrm>
            <a:off x="6199620" y="1054887"/>
            <a:ext cx="5667144" cy="2619144"/>
          </a:xfrm>
          <a:custGeom>
            <a:avLst/>
            <a:gdLst/>
            <a:ahLst/>
            <a:cxnLst/>
            <a:rect l="l" t="t" r="r" b="b"/>
            <a:pathLst>
              <a:path w="5667144" h="2619144">
                <a:moveTo>
                  <a:pt x="98585" y="0"/>
                </a:moveTo>
                <a:lnTo>
                  <a:pt x="5568559" y="0"/>
                </a:lnTo>
                <a:cubicBezTo>
                  <a:pt x="5623006" y="0"/>
                  <a:pt x="5667144" y="44138"/>
                  <a:pt x="5667144" y="98585"/>
                </a:cubicBezTo>
                <a:lnTo>
                  <a:pt x="5667144" y="2520559"/>
                </a:lnTo>
                <a:cubicBezTo>
                  <a:pt x="5667144" y="2575006"/>
                  <a:pt x="5623006" y="2619144"/>
                  <a:pt x="5568559" y="2619144"/>
                </a:cubicBezTo>
                <a:lnTo>
                  <a:pt x="98585" y="2619144"/>
                </a:lnTo>
                <a:cubicBezTo>
                  <a:pt x="44138" y="2619144"/>
                  <a:pt x="0" y="2575006"/>
                  <a:pt x="0" y="2520559"/>
                </a:cubicBezTo>
                <a:lnTo>
                  <a:pt x="0" y="98585"/>
                </a:lnTo>
                <a:cubicBezTo>
                  <a:pt x="0" y="44174"/>
                  <a:pt x="44174" y="0"/>
                  <a:pt x="98585" y="0"/>
                </a:cubicBezTo>
                <a:close/>
              </a:path>
            </a:pathLst>
          </a:custGeom>
          <a:solidFill>
            <a:srgbClr val="FFFFFF"/>
          </a:solidFill>
          <a:ln w="10160">
            <a:solidFill>
              <a:srgbClr val="E5E5E5"/>
            </a:solidFill>
            <a:prstDash val="solid"/>
          </a:ln>
          <a:effectLst>
            <a:outerShdw blurRad="24647" dist="8216" dir="5400000" algn="bl" rotWithShape="0">
              <a:srgbClr val="000000">
                <a:alpha val="10196"/>
              </a:srgbClr>
            </a:outerShdw>
          </a:effectLst>
        </p:spPr>
      </p:sp>
      <p:sp>
        <p:nvSpPr>
          <p:cNvPr id="29" name="Shape 27"/>
          <p:cNvSpPr/>
          <p:nvPr/>
        </p:nvSpPr>
        <p:spPr>
          <a:xfrm>
            <a:off x="6420620" y="1288218"/>
            <a:ext cx="164313" cy="164313"/>
          </a:xfrm>
          <a:custGeom>
            <a:avLst/>
            <a:gdLst/>
            <a:ahLst/>
            <a:cxnLst/>
            <a:rect l="l" t="t" r="r" b="b"/>
            <a:pathLst>
              <a:path w="164313" h="164313">
                <a:moveTo>
                  <a:pt x="82156" y="164313"/>
                </a:moveTo>
                <a:cubicBezTo>
                  <a:pt x="127500" y="164313"/>
                  <a:pt x="164313" y="127500"/>
                  <a:pt x="164313" y="82156"/>
                </a:cubicBezTo>
                <a:cubicBezTo>
                  <a:pt x="164313" y="36813"/>
                  <a:pt x="127500" y="0"/>
                  <a:pt x="82156" y="0"/>
                </a:cubicBezTo>
                <a:cubicBezTo>
                  <a:pt x="36813" y="0"/>
                  <a:pt x="0" y="36813"/>
                  <a:pt x="0" y="82156"/>
                </a:cubicBezTo>
                <a:cubicBezTo>
                  <a:pt x="0" y="127500"/>
                  <a:pt x="36813" y="164313"/>
                  <a:pt x="82156" y="164313"/>
                </a:cubicBezTo>
                <a:close/>
                <a:moveTo>
                  <a:pt x="109242" y="68260"/>
                </a:moveTo>
                <a:lnTo>
                  <a:pt x="83568" y="109339"/>
                </a:lnTo>
                <a:cubicBezTo>
                  <a:pt x="82221" y="111489"/>
                  <a:pt x="79910" y="112837"/>
                  <a:pt x="77375" y="112965"/>
                </a:cubicBezTo>
                <a:cubicBezTo>
                  <a:pt x="74839" y="113093"/>
                  <a:pt x="72400" y="111938"/>
                  <a:pt x="70892" y="109884"/>
                </a:cubicBezTo>
                <a:lnTo>
                  <a:pt x="55488" y="89345"/>
                </a:lnTo>
                <a:cubicBezTo>
                  <a:pt x="52920" y="85943"/>
                  <a:pt x="53626" y="81129"/>
                  <a:pt x="57028" y="78562"/>
                </a:cubicBezTo>
                <a:cubicBezTo>
                  <a:pt x="60430" y="75995"/>
                  <a:pt x="65244" y="76701"/>
                  <a:pt x="67811" y="80102"/>
                </a:cubicBezTo>
                <a:lnTo>
                  <a:pt x="76476" y="91656"/>
                </a:lnTo>
                <a:lnTo>
                  <a:pt x="96181" y="60109"/>
                </a:lnTo>
                <a:cubicBezTo>
                  <a:pt x="98427" y="56515"/>
                  <a:pt x="103177" y="55391"/>
                  <a:pt x="106803" y="57670"/>
                </a:cubicBezTo>
                <a:cubicBezTo>
                  <a:pt x="110430" y="59948"/>
                  <a:pt x="111521" y="64666"/>
                  <a:pt x="109242" y="68292"/>
                </a:cubicBezTo>
                <a:close/>
              </a:path>
            </a:pathLst>
          </a:custGeom>
          <a:solidFill>
            <a:srgbClr val="34C759"/>
          </a:solidFill>
          <a:ln/>
        </p:spPr>
      </p:sp>
      <p:sp>
        <p:nvSpPr>
          <p:cNvPr id="30" name="Text 28"/>
          <p:cNvSpPr/>
          <p:nvPr/>
        </p:nvSpPr>
        <p:spPr>
          <a:xfrm>
            <a:off x="6605472" y="1255355"/>
            <a:ext cx="5142987" cy="230038"/>
          </a:xfrm>
          <a:prstGeom prst="rect">
            <a:avLst/>
          </a:prstGeom>
          <a:noFill/>
          <a:ln/>
        </p:spPr>
        <p:txBody>
          <a:bodyPr wrap="square" lIns="0" tIns="0" rIns="0" bIns="0" rtlCol="0" anchor="ctr"/>
          <a:lstStyle/>
          <a:p>
            <a:pPr>
              <a:lnSpc>
                <a:spcPct val="120000"/>
              </a:lnSpc>
            </a:pPr>
            <a:r>
              <a:rPr lang="en-US" sz="1294" b="1" dirty="0">
                <a:solidFill>
                  <a:srgbClr val="1D1D1D"/>
                </a:solidFill>
                <a:latin typeface="Liter" pitchFamily="34" charset="0"/>
                <a:ea typeface="Liter" pitchFamily="34" charset="-122"/>
                <a:cs typeface="Liter" pitchFamily="34" charset="-120"/>
              </a:rPr>
              <a:t>The Solution</a:t>
            </a:r>
            <a:endParaRPr lang="en-US" sz="1600" dirty="0"/>
          </a:p>
        </p:txBody>
      </p:sp>
      <p:sp>
        <p:nvSpPr>
          <p:cNvPr id="31" name="Shape 29"/>
          <p:cNvSpPr/>
          <p:nvPr/>
        </p:nvSpPr>
        <p:spPr>
          <a:xfrm>
            <a:off x="6416512" y="1616843"/>
            <a:ext cx="5249790" cy="690113"/>
          </a:xfrm>
          <a:custGeom>
            <a:avLst/>
            <a:gdLst/>
            <a:ahLst/>
            <a:cxnLst/>
            <a:rect l="l" t="t" r="r" b="b"/>
            <a:pathLst>
              <a:path w="5249790" h="690113">
                <a:moveTo>
                  <a:pt x="32863" y="0"/>
                </a:moveTo>
                <a:lnTo>
                  <a:pt x="5184063" y="0"/>
                </a:lnTo>
                <a:cubicBezTo>
                  <a:pt x="5220363" y="0"/>
                  <a:pt x="5249790" y="29427"/>
                  <a:pt x="5249790" y="65726"/>
                </a:cubicBezTo>
                <a:lnTo>
                  <a:pt x="5249790" y="624387"/>
                </a:lnTo>
                <a:cubicBezTo>
                  <a:pt x="5249790" y="660687"/>
                  <a:pt x="5220363" y="690113"/>
                  <a:pt x="5184063" y="690113"/>
                </a:cubicBezTo>
                <a:lnTo>
                  <a:pt x="32863" y="690113"/>
                </a:lnTo>
                <a:cubicBezTo>
                  <a:pt x="14713" y="690113"/>
                  <a:pt x="0" y="675400"/>
                  <a:pt x="0" y="657251"/>
                </a:cubicBezTo>
                <a:lnTo>
                  <a:pt x="0" y="32863"/>
                </a:lnTo>
                <a:cubicBezTo>
                  <a:pt x="0" y="14725"/>
                  <a:pt x="14725" y="0"/>
                  <a:pt x="32863" y="0"/>
                </a:cubicBezTo>
                <a:close/>
              </a:path>
            </a:pathLst>
          </a:custGeom>
          <a:solidFill>
            <a:srgbClr val="34C759">
              <a:alpha val="5098"/>
            </a:srgbClr>
          </a:solidFill>
          <a:ln/>
        </p:spPr>
      </p:sp>
      <p:sp>
        <p:nvSpPr>
          <p:cNvPr id="32" name="Shape 30"/>
          <p:cNvSpPr/>
          <p:nvPr/>
        </p:nvSpPr>
        <p:spPr>
          <a:xfrm>
            <a:off x="6416512" y="1616843"/>
            <a:ext cx="32863" cy="690113"/>
          </a:xfrm>
          <a:custGeom>
            <a:avLst/>
            <a:gdLst/>
            <a:ahLst/>
            <a:cxnLst/>
            <a:rect l="l" t="t" r="r" b="b"/>
            <a:pathLst>
              <a:path w="32863" h="690113">
                <a:moveTo>
                  <a:pt x="32863" y="0"/>
                </a:moveTo>
                <a:lnTo>
                  <a:pt x="32863" y="0"/>
                </a:lnTo>
                <a:lnTo>
                  <a:pt x="32863" y="690113"/>
                </a:lnTo>
                <a:lnTo>
                  <a:pt x="32863" y="690113"/>
                </a:lnTo>
                <a:cubicBezTo>
                  <a:pt x="14713" y="690113"/>
                  <a:pt x="0" y="675400"/>
                  <a:pt x="0" y="657251"/>
                </a:cubicBezTo>
                <a:lnTo>
                  <a:pt x="0" y="32863"/>
                </a:lnTo>
                <a:cubicBezTo>
                  <a:pt x="0" y="14725"/>
                  <a:pt x="14725" y="0"/>
                  <a:pt x="32863" y="0"/>
                </a:cubicBezTo>
                <a:close/>
              </a:path>
            </a:pathLst>
          </a:custGeom>
          <a:solidFill>
            <a:srgbClr val="34C759"/>
          </a:solidFill>
          <a:ln/>
        </p:spPr>
      </p:sp>
      <p:sp>
        <p:nvSpPr>
          <p:cNvPr id="33" name="Text 31"/>
          <p:cNvSpPr/>
          <p:nvPr/>
        </p:nvSpPr>
        <p:spPr>
          <a:xfrm>
            <a:off x="6564394" y="1748293"/>
            <a:ext cx="5036183" cy="427213"/>
          </a:xfrm>
          <a:prstGeom prst="rect">
            <a:avLst/>
          </a:prstGeom>
          <a:noFill/>
          <a:ln/>
        </p:spPr>
        <p:txBody>
          <a:bodyPr wrap="square" lIns="0" tIns="0" rIns="0" bIns="0" rtlCol="0" anchor="ctr"/>
          <a:lstStyle/>
          <a:p>
            <a:pPr>
              <a:lnSpc>
                <a:spcPct val="140000"/>
              </a:lnSpc>
            </a:pPr>
            <a:r>
              <a:rPr lang="en-US" sz="1035" b="1" dirty="0">
                <a:solidFill>
                  <a:srgbClr val="1D1D1D"/>
                </a:solidFill>
                <a:latin typeface="Liter" pitchFamily="34" charset="0"/>
                <a:ea typeface="Liter" pitchFamily="34" charset="-122"/>
                <a:cs typeface="Liter" pitchFamily="34" charset="-120"/>
              </a:rPr>
              <a:t>ESP32 Preferences.h library</a:t>
            </a:r>
            <a:r>
              <a:rPr lang="en-US" sz="1035" dirty="0">
                <a:solidFill>
                  <a:srgbClr val="1D1D1D"/>
                </a:solidFill>
                <a:latin typeface="Liter" pitchFamily="34" charset="0"/>
                <a:ea typeface="Liter" pitchFamily="34" charset="-122"/>
                <a:cs typeface="Liter" pitchFamily="34" charset="-120"/>
              </a:rPr>
              <a:t> provides non-volatile storage (NVS) in flash memory. Data persists across resets and power failures.</a:t>
            </a:r>
            <a:endParaRPr lang="en-US" sz="1600" dirty="0"/>
          </a:p>
        </p:txBody>
      </p:sp>
      <p:sp>
        <p:nvSpPr>
          <p:cNvPr id="34" name="Shape 32"/>
          <p:cNvSpPr/>
          <p:nvPr/>
        </p:nvSpPr>
        <p:spPr>
          <a:xfrm>
            <a:off x="6400081" y="2438406"/>
            <a:ext cx="5266221" cy="903720"/>
          </a:xfrm>
          <a:custGeom>
            <a:avLst/>
            <a:gdLst/>
            <a:ahLst/>
            <a:cxnLst/>
            <a:rect l="l" t="t" r="r" b="b"/>
            <a:pathLst>
              <a:path w="5266221" h="903720">
                <a:moveTo>
                  <a:pt x="65728" y="0"/>
                </a:moveTo>
                <a:lnTo>
                  <a:pt x="5200493" y="0"/>
                </a:lnTo>
                <a:cubicBezTo>
                  <a:pt x="5236794" y="0"/>
                  <a:pt x="5266221" y="29427"/>
                  <a:pt x="5266221" y="65728"/>
                </a:cubicBezTo>
                <a:lnTo>
                  <a:pt x="5266221" y="837992"/>
                </a:lnTo>
                <a:cubicBezTo>
                  <a:pt x="5266221" y="874292"/>
                  <a:pt x="5236794" y="903720"/>
                  <a:pt x="5200493" y="903720"/>
                </a:cubicBezTo>
                <a:lnTo>
                  <a:pt x="65728" y="903720"/>
                </a:lnTo>
                <a:cubicBezTo>
                  <a:pt x="29427" y="903720"/>
                  <a:pt x="0" y="874292"/>
                  <a:pt x="0" y="837992"/>
                </a:cubicBezTo>
                <a:lnTo>
                  <a:pt x="0" y="65728"/>
                </a:lnTo>
                <a:cubicBezTo>
                  <a:pt x="0" y="29452"/>
                  <a:pt x="29452" y="0"/>
                  <a:pt x="65728" y="0"/>
                </a:cubicBezTo>
                <a:close/>
              </a:path>
            </a:pathLst>
          </a:custGeom>
          <a:solidFill>
            <a:srgbClr val="F5F5F7"/>
          </a:solidFill>
          <a:ln/>
        </p:spPr>
      </p:sp>
      <p:sp>
        <p:nvSpPr>
          <p:cNvPr id="35" name="Text 33"/>
          <p:cNvSpPr/>
          <p:nvPr/>
        </p:nvSpPr>
        <p:spPr>
          <a:xfrm>
            <a:off x="6531531" y="2536994"/>
            <a:ext cx="5056722" cy="164313"/>
          </a:xfrm>
          <a:prstGeom prst="rect">
            <a:avLst/>
          </a:prstGeom>
          <a:noFill/>
          <a:ln/>
        </p:spPr>
        <p:txBody>
          <a:bodyPr wrap="square" lIns="0" tIns="0" rIns="0" bIns="0" rtlCol="0" anchor="ctr"/>
          <a:lstStyle/>
          <a:p>
            <a:pPr>
              <a:lnSpc>
                <a:spcPct val="130000"/>
              </a:lnSpc>
            </a:pPr>
            <a:r>
              <a:rPr lang="en-US" sz="841" dirty="0">
                <a:solidFill>
                  <a:srgbClr val="0071E3"/>
                </a:solidFill>
                <a:latin typeface="MiSans" pitchFamily="34" charset="0"/>
                <a:ea typeface="MiSans" pitchFamily="34" charset="-122"/>
                <a:cs typeface="MiSans" pitchFamily="34" charset="-120"/>
              </a:rPr>
              <a:t>#include</a:t>
            </a:r>
            <a:endParaRPr lang="en-US" sz="1600" dirty="0"/>
          </a:p>
        </p:txBody>
      </p:sp>
      <p:sp>
        <p:nvSpPr>
          <p:cNvPr id="36" name="Text 34"/>
          <p:cNvSpPr/>
          <p:nvPr/>
        </p:nvSpPr>
        <p:spPr>
          <a:xfrm>
            <a:off x="6531531" y="2697199"/>
            <a:ext cx="5056722" cy="164313"/>
          </a:xfrm>
          <a:prstGeom prst="rect">
            <a:avLst/>
          </a:prstGeom>
          <a:noFill/>
          <a:ln/>
        </p:spPr>
        <p:txBody>
          <a:bodyPr wrap="square" lIns="0" tIns="0" rIns="0" bIns="0" rtlCol="0" anchor="ctr"/>
          <a:lstStyle/>
          <a:p>
            <a:pPr>
              <a:lnSpc>
                <a:spcPct val="130000"/>
              </a:lnSpc>
            </a:pPr>
            <a:r>
              <a:rPr lang="en-US" sz="841" dirty="0">
                <a:solidFill>
                  <a:srgbClr val="1D1D1D"/>
                </a:solidFill>
                <a:latin typeface="MiSans" pitchFamily="34" charset="0"/>
                <a:ea typeface="MiSans" pitchFamily="34" charset="-122"/>
                <a:cs typeface="MiSans" pitchFamily="34" charset="-120"/>
              </a:rPr>
              <a:t>Preferences preferences;</a:t>
            </a:r>
            <a:endParaRPr lang="en-US" sz="1600" dirty="0"/>
          </a:p>
        </p:txBody>
      </p:sp>
      <p:sp>
        <p:nvSpPr>
          <p:cNvPr id="37" name="Text 35"/>
          <p:cNvSpPr/>
          <p:nvPr/>
        </p:nvSpPr>
        <p:spPr>
          <a:xfrm>
            <a:off x="6531531" y="2936271"/>
            <a:ext cx="2232598" cy="124878"/>
          </a:xfrm>
          <a:prstGeom prst="rect">
            <a:avLst/>
          </a:prstGeom>
          <a:noFill/>
          <a:ln/>
        </p:spPr>
        <p:txBody>
          <a:bodyPr wrap="square" lIns="0" tIns="0" rIns="0" bIns="0" rtlCol="0" anchor="ctr"/>
          <a:lstStyle/>
          <a:p>
            <a:pPr>
              <a:lnSpc>
                <a:spcPct val="130000"/>
              </a:lnSpc>
            </a:pPr>
            <a:r>
              <a:rPr lang="en-US" sz="841" dirty="0">
                <a:solidFill>
                  <a:srgbClr val="86868B"/>
                </a:solidFill>
                <a:latin typeface="MiSans" pitchFamily="34" charset="0"/>
                <a:ea typeface="MiSans" pitchFamily="34" charset="-122"/>
                <a:cs typeface="MiSans" pitchFamily="34" charset="-120"/>
              </a:rPr>
              <a:t>// Initialize namespace (Line 410)</a:t>
            </a:r>
            <a:endParaRPr lang="en-US" sz="1600" dirty="0"/>
          </a:p>
        </p:txBody>
      </p:sp>
      <p:sp>
        <p:nvSpPr>
          <p:cNvPr id="38" name="Text 36"/>
          <p:cNvSpPr/>
          <p:nvPr/>
        </p:nvSpPr>
        <p:spPr>
          <a:xfrm>
            <a:off x="6531531" y="3083334"/>
            <a:ext cx="5056722" cy="164313"/>
          </a:xfrm>
          <a:prstGeom prst="rect">
            <a:avLst/>
          </a:prstGeom>
          <a:noFill/>
          <a:ln/>
        </p:spPr>
        <p:txBody>
          <a:bodyPr wrap="square" lIns="0" tIns="0" rIns="0" bIns="0" rtlCol="0" anchor="ctr"/>
          <a:lstStyle/>
          <a:p>
            <a:pPr>
              <a:lnSpc>
                <a:spcPct val="130000"/>
              </a:lnSpc>
            </a:pPr>
            <a:r>
              <a:rPr lang="en-US" sz="841" dirty="0">
                <a:solidFill>
                  <a:srgbClr val="1D1D1D"/>
                </a:solidFill>
                <a:latin typeface="MiSans" pitchFamily="34" charset="0"/>
                <a:ea typeface="MiSans" pitchFamily="34" charset="-122"/>
                <a:cs typeface="MiSans" pitchFamily="34" charset="-120"/>
              </a:rPr>
              <a:t>preferences.begin(</a:t>
            </a:r>
            <a:r>
              <a:rPr lang="en-US" sz="841" dirty="0">
                <a:solidFill>
                  <a:srgbClr val="34C759"/>
                </a:solidFill>
                <a:latin typeface="MiSans" pitchFamily="34" charset="0"/>
                <a:ea typeface="MiSans" pitchFamily="34" charset="-122"/>
                <a:cs typeface="MiSans" pitchFamily="34" charset="-120"/>
              </a:rPr>
              <a:t>"home_auto"</a:t>
            </a:r>
            <a:r>
              <a:rPr lang="en-US" sz="841" dirty="0">
                <a:solidFill>
                  <a:srgbClr val="1D1D1D"/>
                </a:solidFill>
                <a:latin typeface="MiSans" pitchFamily="34" charset="0"/>
                <a:ea typeface="MiSans" pitchFamily="34" charset="-122"/>
                <a:cs typeface="MiSans" pitchFamily="34" charset="-120"/>
              </a:rPr>
              <a:t>, </a:t>
            </a:r>
            <a:r>
              <a:rPr lang="en-US" sz="841" dirty="0">
                <a:solidFill>
                  <a:srgbClr val="0071E3"/>
                </a:solidFill>
                <a:latin typeface="MiSans" pitchFamily="34" charset="0"/>
                <a:ea typeface="MiSans" pitchFamily="34" charset="-122"/>
                <a:cs typeface="MiSans" pitchFamily="34" charset="-120"/>
              </a:rPr>
              <a:t>false</a:t>
            </a:r>
            <a:r>
              <a:rPr lang="en-US" sz="841" dirty="0">
                <a:solidFill>
                  <a:srgbClr val="1D1D1D"/>
                </a:solidFill>
                <a:latin typeface="MiSans" pitchFamily="34" charset="0"/>
                <a:ea typeface="MiSans" pitchFamily="34" charset="-122"/>
                <a:cs typeface="MiSans" pitchFamily="34" charset="-120"/>
              </a:rPr>
              <a:t>);</a:t>
            </a:r>
            <a:endParaRPr lang="en-US" sz="1600" dirty="0"/>
          </a:p>
        </p:txBody>
      </p:sp>
      <p:sp>
        <p:nvSpPr>
          <p:cNvPr id="39" name="Shape 37"/>
          <p:cNvSpPr/>
          <p:nvPr/>
        </p:nvSpPr>
        <p:spPr>
          <a:xfrm>
            <a:off x="6196334" y="3841635"/>
            <a:ext cx="5668787" cy="2201790"/>
          </a:xfrm>
          <a:custGeom>
            <a:avLst/>
            <a:gdLst/>
            <a:ahLst/>
            <a:cxnLst/>
            <a:rect l="l" t="t" r="r" b="b"/>
            <a:pathLst>
              <a:path w="5668787" h="2201790">
                <a:moveTo>
                  <a:pt x="98596" y="0"/>
                </a:moveTo>
                <a:lnTo>
                  <a:pt x="5570191" y="0"/>
                </a:lnTo>
                <a:cubicBezTo>
                  <a:pt x="5624644" y="0"/>
                  <a:pt x="5668787" y="44143"/>
                  <a:pt x="5668787" y="98596"/>
                </a:cubicBezTo>
                <a:lnTo>
                  <a:pt x="5668787" y="2103194"/>
                </a:lnTo>
                <a:cubicBezTo>
                  <a:pt x="5668787" y="2157647"/>
                  <a:pt x="5624644" y="2201790"/>
                  <a:pt x="5570191" y="2201790"/>
                </a:cubicBezTo>
                <a:lnTo>
                  <a:pt x="98596" y="2201790"/>
                </a:lnTo>
                <a:cubicBezTo>
                  <a:pt x="44143" y="2201790"/>
                  <a:pt x="0" y="2157647"/>
                  <a:pt x="0" y="2103194"/>
                </a:cubicBezTo>
                <a:lnTo>
                  <a:pt x="0" y="98596"/>
                </a:lnTo>
                <a:cubicBezTo>
                  <a:pt x="0" y="44179"/>
                  <a:pt x="44179" y="0"/>
                  <a:pt x="98596" y="0"/>
                </a:cubicBezTo>
                <a:close/>
              </a:path>
            </a:pathLst>
          </a:custGeom>
          <a:solidFill>
            <a:srgbClr val="1D1D1D"/>
          </a:solidFill>
          <a:ln/>
        </p:spPr>
      </p:sp>
      <p:sp>
        <p:nvSpPr>
          <p:cNvPr id="40" name="Shape 38"/>
          <p:cNvSpPr/>
          <p:nvPr/>
        </p:nvSpPr>
        <p:spPr>
          <a:xfrm>
            <a:off x="6381185" y="4047026"/>
            <a:ext cx="147881" cy="147881"/>
          </a:xfrm>
          <a:custGeom>
            <a:avLst/>
            <a:gdLst/>
            <a:ahLst/>
            <a:cxnLst/>
            <a:rect l="l" t="t" r="r" b="b"/>
            <a:pathLst>
              <a:path w="147881" h="147881">
                <a:moveTo>
                  <a:pt x="73941" y="18485"/>
                </a:moveTo>
                <a:cubicBezTo>
                  <a:pt x="57535" y="18485"/>
                  <a:pt x="42776" y="25619"/>
                  <a:pt x="32609" y="36970"/>
                </a:cubicBezTo>
                <a:lnTo>
                  <a:pt x="46213" y="36970"/>
                </a:lnTo>
                <a:cubicBezTo>
                  <a:pt x="51325" y="36970"/>
                  <a:pt x="55456" y="41101"/>
                  <a:pt x="55456" y="46213"/>
                </a:cubicBezTo>
                <a:cubicBezTo>
                  <a:pt x="55456" y="51325"/>
                  <a:pt x="51325" y="55456"/>
                  <a:pt x="46213" y="55456"/>
                </a:cubicBezTo>
                <a:lnTo>
                  <a:pt x="9243" y="55456"/>
                </a:lnTo>
                <a:cubicBezTo>
                  <a:pt x="4130" y="55456"/>
                  <a:pt x="0" y="51325"/>
                  <a:pt x="0" y="46213"/>
                </a:cubicBezTo>
                <a:lnTo>
                  <a:pt x="0" y="9243"/>
                </a:lnTo>
                <a:cubicBezTo>
                  <a:pt x="0" y="4130"/>
                  <a:pt x="4130" y="0"/>
                  <a:pt x="9243" y="0"/>
                </a:cubicBezTo>
                <a:cubicBezTo>
                  <a:pt x="14355" y="0"/>
                  <a:pt x="18485" y="4130"/>
                  <a:pt x="18485" y="9243"/>
                </a:cubicBezTo>
                <a:lnTo>
                  <a:pt x="18485" y="25042"/>
                </a:lnTo>
                <a:cubicBezTo>
                  <a:pt x="32031" y="9705"/>
                  <a:pt x="51845" y="0"/>
                  <a:pt x="73941" y="0"/>
                </a:cubicBezTo>
                <a:cubicBezTo>
                  <a:pt x="114781" y="0"/>
                  <a:pt x="147881" y="33100"/>
                  <a:pt x="147881" y="73941"/>
                </a:cubicBezTo>
                <a:cubicBezTo>
                  <a:pt x="147881" y="114781"/>
                  <a:pt x="114781" y="147881"/>
                  <a:pt x="73941" y="147881"/>
                </a:cubicBezTo>
                <a:cubicBezTo>
                  <a:pt x="48812" y="147881"/>
                  <a:pt x="26601" y="135346"/>
                  <a:pt x="13257" y="116197"/>
                </a:cubicBezTo>
                <a:cubicBezTo>
                  <a:pt x="10340" y="112009"/>
                  <a:pt x="11351" y="106261"/>
                  <a:pt x="15539" y="103315"/>
                </a:cubicBezTo>
                <a:cubicBezTo>
                  <a:pt x="19727" y="100369"/>
                  <a:pt x="25475" y="101409"/>
                  <a:pt x="28421" y="105597"/>
                </a:cubicBezTo>
                <a:cubicBezTo>
                  <a:pt x="38472" y="119980"/>
                  <a:pt x="55109" y="129367"/>
                  <a:pt x="73941" y="129367"/>
                </a:cubicBezTo>
                <a:cubicBezTo>
                  <a:pt x="104557" y="129367"/>
                  <a:pt x="129396" y="104528"/>
                  <a:pt x="129396" y="73912"/>
                </a:cubicBezTo>
                <a:cubicBezTo>
                  <a:pt x="129396" y="43296"/>
                  <a:pt x="104557" y="18485"/>
                  <a:pt x="73941" y="18485"/>
                </a:cubicBezTo>
                <a:close/>
              </a:path>
            </a:pathLst>
          </a:custGeom>
          <a:solidFill>
            <a:srgbClr val="0071E3"/>
          </a:solidFill>
          <a:ln/>
        </p:spPr>
      </p:sp>
      <p:sp>
        <p:nvSpPr>
          <p:cNvPr id="41" name="Text 39"/>
          <p:cNvSpPr/>
          <p:nvPr/>
        </p:nvSpPr>
        <p:spPr>
          <a:xfrm>
            <a:off x="6549606" y="4005948"/>
            <a:ext cx="5225143" cy="230038"/>
          </a:xfrm>
          <a:prstGeom prst="rect">
            <a:avLst/>
          </a:prstGeom>
          <a:noFill/>
          <a:ln/>
        </p:spPr>
        <p:txBody>
          <a:bodyPr wrap="square" lIns="0" tIns="0" rIns="0" bIns="0" rtlCol="0" anchor="ctr"/>
          <a:lstStyle/>
          <a:p>
            <a:pPr>
              <a:lnSpc>
                <a:spcPct val="130000"/>
              </a:lnSpc>
            </a:pPr>
            <a:r>
              <a:rPr lang="en-US" sz="1164" b="1" dirty="0">
                <a:solidFill>
                  <a:srgbClr val="FFFFFF"/>
                </a:solidFill>
                <a:latin typeface="Liter" pitchFamily="34" charset="0"/>
                <a:ea typeface="Liter" pitchFamily="34" charset="-122"/>
                <a:cs typeface="Liter" pitchFamily="34" charset="-120"/>
              </a:rPr>
              <a:t>Restore State (On Boot)</a:t>
            </a:r>
            <a:endParaRPr lang="en-US" sz="1600" dirty="0"/>
          </a:p>
        </p:txBody>
      </p:sp>
      <p:sp>
        <p:nvSpPr>
          <p:cNvPr id="42" name="Shape 40"/>
          <p:cNvSpPr/>
          <p:nvPr/>
        </p:nvSpPr>
        <p:spPr>
          <a:xfrm>
            <a:off x="6360646" y="4334573"/>
            <a:ext cx="5340162" cy="1544539"/>
          </a:xfrm>
          <a:custGeom>
            <a:avLst/>
            <a:gdLst/>
            <a:ahLst/>
            <a:cxnLst/>
            <a:rect l="l" t="t" r="r" b="b"/>
            <a:pathLst>
              <a:path w="5340162" h="1544539">
                <a:moveTo>
                  <a:pt x="65720" y="0"/>
                </a:moveTo>
                <a:lnTo>
                  <a:pt x="5274442" y="0"/>
                </a:lnTo>
                <a:cubicBezTo>
                  <a:pt x="5310738" y="0"/>
                  <a:pt x="5340162" y="29424"/>
                  <a:pt x="5340162" y="65720"/>
                </a:cubicBezTo>
                <a:lnTo>
                  <a:pt x="5340162" y="1478819"/>
                </a:lnTo>
                <a:cubicBezTo>
                  <a:pt x="5340162" y="1515115"/>
                  <a:pt x="5310738" y="1544539"/>
                  <a:pt x="5274442" y="1544539"/>
                </a:cubicBezTo>
                <a:lnTo>
                  <a:pt x="65720" y="1544539"/>
                </a:lnTo>
                <a:cubicBezTo>
                  <a:pt x="29424" y="1544539"/>
                  <a:pt x="0" y="1515115"/>
                  <a:pt x="0" y="1478819"/>
                </a:cubicBezTo>
                <a:lnTo>
                  <a:pt x="0" y="65720"/>
                </a:lnTo>
                <a:cubicBezTo>
                  <a:pt x="0" y="29424"/>
                  <a:pt x="29424" y="0"/>
                  <a:pt x="65720" y="0"/>
                </a:cubicBezTo>
                <a:close/>
              </a:path>
            </a:pathLst>
          </a:custGeom>
          <a:solidFill>
            <a:srgbClr val="2D2D2D"/>
          </a:solidFill>
          <a:ln/>
        </p:spPr>
      </p:sp>
      <p:sp>
        <p:nvSpPr>
          <p:cNvPr id="43" name="Text 41"/>
          <p:cNvSpPr/>
          <p:nvPr/>
        </p:nvSpPr>
        <p:spPr>
          <a:xfrm>
            <a:off x="6492096" y="4446302"/>
            <a:ext cx="2360762" cy="124878"/>
          </a:xfrm>
          <a:prstGeom prst="rect">
            <a:avLst/>
          </a:prstGeom>
          <a:noFill/>
          <a:ln/>
        </p:spPr>
        <p:txBody>
          <a:bodyPr wrap="square" lIns="0" tIns="0" rIns="0" bIns="0" rtlCol="0" anchor="ctr"/>
          <a:lstStyle/>
          <a:p>
            <a:pPr>
              <a:lnSpc>
                <a:spcPct val="130000"/>
              </a:lnSpc>
            </a:pPr>
            <a:r>
              <a:rPr lang="en-US" sz="841" dirty="0">
                <a:solidFill>
                  <a:srgbClr val="86868B"/>
                </a:solidFill>
                <a:latin typeface="MiSans" pitchFamily="34" charset="0"/>
                <a:ea typeface="MiSans" pitchFamily="34" charset="-122"/>
                <a:cs typeface="MiSans" pitchFamily="34" charset="-120"/>
              </a:rPr>
              <a:t>// Lines 411-414: Restore from flash</a:t>
            </a:r>
            <a:endParaRPr lang="en-US" sz="1600" dirty="0"/>
          </a:p>
        </p:txBody>
      </p:sp>
      <p:sp>
        <p:nvSpPr>
          <p:cNvPr id="44" name="Text 42"/>
          <p:cNvSpPr/>
          <p:nvPr/>
        </p:nvSpPr>
        <p:spPr>
          <a:xfrm>
            <a:off x="6492096" y="4593365"/>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l1State = preferences.getBool(</a:t>
            </a:r>
            <a:r>
              <a:rPr lang="en-US" sz="841" dirty="0">
                <a:solidFill>
                  <a:srgbClr val="34C759"/>
                </a:solidFill>
                <a:latin typeface="MiSans" pitchFamily="34" charset="0"/>
                <a:ea typeface="MiSans" pitchFamily="34" charset="-122"/>
                <a:cs typeface="MiSans" pitchFamily="34" charset="-120"/>
              </a:rPr>
              <a:t>"l1"</a:t>
            </a:r>
            <a:r>
              <a:rPr lang="en-US" sz="841" dirty="0">
                <a:solidFill>
                  <a:srgbClr val="FFFFFF"/>
                </a:solidFill>
                <a:latin typeface="MiSans" pitchFamily="34" charset="0"/>
                <a:ea typeface="MiSans" pitchFamily="34" charset="-122"/>
                <a:cs typeface="MiSans" pitchFamily="34" charset="-120"/>
              </a:rPr>
              <a:t>, </a:t>
            </a:r>
            <a:r>
              <a:rPr lang="en-US" sz="841" dirty="0">
                <a:solidFill>
                  <a:srgbClr val="0071E3"/>
                </a:solidFill>
                <a:latin typeface="MiSans" pitchFamily="34" charset="0"/>
                <a:ea typeface="MiSans" pitchFamily="34" charset="-122"/>
                <a:cs typeface="MiSans" pitchFamily="34" charset="-120"/>
              </a:rPr>
              <a:t>false</a:t>
            </a:r>
            <a:r>
              <a:rPr lang="en-US" sz="841" dirty="0">
                <a:solidFill>
                  <a:srgbClr val="FFFFFF"/>
                </a:solidFill>
                <a:latin typeface="MiSans" pitchFamily="34" charset="0"/>
                <a:ea typeface="MiSans" pitchFamily="34" charset="-122"/>
                <a:cs typeface="MiSans" pitchFamily="34" charset="-120"/>
              </a:rPr>
              <a:t>);</a:t>
            </a:r>
            <a:endParaRPr lang="en-US" sz="1600" dirty="0"/>
          </a:p>
        </p:txBody>
      </p:sp>
      <p:sp>
        <p:nvSpPr>
          <p:cNvPr id="45" name="Text 43"/>
          <p:cNvSpPr/>
          <p:nvPr/>
        </p:nvSpPr>
        <p:spPr>
          <a:xfrm>
            <a:off x="6492096" y="4753570"/>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l2State = preferences.getBool(</a:t>
            </a:r>
            <a:r>
              <a:rPr lang="en-US" sz="841" dirty="0">
                <a:solidFill>
                  <a:srgbClr val="34C759"/>
                </a:solidFill>
                <a:latin typeface="MiSans" pitchFamily="34" charset="0"/>
                <a:ea typeface="MiSans" pitchFamily="34" charset="-122"/>
                <a:cs typeface="MiSans" pitchFamily="34" charset="-120"/>
              </a:rPr>
              <a:t>"l2"</a:t>
            </a:r>
            <a:r>
              <a:rPr lang="en-US" sz="841" dirty="0">
                <a:solidFill>
                  <a:srgbClr val="FFFFFF"/>
                </a:solidFill>
                <a:latin typeface="MiSans" pitchFamily="34" charset="0"/>
                <a:ea typeface="MiSans" pitchFamily="34" charset="-122"/>
                <a:cs typeface="MiSans" pitchFamily="34" charset="-120"/>
              </a:rPr>
              <a:t>, </a:t>
            </a:r>
            <a:r>
              <a:rPr lang="en-US" sz="841" dirty="0">
                <a:solidFill>
                  <a:srgbClr val="0071E3"/>
                </a:solidFill>
                <a:latin typeface="MiSans" pitchFamily="34" charset="0"/>
                <a:ea typeface="MiSans" pitchFamily="34" charset="-122"/>
                <a:cs typeface="MiSans" pitchFamily="34" charset="-120"/>
              </a:rPr>
              <a:t>false</a:t>
            </a:r>
            <a:r>
              <a:rPr lang="en-US" sz="841" dirty="0">
                <a:solidFill>
                  <a:srgbClr val="FFFFFF"/>
                </a:solidFill>
                <a:latin typeface="MiSans" pitchFamily="34" charset="0"/>
                <a:ea typeface="MiSans" pitchFamily="34" charset="-122"/>
                <a:cs typeface="MiSans" pitchFamily="34" charset="-120"/>
              </a:rPr>
              <a:t>);</a:t>
            </a:r>
            <a:endParaRPr lang="en-US" sz="1600" dirty="0"/>
          </a:p>
        </p:txBody>
      </p:sp>
      <p:sp>
        <p:nvSpPr>
          <p:cNvPr id="46" name="Text 44"/>
          <p:cNvSpPr/>
          <p:nvPr/>
        </p:nvSpPr>
        <p:spPr>
          <a:xfrm>
            <a:off x="6492096" y="4913775"/>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fan1State = preferences.getInt(</a:t>
            </a:r>
            <a:r>
              <a:rPr lang="en-US" sz="841" dirty="0">
                <a:solidFill>
                  <a:srgbClr val="34C759"/>
                </a:solidFill>
                <a:latin typeface="MiSans" pitchFamily="34" charset="0"/>
                <a:ea typeface="MiSans" pitchFamily="34" charset="-122"/>
                <a:cs typeface="MiSans" pitchFamily="34" charset="-120"/>
              </a:rPr>
              <a:t>"f1"</a:t>
            </a:r>
            <a:r>
              <a:rPr lang="en-US" sz="841" dirty="0">
                <a:solidFill>
                  <a:srgbClr val="FFFFFF"/>
                </a:solidFill>
                <a:latin typeface="MiSans" pitchFamily="34" charset="0"/>
                <a:ea typeface="MiSans" pitchFamily="34" charset="-122"/>
                <a:cs typeface="MiSans" pitchFamily="34" charset="-120"/>
              </a:rPr>
              <a:t>, </a:t>
            </a:r>
            <a:r>
              <a:rPr lang="en-US" sz="841" dirty="0">
                <a:solidFill>
                  <a:srgbClr val="FF9500"/>
                </a:solidFill>
                <a:latin typeface="MiSans" pitchFamily="34" charset="0"/>
                <a:ea typeface="MiSans" pitchFamily="34" charset="-122"/>
                <a:cs typeface="MiSans" pitchFamily="34" charset="-120"/>
              </a:rPr>
              <a:t>0</a:t>
            </a:r>
            <a:r>
              <a:rPr lang="en-US" sz="841" dirty="0">
                <a:solidFill>
                  <a:srgbClr val="FFFFFF"/>
                </a:solidFill>
                <a:latin typeface="MiSans" pitchFamily="34" charset="0"/>
                <a:ea typeface="MiSans" pitchFamily="34" charset="-122"/>
                <a:cs typeface="MiSans" pitchFamily="34" charset="-120"/>
              </a:rPr>
              <a:t>);</a:t>
            </a:r>
            <a:endParaRPr lang="en-US" sz="1600" dirty="0"/>
          </a:p>
        </p:txBody>
      </p:sp>
      <p:sp>
        <p:nvSpPr>
          <p:cNvPr id="47" name="Text 45"/>
          <p:cNvSpPr/>
          <p:nvPr/>
        </p:nvSpPr>
        <p:spPr>
          <a:xfrm>
            <a:off x="6492096" y="5073980"/>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fan2State = preferences.getInt(</a:t>
            </a:r>
            <a:r>
              <a:rPr lang="en-US" sz="841" dirty="0">
                <a:solidFill>
                  <a:srgbClr val="34C759"/>
                </a:solidFill>
                <a:latin typeface="MiSans" pitchFamily="34" charset="0"/>
                <a:ea typeface="MiSans" pitchFamily="34" charset="-122"/>
                <a:cs typeface="MiSans" pitchFamily="34" charset="-120"/>
              </a:rPr>
              <a:t>"f2"</a:t>
            </a:r>
            <a:r>
              <a:rPr lang="en-US" sz="841" dirty="0">
                <a:solidFill>
                  <a:srgbClr val="FFFFFF"/>
                </a:solidFill>
                <a:latin typeface="MiSans" pitchFamily="34" charset="0"/>
                <a:ea typeface="MiSans" pitchFamily="34" charset="-122"/>
                <a:cs typeface="MiSans" pitchFamily="34" charset="-120"/>
              </a:rPr>
              <a:t>, </a:t>
            </a:r>
            <a:r>
              <a:rPr lang="en-US" sz="841" dirty="0">
                <a:solidFill>
                  <a:srgbClr val="FF9500"/>
                </a:solidFill>
                <a:latin typeface="MiSans" pitchFamily="34" charset="0"/>
                <a:ea typeface="MiSans" pitchFamily="34" charset="-122"/>
                <a:cs typeface="MiSans" pitchFamily="34" charset="-120"/>
              </a:rPr>
              <a:t>0</a:t>
            </a:r>
            <a:r>
              <a:rPr lang="en-US" sz="841" dirty="0">
                <a:solidFill>
                  <a:srgbClr val="FFFFFF"/>
                </a:solidFill>
                <a:latin typeface="MiSans" pitchFamily="34" charset="0"/>
                <a:ea typeface="MiSans" pitchFamily="34" charset="-122"/>
                <a:cs typeface="MiSans" pitchFamily="34" charset="-120"/>
              </a:rPr>
              <a:t>);</a:t>
            </a:r>
            <a:endParaRPr lang="en-US" sz="1600" dirty="0"/>
          </a:p>
        </p:txBody>
      </p:sp>
      <p:sp>
        <p:nvSpPr>
          <p:cNvPr id="48" name="Text 46"/>
          <p:cNvSpPr/>
          <p:nvPr/>
        </p:nvSpPr>
        <p:spPr>
          <a:xfrm>
            <a:off x="6492096" y="5313052"/>
            <a:ext cx="2617193" cy="124878"/>
          </a:xfrm>
          <a:prstGeom prst="rect">
            <a:avLst/>
          </a:prstGeom>
          <a:noFill/>
          <a:ln/>
        </p:spPr>
        <p:txBody>
          <a:bodyPr wrap="square" lIns="0" tIns="0" rIns="0" bIns="0" rtlCol="0" anchor="ctr"/>
          <a:lstStyle/>
          <a:p>
            <a:pPr>
              <a:lnSpc>
                <a:spcPct val="130000"/>
              </a:lnSpc>
            </a:pPr>
            <a:r>
              <a:rPr lang="en-US" sz="841" dirty="0">
                <a:solidFill>
                  <a:srgbClr val="86868B"/>
                </a:solidFill>
                <a:latin typeface="MiSans" pitchFamily="34" charset="0"/>
                <a:ea typeface="MiSans" pitchFamily="34" charset="-122"/>
                <a:cs typeface="MiSans" pitchFamily="34" charset="-120"/>
              </a:rPr>
              <a:t>// Apply restored states (Lines 417-420)</a:t>
            </a:r>
            <a:endParaRPr lang="en-US" sz="1600" dirty="0"/>
          </a:p>
        </p:txBody>
      </p:sp>
      <p:sp>
        <p:nvSpPr>
          <p:cNvPr id="49" name="Text 47"/>
          <p:cNvSpPr/>
          <p:nvPr/>
        </p:nvSpPr>
        <p:spPr>
          <a:xfrm>
            <a:off x="6492096" y="5460115"/>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digitalWrite(RELAY_L1, l1State ? RELAY_ON : RELAY_OFF);</a:t>
            </a:r>
            <a:endParaRPr lang="en-US" sz="1600" dirty="0"/>
          </a:p>
        </p:txBody>
      </p:sp>
      <p:sp>
        <p:nvSpPr>
          <p:cNvPr id="50" name="Text 48"/>
          <p:cNvSpPr/>
          <p:nvPr/>
        </p:nvSpPr>
        <p:spPr>
          <a:xfrm>
            <a:off x="6492096" y="5620320"/>
            <a:ext cx="5130663" cy="164313"/>
          </a:xfrm>
          <a:prstGeom prst="rect">
            <a:avLst/>
          </a:prstGeom>
          <a:noFill/>
          <a:ln/>
        </p:spPr>
        <p:txBody>
          <a:bodyPr wrap="square" lIns="0" tIns="0" rIns="0" bIns="0" rtlCol="0" anchor="ctr"/>
          <a:lstStyle/>
          <a:p>
            <a:pPr>
              <a:lnSpc>
                <a:spcPct val="130000"/>
              </a:lnSpc>
            </a:pPr>
            <a:r>
              <a:rPr lang="en-US" sz="841" dirty="0">
                <a:solidFill>
                  <a:srgbClr val="FFFFFF"/>
                </a:solidFill>
                <a:latin typeface="MiSans" pitchFamily="34" charset="0"/>
                <a:ea typeface="MiSans" pitchFamily="34" charset="-122"/>
                <a:cs typeface="MiSans" pitchFamily="34" charset="-120"/>
              </a:rPr>
              <a:t>setFan1Speed(fan1State);</a:t>
            </a:r>
            <a:endParaRPr lang="en-US" sz="1600" dirty="0"/>
          </a:p>
        </p:txBody>
      </p:sp>
      <p:sp>
        <p:nvSpPr>
          <p:cNvPr id="51" name="Shape 49"/>
          <p:cNvSpPr/>
          <p:nvPr/>
        </p:nvSpPr>
        <p:spPr>
          <a:xfrm>
            <a:off x="6199620" y="6211024"/>
            <a:ext cx="5667144" cy="458432"/>
          </a:xfrm>
          <a:custGeom>
            <a:avLst/>
            <a:gdLst/>
            <a:ahLst/>
            <a:cxnLst/>
            <a:rect l="l" t="t" r="r" b="b"/>
            <a:pathLst>
              <a:path w="5667144" h="458432">
                <a:moveTo>
                  <a:pt x="98586" y="0"/>
                </a:moveTo>
                <a:lnTo>
                  <a:pt x="5568558" y="0"/>
                </a:lnTo>
                <a:cubicBezTo>
                  <a:pt x="5623006" y="0"/>
                  <a:pt x="5667144" y="44138"/>
                  <a:pt x="5667144" y="98586"/>
                </a:cubicBezTo>
                <a:lnTo>
                  <a:pt x="5667144" y="359846"/>
                </a:lnTo>
                <a:cubicBezTo>
                  <a:pt x="5667144" y="414294"/>
                  <a:pt x="5623006" y="458432"/>
                  <a:pt x="5568558" y="458432"/>
                </a:cubicBezTo>
                <a:lnTo>
                  <a:pt x="98586" y="458432"/>
                </a:lnTo>
                <a:cubicBezTo>
                  <a:pt x="44175" y="458432"/>
                  <a:pt x="0" y="414257"/>
                  <a:pt x="0" y="359846"/>
                </a:cubicBezTo>
                <a:lnTo>
                  <a:pt x="0" y="98586"/>
                </a:lnTo>
                <a:cubicBezTo>
                  <a:pt x="0" y="44175"/>
                  <a:pt x="44175" y="0"/>
                  <a:pt x="98586" y="0"/>
                </a:cubicBezTo>
                <a:close/>
              </a:path>
            </a:pathLst>
          </a:custGeom>
          <a:solidFill>
            <a:srgbClr val="0071E3">
              <a:alpha val="5098"/>
            </a:srgbClr>
          </a:solidFill>
          <a:ln w="10160">
            <a:solidFill>
              <a:srgbClr val="0071E3">
                <a:alpha val="20000"/>
              </a:srgbClr>
            </a:solidFill>
            <a:prstDash val="solid"/>
          </a:ln>
        </p:spPr>
      </p:sp>
      <p:sp>
        <p:nvSpPr>
          <p:cNvPr id="52" name="Shape 50"/>
          <p:cNvSpPr/>
          <p:nvPr/>
        </p:nvSpPr>
        <p:spPr>
          <a:xfrm>
            <a:off x="6357976" y="6378621"/>
            <a:ext cx="100642" cy="115019"/>
          </a:xfrm>
          <a:custGeom>
            <a:avLst/>
            <a:gdLst/>
            <a:ahLst/>
            <a:cxnLst/>
            <a:rect l="l" t="t" r="r" b="b"/>
            <a:pathLst>
              <a:path w="100642" h="115019">
                <a:moveTo>
                  <a:pt x="100642" y="46232"/>
                </a:moveTo>
                <a:cubicBezTo>
                  <a:pt x="97317" y="48434"/>
                  <a:pt x="93498" y="50208"/>
                  <a:pt x="89522" y="51624"/>
                </a:cubicBezTo>
                <a:cubicBezTo>
                  <a:pt x="78963" y="55398"/>
                  <a:pt x="65102" y="57509"/>
                  <a:pt x="50321" y="57509"/>
                </a:cubicBezTo>
                <a:cubicBezTo>
                  <a:pt x="35539" y="57509"/>
                  <a:pt x="21656" y="55375"/>
                  <a:pt x="11120" y="51624"/>
                </a:cubicBezTo>
                <a:cubicBezTo>
                  <a:pt x="7166" y="50208"/>
                  <a:pt x="3325" y="48434"/>
                  <a:pt x="0" y="46232"/>
                </a:cubicBezTo>
                <a:lnTo>
                  <a:pt x="0" y="64698"/>
                </a:lnTo>
                <a:cubicBezTo>
                  <a:pt x="0" y="74627"/>
                  <a:pt x="22532" y="82670"/>
                  <a:pt x="50321" y="82670"/>
                </a:cubicBezTo>
                <a:cubicBezTo>
                  <a:pt x="78109" y="82670"/>
                  <a:pt x="100642" y="74627"/>
                  <a:pt x="100642" y="64698"/>
                </a:cubicBezTo>
                <a:lnTo>
                  <a:pt x="100642" y="46232"/>
                </a:lnTo>
                <a:close/>
                <a:moveTo>
                  <a:pt x="100642" y="28755"/>
                </a:moveTo>
                <a:lnTo>
                  <a:pt x="100642" y="17972"/>
                </a:lnTo>
                <a:cubicBezTo>
                  <a:pt x="100642" y="8042"/>
                  <a:pt x="78109" y="0"/>
                  <a:pt x="50321" y="0"/>
                </a:cubicBezTo>
                <a:cubicBezTo>
                  <a:pt x="22532" y="0"/>
                  <a:pt x="0" y="8042"/>
                  <a:pt x="0" y="17972"/>
                </a:cubicBezTo>
                <a:lnTo>
                  <a:pt x="0" y="28755"/>
                </a:lnTo>
                <a:cubicBezTo>
                  <a:pt x="0" y="38684"/>
                  <a:pt x="22532" y="46726"/>
                  <a:pt x="50321" y="46726"/>
                </a:cubicBezTo>
                <a:cubicBezTo>
                  <a:pt x="78109" y="46726"/>
                  <a:pt x="100642" y="38684"/>
                  <a:pt x="100642" y="28755"/>
                </a:cubicBezTo>
                <a:close/>
                <a:moveTo>
                  <a:pt x="89522" y="87567"/>
                </a:moveTo>
                <a:cubicBezTo>
                  <a:pt x="78986" y="91319"/>
                  <a:pt x="65125" y="93453"/>
                  <a:pt x="50321" y="93453"/>
                </a:cubicBezTo>
                <a:cubicBezTo>
                  <a:pt x="35517" y="93453"/>
                  <a:pt x="21656" y="91319"/>
                  <a:pt x="11120" y="87567"/>
                </a:cubicBezTo>
                <a:cubicBezTo>
                  <a:pt x="7166" y="86152"/>
                  <a:pt x="3325" y="84377"/>
                  <a:pt x="0" y="82176"/>
                </a:cubicBezTo>
                <a:lnTo>
                  <a:pt x="0" y="97047"/>
                </a:lnTo>
                <a:cubicBezTo>
                  <a:pt x="0" y="106977"/>
                  <a:pt x="22532" y="115019"/>
                  <a:pt x="50321" y="115019"/>
                </a:cubicBezTo>
                <a:cubicBezTo>
                  <a:pt x="78109" y="115019"/>
                  <a:pt x="100642" y="106977"/>
                  <a:pt x="100642" y="97047"/>
                </a:cubicBezTo>
                <a:lnTo>
                  <a:pt x="100642" y="82176"/>
                </a:lnTo>
                <a:cubicBezTo>
                  <a:pt x="97317" y="84377"/>
                  <a:pt x="93498" y="86152"/>
                  <a:pt x="89522" y="87567"/>
                </a:cubicBezTo>
                <a:close/>
              </a:path>
            </a:pathLst>
          </a:custGeom>
          <a:solidFill>
            <a:srgbClr val="0071E3"/>
          </a:solidFill>
          <a:ln/>
        </p:spPr>
      </p:sp>
      <p:sp>
        <p:nvSpPr>
          <p:cNvPr id="53" name="Text 51"/>
          <p:cNvSpPr/>
          <p:nvPr/>
        </p:nvSpPr>
        <p:spPr>
          <a:xfrm>
            <a:off x="6524755" y="6345758"/>
            <a:ext cx="5264782" cy="188960"/>
          </a:xfrm>
          <a:prstGeom prst="rect">
            <a:avLst/>
          </a:prstGeom>
          <a:noFill/>
          <a:ln/>
        </p:spPr>
        <p:txBody>
          <a:bodyPr wrap="square" lIns="0" tIns="0" rIns="0" bIns="0" rtlCol="0" anchor="ctr"/>
          <a:lstStyle/>
          <a:p>
            <a:pPr>
              <a:lnSpc>
                <a:spcPct val="140000"/>
              </a:lnSpc>
            </a:pPr>
            <a:r>
              <a:rPr lang="en-US" sz="906" b="1" dirty="0">
                <a:solidFill>
                  <a:srgbClr val="86868B"/>
                </a:solidFill>
                <a:latin typeface="Liter" pitchFamily="34" charset="0"/>
                <a:ea typeface="Liter" pitchFamily="34" charset="-122"/>
                <a:cs typeface="Liter" pitchFamily="34" charset="-120"/>
              </a:rPr>
              <a:t>Namespace:</a:t>
            </a:r>
            <a:r>
              <a:rPr lang="en-US" sz="906" dirty="0">
                <a:solidFill>
                  <a:srgbClr val="86868B"/>
                </a:solidFill>
                <a:latin typeface="Liter" pitchFamily="34" charset="0"/>
                <a:ea typeface="Liter" pitchFamily="34" charset="-122"/>
                <a:cs typeface="Liter" pitchFamily="34" charset="-120"/>
              </a:rPr>
              <a:t> "home_auto" | </a:t>
            </a:r>
            <a:r>
              <a:rPr lang="en-US" sz="906" b="1" dirty="0">
                <a:solidFill>
                  <a:srgbClr val="86868B"/>
                </a:solidFill>
                <a:latin typeface="Liter" pitchFamily="34" charset="0"/>
                <a:ea typeface="Liter" pitchFamily="34" charset="-122"/>
                <a:cs typeface="Liter" pitchFamily="34" charset="-120"/>
              </a:rPr>
              <a:t>Data Types:</a:t>
            </a:r>
            <a:r>
              <a:rPr lang="en-US" sz="906" dirty="0">
                <a:solidFill>
                  <a:srgbClr val="86868B"/>
                </a:solidFill>
                <a:latin typeface="Liter" pitchFamily="34" charset="0"/>
                <a:ea typeface="Liter" pitchFamily="34" charset="-122"/>
                <a:cs typeface="Liter" pitchFamily="34" charset="-120"/>
              </a:rPr>
              <a:t> bool, int, String | </a:t>
            </a:r>
            <a:r>
              <a:rPr lang="en-US" sz="906" b="1" dirty="0">
                <a:solidFill>
                  <a:srgbClr val="86868B"/>
                </a:solidFill>
                <a:latin typeface="Liter" pitchFamily="34" charset="0"/>
                <a:ea typeface="Liter" pitchFamily="34" charset="-122"/>
                <a:cs typeface="Liter" pitchFamily="34" charset="-120"/>
              </a:rPr>
              <a:t>Max Key Length:</a:t>
            </a:r>
            <a:r>
              <a:rPr lang="en-US" sz="906" dirty="0">
                <a:solidFill>
                  <a:srgbClr val="86868B"/>
                </a:solidFill>
                <a:latin typeface="Liter" pitchFamily="34" charset="0"/>
                <a:ea typeface="Liter" pitchFamily="34" charset="-122"/>
                <a:cs typeface="Liter" pitchFamily="34" charset="-120"/>
              </a:rPr>
              <a:t> 15 characters</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0071E3"/>
                </a:solidFill>
                <a:latin typeface="Liter" pitchFamily="34" charset="0"/>
                <a:ea typeface="Liter" pitchFamily="34" charset="-122"/>
                <a:cs typeface="Liter" pitchFamily="34" charset="-120"/>
              </a:rPr>
              <a:t>CONCLUSION</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Summary &amp; Project Impact</a:t>
            </a:r>
            <a:endParaRPr lang="en-US" sz="1600" dirty="0"/>
          </a:p>
        </p:txBody>
      </p:sp>
      <p:sp>
        <p:nvSpPr>
          <p:cNvPr id="4" name="Shape 2"/>
          <p:cNvSpPr/>
          <p:nvPr/>
        </p:nvSpPr>
        <p:spPr>
          <a:xfrm>
            <a:off x="384810" y="1337310"/>
            <a:ext cx="3646170" cy="3569970"/>
          </a:xfrm>
          <a:custGeom>
            <a:avLst/>
            <a:gdLst/>
            <a:ahLst/>
            <a:cxnLst/>
            <a:rect l="l" t="t" r="r" b="b"/>
            <a:pathLst>
              <a:path w="3646170" h="3569970">
                <a:moveTo>
                  <a:pt x="114310" y="0"/>
                </a:moveTo>
                <a:lnTo>
                  <a:pt x="3531860" y="0"/>
                </a:lnTo>
                <a:cubicBezTo>
                  <a:pt x="3594991" y="0"/>
                  <a:pt x="3646170" y="51179"/>
                  <a:pt x="3646170" y="114310"/>
                </a:cubicBezTo>
                <a:lnTo>
                  <a:pt x="3646170" y="3455660"/>
                </a:lnTo>
                <a:cubicBezTo>
                  <a:pt x="3646170" y="3518791"/>
                  <a:pt x="3594991" y="3569970"/>
                  <a:pt x="3531860" y="3569970"/>
                </a:cubicBezTo>
                <a:lnTo>
                  <a:pt x="114310" y="3569970"/>
                </a:lnTo>
                <a:cubicBezTo>
                  <a:pt x="51179" y="3569970"/>
                  <a:pt x="0" y="3518791"/>
                  <a:pt x="0" y="3455660"/>
                </a:cubicBezTo>
                <a:lnTo>
                  <a:pt x="0" y="114310"/>
                </a:lnTo>
                <a:cubicBezTo>
                  <a:pt x="0" y="51179"/>
                  <a:pt x="51179" y="0"/>
                  <a:pt x="114310" y="0"/>
                </a:cubicBezTo>
                <a:close/>
              </a:path>
            </a:pathLst>
          </a:custGeom>
          <a:solidFill>
            <a:srgbClr val="FFFFFF"/>
          </a:solidFill>
          <a:ln w="10160">
            <a:solidFill>
              <a:srgbClr val="E5E5E5"/>
            </a:solidFill>
            <a:prstDash val="solid"/>
          </a:ln>
          <a:effectLst>
            <a:outerShdw blurRad="28575" dist="9525" dir="5400000" algn="bl" rotWithShape="0">
              <a:srgbClr val="000000">
                <a:alpha val="10196"/>
              </a:srgbClr>
            </a:outerShdw>
          </a:effectLst>
        </p:spPr>
      </p:sp>
      <p:sp>
        <p:nvSpPr>
          <p:cNvPr id="5" name="Shape 3"/>
          <p:cNvSpPr/>
          <p:nvPr/>
        </p:nvSpPr>
        <p:spPr>
          <a:xfrm>
            <a:off x="617220" y="1569727"/>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71E3"/>
          </a:solidFill>
          <a:ln/>
        </p:spPr>
      </p:sp>
      <p:sp>
        <p:nvSpPr>
          <p:cNvPr id="6" name="Shape 4"/>
          <p:cNvSpPr/>
          <p:nvPr/>
        </p:nvSpPr>
        <p:spPr>
          <a:xfrm>
            <a:off x="755333" y="1722127"/>
            <a:ext cx="257175" cy="228600"/>
          </a:xfrm>
          <a:custGeom>
            <a:avLst/>
            <a:gdLst/>
            <a:ahLst/>
            <a:cxnLst/>
            <a:rect l="l" t="t" r="r" b="b"/>
            <a:pathLst>
              <a:path w="257175" h="228600">
                <a:moveTo>
                  <a:pt x="161092" y="536"/>
                </a:moveTo>
                <a:cubicBezTo>
                  <a:pt x="153501" y="-1652"/>
                  <a:pt x="145599" y="2768"/>
                  <a:pt x="143411" y="10358"/>
                </a:cubicBezTo>
                <a:lnTo>
                  <a:pt x="86261" y="210383"/>
                </a:lnTo>
                <a:cubicBezTo>
                  <a:pt x="84073" y="217974"/>
                  <a:pt x="88493" y="225876"/>
                  <a:pt x="96083" y="228064"/>
                </a:cubicBezTo>
                <a:cubicBezTo>
                  <a:pt x="103674" y="230252"/>
                  <a:pt x="111576" y="225832"/>
                  <a:pt x="113764" y="218242"/>
                </a:cubicBezTo>
                <a:lnTo>
                  <a:pt x="170914" y="18217"/>
                </a:lnTo>
                <a:cubicBezTo>
                  <a:pt x="173102" y="10626"/>
                  <a:pt x="168682" y="2724"/>
                  <a:pt x="161092" y="536"/>
                </a:cubicBezTo>
                <a:close/>
                <a:moveTo>
                  <a:pt x="189934" y="61302"/>
                </a:moveTo>
                <a:cubicBezTo>
                  <a:pt x="184353" y="66883"/>
                  <a:pt x="184353" y="75947"/>
                  <a:pt x="189934" y="81528"/>
                </a:cubicBezTo>
                <a:lnTo>
                  <a:pt x="222706" y="114300"/>
                </a:lnTo>
                <a:lnTo>
                  <a:pt x="189934" y="147072"/>
                </a:lnTo>
                <a:cubicBezTo>
                  <a:pt x="184353" y="152653"/>
                  <a:pt x="184353" y="161717"/>
                  <a:pt x="189934" y="167298"/>
                </a:cubicBezTo>
                <a:cubicBezTo>
                  <a:pt x="195516" y="172879"/>
                  <a:pt x="204579" y="172879"/>
                  <a:pt x="210160" y="167298"/>
                </a:cubicBezTo>
                <a:lnTo>
                  <a:pt x="253023" y="124435"/>
                </a:lnTo>
                <a:cubicBezTo>
                  <a:pt x="258604" y="118854"/>
                  <a:pt x="258604" y="109791"/>
                  <a:pt x="253023" y="104209"/>
                </a:cubicBezTo>
                <a:lnTo>
                  <a:pt x="210160" y="61347"/>
                </a:lnTo>
                <a:cubicBezTo>
                  <a:pt x="204579" y="55766"/>
                  <a:pt x="195516" y="55766"/>
                  <a:pt x="189934" y="61347"/>
                </a:cubicBezTo>
                <a:close/>
                <a:moveTo>
                  <a:pt x="67285" y="61302"/>
                </a:moveTo>
                <a:cubicBezTo>
                  <a:pt x="61704" y="55721"/>
                  <a:pt x="52641" y="55721"/>
                  <a:pt x="47059" y="61302"/>
                </a:cubicBezTo>
                <a:lnTo>
                  <a:pt x="4197" y="104165"/>
                </a:lnTo>
                <a:cubicBezTo>
                  <a:pt x="-1384" y="109746"/>
                  <a:pt x="-1384" y="118809"/>
                  <a:pt x="4197" y="124391"/>
                </a:cubicBezTo>
                <a:lnTo>
                  <a:pt x="47059" y="167253"/>
                </a:lnTo>
                <a:cubicBezTo>
                  <a:pt x="52641" y="172834"/>
                  <a:pt x="61704" y="172834"/>
                  <a:pt x="67285" y="167253"/>
                </a:cubicBezTo>
                <a:cubicBezTo>
                  <a:pt x="72866" y="161672"/>
                  <a:pt x="72866" y="152608"/>
                  <a:pt x="67285" y="147027"/>
                </a:cubicBezTo>
                <a:lnTo>
                  <a:pt x="34513" y="114300"/>
                </a:lnTo>
                <a:lnTo>
                  <a:pt x="67241" y="81528"/>
                </a:lnTo>
                <a:cubicBezTo>
                  <a:pt x="72822" y="75947"/>
                  <a:pt x="72822" y="66883"/>
                  <a:pt x="67241" y="61302"/>
                </a:cubicBezTo>
                <a:close/>
              </a:path>
            </a:pathLst>
          </a:custGeom>
          <a:solidFill>
            <a:srgbClr val="FFFFFF"/>
          </a:solidFill>
          <a:ln/>
        </p:spPr>
      </p:sp>
      <p:sp>
        <p:nvSpPr>
          <p:cNvPr id="7" name="Text 5"/>
          <p:cNvSpPr/>
          <p:nvPr/>
        </p:nvSpPr>
        <p:spPr>
          <a:xfrm>
            <a:off x="1264920" y="1684027"/>
            <a:ext cx="171450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Code Efficiency</a:t>
            </a:r>
            <a:endParaRPr lang="en-US" sz="1600" dirty="0"/>
          </a:p>
        </p:txBody>
      </p:sp>
      <p:sp>
        <p:nvSpPr>
          <p:cNvPr id="8" name="Text 6"/>
          <p:cNvSpPr/>
          <p:nvPr/>
        </p:nvSpPr>
        <p:spPr>
          <a:xfrm>
            <a:off x="617220" y="2255527"/>
            <a:ext cx="3257550"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Non-blocking architecture using </a:t>
            </a:r>
            <a:r>
              <a:rPr lang="en-US" sz="1200" dirty="0">
                <a:solidFill>
                  <a:srgbClr val="86868B"/>
                </a:solidFill>
                <a:highlight>
                  <a:srgbClr val="0071E3">
                    <a:alpha val="10000"/>
                  </a:srgbClr>
                </a:highlight>
                <a:latin typeface="MiSans" pitchFamily="34" charset="0"/>
                <a:ea typeface="MiSans" pitchFamily="34" charset="-122"/>
                <a:cs typeface="MiSans" pitchFamily="34" charset="-120"/>
              </a:rPr>
              <a:t>millis() </a:t>
            </a:r>
            <a:r>
              <a:rPr lang="en-US" sz="1200" dirty="0">
                <a:solidFill>
                  <a:srgbClr val="86868B"/>
                </a:solidFill>
                <a:latin typeface="Liter" pitchFamily="34" charset="0"/>
                <a:ea typeface="Liter" pitchFamily="34" charset="-122"/>
                <a:cs typeface="Liter" pitchFamily="34" charset="-120"/>
              </a:rPr>
              <a:t>enables multitasking without interrupt delays.</a:t>
            </a:r>
            <a:endParaRPr lang="en-US" sz="1600" dirty="0"/>
          </a:p>
        </p:txBody>
      </p:sp>
      <p:sp>
        <p:nvSpPr>
          <p:cNvPr id="9" name="Shape 7"/>
          <p:cNvSpPr/>
          <p:nvPr/>
        </p:nvSpPr>
        <p:spPr>
          <a:xfrm>
            <a:off x="644604" y="293180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10" name="Text 8"/>
          <p:cNvSpPr/>
          <p:nvPr/>
        </p:nvSpPr>
        <p:spPr>
          <a:xfrm>
            <a:off x="860108" y="2903227"/>
            <a:ext cx="1181100"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Button debouncing</a:t>
            </a:r>
            <a:endParaRPr lang="en-US" sz="1600" dirty="0"/>
          </a:p>
        </p:txBody>
      </p:sp>
      <p:sp>
        <p:nvSpPr>
          <p:cNvPr id="11" name="Shape 9"/>
          <p:cNvSpPr/>
          <p:nvPr/>
        </p:nvSpPr>
        <p:spPr>
          <a:xfrm>
            <a:off x="644604" y="319850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12" name="Text 10"/>
          <p:cNvSpPr/>
          <p:nvPr/>
        </p:nvSpPr>
        <p:spPr>
          <a:xfrm>
            <a:off x="860108" y="3169927"/>
            <a:ext cx="113347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Emergency timers</a:t>
            </a:r>
            <a:endParaRPr lang="en-US" sz="1600" dirty="0"/>
          </a:p>
        </p:txBody>
      </p:sp>
      <p:sp>
        <p:nvSpPr>
          <p:cNvPr id="13" name="Shape 11"/>
          <p:cNvSpPr/>
          <p:nvPr/>
        </p:nvSpPr>
        <p:spPr>
          <a:xfrm>
            <a:off x="644604" y="346520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14" name="Text 12"/>
          <p:cNvSpPr/>
          <p:nvPr/>
        </p:nvSpPr>
        <p:spPr>
          <a:xfrm>
            <a:off x="860108" y="3436627"/>
            <a:ext cx="113347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WiFi reconnection</a:t>
            </a:r>
            <a:endParaRPr lang="en-US" sz="1600" dirty="0"/>
          </a:p>
        </p:txBody>
      </p:sp>
      <p:sp>
        <p:nvSpPr>
          <p:cNvPr id="15" name="Shape 13"/>
          <p:cNvSpPr/>
          <p:nvPr/>
        </p:nvSpPr>
        <p:spPr>
          <a:xfrm>
            <a:off x="644604" y="373190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16" name="Text 14"/>
          <p:cNvSpPr/>
          <p:nvPr/>
        </p:nvSpPr>
        <p:spPr>
          <a:xfrm>
            <a:off x="860108" y="3703327"/>
            <a:ext cx="14192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Speed cycling intervals</a:t>
            </a:r>
            <a:endParaRPr lang="en-US" sz="1600" dirty="0"/>
          </a:p>
        </p:txBody>
      </p:sp>
      <p:sp>
        <p:nvSpPr>
          <p:cNvPr id="17" name="Shape 15"/>
          <p:cNvSpPr/>
          <p:nvPr/>
        </p:nvSpPr>
        <p:spPr>
          <a:xfrm>
            <a:off x="4271010" y="1337310"/>
            <a:ext cx="3646170" cy="3569970"/>
          </a:xfrm>
          <a:custGeom>
            <a:avLst/>
            <a:gdLst/>
            <a:ahLst/>
            <a:cxnLst/>
            <a:rect l="l" t="t" r="r" b="b"/>
            <a:pathLst>
              <a:path w="3646170" h="3569970">
                <a:moveTo>
                  <a:pt x="114310" y="0"/>
                </a:moveTo>
                <a:lnTo>
                  <a:pt x="3531860" y="0"/>
                </a:lnTo>
                <a:cubicBezTo>
                  <a:pt x="3594991" y="0"/>
                  <a:pt x="3646170" y="51179"/>
                  <a:pt x="3646170" y="114310"/>
                </a:cubicBezTo>
                <a:lnTo>
                  <a:pt x="3646170" y="3455660"/>
                </a:lnTo>
                <a:cubicBezTo>
                  <a:pt x="3646170" y="3518791"/>
                  <a:pt x="3594991" y="3569970"/>
                  <a:pt x="3531860" y="3569970"/>
                </a:cubicBezTo>
                <a:lnTo>
                  <a:pt x="114310" y="3569970"/>
                </a:lnTo>
                <a:cubicBezTo>
                  <a:pt x="51179" y="3569970"/>
                  <a:pt x="0" y="3518791"/>
                  <a:pt x="0" y="3455660"/>
                </a:cubicBezTo>
                <a:lnTo>
                  <a:pt x="0" y="114310"/>
                </a:lnTo>
                <a:cubicBezTo>
                  <a:pt x="0" y="51179"/>
                  <a:pt x="51179" y="0"/>
                  <a:pt x="114310" y="0"/>
                </a:cubicBezTo>
                <a:close/>
              </a:path>
            </a:pathLst>
          </a:custGeom>
          <a:solidFill>
            <a:srgbClr val="FFFFFF"/>
          </a:solidFill>
          <a:ln w="10160">
            <a:solidFill>
              <a:srgbClr val="E5E5E5"/>
            </a:solidFill>
            <a:prstDash val="solid"/>
          </a:ln>
          <a:effectLst>
            <a:outerShdw blurRad="28575" dist="9525" dir="5400000" algn="bl" rotWithShape="0">
              <a:srgbClr val="000000">
                <a:alpha val="10196"/>
              </a:srgbClr>
            </a:outerShdw>
          </a:effectLst>
        </p:spPr>
      </p:sp>
      <p:sp>
        <p:nvSpPr>
          <p:cNvPr id="18" name="Shape 16"/>
          <p:cNvSpPr/>
          <p:nvPr/>
        </p:nvSpPr>
        <p:spPr>
          <a:xfrm>
            <a:off x="4503420" y="1569727"/>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34C759"/>
          </a:solidFill>
          <a:ln/>
        </p:spPr>
      </p:sp>
      <p:sp>
        <p:nvSpPr>
          <p:cNvPr id="19" name="Shape 17"/>
          <p:cNvSpPr/>
          <p:nvPr/>
        </p:nvSpPr>
        <p:spPr>
          <a:xfrm>
            <a:off x="4655820" y="1722127"/>
            <a:ext cx="228600" cy="228600"/>
          </a:xfrm>
          <a:custGeom>
            <a:avLst/>
            <a:gdLst/>
            <a:ahLst/>
            <a:cxnLst/>
            <a:rect l="l" t="t" r="r" b="b"/>
            <a:pathLst>
              <a:path w="228600" h="228600">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72107" y="75858"/>
                </a:moveTo>
                <a:cubicBezTo>
                  <a:pt x="66660" y="73536"/>
                  <a:pt x="60365" y="76036"/>
                  <a:pt x="58043" y="81483"/>
                </a:cubicBezTo>
                <a:cubicBezTo>
                  <a:pt x="55721" y="86931"/>
                  <a:pt x="58222" y="93226"/>
                  <a:pt x="63669" y="95548"/>
                </a:cubicBezTo>
                <a:lnTo>
                  <a:pt x="68982" y="97825"/>
                </a:lnTo>
                <a:cubicBezTo>
                  <a:pt x="76706" y="101129"/>
                  <a:pt x="84698" y="103584"/>
                  <a:pt x="92913" y="105102"/>
                </a:cubicBezTo>
                <a:lnTo>
                  <a:pt x="92913" y="127471"/>
                </a:lnTo>
                <a:cubicBezTo>
                  <a:pt x="92913" y="129391"/>
                  <a:pt x="92601" y="131311"/>
                  <a:pt x="91976" y="133097"/>
                </a:cubicBezTo>
                <a:lnTo>
                  <a:pt x="79162" y="171539"/>
                </a:lnTo>
                <a:cubicBezTo>
                  <a:pt x="77286" y="177165"/>
                  <a:pt x="80323" y="183237"/>
                  <a:pt x="85948" y="185112"/>
                </a:cubicBezTo>
                <a:cubicBezTo>
                  <a:pt x="91574" y="186988"/>
                  <a:pt x="97646" y="183952"/>
                  <a:pt x="99521" y="178326"/>
                </a:cubicBezTo>
                <a:lnTo>
                  <a:pt x="110416" y="145643"/>
                </a:lnTo>
                <a:cubicBezTo>
                  <a:pt x="110996" y="143947"/>
                  <a:pt x="112559" y="142786"/>
                  <a:pt x="114345" y="142786"/>
                </a:cubicBezTo>
                <a:cubicBezTo>
                  <a:pt x="116131" y="142786"/>
                  <a:pt x="117738" y="143947"/>
                  <a:pt x="118274" y="145643"/>
                </a:cubicBezTo>
                <a:lnTo>
                  <a:pt x="129168" y="178326"/>
                </a:lnTo>
                <a:cubicBezTo>
                  <a:pt x="131043" y="183952"/>
                  <a:pt x="137115" y="186988"/>
                  <a:pt x="142741" y="185112"/>
                </a:cubicBezTo>
                <a:cubicBezTo>
                  <a:pt x="148367" y="183237"/>
                  <a:pt x="151358" y="177254"/>
                  <a:pt x="149483" y="171629"/>
                </a:cubicBezTo>
                <a:lnTo>
                  <a:pt x="136669" y="133186"/>
                </a:lnTo>
                <a:cubicBezTo>
                  <a:pt x="136044" y="131356"/>
                  <a:pt x="135731" y="129480"/>
                  <a:pt x="135731" y="127561"/>
                </a:cubicBezTo>
                <a:lnTo>
                  <a:pt x="135731" y="105192"/>
                </a:lnTo>
                <a:cubicBezTo>
                  <a:pt x="143947" y="103629"/>
                  <a:pt x="151939" y="101218"/>
                  <a:pt x="159663" y="97914"/>
                </a:cubicBezTo>
                <a:lnTo>
                  <a:pt x="164976" y="95637"/>
                </a:lnTo>
                <a:cubicBezTo>
                  <a:pt x="170423" y="93315"/>
                  <a:pt x="172923" y="87020"/>
                  <a:pt x="170602" y="81573"/>
                </a:cubicBezTo>
                <a:cubicBezTo>
                  <a:pt x="168280" y="76126"/>
                  <a:pt x="161985" y="73625"/>
                  <a:pt x="156537" y="75947"/>
                </a:cubicBezTo>
                <a:lnTo>
                  <a:pt x="151224" y="78135"/>
                </a:lnTo>
                <a:cubicBezTo>
                  <a:pt x="139571" y="83135"/>
                  <a:pt x="127025" y="85725"/>
                  <a:pt x="114300" y="85725"/>
                </a:cubicBezTo>
                <a:cubicBezTo>
                  <a:pt x="101575" y="85725"/>
                  <a:pt x="89074" y="83135"/>
                  <a:pt x="77376" y="78135"/>
                </a:cubicBezTo>
                <a:lnTo>
                  <a:pt x="72063" y="75858"/>
                </a:lnTo>
                <a:close/>
                <a:moveTo>
                  <a:pt x="114300" y="71438"/>
                </a:moveTo>
                <a:cubicBezTo>
                  <a:pt x="124157" y="71438"/>
                  <a:pt x="132159" y="63435"/>
                  <a:pt x="132159" y="53578"/>
                </a:cubicBezTo>
                <a:cubicBezTo>
                  <a:pt x="132159" y="43721"/>
                  <a:pt x="124157" y="35719"/>
                  <a:pt x="114300" y="35719"/>
                </a:cubicBezTo>
                <a:cubicBezTo>
                  <a:pt x="104443" y="35719"/>
                  <a:pt x="96441" y="43721"/>
                  <a:pt x="96441" y="53578"/>
                </a:cubicBezTo>
                <a:cubicBezTo>
                  <a:pt x="96441" y="63435"/>
                  <a:pt x="104443" y="71438"/>
                  <a:pt x="114300" y="71438"/>
                </a:cubicBezTo>
                <a:close/>
              </a:path>
            </a:pathLst>
          </a:custGeom>
          <a:solidFill>
            <a:srgbClr val="FFFFFF"/>
          </a:solidFill>
          <a:ln/>
        </p:spPr>
      </p:sp>
      <p:sp>
        <p:nvSpPr>
          <p:cNvPr id="20" name="Text 18"/>
          <p:cNvSpPr/>
          <p:nvPr/>
        </p:nvSpPr>
        <p:spPr>
          <a:xfrm>
            <a:off x="5151120" y="1684027"/>
            <a:ext cx="140017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Accessibility</a:t>
            </a:r>
            <a:endParaRPr lang="en-US" sz="1600" dirty="0"/>
          </a:p>
        </p:txBody>
      </p:sp>
      <p:sp>
        <p:nvSpPr>
          <p:cNvPr id="21" name="Text 19"/>
          <p:cNvSpPr/>
          <p:nvPr/>
        </p:nvSpPr>
        <p:spPr>
          <a:xfrm>
            <a:off x="4503420" y="2255527"/>
            <a:ext cx="3257550" cy="7429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Converts binary physical inputs into complex TCP command strings, enabling independent home control for visually impaired users.</a:t>
            </a:r>
            <a:endParaRPr lang="en-US" sz="1600" dirty="0"/>
          </a:p>
        </p:txBody>
      </p:sp>
      <p:sp>
        <p:nvSpPr>
          <p:cNvPr id="22" name="Shape 20"/>
          <p:cNvSpPr/>
          <p:nvPr/>
        </p:nvSpPr>
        <p:spPr>
          <a:xfrm>
            <a:off x="4530805" y="317945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23" name="Text 21"/>
          <p:cNvSpPr/>
          <p:nvPr/>
        </p:nvSpPr>
        <p:spPr>
          <a:xfrm>
            <a:off x="4746308" y="3150877"/>
            <a:ext cx="132397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Standard Braille input</a:t>
            </a:r>
            <a:endParaRPr lang="en-US" sz="1600" dirty="0"/>
          </a:p>
        </p:txBody>
      </p:sp>
      <p:sp>
        <p:nvSpPr>
          <p:cNvPr id="24" name="Shape 22"/>
          <p:cNvSpPr/>
          <p:nvPr/>
        </p:nvSpPr>
        <p:spPr>
          <a:xfrm>
            <a:off x="4530805" y="344615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25" name="Text 23"/>
          <p:cNvSpPr/>
          <p:nvPr/>
        </p:nvSpPr>
        <p:spPr>
          <a:xfrm>
            <a:off x="4746308" y="3417577"/>
            <a:ext cx="151447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Haptic &amp; audio feedback</a:t>
            </a:r>
            <a:endParaRPr lang="en-US" sz="1600" dirty="0"/>
          </a:p>
        </p:txBody>
      </p:sp>
      <p:sp>
        <p:nvSpPr>
          <p:cNvPr id="26" name="Shape 24"/>
          <p:cNvSpPr/>
          <p:nvPr/>
        </p:nvSpPr>
        <p:spPr>
          <a:xfrm>
            <a:off x="4530805" y="371285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27" name="Text 25"/>
          <p:cNvSpPr/>
          <p:nvPr/>
        </p:nvSpPr>
        <p:spPr>
          <a:xfrm>
            <a:off x="4746308" y="3684277"/>
            <a:ext cx="12668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Mode differentiation</a:t>
            </a:r>
            <a:endParaRPr lang="en-US" sz="1600" dirty="0"/>
          </a:p>
        </p:txBody>
      </p:sp>
      <p:sp>
        <p:nvSpPr>
          <p:cNvPr id="28" name="Shape 26"/>
          <p:cNvSpPr/>
          <p:nvPr/>
        </p:nvSpPr>
        <p:spPr>
          <a:xfrm>
            <a:off x="4530805" y="397955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29" name="Text 27"/>
          <p:cNvSpPr/>
          <p:nvPr/>
        </p:nvSpPr>
        <p:spPr>
          <a:xfrm>
            <a:off x="4746308" y="3950977"/>
            <a:ext cx="1257300"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Non-visual interface</a:t>
            </a:r>
            <a:endParaRPr lang="en-US" sz="1600" dirty="0"/>
          </a:p>
        </p:txBody>
      </p:sp>
      <p:sp>
        <p:nvSpPr>
          <p:cNvPr id="30" name="Shape 28"/>
          <p:cNvSpPr/>
          <p:nvPr/>
        </p:nvSpPr>
        <p:spPr>
          <a:xfrm>
            <a:off x="8157210" y="1337310"/>
            <a:ext cx="3646170" cy="3569970"/>
          </a:xfrm>
          <a:custGeom>
            <a:avLst/>
            <a:gdLst/>
            <a:ahLst/>
            <a:cxnLst/>
            <a:rect l="l" t="t" r="r" b="b"/>
            <a:pathLst>
              <a:path w="3646170" h="3569970">
                <a:moveTo>
                  <a:pt x="114310" y="0"/>
                </a:moveTo>
                <a:lnTo>
                  <a:pt x="3531860" y="0"/>
                </a:lnTo>
                <a:cubicBezTo>
                  <a:pt x="3594991" y="0"/>
                  <a:pt x="3646170" y="51179"/>
                  <a:pt x="3646170" y="114310"/>
                </a:cubicBezTo>
                <a:lnTo>
                  <a:pt x="3646170" y="3455660"/>
                </a:lnTo>
                <a:cubicBezTo>
                  <a:pt x="3646170" y="3518791"/>
                  <a:pt x="3594991" y="3569970"/>
                  <a:pt x="3531860" y="3569970"/>
                </a:cubicBezTo>
                <a:lnTo>
                  <a:pt x="114310" y="3569970"/>
                </a:lnTo>
                <a:cubicBezTo>
                  <a:pt x="51179" y="3569970"/>
                  <a:pt x="0" y="3518791"/>
                  <a:pt x="0" y="3455660"/>
                </a:cubicBezTo>
                <a:lnTo>
                  <a:pt x="0" y="114310"/>
                </a:lnTo>
                <a:cubicBezTo>
                  <a:pt x="0" y="51179"/>
                  <a:pt x="51179" y="0"/>
                  <a:pt x="114310" y="0"/>
                </a:cubicBezTo>
                <a:close/>
              </a:path>
            </a:pathLst>
          </a:custGeom>
          <a:solidFill>
            <a:srgbClr val="FFFFFF"/>
          </a:solidFill>
          <a:ln w="10160">
            <a:solidFill>
              <a:srgbClr val="E5E5E5"/>
            </a:solidFill>
            <a:prstDash val="solid"/>
          </a:ln>
          <a:effectLst>
            <a:outerShdw blurRad="28575" dist="9525" dir="5400000" algn="bl" rotWithShape="0">
              <a:srgbClr val="000000">
                <a:alpha val="10196"/>
              </a:srgbClr>
            </a:outerShdw>
          </a:effectLst>
        </p:spPr>
      </p:sp>
      <p:sp>
        <p:nvSpPr>
          <p:cNvPr id="31" name="Shape 29"/>
          <p:cNvSpPr/>
          <p:nvPr/>
        </p:nvSpPr>
        <p:spPr>
          <a:xfrm>
            <a:off x="8389620" y="1569727"/>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FF9500"/>
          </a:solidFill>
          <a:ln/>
        </p:spPr>
      </p:sp>
      <p:sp>
        <p:nvSpPr>
          <p:cNvPr id="32" name="Shape 30"/>
          <p:cNvSpPr/>
          <p:nvPr/>
        </p:nvSpPr>
        <p:spPr>
          <a:xfrm>
            <a:off x="8542020" y="1722127"/>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FFFFFF"/>
          </a:solidFill>
          <a:ln/>
        </p:spPr>
      </p:sp>
      <p:sp>
        <p:nvSpPr>
          <p:cNvPr id="33" name="Text 31"/>
          <p:cNvSpPr/>
          <p:nvPr/>
        </p:nvSpPr>
        <p:spPr>
          <a:xfrm>
            <a:off x="9037320" y="1684027"/>
            <a:ext cx="7715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Safety</a:t>
            </a:r>
            <a:endParaRPr lang="en-US" sz="1600" dirty="0"/>
          </a:p>
        </p:txBody>
      </p:sp>
      <p:sp>
        <p:nvSpPr>
          <p:cNvPr id="34" name="Text 32"/>
          <p:cNvSpPr/>
          <p:nvPr/>
        </p:nvSpPr>
        <p:spPr>
          <a:xfrm>
            <a:off x="8389620" y="2255527"/>
            <a:ext cx="3257550" cy="7429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Human-in-the-loop verification for fire alarms prevents false IoT alerts and ensures reliable emergency response.</a:t>
            </a:r>
            <a:endParaRPr lang="en-US" sz="1600" dirty="0"/>
          </a:p>
        </p:txBody>
      </p:sp>
      <p:sp>
        <p:nvSpPr>
          <p:cNvPr id="35" name="Shape 33"/>
          <p:cNvSpPr/>
          <p:nvPr/>
        </p:nvSpPr>
        <p:spPr>
          <a:xfrm>
            <a:off x="8417004" y="317945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36" name="Text 34"/>
          <p:cNvSpPr/>
          <p:nvPr/>
        </p:nvSpPr>
        <p:spPr>
          <a:xfrm>
            <a:off x="8632507" y="3150877"/>
            <a:ext cx="1219200"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2-second validation</a:t>
            </a:r>
            <a:endParaRPr lang="en-US" sz="1600" dirty="0"/>
          </a:p>
        </p:txBody>
      </p:sp>
      <p:sp>
        <p:nvSpPr>
          <p:cNvPr id="37" name="Shape 35"/>
          <p:cNvSpPr/>
          <p:nvPr/>
        </p:nvSpPr>
        <p:spPr>
          <a:xfrm>
            <a:off x="8417004" y="344615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38" name="Text 36"/>
          <p:cNvSpPr/>
          <p:nvPr/>
        </p:nvSpPr>
        <p:spPr>
          <a:xfrm>
            <a:off x="8632507" y="3417577"/>
            <a:ext cx="14954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ACK/STOP confirmation</a:t>
            </a:r>
            <a:endParaRPr lang="en-US" sz="1600" dirty="0"/>
          </a:p>
        </p:txBody>
      </p:sp>
      <p:sp>
        <p:nvSpPr>
          <p:cNvPr id="39" name="Shape 37"/>
          <p:cNvSpPr/>
          <p:nvPr/>
        </p:nvSpPr>
        <p:spPr>
          <a:xfrm>
            <a:off x="8417004" y="371285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40" name="Text 38"/>
          <p:cNvSpPr/>
          <p:nvPr/>
        </p:nvSpPr>
        <p:spPr>
          <a:xfrm>
            <a:off x="8632507" y="3684277"/>
            <a:ext cx="147637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Automatic door opening</a:t>
            </a:r>
            <a:endParaRPr lang="en-US" sz="1600" dirty="0"/>
          </a:p>
        </p:txBody>
      </p:sp>
      <p:sp>
        <p:nvSpPr>
          <p:cNvPr id="41" name="Shape 39"/>
          <p:cNvSpPr/>
          <p:nvPr/>
        </p:nvSpPr>
        <p:spPr>
          <a:xfrm>
            <a:off x="8417004" y="3979552"/>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4C759"/>
          </a:solidFill>
          <a:ln/>
        </p:spPr>
      </p:sp>
      <p:sp>
        <p:nvSpPr>
          <p:cNvPr id="42" name="Text 40"/>
          <p:cNvSpPr/>
          <p:nvPr/>
        </p:nvSpPr>
        <p:spPr>
          <a:xfrm>
            <a:off x="8632507" y="3950977"/>
            <a:ext cx="1466850"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Blynk push notifications</a:t>
            </a:r>
            <a:endParaRPr lang="en-US" sz="1600" dirty="0"/>
          </a:p>
        </p:txBody>
      </p:sp>
      <p:sp>
        <p:nvSpPr>
          <p:cNvPr id="43" name="Shape 41"/>
          <p:cNvSpPr/>
          <p:nvPr/>
        </p:nvSpPr>
        <p:spPr>
          <a:xfrm>
            <a:off x="381000" y="5143621"/>
            <a:ext cx="11430000" cy="1333500"/>
          </a:xfrm>
          <a:custGeom>
            <a:avLst/>
            <a:gdLst/>
            <a:ahLst/>
            <a:cxnLst/>
            <a:rect l="l" t="t" r="r" b="b"/>
            <a:pathLst>
              <a:path w="11430000" h="1333500">
                <a:moveTo>
                  <a:pt x="114294" y="0"/>
                </a:moveTo>
                <a:lnTo>
                  <a:pt x="11315706" y="0"/>
                </a:lnTo>
                <a:cubicBezTo>
                  <a:pt x="11378786" y="0"/>
                  <a:pt x="11430000" y="51214"/>
                  <a:pt x="11430000" y="114294"/>
                </a:cubicBezTo>
                <a:lnTo>
                  <a:pt x="11430000" y="1219206"/>
                </a:lnTo>
                <a:cubicBezTo>
                  <a:pt x="11430000" y="1282286"/>
                  <a:pt x="11378786" y="1333500"/>
                  <a:pt x="11315706" y="1333500"/>
                </a:cubicBezTo>
                <a:lnTo>
                  <a:pt x="114294" y="1333500"/>
                </a:lnTo>
                <a:cubicBezTo>
                  <a:pt x="51214" y="1333500"/>
                  <a:pt x="0" y="1282286"/>
                  <a:pt x="0" y="1219206"/>
                </a:cubicBezTo>
                <a:lnTo>
                  <a:pt x="0" y="114294"/>
                </a:lnTo>
                <a:cubicBezTo>
                  <a:pt x="0" y="51214"/>
                  <a:pt x="51214" y="0"/>
                  <a:pt x="114294" y="0"/>
                </a:cubicBezTo>
                <a:close/>
              </a:path>
            </a:pathLst>
          </a:custGeom>
          <a:solidFill>
            <a:srgbClr val="1D1D1D"/>
          </a:solidFill>
          <a:ln/>
        </p:spPr>
      </p:sp>
      <p:sp>
        <p:nvSpPr>
          <p:cNvPr id="44" name="Text 42"/>
          <p:cNvSpPr/>
          <p:nvPr/>
        </p:nvSpPr>
        <p:spPr>
          <a:xfrm>
            <a:off x="609600" y="5372221"/>
            <a:ext cx="774382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Liter" pitchFamily="34" charset="0"/>
                <a:ea typeface="Liter" pitchFamily="34" charset="-122"/>
                <a:cs typeface="Liter" pitchFamily="34" charset="-120"/>
              </a:rPr>
              <a:t>A Robust Dual-Module System</a:t>
            </a:r>
            <a:endParaRPr lang="en-US" sz="1600" dirty="0"/>
          </a:p>
        </p:txBody>
      </p:sp>
      <p:sp>
        <p:nvSpPr>
          <p:cNvPr id="45" name="Text 43"/>
          <p:cNvSpPr/>
          <p:nvPr/>
        </p:nvSpPr>
        <p:spPr>
          <a:xfrm>
            <a:off x="609600" y="5753100"/>
            <a:ext cx="7705725"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Bridging Braille physical inputs with modern IoT infrastructure, demonstrating how embedded systems engineering can enhance independence and quality of life for visually impaired users.</a:t>
            </a:r>
            <a:endParaRPr lang="en-US" sz="1600" dirty="0"/>
          </a:p>
        </p:txBody>
      </p:sp>
      <p:sp>
        <p:nvSpPr>
          <p:cNvPr id="46" name="Text 44"/>
          <p:cNvSpPr/>
          <p:nvPr/>
        </p:nvSpPr>
        <p:spPr>
          <a:xfrm>
            <a:off x="8458795" y="5505450"/>
            <a:ext cx="1104900" cy="381000"/>
          </a:xfrm>
          <a:prstGeom prst="rect">
            <a:avLst/>
          </a:prstGeom>
          <a:noFill/>
          <a:ln/>
        </p:spPr>
        <p:txBody>
          <a:bodyPr wrap="square" lIns="0" tIns="0" rIns="0" bIns="0" rtlCol="0" anchor="ctr"/>
          <a:lstStyle/>
          <a:p>
            <a:pPr algn="ctr">
              <a:lnSpc>
                <a:spcPct val="90000"/>
              </a:lnSpc>
            </a:pPr>
            <a:r>
              <a:rPr lang="en-US" sz="2700" b="1" dirty="0">
                <a:solidFill>
                  <a:srgbClr val="0071E3"/>
                </a:solidFill>
                <a:latin typeface="Liter" pitchFamily="34" charset="0"/>
                <a:ea typeface="Liter" pitchFamily="34" charset="-122"/>
                <a:cs typeface="Liter" pitchFamily="34" charset="-120"/>
              </a:rPr>
              <a:t>2</a:t>
            </a:r>
            <a:endParaRPr lang="en-US" sz="1600" dirty="0"/>
          </a:p>
        </p:txBody>
      </p:sp>
      <p:sp>
        <p:nvSpPr>
          <p:cNvPr id="47" name="Text 45"/>
          <p:cNvSpPr/>
          <p:nvPr/>
        </p:nvSpPr>
        <p:spPr>
          <a:xfrm>
            <a:off x="8511183" y="5924550"/>
            <a:ext cx="1000125" cy="190500"/>
          </a:xfrm>
          <a:prstGeom prst="rect">
            <a:avLst/>
          </a:prstGeom>
          <a:noFill/>
          <a:ln/>
        </p:spPr>
        <p:txBody>
          <a:bodyPr wrap="square" lIns="0" tIns="0" rIns="0" bIns="0" rtlCol="0" anchor="ctr"/>
          <a:lstStyle/>
          <a:p>
            <a:pPr algn="ctr">
              <a:lnSpc>
                <a:spcPct val="120000"/>
              </a:lnSpc>
            </a:pPr>
            <a:r>
              <a:rPr lang="en-US" sz="1050" dirty="0">
                <a:solidFill>
                  <a:srgbClr val="86868B"/>
                </a:solidFill>
                <a:latin typeface="Liter" pitchFamily="34" charset="0"/>
                <a:ea typeface="Liter" pitchFamily="34" charset="-122"/>
                <a:cs typeface="Liter" pitchFamily="34" charset="-120"/>
              </a:rPr>
              <a:t>ESP32 Modules</a:t>
            </a:r>
            <a:endParaRPr lang="en-US" sz="1600" dirty="0"/>
          </a:p>
        </p:txBody>
      </p:sp>
      <p:sp>
        <p:nvSpPr>
          <p:cNvPr id="48" name="Text 46"/>
          <p:cNvSpPr/>
          <p:nvPr/>
        </p:nvSpPr>
        <p:spPr>
          <a:xfrm>
            <a:off x="9623465" y="5505450"/>
            <a:ext cx="847725" cy="381000"/>
          </a:xfrm>
          <a:prstGeom prst="rect">
            <a:avLst/>
          </a:prstGeom>
          <a:noFill/>
          <a:ln/>
        </p:spPr>
        <p:txBody>
          <a:bodyPr wrap="square" lIns="0" tIns="0" rIns="0" bIns="0" rtlCol="0" anchor="ctr"/>
          <a:lstStyle/>
          <a:p>
            <a:pPr algn="ctr">
              <a:lnSpc>
                <a:spcPct val="90000"/>
              </a:lnSpc>
            </a:pPr>
            <a:r>
              <a:rPr lang="en-US" sz="2700" b="1" dirty="0">
                <a:solidFill>
                  <a:srgbClr val="34C759"/>
                </a:solidFill>
                <a:latin typeface="Liter" pitchFamily="34" charset="0"/>
                <a:ea typeface="Liter" pitchFamily="34" charset="-122"/>
                <a:cs typeface="Liter" pitchFamily="34" charset="-120"/>
              </a:rPr>
              <a:t>15</a:t>
            </a:r>
            <a:endParaRPr lang="en-US" sz="1600" dirty="0"/>
          </a:p>
        </p:txBody>
      </p:sp>
      <p:sp>
        <p:nvSpPr>
          <p:cNvPr id="49" name="Text 47"/>
          <p:cNvSpPr/>
          <p:nvPr/>
        </p:nvSpPr>
        <p:spPr>
          <a:xfrm>
            <a:off x="9675852" y="5924550"/>
            <a:ext cx="742950" cy="190500"/>
          </a:xfrm>
          <a:prstGeom prst="rect">
            <a:avLst/>
          </a:prstGeom>
          <a:noFill/>
          <a:ln/>
        </p:spPr>
        <p:txBody>
          <a:bodyPr wrap="square" lIns="0" tIns="0" rIns="0" bIns="0" rtlCol="0" anchor="ctr"/>
          <a:lstStyle/>
          <a:p>
            <a:pPr algn="ctr">
              <a:lnSpc>
                <a:spcPct val="120000"/>
              </a:lnSpc>
            </a:pPr>
            <a:r>
              <a:rPr lang="en-US" sz="1050" dirty="0">
                <a:solidFill>
                  <a:srgbClr val="86868B"/>
                </a:solidFill>
                <a:latin typeface="Liter" pitchFamily="34" charset="0"/>
                <a:ea typeface="Liter" pitchFamily="34" charset="-122"/>
                <a:cs typeface="Liter" pitchFamily="34" charset="-120"/>
              </a:rPr>
              <a:t>Commands</a:t>
            </a:r>
            <a:endParaRPr lang="en-US" sz="1600" dirty="0"/>
          </a:p>
        </p:txBody>
      </p:sp>
      <p:sp>
        <p:nvSpPr>
          <p:cNvPr id="50" name="Text 48"/>
          <p:cNvSpPr/>
          <p:nvPr/>
        </p:nvSpPr>
        <p:spPr>
          <a:xfrm>
            <a:off x="10529054" y="5505450"/>
            <a:ext cx="1143000" cy="381000"/>
          </a:xfrm>
          <a:prstGeom prst="rect">
            <a:avLst/>
          </a:prstGeom>
          <a:noFill/>
          <a:ln/>
        </p:spPr>
        <p:txBody>
          <a:bodyPr wrap="square" lIns="0" tIns="0" rIns="0" bIns="0" rtlCol="0" anchor="ctr"/>
          <a:lstStyle/>
          <a:p>
            <a:pPr algn="ctr">
              <a:lnSpc>
                <a:spcPct val="90000"/>
              </a:lnSpc>
            </a:pPr>
            <a:r>
              <a:rPr lang="en-US" sz="2700" b="1" dirty="0">
                <a:solidFill>
                  <a:srgbClr val="FF9500"/>
                </a:solidFill>
                <a:latin typeface="Liter" pitchFamily="34" charset="0"/>
                <a:ea typeface="Liter" pitchFamily="34" charset="-122"/>
                <a:cs typeface="Liter" pitchFamily="34" charset="-120"/>
              </a:rPr>
              <a:t>5</a:t>
            </a:r>
            <a:endParaRPr lang="en-US" sz="1600" dirty="0"/>
          </a:p>
        </p:txBody>
      </p:sp>
      <p:sp>
        <p:nvSpPr>
          <p:cNvPr id="51" name="Text 49"/>
          <p:cNvSpPr/>
          <p:nvPr/>
        </p:nvSpPr>
        <p:spPr>
          <a:xfrm>
            <a:off x="10581441" y="5924550"/>
            <a:ext cx="1038225" cy="190500"/>
          </a:xfrm>
          <a:prstGeom prst="rect">
            <a:avLst/>
          </a:prstGeom>
          <a:noFill/>
          <a:ln/>
        </p:spPr>
        <p:txBody>
          <a:bodyPr wrap="square" lIns="0" tIns="0" rIns="0" bIns="0" rtlCol="0" anchor="ctr"/>
          <a:lstStyle/>
          <a:p>
            <a:pPr algn="ctr">
              <a:lnSpc>
                <a:spcPct val="120000"/>
              </a:lnSpc>
            </a:pPr>
            <a:r>
              <a:rPr lang="en-US" sz="1050" dirty="0">
                <a:solidFill>
                  <a:srgbClr val="86868B"/>
                </a:solidFill>
                <a:latin typeface="Liter" pitchFamily="34" charset="0"/>
                <a:ea typeface="Liter" pitchFamily="34" charset="-122"/>
                <a:cs typeface="Liter" pitchFamily="34" charset="-120"/>
              </a:rPr>
              <a:t>Feedback Types</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TotalTime>
  <Words>3344</Words>
  <Application>Microsoft Office PowerPoint</Application>
  <PresentationFormat>Widescreen</PresentationFormat>
  <Paragraphs>622</Paragraphs>
  <Slides>20</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MiSans</vt:lpstr>
      <vt:lpstr>Arial</vt:lpstr>
      <vt:lpstr>微软雅黑</vt:lpstr>
      <vt:lpstr>Times New Roman</vt:lpstr>
      <vt:lpstr>Liter</vt:lpstr>
      <vt:lpstr>Custom Theme</vt:lpstr>
      <vt:lpstr>PowerPoint Presentation</vt:lpstr>
      <vt:lpstr>PowerPoint Presentation</vt:lpstr>
      <vt:lpstr>PowerPoint Presentation</vt:lpstr>
      <vt:lpstr>PowerPoint Presentation</vt:lpstr>
      <vt:lpstr>PowerPoint Presentation</vt:lpstr>
      <vt:lpstr>Flow 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Braille-Based IoT Home Automation: Code &amp; Implementation</dc:title>
  <dc:subject>Braille-Based IoT Home Automation: Code &amp; Implementation</dc:subject>
  <dc:creator>Kimi</dc:creator>
  <cp:lastModifiedBy>N SRINIVASRAO</cp:lastModifiedBy>
  <cp:revision>3</cp:revision>
  <dcterms:created xsi:type="dcterms:W3CDTF">2026-02-02T05:28:45Z</dcterms:created>
  <dcterms:modified xsi:type="dcterms:W3CDTF">2026-02-05T15:53:00Z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{"Label":"Braille-Based IoT Home Automation: Code &amp; Implementation","ContentProducer":"001191110108MACG2KBH8F10000","ProduceID":"19c1ccd4-fe62-8c9e-8000-00001aaa3b7f","ReservedCode1":"","ContentPropagator":"001191110108MACG2KBH8F20000","PropagateID":"19c1ccd4-fe62-8c9e-8000-00001aaa3b7f","ReservedCode2":""}</vt:lpwstr>
  </property>
</Properties>
</file>